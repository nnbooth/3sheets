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48640"/>
            <a:ext cx="640080" cy="640080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latin typeface="Roboto"/>
              </a:defRPr>
            </a:pPr>
            <a:r>
              <a:rPr sz="1600" b="1">
                <a:solidFill>
                  <a:srgbClr val="FFFFFF"/>
                </a:solidFill>
                <a:latin typeface="Roboto"/>
              </a:rPr>
              <a:t>4th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Deliveries in and out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Distribution Pty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Every delivery out to a customer and in from a supplier, for an invented distribution centre at Wacol, Brisbane.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93776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Today (6 Oct): incomplete, as at 2pm, Tue 6 Oct 2026.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1-5 October: provisional (October locks 3 Nov).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September and earlier: locked.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deliveries-sample.pptx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Sample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Distribution Pty Ltd · Deliveries in and 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Deliveries out, to customers · last 30 days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2036003" cy="201168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167024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Deliveries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40280"/>
            <a:ext cx="1670243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3000" b="1">
                <a:solidFill>
                  <a:srgbClr val="2F7A5D"/>
                </a:solidFill>
                <a:latin typeface="Roboto"/>
              </a:rPr>
              <a:t>868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017520"/>
            <a:ext cx="1670243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/>
            </a:r>
          </a:p>
        </p:txBody>
      </p:sp>
      <p:sp>
        <p:nvSpPr>
          <p:cNvPr id="9" name="Rectangle 8"/>
          <p:cNvSpPr/>
          <p:nvPr/>
        </p:nvSpPr>
        <p:spPr>
          <a:xfrm>
            <a:off x="2767523" y="1645920"/>
            <a:ext cx="2036003" cy="201168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2950403" y="1783080"/>
            <a:ext cx="167024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On time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50403" y="2240280"/>
            <a:ext cx="1670243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3000" b="1">
                <a:solidFill>
                  <a:srgbClr val="2F7A5D"/>
                </a:solidFill>
                <a:latin typeface="Roboto"/>
              </a:rPr>
              <a:t>93.0%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50403" y="3017520"/>
            <a:ext cx="1670243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/>
            </a:r>
          </a:p>
        </p:txBody>
      </p:sp>
      <p:sp>
        <p:nvSpPr>
          <p:cNvPr id="13" name="Rectangle 12"/>
          <p:cNvSpPr/>
          <p:nvPr/>
        </p:nvSpPr>
        <p:spPr>
          <a:xfrm>
            <a:off x="5077846" y="1645920"/>
            <a:ext cx="2036003" cy="201168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5260726" y="1783080"/>
            <a:ext cx="167024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Late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60726" y="2240280"/>
            <a:ext cx="1670243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3000" b="1">
                <a:solidFill>
                  <a:srgbClr val="2F7A5D"/>
                </a:solidFill>
                <a:latin typeface="Roboto"/>
              </a:rPr>
              <a:t>60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60726" y="3017520"/>
            <a:ext cx="1670243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/>
            </a:r>
          </a:p>
        </p:txBody>
      </p:sp>
      <p:sp>
        <p:nvSpPr>
          <p:cNvPr id="17" name="Rectangle 16"/>
          <p:cNvSpPr/>
          <p:nvPr/>
        </p:nvSpPr>
        <p:spPr>
          <a:xfrm>
            <a:off x="7388169" y="1645920"/>
            <a:ext cx="2036003" cy="201168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7571049" y="1783080"/>
            <a:ext cx="167024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Overdue now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71049" y="2240280"/>
            <a:ext cx="1670243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3000" b="1">
                <a:solidFill>
                  <a:srgbClr val="2F7A5D"/>
                </a:solidFill>
                <a:latin typeface="Roboto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71049" y="3017520"/>
            <a:ext cx="1670243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/>
            </a:r>
          </a:p>
        </p:txBody>
      </p:sp>
      <p:sp>
        <p:nvSpPr>
          <p:cNvPr id="21" name="Rectangle 20"/>
          <p:cNvSpPr/>
          <p:nvPr/>
        </p:nvSpPr>
        <p:spPr>
          <a:xfrm>
            <a:off x="9698492" y="1645920"/>
            <a:ext cx="2036003" cy="201168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2" name="TextBox 21"/>
          <p:cNvSpPr txBox="1"/>
          <p:nvPr/>
        </p:nvSpPr>
        <p:spPr>
          <a:xfrm>
            <a:off x="9881372" y="1783080"/>
            <a:ext cx="167024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In full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81372" y="2240280"/>
            <a:ext cx="1670243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3000" b="1">
                <a:solidFill>
                  <a:srgbClr val="2F7A5D"/>
                </a:solidFill>
                <a:latin typeface="Roboto"/>
              </a:rPr>
              <a:t>98.0%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81372" y="3017520"/>
            <a:ext cx="1670243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/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deliveries-sample.pptx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9768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Sample data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Distribution Pty Ltd · Deliveries in and 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Deliveries out, to customers ·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Green 95%+ on time · rose 80-95% · brick under 80% or overdue · grey-blue on its way. Dot size = number of deliveries.</a:t>
            </a:r>
          </a:p>
        </p:txBody>
      </p:sp>
      <p:pic>
        <p:nvPicPr>
          <p:cNvPr id="6" name="Picture 5" descr=".map-o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9653058" cy="47548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deliveries-sample.pptx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Sample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3 of 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Distribution Pty Ltd · Deliveries in and 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Deliveries out, to customers · where it's going wrong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20" cy="1316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329184">
                <a:tc>
                  <a:txBody>
                    <a:bodyPr/>
                    <a:lstStyle/>
                    <a:p>
                      <a:pPr>
                        <a:defRPr>
                          <a:latin typeface="Roboto"/>
                        </a:defRPr>
                      </a:pP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Late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Of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% late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Carrier A · Gold Coast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28.1%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Carrier B · Moreton Bay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7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68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10.3%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Carrier A · Logan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7.9%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deliveries-sample.pptx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Sample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4 of 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Distribution Pty Ltd · Deliveries in and 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Deliveries in, from suppliers · last 30 days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2036003" cy="201168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167024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Deliveries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40280"/>
            <a:ext cx="1670243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3000" b="1">
                <a:solidFill>
                  <a:srgbClr val="2F7A5D"/>
                </a:solidFill>
                <a:latin typeface="Roboto"/>
              </a:rPr>
              <a:t>128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017520"/>
            <a:ext cx="1670243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/>
            </a:r>
          </a:p>
        </p:txBody>
      </p:sp>
      <p:sp>
        <p:nvSpPr>
          <p:cNvPr id="9" name="Rectangle 8"/>
          <p:cNvSpPr/>
          <p:nvPr/>
        </p:nvSpPr>
        <p:spPr>
          <a:xfrm>
            <a:off x="2767523" y="1645920"/>
            <a:ext cx="2036003" cy="201168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2950403" y="1783080"/>
            <a:ext cx="167024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On time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50403" y="2240280"/>
            <a:ext cx="1670243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3000" b="1">
                <a:solidFill>
                  <a:srgbClr val="2F7A5D"/>
                </a:solidFill>
                <a:latin typeface="Roboto"/>
              </a:rPr>
              <a:t>91.9%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50403" y="3017520"/>
            <a:ext cx="1670243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/>
            </a:r>
          </a:p>
        </p:txBody>
      </p:sp>
      <p:sp>
        <p:nvSpPr>
          <p:cNvPr id="13" name="Rectangle 12"/>
          <p:cNvSpPr/>
          <p:nvPr/>
        </p:nvSpPr>
        <p:spPr>
          <a:xfrm>
            <a:off x="5077846" y="1645920"/>
            <a:ext cx="2036003" cy="201168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5260726" y="1783080"/>
            <a:ext cx="167024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Late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60726" y="2240280"/>
            <a:ext cx="1670243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3000" b="1">
                <a:solidFill>
                  <a:srgbClr val="2F7A5D"/>
                </a:solidFill>
                <a:latin typeface="Roboto"/>
              </a:rPr>
              <a:t>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60726" y="3017520"/>
            <a:ext cx="1670243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/>
            </a:r>
          </a:p>
        </p:txBody>
      </p:sp>
      <p:sp>
        <p:nvSpPr>
          <p:cNvPr id="17" name="Rectangle 16"/>
          <p:cNvSpPr/>
          <p:nvPr/>
        </p:nvSpPr>
        <p:spPr>
          <a:xfrm>
            <a:off x="7388169" y="1645920"/>
            <a:ext cx="2036003" cy="201168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7571049" y="1783080"/>
            <a:ext cx="167024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Overdue now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71049" y="2240280"/>
            <a:ext cx="1670243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3000" b="1">
                <a:solidFill>
                  <a:srgbClr val="2F7A5D"/>
                </a:solidFill>
                <a:latin typeface="Roboto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71049" y="3017520"/>
            <a:ext cx="1670243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/>
            </a:r>
          </a:p>
        </p:txBody>
      </p:sp>
      <p:sp>
        <p:nvSpPr>
          <p:cNvPr id="21" name="Rectangle 20"/>
          <p:cNvSpPr/>
          <p:nvPr/>
        </p:nvSpPr>
        <p:spPr>
          <a:xfrm>
            <a:off x="9698492" y="1645920"/>
            <a:ext cx="2036003" cy="201168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2" name="TextBox 21"/>
          <p:cNvSpPr txBox="1"/>
          <p:nvPr/>
        </p:nvSpPr>
        <p:spPr>
          <a:xfrm>
            <a:off x="9881372" y="1783080"/>
            <a:ext cx="167024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In full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81372" y="2240280"/>
            <a:ext cx="1670243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3000" b="1">
                <a:solidFill>
                  <a:srgbClr val="2F7A5D"/>
                </a:solidFill>
                <a:latin typeface="Roboto"/>
              </a:rPr>
              <a:t>90.3%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81372" y="3017520"/>
            <a:ext cx="1670243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/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deliveries-sample.pptx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9768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Sample data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5 of 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Distribution Pty Ltd · Deliveries in and 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Deliveries in, from suppliers ·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Green 95%+ on time · rose 80-95% · brick under 80% or overdue · grey-blue on its way. Dot size = number of deliveries.</a:t>
            </a:r>
          </a:p>
        </p:txBody>
      </p:sp>
      <p:pic>
        <p:nvPicPr>
          <p:cNvPr id="6" name="Picture 5" descr=".map-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9626683" cy="47548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deliveries-sample.pptx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Sample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6 of 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Distribution Pty Ltd · Deliveries in and 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Deliveries in, from suppliers · where it's going wrong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20" cy="1316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329184">
                <a:tc>
                  <a:txBody>
                    <a:bodyPr/>
                    <a:lstStyle/>
                    <a:p>
                      <a:pPr>
                        <a:defRPr>
                          <a:latin typeface="Roboto"/>
                        </a:defRPr>
                      </a:pP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Late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Of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% late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Supplier C · Line-haul (road)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50.0%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Supplier D (imports) · Container cartage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3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8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37.5%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Supplier K · Line-haul (road)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16.7%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deliveries-sample.pptx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Sample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7 of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