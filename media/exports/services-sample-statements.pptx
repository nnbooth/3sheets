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Logistics systems rollout</c:v>
                </c:pt>
                <c:pt idx="2">
                  <c:v>Manufacturer process mapping</c:v>
                </c:pt>
                <c:pt idx="3">
                  <c:v>Dental group reporting</c:v>
                </c:pt>
                <c:pt idx="4">
                  <c:v>Excel for managers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0.0"%";[Red](0.0"%")</c:formatCode>
                <c:ptCount val="10"/>
                <c:pt idx="0">
                  <c:v>48.6</c:v>
                </c:pt>
                <c:pt idx="1">
                  <c:v>52.7</c:v>
                </c:pt>
                <c:pt idx="2">
                  <c:v>53.9</c:v>
                </c:pt>
                <c:pt idx="3">
                  <c:v>61.2</c:v>
                </c:pt>
                <c:pt idx="4">
                  <c:v>62.5</c:v>
                </c:pt>
                <c:pt idx="5">
                  <c:v>63.4</c:v>
                </c:pt>
                <c:pt idx="6">
                  <c:v>63.6</c:v>
                </c:pt>
                <c:pt idx="7">
                  <c:v>65.0</c:v>
                </c:pt>
                <c:pt idx="8">
                  <c:v>68.4</c:v>
                </c:pt>
                <c:pt idx="9">
                  <c:v>81.7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cat>
            <c:strRef>
              <c:f>Sheet1!$A$2:$A$11</c:f>
              <c:strCache>
                <c:ptCount val="10"/>
                <c:pt idx="0">
                  <c:v>Hospitality payroll</c:v>
                </c:pt>
                <c:pt idx="1">
                  <c:v>Logistics systems rollout</c:v>
                </c:pt>
                <c:pt idx="2">
                  <c:v>Manufacturer process mapping</c:v>
                </c:pt>
                <c:pt idx="3">
                  <c:v>Dental group reporting</c:v>
                </c:pt>
                <c:pt idx="4">
                  <c:v>Excel for managers</c:v>
                </c:pt>
                <c:pt idx="5">
                  <c:v>Construction firm finance</c:v>
                </c:pt>
                <c:pt idx="6">
                  <c:v>Health charity board pack</c:v>
                </c:pt>
                <c:pt idx="7">
                  <c:v>Agribusiness CFO support</c:v>
                </c:pt>
                <c:pt idx="8">
                  <c:v>Retail pricing review</c:v>
                </c:pt>
                <c:pt idx="9">
                  <c:v>Power BI basics</c:v>
                </c:pt>
              </c:strCache>
            </c:strRef>
          </c:cat>
          <c:val>
            <c:numRef>
              <c:f>Sheet1!$B$2:$B$11</c:f>
              <c:numCache>
                <c:formatCode>$#,##0;[Red]($#,##0);"-"</c:formatCode>
                <c:ptCount val="10"/>
                <c:pt idx="0">
                  <c:v>2040</c:v>
                </c:pt>
                <c:pt idx="1">
                  <c:v>19350</c:v>
                </c:pt>
                <c:pt idx="2">
                  <c:v>11000</c:v>
                </c:pt>
                <c:pt idx="3">
                  <c:v>4160</c:v>
                </c:pt>
                <c:pt idx="4">
                  <c:v>5500</c:v>
                </c:pt>
                <c:pt idx="5">
                  <c:v>6020</c:v>
                </c:pt>
                <c:pt idx="6">
                  <c:v>6720</c:v>
                </c:pt>
                <c:pt idx="7">
                  <c:v>7800</c:v>
                </c:pt>
                <c:pt idx="8">
                  <c:v>12480</c:v>
                </c:pt>
                <c:pt idx="9">
                  <c:v>3760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Monthly report pack,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A Brisbane finance and operations consultancy: projects billed on milestones, monthly retainers and training. 6 consultants, 3 management and admin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The fourth sheet: September 2026 vs August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Consultant utilisation,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74.0%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▲ from 71.1%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Revenue per billable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$178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▲ from $177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Unbilled work + unpaid invoices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$216,090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▲ from $149,190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Gross margin on each client engagement, September 2026 work only · Gross margin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Target 40.0%  ·  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Gross margin on each client engagement, September 2026 work only · Gross margin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September's revenue less contractors and consultant time at $60/hour. Before overheads: not profit. Not the whole engagement to date. One 40.0% target for every engagement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Consultant utilisation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Billable hours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Billable hours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742.0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648.0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Consultants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1,003.2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912.0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Utilisation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74.0%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71.1%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Revenue per billable hour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Revenue ÷ billable hours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$131,850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$114,640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Billable hours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742.0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648.0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Revenue per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Cash tied up in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Work in progress + unpaid invoices at month 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Work in progress (project time not yet billed)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$99,290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Unpaid client invoices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$116,800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$71,290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tied 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$216,090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$149,190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Profit and loss,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Projects (hours worked)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85,950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75,740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32,500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131,850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114,640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17,210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Consultant salaries (incl. on-costs)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Contractors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(6,900)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(55,000)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(53,400)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76,850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61,240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15,610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Management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(24,000)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Marketing and business development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(6,500)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Rent and occupancy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Professional indemnity 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Travel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Profit and loss,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(49,900)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(51,400)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26,950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24,710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7,590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17,120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(6,178)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(1,898)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(4,280)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18,532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5,692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12,840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Balance sheet at 30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149,260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192,150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71,290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45,510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Work in progress (unbilled project time)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99,290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380,350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356,340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24,010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Office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440,550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415,340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25,210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56,576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50,398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6,178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187,376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178,998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8,378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201,976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195,298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6,678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238,574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220,042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18,532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Balance sheet at 30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218,574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200,042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18,532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238,574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220,042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18,532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Cash flow,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64,950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(72,250)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Payments to contractors and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(32,800)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(31,300)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(69,900)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(69,800)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 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(37,990)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35,850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(73,840)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Purchase of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(1,700)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34,150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(77,040)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192,150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34,150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149,260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192,150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(42,890)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Client engagements,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Engagement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Hours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Billed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Agribusiness CFO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Construction firm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63.4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Dental group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Retainer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Excel for managers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Training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62.5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Health charity board pack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Hospitality payroll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Retainer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2,040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48.6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Logistics systems rollout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36,750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19,350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Manufacturer process mapping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24,000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53.9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Power BI basics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Retail pricing review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Project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18,240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12,480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68.4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Advisory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Assumptions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A Brisbane finance and operations consultancy: projects billed on milestones, monthly retainers and training. 6 consultants, 3 management and admin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Projects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hours worked at each project's rate; billed on milestones (unbilled time = work in progress)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Retainers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fixed monthly fee, billed 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Training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fixed fee, billed on delivery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Engagements in September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 (every one is in the Excel download and CSV)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Consultants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 on salary: $46,500 a month incl.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Engagement costing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$60/hour for consultant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Working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 in August (Ekka show holiday), 22 in September; 7.6 hours a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25% of profit, provided 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Client 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services-sample-statements.pptx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