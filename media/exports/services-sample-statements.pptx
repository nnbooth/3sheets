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Logistics systems rollout</c:v>
                </c:pt>
                <c:pt idx="2">
                  <c:v>Manufacturer process mapping</c:v>
                </c:pt>
                <c:pt idx="3">
                  <c:v>Dental group reporting</c:v>
                </c:pt>
                <c:pt idx="4">
                  <c:v>Excel for managers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0.0"%";[Red](0.0"%")</c:formatCode>
                <c:ptCount val="10"/>
                <c:pt idx="0">
                  <c:v>48.6</c:v>
                </c:pt>
                <c:pt idx="1">
                  <c:v>52.7</c:v>
                </c:pt>
                <c:pt idx="2">
                  <c:v>53.9</c:v>
                </c:pt>
                <c:pt idx="3">
                  <c:v>61.2</c:v>
                </c:pt>
                <c:pt idx="4">
                  <c:v>62.5</c:v>
                </c:pt>
                <c:pt idx="5">
                  <c:v>63.4</c:v>
                </c:pt>
                <c:pt idx="6">
                  <c:v>63.6</c:v>
                </c:pt>
                <c:pt idx="7">
                  <c:v>65.0</c:v>
                </c:pt>
                <c:pt idx="8">
                  <c:v>68.4</c:v>
                </c:pt>
                <c:pt idx="9">
                  <c:v>81.7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Logistics systems rollout</c:v>
                </c:pt>
                <c:pt idx="2">
                  <c:v>Manufacturer process mapping</c:v>
                </c:pt>
                <c:pt idx="3">
                  <c:v>Dental group reporting</c:v>
                </c:pt>
                <c:pt idx="4">
                  <c:v>Excel for managers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$#,##0;[Red]($#,##0);"-"</c:formatCode>
                <c:ptCount val="10"/>
                <c:pt idx="0">
                  <c:v>2040</c:v>
                </c:pt>
                <c:pt idx="1">
                  <c:v>19350</c:v>
                </c:pt>
                <c:pt idx="2">
                  <c:v>11000</c:v>
                </c:pt>
                <c:pt idx="3">
                  <c:v>4160</c:v>
                </c:pt>
                <c:pt idx="4">
                  <c:v>5500</c:v>
                </c:pt>
                <c:pt idx="5">
                  <c:v>6020</c:v>
                </c:pt>
                <c:pt idx="6">
                  <c:v>6720</c:v>
                </c:pt>
                <c:pt idx="7">
                  <c:v>7800</c:v>
                </c:pt>
                <c:pt idx="8">
                  <c:v>12480</c:v>
                </c:pt>
                <c:pt idx="9">
                  <c:v>3760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Consultant utilisation,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74.0%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▲ from 71.1%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 per billable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▲ from $177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Unbilled work + unpaid 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$216,090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▲ from $149,190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 · Gross margin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40.0%  ·  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 · Gross margin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Consultant utilisation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Billable hours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742.0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648.0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1,003.2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912.0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Utilisation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Revenue per billable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 ÷ billable hours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$131,850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742.0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648.0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per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Cash tied up in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Work in progress + unpaid invoices at month 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(project time not yet billed)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Unpaid client invoices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tied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$216,090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$149,190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 (hours worked)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85,950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131,850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114,640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17,210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 salaries (incl. on-costs)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(53,400)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Management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and business development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Professional indemnity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Travel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(49,900)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(51,400)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24,710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(6,178)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(1,898)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(4,280)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18,532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5,692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12,840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45,510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(unbilled project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356,340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24,010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440,550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415,340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56,576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6,178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187,376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178,998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8,378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201,976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195,298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238,574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18,532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218,574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18,532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238,574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220,042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18,532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(72,250)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contractors and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(32,800)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(31,300)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(69,900)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(69,800)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(37,990)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(73,840)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(77,040)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Client engagements,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Engagement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Billed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Agribusiness CFO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Construction firm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Dental group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Excel for managers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Health charity board pack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Hospitality payroll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Logistics systems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Manufacturer process mapping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53.9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Power BI basics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Retail pricing review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finance and operations consultancy: projects billed on milestones, monthly retainers and training. 6 consultants, 3 management and admin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worked at each project's rate; billed on milestones (unbilled time = work in progress)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monthly fee, billed 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fee, billed on delivery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Engagements in September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 (every one is in the Excel download and CSV)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on salary: $46,500 a month incl.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 costing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$60/hour for consultant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Client 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