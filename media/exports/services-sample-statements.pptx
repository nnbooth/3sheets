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cat>
            <c:strRef>
              <c:f>Sheet1!$A$2:$A$11</c:f>
              <c:strCache>
                <c:ptCount val="10"/>
                <c:pt idx="0">
                  <c:v>Hospitality payroll</c:v>
                </c:pt>
                <c:pt idx="1">
                  <c:v>Excel for managers</c:v>
                </c:pt>
                <c:pt idx="2">
                  <c:v>Logistics systems rollout</c:v>
                </c:pt>
                <c:pt idx="3">
                  <c:v>Manufacturer process mapping</c:v>
                </c:pt>
                <c:pt idx="4">
                  <c:v>Dental group reporting</c:v>
                </c:pt>
                <c:pt idx="5">
                  <c:v>Construction firm finance</c:v>
                </c:pt>
                <c:pt idx="6">
                  <c:v>Health charity board pack</c:v>
                </c:pt>
                <c:pt idx="7">
                  <c:v>Agribusiness CFO support</c:v>
                </c:pt>
                <c:pt idx="8">
                  <c:v>Retail pricing review</c:v>
                </c:pt>
                <c:pt idx="9">
                  <c:v>Power BI basics</c:v>
                </c:pt>
              </c:strCache>
            </c:strRef>
          </c:cat>
          <c:val>
            <c:numRef>
              <c:f>Sheet1!$B$2:$B$11</c:f>
              <c:numCache>
                <c:formatCode>0.0"%";[Red](0.0"%")</c:formatCode>
                <c:ptCount val="10"/>
                <c:pt idx="0">
                  <c:v>25.7</c:v>
                </c:pt>
                <c:pt idx="1">
                  <c:v>27.7</c:v>
                </c:pt>
                <c:pt idx="2">
                  <c:v>35.2</c:v>
                </c:pt>
                <c:pt idx="3">
                  <c:v>53.9</c:v>
                </c:pt>
                <c:pt idx="4">
                  <c:v>61.2</c:v>
                </c:pt>
                <c:pt idx="5">
                  <c:v>63.4</c:v>
                </c:pt>
                <c:pt idx="6">
                  <c:v>63.6</c:v>
                </c:pt>
                <c:pt idx="7">
                  <c:v>65.0</c:v>
                </c:pt>
                <c:pt idx="8">
                  <c:v>68.4</c:v>
                </c:pt>
                <c:pt idx="9">
                  <c:v>81.7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3.95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$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cat>
            <c:strRef>
              <c:f>Sheet1!$A$2:$A$11</c:f>
              <c:strCache>
                <c:ptCount val="10"/>
                <c:pt idx="0">
                  <c:v>Hospitality payroll</c:v>
                </c:pt>
                <c:pt idx="1">
                  <c:v>Excel for managers</c:v>
                </c:pt>
                <c:pt idx="2">
                  <c:v>Logistics systems rollout</c:v>
                </c:pt>
                <c:pt idx="3">
                  <c:v>Manufacturer process mapping</c:v>
                </c:pt>
                <c:pt idx="4">
                  <c:v>Dental group reporting</c:v>
                </c:pt>
                <c:pt idx="5">
                  <c:v>Construction firm finance</c:v>
                </c:pt>
                <c:pt idx="6">
                  <c:v>Health charity board pack</c:v>
                </c:pt>
                <c:pt idx="7">
                  <c:v>Agribusiness CFO support</c:v>
                </c:pt>
                <c:pt idx="8">
                  <c:v>Retail pricing review</c:v>
                </c:pt>
                <c:pt idx="9">
                  <c:v>Power BI basics</c:v>
                </c:pt>
              </c:strCache>
            </c:strRef>
          </c:cat>
          <c:val>
            <c:numRef>
              <c:f>Sheet1!$B$2:$B$11</c:f>
              <c:numCache>
                <c:formatCode>$#,##0;[Red]($#,##0);"-"</c:formatCode>
                <c:ptCount val="10"/>
                <c:pt idx="0">
                  <c:v>1080</c:v>
                </c:pt>
                <c:pt idx="1">
                  <c:v>2440</c:v>
                </c:pt>
                <c:pt idx="2">
                  <c:v>12950</c:v>
                </c:pt>
                <c:pt idx="3">
                  <c:v>11000</c:v>
                </c:pt>
                <c:pt idx="4">
                  <c:v>4160</c:v>
                </c:pt>
                <c:pt idx="5">
                  <c:v>6020</c:v>
                </c:pt>
                <c:pt idx="6">
                  <c:v>6720</c:v>
                </c:pt>
                <c:pt idx="7">
                  <c:v>7800</c:v>
                </c:pt>
                <c:pt idx="8">
                  <c:v>12480</c:v>
                </c:pt>
                <c:pt idx="9">
                  <c:v>3760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892.4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Monthly report pack, September 2026. Sample Advisory Pty Ltd. A Brisbane finance and operations consultancy: projects billed on milestones, monthly retainers and training. 6 consultants, 3 management and admin staff.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fourth sheet: September 2026 vs August 2026: Consultant utilisation, September 76.2%; Revenue per billable hour $173; Unbilled work + unpaid invoices $216,090.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Gross margin on each client engagement, September 2026 work only. Gross margin % · September's revenue less contractors and consultant time at $60/hour. Before overheads: not profit. Not the whole engagement to date. One 40.0% target for every engagement for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Gross margin on each client engagement, September 2026 work only. Gross margin $ · September's revenue less contractors and consultant time at $60/hour. Before overheads: not profit. Not the whole engagement to date. One 40.0% target for every engagement for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it's worked out: Consultant utilisation. Billable hours ÷ hours available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it's worked out: Revenue per billable hour. Revenue ÷ billable hours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it's worked out: Cash tied up in work. Work in progress + unpaid invoices at month 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Profit and loss, September 2026 (1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Profit and loss, September 2026 (2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Balance sheet at 30 September 2026 (1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Balance sheet at 30 September 2026 (2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Cash flow, September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Client engagements, September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The business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Engagements (September)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Costs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Cash and balance sheet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Monthly report pack,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Advisory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A Brisbane finance and operations consultancy: projects billed on milestones, monthly retainers and training. 6 consultants, 3 management and admin staff.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9:53am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The fourth sheet: September 2026 vs August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Consultant utilisation, September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76.2%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▲ from 72.6% in Aug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Revenue per billable hour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$173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■ same as Aug ($173)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Unbilled work + unpaid invoices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B42318"/>
                </a:solidFill>
                <a:latin typeface="Roboto"/>
              </a:rPr>
              <a:t>$216,090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▲ from $149,190 in Aug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9:53am · Sample data · Made with Python (python-pptx)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Gross margin on each client engagement, September 2026 work 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Gross margin % · September's revenue less contractors and consultant time at $60/hour. Before overheads: not profit. Not the whole engagement to date. One 40.0% target for every engagement for now.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625053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527773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40.0%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99632"/>
            <a:ext cx="54864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Grey = below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9:53am · Sample data · Made with Python (python-pptx)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Gross margin on each client engagement, September 2026 work 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Gross margin $ · September's revenue less contractors and consultant time at $60/hour. Before overheads: not profit. Not the whole engagement to date. One 40.0% target for every engagement for now.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199632"/>
            <a:ext cx="54864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Grey = below target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9:53am · Sample data · Made with Python (python-pptx)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Consultant utilisation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Billable hours ÷ hours available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78636"/>
          <a:ext cx="11277295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Billable hours (timesheets)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764.0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662.0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Consultants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Working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Hours per day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7.6 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7.6 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Hours available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1,003.2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912.0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Utilisation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76.2%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72.6%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9:53am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Revenue per billable hour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 ÷ billable hours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78636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$131,850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$114,640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Billable hours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764.0 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662.0 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 per hour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9:53am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Cash tied up in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Work in progress + unpaid invoices at month end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78636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Work in progress (project time not yet billed)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$99,290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$77,900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Unpaid client invoices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$116,800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$71,290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tied 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$216,090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$149,190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9:53am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Profit and loss, September 2026 (1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 (hours worked)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85,950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75,740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10,210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32,500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32,500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13,400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131,850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114,640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17,210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Consultant salaries (incl. on-costs)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(46,500)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(46,500)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Contractors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(17,600)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(6,900)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(10,700)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cost of sales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(64,100)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(53,400)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(10,700)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67,750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61,240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6,510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Management and admin wages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(24,000)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(24,000)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Marketing and business development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(5,800)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(6,500)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Rent and occupancy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IT and software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(4,500)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(4,500)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Professional indemnity insurance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Travel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(1,800)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(2,600)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9:53am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Profit and loss, September 2026 (2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Other overheads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operating expenses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(49,900)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(51,400)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17,850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9,840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8,010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Depreciation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Interest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(240)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15,610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7,590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8,020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Income tax provision (25%)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(3,903)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(1,898)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(2,005)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Net profit after tax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11,707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5,692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6,015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9:53am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Balance sheet at 30 September 2026 (1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at 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149,260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192,150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(42,890)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Trade debtors (unpaid invoices)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116,800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71,290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45,510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Work in progress (unbilled project time)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99,290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77,900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21,390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Prepayments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current assets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380,350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356,340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24,010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Office equipment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assets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440,550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415,340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25,210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Trade creditors (bills due next month)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17,600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Employee leave provisions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122,300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121,700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Income tax payable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54,301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50,398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3,903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current liabilities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194,201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178,998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15,203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Equipment finance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14,600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16,300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(1,700)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liabilities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208,801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195,298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13,503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Net assets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231,749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220,042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11,707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9:53am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Balance sheet at 30 September 2026 (2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Share capital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Retained earnings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211,749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200,042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11,707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equity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231,749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220,042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11,707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9:53am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11 of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Cash flow,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4352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Receipts from customers (invoices paid)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64,950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137,200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(72,250)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Payments to contractors and suppliers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(32,800)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(31,300)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Payments to employees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(69,900)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(69,800)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Interest paid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(240)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(250)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Income tax paid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cash from operating activities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(37,990)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35,850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(73,840)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Purchase of equipment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(3,200)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(3,200)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cash from investing activities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(3,200)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(3,200)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Equipment finance repaid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(1,700)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(1,700)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cash from financing activities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(1,700)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(1,700)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change in 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(42,890)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34,150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(77,040)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at start of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192,150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158,000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34,150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Cash at end of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149,260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192,150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(42,890)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9:53am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12 of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Client engagements,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3419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9661"/>
                <a:gridCol w="1409661"/>
                <a:gridCol w="1409661"/>
                <a:gridCol w="1409661"/>
                <a:gridCol w="1409661"/>
                <a:gridCol w="1409661"/>
                <a:gridCol w="1409661"/>
                <a:gridCol w="140966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Engagement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Type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Hours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Billed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Contractors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Agribusiness CFO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65.0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Construction firm finance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6,020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Dental group reporting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61.2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Excel for managers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2,440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27.7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Health charity board pack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10,560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10,560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6,720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Hospitality payroll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1,080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25.7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Logistics systems rollout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36,750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12,950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35.2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Manufacturer process mapping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24,000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53.9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Power BI basics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3,760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81.7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Retail pricing review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18,240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12,480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68.4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9:53am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13 of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The business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93268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What it 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A Brisbane finance and operations consultancy: projects billed on milestones, monthly retainers and training. 6 consultants, 3 management and admin staff.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Reporting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September 2026, compared with August 2026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Financial year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FY2027: 1 July 2026 to 30 June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9:53am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14 of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Engagements (September)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124358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hours worked at each project's rate; billed on milestones (unbilled time = work in progress)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fixed monthly fee, billed monthly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fixed fee, billed on delivery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Engagements in September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 (every one is in the Excel download and CSV)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9:53am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15 of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Costs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124358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Consultants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 on salary: $46,500 a month incl. on-costs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Engagement costing rate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$60/hour for consultant time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Working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 in August (Ekka show holiday), 22 in September; 7.6 hours a 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Income tax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25% of profit, provided monthly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9:53am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16 of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Cash and balance sheet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93268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Client payments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each invoice is paid on its own date; unpaid invoices at month end = debtors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Contractors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paid the following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excluded throughout, for simplicity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9:53am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17 of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