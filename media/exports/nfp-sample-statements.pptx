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Mental health first aid</c:v>
                </c:pt>
                <c:pt idx="1">
                  <c:v>Housing support</c:v>
                </c:pt>
                <c:pt idx="2">
                  <c:v>Digital literacy</c:v>
                </c:pt>
                <c:pt idx="3">
                  <c:v>Community meals</c:v>
                </c:pt>
                <c:pt idx="4">
                  <c:v>Volunteer coordinator</c:v>
                </c:pt>
                <c:pt idx="5">
                  <c:v>Youth outreach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95.3</c:v>
                </c:pt>
                <c:pt idx="1">
                  <c:v>95.4</c:v>
                </c:pt>
                <c:pt idx="2">
                  <c:v>99.3</c:v>
                </c:pt>
                <c:pt idx="3">
                  <c:v>100.0</c:v>
                </c:pt>
                <c:pt idx="4">
                  <c:v>100.0</c:v>
                </c:pt>
                <c:pt idx="5">
                  <c:v>102.1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Mental health first aid</c:v>
                </c:pt>
                <c:pt idx="1">
                  <c:v>Housing support</c:v>
                </c:pt>
                <c:pt idx="2">
                  <c:v>Digital literacy</c:v>
                </c:pt>
                <c:pt idx="3">
                  <c:v>Community meals</c:v>
                </c:pt>
                <c:pt idx="4">
                  <c:v>Volunteer coordinator</c:v>
                </c:pt>
                <c:pt idx="5">
                  <c:v>Youth outreach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57200</c:v>
                </c:pt>
                <c:pt idx="1">
                  <c:v>257700</c:v>
                </c:pt>
                <c:pt idx="2">
                  <c:v>59600</c:v>
                </c:pt>
                <c:pt idx="3">
                  <c:v>12000</c:v>
                </c:pt>
                <c:pt idx="4">
                  <c:v>21000</c:v>
                </c:pt>
                <c:pt idx="5">
                  <c:v>306300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Monthly report pack,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A Brisbane community services charity funded by six grants, donations, events and program fees. About 18 staff. Registered charity, income-tax exempt.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September 2026: Locked. September 2026 is locked (closed 2 Oct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August 2026: Locked. August 2026 is locked (closed 2 Sep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nfp-sample-statements.pptx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The fourth sheet: September 2026 vs August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Cost to raise a dollar,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20¢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▲ from 13¢ in Aug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Unrestricted cash runway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2.0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▼ from 2.2 months in Aug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Grants ending in 6 months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2 · $117,300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still to spend before they 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nfp-sample-statements.pptx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Each grant: spent to 30 September 2026 against budget to the same date · % of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Whole grant from its start date. Budget to date = the grant spread evenly over its months.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72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Target 100.0%  ·  grey = below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nfp-sample-statements.pptx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Each grant: spent to 30 September 2026 against budget to the same date · $ spent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Whole grant from its start date. Budget to date = the grant spread evenly over its months.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How it's worked out: Cost to raise a dollar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Fundraising costs ÷ money raised (grants, donations, events), in cents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Grant writing and reporting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$7,100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$7,100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Donor campaigns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$5,400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Event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$16,900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Fundraising 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$29,400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$11,700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Grant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$77,000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$73,700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$27,900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$18,400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$41,600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Money raised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$146,500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$92,100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Cost per dollar raised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13¢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How it's worked out: Unrestricted cash runway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(Cash at bank − unspent grant money) ÷ this month's cash spending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$480,780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$525,675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Less unspent grant money (belongs to funders' programs)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($156,100)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($221,900)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Unrestricted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$324,680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$303,775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Cash spending in the month (expenses less depreciation)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$162,900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$141,200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Runway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2.0 months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2.2 months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How it's worked out: Grants ending in the next 6 months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Grant total − spent to date, for each grant ending soon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Housing support (ends 31 Dec 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$102,300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Volunteer coordinator (ends 28 Feb 2027)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still to spend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$117,300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Income and expenditure, September 2026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Youth outreach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Housing support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30,500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Community meals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Digital literacy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Mental health first aid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Volunteer coordinator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Donations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Fundraising events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Program fees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28,300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Interest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1,380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1,450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(70)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176,180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120,350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55,830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Grant-funded program wages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(57,750)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(55,275)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(2,475)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Grant-funded program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(19,250)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(18,425)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(825)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Program delivery wages (untied)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(14,000)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Income and expenditure, September 2026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Program costs (untied)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(6,100)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program spend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(97,600)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(93,200)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(4,400)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Grant writing and reporting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(7,100)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(7,100)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Donor campaigns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Event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(16,900)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(2,400)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(14,500)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fundraising 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(29,400)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(11,700)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(17,700)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Administration wages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(18,300)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(18,300)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Occupancy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(10,000)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(10,000)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Other 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(7,600)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(8,000)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administration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(35,900)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(36,300)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Depreciation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expenses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(165,800)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(144,100)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(21,700)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Surplus for the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10,380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(23,750)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34,130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Balance sheet at 30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480,780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525,675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(44,895)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Program fees receivable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Grants receivable (spent ahead of instalment)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Prepayments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current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533,080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566,175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(33,095)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Vehicles and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172,200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175,100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705,280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741,275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(35,995)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Payables (bills due next month)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65,250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46,525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18,725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Grants received in advance (unspent)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156,100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221,900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(65,800)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Employee leave provisions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166,600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165,900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387,950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434,325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(46,375)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Net assets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317,330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306,950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10,380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Accumulated funds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317,330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306,950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Cash flow,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Grant instalments received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Donations and fundraising received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69,500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18,400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51,100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Program fees received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27,700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26,100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Interest received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1,380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1,450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(70)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Payments to suppliers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(46,525)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(36,500)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(10,025)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Payments to employees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(96,950)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(93,775)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(3,175)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Net cash from operating activities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(44,895)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(84,325)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39,430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Purchase of vehicles and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Net cash from investing activities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Net change in cash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(44,895)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(84,325)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39,430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Cash at start of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525,675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(84,325)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Cash at end of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480,780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525,675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(44,895)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11 of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Grants at 30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4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Funder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Start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Received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Spent Aug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Spent Sep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Spend vs budget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State Department of Families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480,000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2025-07-01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2027-06-30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306,300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173,700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Housing support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State Housing Program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2026-01-01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2026-12-31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257,700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30,500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270,000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95.4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102,300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Community meals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Local council community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2026-07-01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2027-06-30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Digital literacy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Philanthropic foundation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2025-10-01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2027-03-31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59,600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99.3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30,400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Federal health program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2026-04-01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2027-03-31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State volunteering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2026-03-01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2027-02-28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100.0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12 of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Assumptions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What it 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A Brisbane community services charity funded by six grants, donations, events and program fees. About 18 staff. Registered charity, income-tax exempt.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Reporting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September 2026, compared with August 2026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Financial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FY2027: 1 July 2026 to 30 June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Youth outreach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State Department of Families: $480,000, 2025-07 to 2027-06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State Housing Program: $360,000, 2026-01 to 2026-12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Local council community grant: $48,000, 2026-07 to 2027-06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Philanthropic foundation: $90,000, 2025-10 to 2027-03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Federal health program: $120,000, 2026-04 to 2027-03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Volunteer coordinator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State volunteering grant: $36,000, 2026-03 to 2027-02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Grant income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recognised as the money is spent on the program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Unspent 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instalments received but not yet spent are a liability (grants received in advance)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including the spring appeal in September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Fundraising event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September gala: income and costs in the same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Grant-funded spending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75% wages, the rest program 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13 of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Assumptions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Income tax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none: registered charity, income-tax exempt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Suppliers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paid the following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Unrestricted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cash at bank less unspent grant money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Cash runway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unrestricted cash ÷ this month's cash spending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Reserves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 months of spending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excluded throughout, for simplicity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14 of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