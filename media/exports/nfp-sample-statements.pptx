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B42318"/>
              </a:solidFill>
            </c:spPr>
          </c:dPt>
          <c:dPt>
            <c:idx val="1"/>
            <c:spPr>
              <a:solidFill>
                <a:srgbClr val="B42318"/>
              </a:solidFill>
            </c:spPr>
          </c:dPt>
          <c:dPt>
            <c:idx val="2"/>
            <c:spPr>
              <a:solidFill>
                <a:srgbClr val="8A6D3B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B42318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Community meals</c:v>
                </c:pt>
                <c:pt idx="4">
                  <c:v>Volunteer coordinator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0.0"% over";0.0"% under";"on budget"</c:formatCode>
                <c:ptCount val="6"/>
                <c:pt idx="0">
                  <c:v>-4.7</c:v>
                </c:pt>
                <c:pt idx="1">
                  <c:v>-4.6</c:v>
                </c:pt>
                <c:pt idx="2">
                  <c:v>-0.7</c:v>
                </c:pt>
                <c:pt idx="3">
                  <c:v>0.0</c:v>
                </c:pt>
                <c:pt idx="4">
                  <c:v>0.0</c:v>
                </c:pt>
                <c:pt idx="5">
                  <c:v>2.1</c:v>
                </c:pt>
              </c:numCache>
            </c:numRef>
          </c:val>
        </c:ser>
        <c:dLbls>
          <c:numFmt formatCode="0.0&quot;% over&quot;;0.0&quot;% under&quot;;&quot;on budget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B42318"/>
              </a:solidFill>
            </c:spPr>
          </c:dPt>
          <c:dPt>
            <c:idx val="1"/>
            <c:spPr>
              <a:solidFill>
                <a:srgbClr val="B42318"/>
              </a:solidFill>
            </c:spPr>
          </c:dPt>
          <c:dPt>
            <c:idx val="2"/>
            <c:spPr>
              <a:solidFill>
                <a:srgbClr val="8A6D3B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B42318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Community meals</c:v>
                </c:pt>
                <c:pt idx="4">
                  <c:v>Volunteer coordinator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$#,##0" over";$#,##0" under";"on budget"</c:formatCode>
                <c:ptCount val="6"/>
                <c:pt idx="0">
                  <c:v>-2800</c:v>
                </c:pt>
                <c:pt idx="1">
                  <c:v>-12300</c:v>
                </c:pt>
                <c:pt idx="2">
                  <c:v>-400</c:v>
                </c:pt>
                <c:pt idx="3">
                  <c:v>0</c:v>
                </c:pt>
                <c:pt idx="4">
                  <c:v>0</c:v>
                </c:pt>
                <c:pt idx="5">
                  <c:v>6300</c:v>
                </c:pt>
              </c:numCache>
            </c:numRef>
          </c:val>
        </c:ser>
        <c:dLbls>
          <c:numFmt formatCode="$#,##0&quot; over&quot;;$#,##0&quot; under&quot;;&quot;on budget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Monthly report pack,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A Brisbane community services charity funded by six grants, donations, events and program fees. About 18 staff. Registered charity, income-tax exempt.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The fourth sheet: September 2026 vs August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▲ from 13¢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2.0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▼ from 2.2 months in 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Grants ending in 6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$117,300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to spend in 6 months · 2 grants ending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Each grant: over or under budget to 30 September 2026 · % of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Spending to date against budget to date (the grant spread evenly over its months). Over or under budget in red; within 1% in amber.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Each grant: over or under budget to 30 September 2026 · 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Spending to date against budget to date (the grant spread evenly over its months). Over or under budget in red; within 1% in amber.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Cost to raise a dollar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Fundraising costs ÷ money raised (grants, donations, events), in cents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writing and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Donor campaigns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Event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$29,400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Money raised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$146,500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Cost per dollar raised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Unrestricted cash runway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(Cash at bank − unspent grant money) ÷ this month's cash spending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$480,780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$525,675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Less unspent grant money (belongs to funders' programs)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($156,100)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($221,900)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$324,680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$303,775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spending in the month (expenses less depreciation)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$162,900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Runway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2.0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2.2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Grants ending in the next 6 months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total − spent to date, for each grant ending soon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 (ends 31 Dec 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 (ends 28 Feb 2027)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still to spend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$117,300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Income and expenditure, September 2026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176,180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120,350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55,830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program wages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(57,750)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(55,275)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(2,475)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program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(19,250)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(18,425)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delivery wages (untied)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Income and expenditure, September 2026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costs (untied)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program spend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(97,600)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(93,200)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writing and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Donor campaigns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Event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(16,900)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fundraising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(29,400)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(17,700)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Administration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Occupancy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Other 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administration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(35,900)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(36,300)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Depreciation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(165,800)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(144,100)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Surplus for the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(23,750)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34,130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480,780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525,675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(44,895)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 receivable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 receivable (spent ahead of instalment)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533,080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566,175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(33,095)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705,280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741,275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(35,995)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Payables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65,250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46,525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18,725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 received in advance (unspent)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221,900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(65,800)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166,600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165,900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387,950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434,325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(46,375)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317,330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306,950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Accumulated 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317,330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306,950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flow,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instalments received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 and fundraising received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51,100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 received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 received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suppliers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(46,525)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(36,500)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employees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(96,950)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(93,775)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(3,175)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(44,895)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(84,325)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39,430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Purchase of 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change in cash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(44,895)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(84,325)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39,430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start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525,675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(84,325)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Cash at end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480,780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525,675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(44,895)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 at 30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Funder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Start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Received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Aug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Sep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Spend vs budget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Department of Families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2025-07-01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Housing Program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2026-01-01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2026-12-31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102,300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Local council community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Philanthropic foundation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2025-10-01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2027-03-31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Federal health program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2026-04-01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2027-03-31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volunteering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2026-03-01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2027-02-28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12 of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 Brisbane community services charity funded by six grants, donations, events and program fees. About 18 staff. Registered charity, income-tax exempt.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2026,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Department of Families: $480,000, 2025-07 to 2027-06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Housing Program: $360,000, 2026-01 to 2026-12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Local council community grant: $48,000, 2026-07 to 2027-06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Philanthropic foundation: $90,000, 2025-10 to 2027-03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Federal health program: $120,000, 2026-04 to 2027-03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volunteering grant: $36,000, 2026-03 to 2027-02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income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recognised as the money is spent on the program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Unspent 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instalments received but not yet spent are a liability (grants received in advance)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including the spring appeal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gala: income and costs in the same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spending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75% wages, the rest program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13 of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none: registered charity, income-tax exempt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paid the following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 less unspent grant money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runway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 ÷ this month's cash spending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Reserves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 months of spending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excluded throughout, for simplicity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14 of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