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of budget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8A6D3B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B42318"/>
              </a:solidFill>
            </c:spPr>
          </c:dPt>
          <c:cat>
            <c:strRef>
              <c:f>Sheet1!$A$2:$A$7</c:f>
              <c:strCache>
                <c:ptCount val="6"/>
                <c:pt idx="0">
                  <c:v>Mental health first aid</c:v>
                </c:pt>
                <c:pt idx="1">
                  <c:v>Housing support</c:v>
                </c:pt>
                <c:pt idx="2">
                  <c:v>Digital literacy</c:v>
                </c:pt>
                <c:pt idx="3">
                  <c:v>Community meals</c:v>
                </c:pt>
                <c:pt idx="4">
                  <c:v>Volunteer coordinator</c:v>
                </c:pt>
                <c:pt idx="5">
                  <c:v>Youth outreach</c:v>
                </c:pt>
              </c:strCache>
            </c:strRef>
          </c:cat>
          <c:val>
            <c:numRef>
              <c:f>Sheet1!$B$2:$B$7</c:f>
              <c:numCache>
                <c:formatCode>0.0"% over";0.0"% under";"on budget"</c:formatCode>
                <c:ptCount val="6"/>
                <c:pt idx="0">
                  <c:v>-4.7</c:v>
                </c:pt>
                <c:pt idx="1">
                  <c:v>-4.6</c:v>
                </c:pt>
                <c:pt idx="2">
                  <c:v>-0.7</c:v>
                </c:pt>
                <c:pt idx="3">
                  <c:v>0.0</c:v>
                </c:pt>
                <c:pt idx="4">
                  <c:v>0.0</c:v>
                </c:pt>
                <c:pt idx="5">
                  <c:v>2.1</c:v>
                </c:pt>
              </c:numCache>
            </c:numRef>
          </c:val>
        </c:ser>
        <c:dLbls>
          <c:numFmt formatCode="0.0&quot;% over&quot;;0.0&quot;% under&quot;;&quot;on budget&quot;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415"/>
          <c:min val="-5.404999999999999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$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8A6D3B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B42318"/>
              </a:solidFill>
            </c:spPr>
          </c:dPt>
          <c:cat>
            <c:strRef>
              <c:f>Sheet1!$A$2:$A$7</c:f>
              <c:strCache>
                <c:ptCount val="6"/>
                <c:pt idx="0">
                  <c:v>Mental health first aid</c:v>
                </c:pt>
                <c:pt idx="1">
                  <c:v>Housing support</c:v>
                </c:pt>
                <c:pt idx="2">
                  <c:v>Digital literacy</c:v>
                </c:pt>
                <c:pt idx="3">
                  <c:v>Community meals</c:v>
                </c:pt>
                <c:pt idx="4">
                  <c:v>Volunteer coordinator</c:v>
                </c:pt>
                <c:pt idx="5">
                  <c:v>Youth outreach</c:v>
                </c:pt>
              </c:strCache>
            </c:strRef>
          </c:cat>
          <c:val>
            <c:numRef>
              <c:f>Sheet1!$B$2:$B$7</c:f>
              <c:numCache>
                <c:formatCode>$#,##0" over";$#,##0" under";"on budget"</c:formatCode>
                <c:ptCount val="6"/>
                <c:pt idx="0">
                  <c:v>-2800</c:v>
                </c:pt>
                <c:pt idx="1">
                  <c:v>-12300</c:v>
                </c:pt>
                <c:pt idx="2">
                  <c:v>-400</c:v>
                </c:pt>
                <c:pt idx="3">
                  <c:v>0</c:v>
                </c:pt>
                <c:pt idx="4">
                  <c:v>0</c:v>
                </c:pt>
                <c:pt idx="5">
                  <c:v>6300</c:v>
                </c:pt>
              </c:numCache>
            </c:numRef>
          </c:val>
        </c:ser>
        <c:dLbls>
          <c:numFmt formatCode="$#,##0&quot; over&quot;;$#,##0&quot; under&quot;;&quot;on budget&quot;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244.999999999999"/>
          <c:min val="-14144.999999999998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Monthly report pack, September 2026. Sample Community Services Ltd. A Brisbane community services charity funded by six grants, donations, events and program fees. About 18 staff. Registered charity, income-tax exempt.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fourth sheet: September 2026 vs August 2026: Cost to raise a dollar, September 20¢; Unrestricted cash runway 2.0 months; Grants ending in 6 months $117,300.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grant: over or under budget to 30 September 2026. % of budget · Spending to date against budget to date (the grant spread evenly over its months). Over budget in red, under budget in green; within 1% in amber.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grant: over or under budget to 30 September 2026. $ · Spending to date against budget to date (the grant spread evenly over its months). Over budget in red, under budget in green; within 1% in amber.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it's worked out: Cost to raise a dollar. Fundraising costs ÷ money raised (grants, donations, events), in cents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it's worked out: Unrestricted cash runway. (Cash at bank − unspent grant money) ÷ this month's cash spending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it's worked out: Grants ending in the next 6 months. Grant total − spent to date, for each grant ending soon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Income and expenditure, September 2026 (1 of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Income and expenditure, September 2026 (2 of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Balance sheet at 30 September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Cash flow, September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Grants at 30 September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Assumptions: The organisation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Assumptions: Grants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Assumptions: Other income and costs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Assumptions: Cash and balance sheet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Monthly report pack, September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A Brisbane community services charity funded by six grants, donations, events and program fees. About 18 staff. Registered charity, income-tax exempt.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2026: Locked. September 2026 is locked (closed 2 Oct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2026: Locked. August 2026 is locked (closed 2 Sep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nfp-sample-statements.pptx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10:34am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The fourth sheet: September 2026 vs August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Monthly report pack, September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Cost to raise a dollar, September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B42318"/>
                </a:solidFill>
                <a:latin typeface="Roboto"/>
              </a:rPr>
              <a:t>20¢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▲ from 13¢ in Aug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2498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29658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Unrestricted cash runway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B42318"/>
                </a:solidFill>
                <a:latin typeface="Roboto"/>
              </a:rPr>
              <a:t>2.0 months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▼ from 2.2 months in Aug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64956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Grants ending in 6 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956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B42318"/>
                </a:solidFill>
                <a:latin typeface="Roboto"/>
              </a:rPr>
              <a:t>$117,300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to spend in 6 months · 2 grants ending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nfp-sample-statements.pptx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10:34am · Sample data · Made with Python (python-pptx)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Each grant: over or under budget to 30 September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Monthly report pack,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% of budget · Spending to date against budget to date (the grant spread evenly over its months). Over budget in red, under budget in green; within 1% in amber.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9136"/>
          <a:ext cx="11277295" cy="43373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nfp-sample-statements.pptx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10:34am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Each grant: over or under budget to 30 September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Monthly report pack,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$ · Spending to date against budget to date (the grant spread evenly over its months). Over budget in red, under budget in green; within 1% in amber.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9136"/>
          <a:ext cx="11277295" cy="43373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nfp-sample-statements.pptx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10:34am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it's worked out: Cost to raise a dollar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Monthly report pack,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Fundraising costs ÷ money raised (grants, donations, events), in cents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78636"/>
          <a:ext cx="1127729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Grant writing and reporting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Donor campaigns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$5,400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Event costs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$16,900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Fundraising costs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$29,400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$11,700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Grant income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$77,000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$73,700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Donations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$27,900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$18,400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Fundraising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$41,600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Money raised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$146,500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$92,100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Cost per dollar raised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13¢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nfp-sample-statements.pptx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10:34am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it's worked out: Unrestricted cash runway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Monthly report pack,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(Cash at bank − unspent grant money) ÷ this month's cash spending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78636"/>
          <a:ext cx="1127729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Cash at bank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$480,780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$525,675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Less unspent grant money (belongs to funders' programs)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($156,100)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($221,900)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Unrestricted cash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$324,680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$303,775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Cash spending in the month (expenses less depreciation)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$162,900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$141,200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Runway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2.0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2.2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nfp-sample-statements.pptx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10:34am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it's worked out: Grants ending in the next 6 months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Monthly report pack,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total − spent to date, for each grant ending soon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78636"/>
          <a:ext cx="1127729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Still to spend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Housing support (ends 31 Dec 2026)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$102,300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Volunteer coordinator (ends 28 Feb 2027)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$15,000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still to spend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$117,300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nfp-sample-statements.pptx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10:34am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Income and expenditure, September 2026 (1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Monthly report pack,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Change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Youth outreach grant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22,800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Housing support grant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31,200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30,500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Community meals grant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Digital literacy grant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4,900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(300)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Mental health first aid grant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Volunteer coordinator grant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Donations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27,900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18,400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Fundraising events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41,600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41,600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Program fees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28,300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26,800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Interest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1,380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1,450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(70)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income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176,180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120,350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55,830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Grant-funded program wages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(57,750)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(55,275)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(2,475)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Grant-funded program costs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(19,250)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(18,425)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(825)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Program delivery wages (untied)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(14,500)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(14,000)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(500)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nfp-sample-statements.pptx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10:34am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Income and expenditure, September 2026 (2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Monthly report pack,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435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Change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Program costs (untied)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(6,100)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(5,500)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(600)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program spend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(97,600)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(93,200)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(4,400)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Grant writing and reporting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(7,100)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(7,100)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Donor campaigns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(5,400)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(2,200)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(3,200)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Event costs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(16,900)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(2,400)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(14,500)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fundraising costs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(29,400)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(11,700)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(17,700)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Administration wages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(18,300)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(18,300)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Occupancy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(10,000)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(10,000)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Other administration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(7,600)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(8,000)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administration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(35,900)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(36,300)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400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Depreciation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(2,900)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(2,900)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expenses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(165,800)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(144,100)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(21,700)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Surplus for the 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10,380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(23,750)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34,130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nfp-sample-statements.pptx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10:34am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9 of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Balance sheet at 30 September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Monthly report pack,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435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Change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Cash at bank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480,780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525,675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(44,895)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Program fees receivable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10,400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9,800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Grants receivable (spent ahead of instalment)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Prepayments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21,000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21,000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current assets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533,080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566,175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(33,095)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Vehicles and equipment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172,200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175,100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(2,900)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assets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705,280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741,275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(35,995)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Payables (bills due next month)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65,250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46,525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18,725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Grants received in advance (unspent)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156,100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221,900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(65,800)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Employee leave provisions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166,600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165,900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liabilities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387,950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434,325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(46,375)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Net assets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317,330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306,950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10,380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Accumulated funds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317,330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306,950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10,380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nfp-sample-statements.pptx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10:34am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10 of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Cash flow, September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Monthly report pack,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Change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Grant instalments received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Donations and fundraising received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69,500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18,400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51,100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Program fees received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27,700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26,100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Interest received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1,380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1,450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(70)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Payments to suppliers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(46,525)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(36,500)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(10,025)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Payments to employees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(96,950)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(93,775)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(3,175)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Net cash from operating activities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(44,895)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(84,325)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39,430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Purchase of vehicles and equipment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Net cash from investing activities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Net change in cash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(44,895)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(84,325)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39,430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Cash at start of 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525,675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(84,325)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Cash at end of month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480,780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525,675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(44,895)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nfp-sample-statements.pptx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10:34am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11 of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Grants at 30 September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Monthly report pack,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7484"/>
                <a:gridCol w="867484"/>
                <a:gridCol w="867484"/>
                <a:gridCol w="867484"/>
                <a:gridCol w="867484"/>
                <a:gridCol w="867484"/>
                <a:gridCol w="867484"/>
                <a:gridCol w="867484"/>
                <a:gridCol w="867484"/>
                <a:gridCol w="867484"/>
                <a:gridCol w="867484"/>
                <a:gridCol w="867484"/>
                <a:gridCol w="867487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Program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Funder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Start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End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Received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Spent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Spent Aug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Spent Sep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Budget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Spend vs budget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Still to spend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Months left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Youth outreach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State Department of Families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2025-07-01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2027-06-30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306,300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22,800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173,700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Housing support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State Housing Program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360,000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2026-01-01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2026-12-31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360,000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257,700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30,500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31,200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270,000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95.4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102,300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Community meals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Local council community grant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2026-07-01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2027-06-30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Digital literacy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Philanthropic foundation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90,000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2025-10-01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2027-03-31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45,000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59,600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4,900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60,000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99.3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30,400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Mental health first aid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Federal health program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120,000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2026-04-01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2027-03-31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57,200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62,800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Volunteer coordinator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State volunteering grant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36,000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2026-03-01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2027-02-28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36,000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21,000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21,000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100.0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15,000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nfp-sample-statements.pptx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10:34am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12 of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Assumptions: The organisation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Monthly report pack,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4" cy="93268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08734"/>
                <a:gridCol w="766856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What it 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A Brisbane community services charity funded by six grants, donations, events and program fees. About 18 staff. Registered charity, income-tax exempt.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Reporting month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September 2026, compared with August 2026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Financial 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FY2027: 1 July 2026 to 30 June 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nfp-sample-statements.pptx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10:34am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13 of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Assumptions: Grants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Monthly report pack,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4" cy="248716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08734"/>
                <a:gridCol w="766856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Youth outreach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State Department of Families: $480,000, 2025-07 to 2027-06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Housing support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State Housing Program: $360,000, 2026-01 to 2026-12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Community meals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Local council community grant: $48,000, 2026-07 to 2027-06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Digital literacy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Philanthropic foundation: $90,000, 2025-10 to 2027-03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Mental health first aid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Federal health program: $120,000, 2026-04 to 2027-03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Volunteer coordinator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State volunteering grant: $36,000, 2026-03 to 2027-02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Grant income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recognised as the money is spent on the program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Unspent grants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instalments received but not yet spent are a liability (grants received in advance)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nfp-sample-statements.pptx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10:34am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14 of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Assumptions: Other income and costs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Monthly report pack,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4" cy="124358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08734"/>
                <a:gridCol w="766856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Donations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including the spring appeal in September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Fundraising event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September gala: income and costs in the same month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Grant-funded spending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75% wages, the rest program costs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Income tax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none: registered charity, income-tax exempt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nfp-sample-statements.pptx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10:34am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15 of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Assumptions: Cash and balance sheet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Monthly report pack,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4" cy="15544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08734"/>
                <a:gridCol w="766856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Suppliers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paid the following 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Unrestricted cash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cash at bank less unspent grant money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Cash runway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unrestricted cash ÷ this month's cash spending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Reserves target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 months of spending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excluded throughout, for simplicity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nfp-sample-statements.pptx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10:34am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16 of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