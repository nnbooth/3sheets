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$#,##0;[Red]($#,##0);"-"</c:formatCode>
                <c:ptCount val="19"/>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0.0"%";[Red](0.0"%")</c:formatCode>
                <c:ptCount val="19"/>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$#,##0;[Red]($#,##0);"-"</c:formatCode>
                <c:ptCount val="19"/>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0.0"%";[Red](0.0"%")</c:formatCode>
                <c:ptCount val="19"/>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April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March 2026: Locked. March 2026 is locked (closed 2 Apr 2026). These numbers won't change.</a:t>
            </a:r>
          </a:p>
          <a:p>
            <a:pPr>
              <a:defRPr>
                <a:latin typeface="Roboto"/>
              </a:defRPr>
            </a:pPr>
            <a:r>
              <a:rPr sz="1100" b="0">
                <a:solidFill>
                  <a:srgbClr val="5F6F63"/>
                </a:solidFill>
                <a:latin typeface="Roboto"/>
              </a:rPr>
              <a:t>April 2026: Locked. April 2026 is locked (closed 5 May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April's jobs made $68,843 gross margin (41.7%). Technician time not charged to jobs took $6,456 and overheads $59,290, leaving $3,097 profit before tax (1.9% of revenue). To cover overheads, jobs need a 39.8%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April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$68,843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$48,144</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$6,456</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$62,387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$59,290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$3,097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$164,987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41.7%</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1.9%</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39.8%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32.3%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$164,987 against $124,705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$1,610,581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$605,185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$1,610,581 this financial year to date (Jul to Apr 2026). Maintenance contracts make the highest gross margin (59.5%); Installations the lowest (28.4%). The business needs 39.8%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28.4% gross margin, below the 39.8%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$37,500 against $27,930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$355,300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$211,424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$355,300 this financial year to date, at a 59.5% gross margin (above the 37.6%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19.7 points clear of the 39.8%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$104,400 against $74,900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$1,011,500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$287,262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$1,011,500 this financial year to date, at a 28.4% gross margin (below the 37.6%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28.4% gross margin, below the 39.8%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$23,087 against $21,875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$243,781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$106,499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$243,781 this financial year to date, at a 43.7% gross margin (above the 37.6%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3.8 points clear of the 39.8%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Apr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$355,300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$211,424</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$1,011,500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$287,262</a:t>
                      </a:r>
                    </a:p>
                  </a:txBody>
                  <a:tcPr>
                    <a:solidFill>
                      <a:srgbClr val="F7FAF7"/>
                    </a:solidFill>
                  </a:tcPr>
                </a:tc>
                <a:tc>
                  <a:txBody>
                    <a:bodyPr/>
                    <a:lstStyle/>
                    <a:p>
                      <a:pPr algn="r">
                        <a:defRPr>
                          <a:latin typeface="Roboto"/>
                        </a:defRPr>
                      </a:pPr>
                      <a:r>
                        <a:rPr sz="1050">
                          <a:solidFill>
                            <a:srgbClr val="25342A"/>
                          </a:solidFill>
                          <a:latin typeface="Roboto"/>
                        </a:rPr>
                        <a:t>28.4%</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$243,781</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$106,499</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$1,610,581</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$605,185</a:t>
                      </a:r>
                    </a:p>
                  </a:txBody>
                  <a:tcPr>
                    <a:solidFill>
                      <a:srgbClr val="F7FAF7"/>
                    </a:solidFill>
                  </a:tcPr>
                </a:tc>
                <a:tc>
                  <a:txBody>
                    <a:bodyPr/>
                    <a:lstStyle/>
                    <a:p>
                      <a:pPr algn="r">
                        <a:defRPr>
                          <a:latin typeface="Roboto"/>
                        </a:defRPr>
                      </a:pPr>
                      <a:r>
                        <a:rPr sz="1050" b="1">
                          <a:solidFill>
                            <a:srgbClr val="25342A"/>
                          </a:solidFill>
                          <a:latin typeface="Roboto"/>
                        </a:rPr>
                        <a:t>37.6%</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April's client work made $52,730 gross margin (65.4%). Consultant time not charged to client work took $19,740 and overheads $51,660, leaving ($18,670) profit before tax ((23.2%) of revenue). To cover overheads, client work needs a 88.6%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April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$52,730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$26,760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$19,740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$32,990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$51,660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($18,670)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$80,590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65.4%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(23.2%)</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88.6%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26.0%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$80,590 against $63,970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$814,830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$521,490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$814,830 this financial year to date (Jul to Apr 2026). Training makes the highest gross margin (74.6%); Projects the lowest (61.6%). The business needs 88.6%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74.6% gross margin, the most profitable work you do. Projects: 61.6% gross margin, below the 88.6%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25.3%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$47,090 against $37,570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$509,230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$313,630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$509,230 this financial year to date, at a 61.6% gross margin (below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61.6% gross margin, below the 88.6%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29.8%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$28,300 against $21,800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$235,000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66.0%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$155,200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$235,000 this financial year to date, at a 66.0%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66.0% gross margin, below the 88.6%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13.0%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$5,200 against $4,600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$70,600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74.6%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$52,660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$70,600 this financial year to date, at a 74.6%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74.6% gross margin, below the 88.6%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Apr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$509,230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$313,630</a:t>
                      </a:r>
                    </a:p>
                  </a:txBody>
                  <a:tcPr>
                    <a:solidFill>
                      <a:srgbClr val="FFFFFF"/>
                    </a:solidFill>
                  </a:tcPr>
                </a:tc>
                <a:tc>
                  <a:txBody>
                    <a:bodyPr/>
                    <a:lstStyle/>
                    <a:p>
                      <a:pPr algn="r">
                        <a:defRPr>
                          <a:latin typeface="Roboto"/>
                        </a:defRPr>
                      </a:pPr>
                      <a:r>
                        <a:rPr sz="1050">
                          <a:solidFill>
                            <a:srgbClr val="25342A"/>
                          </a:solidFill>
                          <a:latin typeface="Roboto"/>
                        </a:rPr>
                        <a:t>61.6%</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$235,000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$155,200</a:t>
                      </a:r>
                    </a:p>
                  </a:txBody>
                  <a:tcPr>
                    <a:solidFill>
                      <a:srgbClr val="F7FAF7"/>
                    </a:solidFill>
                  </a:tcPr>
                </a:tc>
                <a:tc>
                  <a:txBody>
                    <a:bodyPr/>
                    <a:lstStyle/>
                    <a:p>
                      <a:pPr algn="r">
                        <a:defRPr>
                          <a:latin typeface="Roboto"/>
                        </a:defRPr>
                      </a:pPr>
                      <a:r>
                        <a:rPr sz="1050">
                          <a:solidFill>
                            <a:srgbClr val="25342A"/>
                          </a:solidFill>
                          <a:latin typeface="Roboto"/>
                        </a:rPr>
                        <a:t>66.0%</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$70,600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$52,660</a:t>
                      </a:r>
                    </a:p>
                  </a:txBody>
                  <a:tcPr>
                    <a:solidFill>
                      <a:srgbClr val="FFFFFF"/>
                    </a:solidFill>
                  </a:tcPr>
                </a:tc>
                <a:tc>
                  <a:txBody>
                    <a:bodyPr/>
                    <a:lstStyle/>
                    <a:p>
                      <a:pPr algn="r">
                        <a:defRPr>
                          <a:latin typeface="Roboto"/>
                        </a:defRPr>
                      </a:pPr>
                      <a:r>
                        <a:rPr sz="1050">
                          <a:solidFill>
                            <a:srgbClr val="25342A"/>
                          </a:solidFill>
                          <a:latin typeface="Roboto"/>
                        </a:rPr>
                        <a:t>74.6%</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$814,830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$521,490</a:t>
                      </a:r>
                    </a:p>
                  </a:txBody>
                  <a:tcPr>
                    <a:solidFill>
                      <a:srgbClr val="F7FAF7"/>
                    </a:solidFill>
                  </a:tcPr>
                </a:tc>
                <a:tc>
                  <a:txBody>
                    <a:bodyPr/>
                    <a:lstStyle/>
                    <a:p>
                      <a:pPr algn="r">
                        <a:defRPr>
                          <a:latin typeface="Roboto"/>
                        </a:defRPr>
                      </a:pPr>
                      <a:r>
                        <a:rPr sz="1050" b="1">
                          <a:solidFill>
                            <a:srgbClr val="25342A"/>
                          </a:solidFill>
                          <a:latin typeface="Roboto"/>
                        </a:rPr>
                        <a:t>64.0%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