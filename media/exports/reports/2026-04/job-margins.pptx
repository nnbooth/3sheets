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34.9</c:v>
                </c:pt>
                <c:pt idx="1">
                  <c:v>43.8</c:v>
                </c:pt>
                <c:pt idx="2">
                  <c:v>59.6</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36384</c:v>
                </c:pt>
                <c:pt idx="1">
                  <c:v>10117</c:v>
                </c:pt>
                <c:pt idx="2">
                  <c:v>22342</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cat>
            <c:strRef>
              <c:f>Sheet1!$A$2:$A$14</c:f>
              <c:strCache>
                <c:ptCount val="13"/>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pt idx="12">
                  <c:v>Carindale vet clinic</c:v>
                </c:pt>
              </c:strCache>
            </c:strRef>
          </c:cat>
          <c:val>
            <c:numRef>
              <c:f>Sheet1!$B$2:$B$14</c:f>
              <c:numCache>
                <c:formatCode>0.0"%";[Red](0.0"%")</c:formatCode>
                <c:ptCount val="13"/>
                <c:pt idx="0">
                  <c:v>58.2</c:v>
                </c:pt>
                <c:pt idx="1">
                  <c:v>58.8</c:v>
                </c:pt>
                <c:pt idx="2">
                  <c:v>58.8</c:v>
                </c:pt>
                <c:pt idx="3">
                  <c:v>59.0</c:v>
                </c:pt>
                <c:pt idx="4">
                  <c:v>59.0</c:v>
                </c:pt>
                <c:pt idx="5">
                  <c:v>59.4</c:v>
                </c:pt>
                <c:pt idx="6">
                  <c:v>59.9</c:v>
                </c:pt>
                <c:pt idx="7">
                  <c:v>59.9</c:v>
                </c:pt>
                <c:pt idx="8">
                  <c:v>59.9</c:v>
                </c:pt>
                <c:pt idx="9">
                  <c:v>60.0</c:v>
                </c:pt>
                <c:pt idx="10">
                  <c:v>60.0</c:v>
                </c:pt>
                <c:pt idx="11">
                  <c:v>61.1</c:v>
                </c:pt>
                <c:pt idx="12">
                  <c:v>62.2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cat>
            <c:strRef>
              <c:f>Sheet1!$A$2:$A$14</c:f>
              <c:strCache>
                <c:ptCount val="13"/>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pt idx="12">
                  <c:v>Carindale vet clinic</c:v>
                </c:pt>
              </c:strCache>
            </c:strRef>
          </c:cat>
          <c:val>
            <c:numRef>
              <c:f>Sheet1!$B$2:$B$14</c:f>
              <c:numCache>
                <c:formatCode>$#,##0;[Red]($#,##0);"-"</c:formatCode>
                <c:ptCount val="13"/>
                <c:pt idx="0">
                  <c:v>1398</c:v>
                </c:pt>
                <c:pt idx="1">
                  <c:v>1530</c:v>
                </c:pt>
                <c:pt idx="2">
                  <c:v>2294</c:v>
                </c:pt>
                <c:pt idx="3">
                  <c:v>2478</c:v>
                </c:pt>
                <c:pt idx="4">
                  <c:v>1652</c:v>
                </c:pt>
                <c:pt idx="5">
                  <c:v>2436</c:v>
                </c:pt>
                <c:pt idx="6">
                  <c:v>2038</c:v>
                </c:pt>
                <c:pt idx="7">
                  <c:v>1916</c:v>
                </c:pt>
                <c:pt idx="8">
                  <c:v>958</c:v>
                </c:pt>
                <c:pt idx="9">
                  <c:v>1080</c:v>
                </c:pt>
                <c:pt idx="10">
                  <c:v>2160</c:v>
                </c:pt>
                <c:pt idx="11">
                  <c:v>1344</c:v>
                </c:pt>
                <c:pt idx="12">
                  <c:v>1058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Logan Central school switchboard upgrade</c:v>
                </c:pt>
                <c:pt idx="1">
                  <c:v>Rocklea warehouse EV chargers</c:v>
                </c:pt>
                <c:pt idx="2">
                  <c:v>Kedron warehouse data cabling</c:v>
                </c:pt>
              </c:strCache>
            </c:strRef>
          </c:cat>
          <c:val>
            <c:numRef>
              <c:f>Sheet1!$B$2:$B$4</c:f>
              <c:numCache>
                <c:formatCode>0.0"%";[Red](0.0"%")</c:formatCode>
                <c:ptCount val="3"/>
                <c:pt idx="0">
                  <c:v>29.5</c:v>
                </c:pt>
                <c:pt idx="1">
                  <c:v>35.0</c:v>
                </c:pt>
                <c:pt idx="2">
                  <c:v>39.8</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7D8790"/>
              </a:solidFill>
            </c:spPr>
          </c:dPt>
          <c:dPt>
            <c:idx val="2"/>
            <c:spPr>
              <a:solidFill>
                <a:srgbClr val="0E9F6E"/>
              </a:solidFill>
            </c:spPr>
          </c:dPt>
          <c:cat>
            <c:strRef>
              <c:f>Sheet1!$A$2:$A$4</c:f>
              <c:strCache>
                <c:ptCount val="3"/>
                <c:pt idx="0">
                  <c:v>Logan Central school switchboard upgrade</c:v>
                </c:pt>
                <c:pt idx="1">
                  <c:v>Rocklea warehouse EV chargers</c:v>
                </c:pt>
                <c:pt idx="2">
                  <c:v>Kedron warehouse data cabling</c:v>
                </c:pt>
              </c:strCache>
            </c:strRef>
          </c:cat>
          <c:val>
            <c:numRef>
              <c:f>Sheet1!$B$2:$B$4</c:f>
              <c:numCache>
                <c:formatCode>$#,##0;[Red]($#,##0);"-"</c:formatCode>
                <c:ptCount val="3"/>
                <c:pt idx="0">
                  <c:v>11224</c:v>
                </c:pt>
                <c:pt idx="1">
                  <c:v>9126</c:v>
                </c:pt>
                <c:pt idx="2">
                  <c:v>16034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(4)</c:v>
                </c:pt>
                <c:pt idx="1">
                  <c:v>1.5-hour call-outs (6)</c:v>
                </c:pt>
                <c:pt idx="2">
                  <c:v>2-hour call-outs (12)</c:v>
                </c:pt>
                <c:pt idx="3">
                  <c:v>2.5-hour call-outs (8)</c:v>
                </c:pt>
                <c:pt idx="4">
                  <c:v>4-hour call-outs (8)</c:v>
                </c:pt>
                <c:pt idx="5">
                  <c:v>3-hour call-outs (7)</c:v>
                </c:pt>
              </c:strCache>
            </c:strRef>
          </c:cat>
          <c:val>
            <c:numRef>
              <c:f>Sheet1!$B$2:$B$7</c:f>
              <c:numCache>
                <c:formatCode>0.0"%";[Red](0.0"%")</c:formatCode>
                <c:ptCount val="6"/>
                <c:pt idx="0">
                  <c:v>38.7</c:v>
                </c:pt>
                <c:pt idx="1">
                  <c:v>38.7</c:v>
                </c:pt>
                <c:pt idx="2">
                  <c:v>42.0</c:v>
                </c:pt>
                <c:pt idx="3">
                  <c:v>44.4</c:v>
                </c:pt>
                <c:pt idx="4">
                  <c:v>46.2</c:v>
                </c:pt>
                <c:pt idx="5">
                  <c:v>46.7</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(4)</c:v>
                </c:pt>
                <c:pt idx="1">
                  <c:v>1.5-hour call-outs (6)</c:v>
                </c:pt>
                <c:pt idx="2">
                  <c:v>2-hour call-outs (12)</c:v>
                </c:pt>
                <c:pt idx="3">
                  <c:v>2.5-hour call-outs (8)</c:v>
                </c:pt>
                <c:pt idx="4">
                  <c:v>4-hour call-outs (8)</c:v>
                </c:pt>
                <c:pt idx="5">
                  <c:v>3-hour call-outs (7)</c:v>
                </c:pt>
              </c:strCache>
            </c:strRef>
          </c:cat>
          <c:val>
            <c:numRef>
              <c:f>Sheet1!$B$2:$B$7</c:f>
              <c:numCache>
                <c:formatCode>$#,##0;[Red]($#,##0);"-"</c:formatCode>
                <c:ptCount val="6"/>
                <c:pt idx="0">
                  <c:v>431</c:v>
                </c:pt>
                <c:pt idx="1">
                  <c:v>974</c:v>
                </c:pt>
                <c:pt idx="2">
                  <c:v>2316</c:v>
                </c:pt>
                <c:pt idx="3">
                  <c:v>1808</c:v>
                </c:pt>
                <c:pt idx="4">
                  <c:v>2782</c:v>
                </c:pt>
                <c:pt idx="5">
                  <c:v>1806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Sheet1!$A$2:$A$20</c:f>
              <c:strCache>
                <c:ptCount val="19"/>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strCache>
            </c:strRef>
          </c:cat>
          <c:val>
            <c:numRef>
              <c:f>Sheet1!$B$2:$B$20</c:f>
              <c:numCache>
                <c:formatCode>0.0"%";[Red](0.0"%")</c:formatCode>
                <c:ptCount val="19"/>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Sheet1!$A$2:$A$20</c:f>
              <c:strCache>
                <c:ptCount val="19"/>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strCache>
            </c:strRef>
          </c:cat>
          <c:val>
            <c:numRef>
              <c:f>Sheet1!$B$2:$B$20</c:f>
              <c:numCache>
                <c:formatCode>$#,##0;[Red]($#,##0);"-"</c:formatCode>
                <c:ptCount val="19"/>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pt idx="15">
                  <c:v>58190</c:v>
                </c:pt>
                <c:pt idx="16">
                  <c:v>75710</c:v>
                </c:pt>
                <c:pt idx="17">
                  <c:v>68158</c:v>
                </c:pt>
                <c:pt idx="18">
                  <c:v>68843</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April 2026. Every job's gross margin: revenue less materials, subcontractors and technician time at $68 an hour (fully loaded: wages and all on-costs).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March 2026: Locked. March 2026 is locked (closed 2 Apr 2026). These numbers won't change.</a:t>
            </a:r>
          </a:p>
          <a:p>
            <a:pPr>
              <a:defRPr>
                <a:latin typeface="Roboto"/>
              </a:defRPr>
            </a:pPr>
            <a:r>
              <a:rPr sz="1100" b="0">
                <a:solidFill>
                  <a:srgbClr val="5F6F63"/>
                </a:solidFill>
                <a:latin typeface="Roboto"/>
              </a:rPr>
              <a:t>April 2026: Locked. April 2026 is locked (closed 5 May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April's jobs made $68,843 gross margin (41.7%). Technician time not charged to jobs took $6,456 and overheads $59,290, leaving $3,097 profit before tax (1.9% of revenue). To cover overheads, jobs need a 39.8%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April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$68,843</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$48,144</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25342A"/>
                          </a:solidFill>
                          <a:latin typeface="Roboto"/>
                        </a:rPr>
                        <a:t>$6,456</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$62,387</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$59,290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$3,097</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$164,987</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41.7%</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1.9%</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39.8%</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All jobs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April · All jobs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41.7%</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March · All jobs</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35.6%</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jobs need to break even</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39.8%</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covers overheads and time not charged (April)</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April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 Target 35.0% is what to price for; break-even 39.8%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April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 Target 35.0% is what to price for; break-even 39.8%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 April maintenance contracts made a 59.6% job gross margin, installations made a 34.9% job gross margin, call-outs and repairs made a 43.8% job gross margin (technician time at $68 an hour, wages and all on-costs). Jobs need 39.8%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34.9% gross margin, 0.1 points under the 35.0% target: about $156 on $104,400 of revenue in April. It's below the 39.8% needed to cover overheads, too. Maintenance contracts: 59.6% gross margin, 24.6 points over the 35.0% target ($9,217 ahead on $37,500 in April).</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April · Maintenance contracts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59.6%</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March · Maintenance contracts</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59.6%</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jobs need to break even</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39.8%</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covers overheads and time not charged (April)</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April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 Target 35.0% is what to price for; break-even 39.8%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April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 Target 35.0% is what to price for; break-even 39.8%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13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The thinnest, Kangaroo Point townhouses: 58.2% gross margin, 23.3 points over the 35.0% target ($558 ahead on $2,400 in April). All maintenance contracts: 59.6% gross margin, 24.6 points over the 35.0% target ($9,217 ahead on $37,500 in April).</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April · Installations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34.9%</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March · Installations</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27.1%</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jobs need to break even</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39.8%</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covers overheads and time not charged (April)</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April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One target for every job for now. Target 35.0% is what to price for; break-even 39.8%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April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One target for every job for now. Target 35.0% is what to price for; break-even 39.8%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2 of the 3 installation jobs invoiced in April made less than the 35.0% job gross margin target. The Logan Central school switchboard upgrade made a 29.5% job gross margin: 132.0 h of technician time ($8,976) and $3,800 of subcontractors on a $38,000 job. Jobs need 39.8%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2 installations under the 35.0% target, worth about $2,085 between them on $64,100 of revenue. The biggest gap, Logan Central school switchboard upgrade: 29.5% gross margin, 5.5 points under the 35.0% target: about $2,076 on $38,000 of revenue in April. It's below the 39.8% needed to cover overheads, too.</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Call-outs and repairs</a:t>
            </a:r>
          </a:p>
        </p:txBody>
      </p:sp>
      <p:sp>
        <p:nvSpPr>
          <p:cNvPr id="5" name="Rectangle 4"/>
          <p:cNvSpPr/>
          <p:nvPr/>
        </p:nvSpPr>
        <p:spPr>
          <a:xfrm>
            <a:off x="457200"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Job gross margin, April · Call-outs and repairs</a:t>
            </a:r>
          </a:p>
        </p:txBody>
      </p:sp>
      <p:sp>
        <p:nvSpPr>
          <p:cNvPr id="7" name="TextBox 6"/>
          <p:cNvSpPr txBox="1"/>
          <p:nvPr/>
        </p:nvSpPr>
        <p:spPr>
          <a:xfrm>
            <a:off x="640080"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43.8%</a:t>
            </a:r>
          </a:p>
        </p:txBody>
      </p:sp>
      <p:sp>
        <p:nvSpPr>
          <p:cNvPr id="8" name="TextBox 7"/>
          <p:cNvSpPr txBox="1"/>
          <p:nvPr/>
        </p:nvSpPr>
        <p:spPr>
          <a:xfrm>
            <a:off x="640080"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9" name="Rectangle 8"/>
          <p:cNvSpPr/>
          <p:nvPr/>
        </p:nvSpPr>
        <p:spPr>
          <a:xfrm>
            <a:off x="2767523"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2950403"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Job gross margin, March · Call-outs and repairs</a:t>
            </a:r>
          </a:p>
        </p:txBody>
      </p:sp>
      <p:sp>
        <p:nvSpPr>
          <p:cNvPr id="11" name="TextBox 10"/>
          <p:cNvSpPr txBox="1"/>
          <p:nvPr/>
        </p:nvSpPr>
        <p:spPr>
          <a:xfrm>
            <a:off x="2950403"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43.5%</a:t>
            </a:r>
          </a:p>
        </p:txBody>
      </p:sp>
      <p:sp>
        <p:nvSpPr>
          <p:cNvPr id="12" name="TextBox 11"/>
          <p:cNvSpPr txBox="1"/>
          <p:nvPr/>
        </p:nvSpPr>
        <p:spPr>
          <a:xfrm>
            <a:off x="2950403"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target 35.0%</a:t>
            </a:r>
          </a:p>
        </p:txBody>
      </p:sp>
      <p:sp>
        <p:nvSpPr>
          <p:cNvPr id="13" name="Rectangle 12"/>
          <p:cNvSpPr/>
          <p:nvPr/>
        </p:nvSpPr>
        <p:spPr>
          <a:xfrm>
            <a:off x="5077846"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5260726"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Gross margin jobs need to break even</a:t>
            </a:r>
          </a:p>
        </p:txBody>
      </p:sp>
      <p:sp>
        <p:nvSpPr>
          <p:cNvPr id="15" name="TextBox 14"/>
          <p:cNvSpPr txBox="1"/>
          <p:nvPr/>
        </p:nvSpPr>
        <p:spPr>
          <a:xfrm>
            <a:off x="5260726"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39.8%</a:t>
            </a:r>
          </a:p>
        </p:txBody>
      </p:sp>
      <p:sp>
        <p:nvSpPr>
          <p:cNvPr id="16" name="TextBox 15"/>
          <p:cNvSpPr txBox="1"/>
          <p:nvPr/>
        </p:nvSpPr>
        <p:spPr>
          <a:xfrm>
            <a:off x="5260726"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covers overheads and time not charged (April)</a:t>
            </a:r>
          </a:p>
        </p:txBody>
      </p:sp>
      <p:sp>
        <p:nvSpPr>
          <p:cNvPr id="17" name="Rectangle 16"/>
          <p:cNvSpPr/>
          <p:nvPr/>
        </p:nvSpPr>
        <p:spPr>
          <a:xfrm>
            <a:off x="7388169"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8" name="TextBox 17"/>
          <p:cNvSpPr txBox="1"/>
          <p:nvPr/>
        </p:nvSpPr>
        <p:spPr>
          <a:xfrm>
            <a:off x="7571049"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Technician time charged, April</a:t>
            </a:r>
          </a:p>
        </p:txBody>
      </p:sp>
      <p:sp>
        <p:nvSpPr>
          <p:cNvPr id="19" name="TextBox 18"/>
          <p:cNvSpPr txBox="1"/>
          <p:nvPr/>
        </p:nvSpPr>
        <p:spPr>
          <a:xfrm>
            <a:off x="7571049"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$15,950</a:t>
            </a:r>
          </a:p>
        </p:txBody>
      </p:sp>
      <p:sp>
        <p:nvSpPr>
          <p:cNvPr id="20" name="TextBox 19"/>
          <p:cNvSpPr txBox="1"/>
          <p:nvPr/>
        </p:nvSpPr>
        <p:spPr>
          <a:xfrm>
            <a:off x="7571049"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69.1% of call-out revenue</a:t>
            </a:r>
          </a:p>
        </p:txBody>
      </p:sp>
      <p:sp>
        <p:nvSpPr>
          <p:cNvPr id="21" name="Rectangle 20"/>
          <p:cNvSpPr/>
          <p:nvPr/>
        </p:nvSpPr>
        <p:spPr>
          <a:xfrm>
            <a:off x="9698492" y="1645920"/>
            <a:ext cx="203600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22" name="TextBox 21"/>
          <p:cNvSpPr txBox="1"/>
          <p:nvPr/>
        </p:nvSpPr>
        <p:spPr>
          <a:xfrm>
            <a:off x="9881372" y="1783080"/>
            <a:ext cx="1670243" cy="457200"/>
          </a:xfrm>
          <a:prstGeom prst="rect">
            <a:avLst/>
          </a:prstGeom>
          <a:noFill/>
        </p:spPr>
        <p:txBody>
          <a:bodyPr wrap="square">
            <a:spAutoFit/>
          </a:bodyPr>
          <a:lstStyle/>
          <a:p>
            <a:pPr>
              <a:defRPr>
                <a:latin typeface="Roboto"/>
              </a:defRPr>
            </a:pPr>
            <a:r>
              <a:rPr sz="1200" b="0">
                <a:solidFill>
                  <a:srgbClr val="5F6F63"/>
                </a:solidFill>
                <a:latin typeface="Roboto"/>
              </a:rPr>
              <a:t>Materials charged, April</a:t>
            </a:r>
          </a:p>
        </p:txBody>
      </p:sp>
      <p:sp>
        <p:nvSpPr>
          <p:cNvPr id="23" name="TextBox 22"/>
          <p:cNvSpPr txBox="1"/>
          <p:nvPr/>
        </p:nvSpPr>
        <p:spPr>
          <a:xfrm>
            <a:off x="9881372" y="2240280"/>
            <a:ext cx="1670243" cy="731520"/>
          </a:xfrm>
          <a:prstGeom prst="rect">
            <a:avLst/>
          </a:prstGeom>
          <a:noFill/>
        </p:spPr>
        <p:txBody>
          <a:bodyPr wrap="square">
            <a:spAutoFit/>
          </a:bodyPr>
          <a:lstStyle/>
          <a:p>
            <a:pPr>
              <a:defRPr>
                <a:latin typeface="Roboto"/>
              </a:defRPr>
            </a:pPr>
            <a:r>
              <a:rPr sz="3000" b="1">
                <a:solidFill>
                  <a:srgbClr val="2F7A5D"/>
                </a:solidFill>
                <a:latin typeface="Roboto"/>
              </a:rPr>
              <a:t>$7,137</a:t>
            </a:r>
          </a:p>
        </p:txBody>
      </p:sp>
      <p:sp>
        <p:nvSpPr>
          <p:cNvPr id="24" name="TextBox 23"/>
          <p:cNvSpPr txBox="1"/>
          <p:nvPr/>
        </p:nvSpPr>
        <p:spPr>
          <a:xfrm>
            <a:off x="9881372" y="3017520"/>
            <a:ext cx="1670243" cy="548640"/>
          </a:xfrm>
          <a:prstGeom prst="rect">
            <a:avLst/>
          </a:prstGeom>
          <a:noFill/>
        </p:spPr>
        <p:txBody>
          <a:bodyPr wrap="square">
            <a:spAutoFit/>
          </a:bodyPr>
          <a:lstStyle/>
          <a:p>
            <a:pPr>
              <a:defRPr>
                <a:latin typeface="Roboto"/>
              </a:defRPr>
            </a:pPr>
            <a:r>
              <a:rPr sz="1100" b="0">
                <a:solidFill>
                  <a:srgbClr val="5F6F63"/>
                </a:solidFill>
                <a:latin typeface="Roboto"/>
              </a:rPr>
              <a:t>$5,490 at cost, plus 30%</a:t>
            </a:r>
          </a:p>
        </p:txBody>
      </p:sp>
      <p:sp>
        <p:nvSpPr>
          <p:cNvPr id="25" name="TextBox 24"/>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26" name="TextBox 25"/>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27" name="TextBox 26"/>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April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 Target 35.0% is what to price for; break-even 39.8%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April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 Target 35.0% is what to price for; break-even 39.8% only covers overheads and time not charged.</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45 call-outs in April billed $15,950 of technician time and $7,137 of materials ($5,490 at cost plus 30%), and made a 43.8% job gross margin between them. Gross margins run from 38.7% to 46.7%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call-outs: 43.8% gross margin, 8.8 points over the 35.0% target ($2,037 ahead on $23,087 in April).</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