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Installations</c:v>
                </c:pt>
                <c:pt idx="1">
                  <c:v>Call-outs and repairs</c:v>
                </c:pt>
                <c:pt idx="2">
                  <c:v>Maintenance contracts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41.8</c:v>
                </c:pt>
                <c:pt idx="1">
                  <c:v>48.3</c:v>
                </c:pt>
                <c:pt idx="2">
                  <c:v>63.9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3.48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dPt>
            <c:idx val="7"/>
            <c:spPr>
              <a:solidFill>
                <a:srgbClr val="0E9F6E"/>
              </a:solidFill>
            </c:spPr>
          </c:dPt>
          <c:dPt>
            <c:idx val="8"/>
            <c:spPr>
              <a:solidFill>
                <a:srgbClr val="0E9F6E"/>
              </a:solidFill>
            </c:spPr>
          </c:dPt>
          <c:dPt>
            <c:idx val="9"/>
            <c:spPr>
              <a:solidFill>
                <a:srgbClr val="0E9F6E"/>
              </a:solidFill>
            </c:spPr>
          </c:dPt>
          <c:dPt>
            <c:idx val="10"/>
            <c:spPr>
              <a:solidFill>
                <a:srgbClr val="0E9F6E"/>
              </a:solidFill>
            </c:spPr>
          </c:dPt>
          <c:dPt>
            <c:idx val="11"/>
            <c:spPr>
              <a:solidFill>
                <a:srgbClr val="0E9F6E"/>
              </a:solidFill>
            </c:spPr>
          </c:dPt>
          <c:dPt>
            <c:idx val="12"/>
            <c:spPr>
              <a:solidFill>
                <a:srgbClr val="0E9F6E"/>
              </a:solidFill>
            </c:spPr>
          </c:dPt>
          <c:cat>
            <c:strRef>
              <c:f>Sheet1!$A$2:$A$14</c:f>
              <c:strCache>
                <c:ptCount val="13"/>
                <c:pt idx="0">
                  <c:v>Kangaroo Point townhouses</c:v>
                </c:pt>
                <c:pt idx="1">
                  <c:v>West End brewery</c:v>
                </c:pt>
                <c:pt idx="2">
                  <c:v>Rocklea factory</c:v>
                </c:pt>
                <c:pt idx="3">
                  <c:v>Milton office tower</c:v>
                </c:pt>
                <c:pt idx="4">
                  <c:v>Bulimba school</c:v>
                </c:pt>
                <c:pt idx="5">
                  <c:v>Chermside retail centre</c:v>
                </c:pt>
                <c:pt idx="6">
                  <c:v>Southbank cafe group</c:v>
                </c:pt>
                <c:pt idx="7">
                  <c:v>Fortitude Valley hotel</c:v>
                </c:pt>
                <c:pt idx="8">
                  <c:v>Riverside Apartments (strata)</c:v>
                </c:pt>
                <c:pt idx="9">
                  <c:v>Newstead gym</c:v>
                </c:pt>
                <c:pt idx="10">
                  <c:v>Ashgrove aged care</c:v>
                </c:pt>
                <c:pt idx="11">
                  <c:v>Wynnum medical centre</c:v>
                </c:pt>
                <c:pt idx="12">
                  <c:v>Carindale vet clinic</c:v>
                </c:pt>
              </c:strCache>
            </c:strRef>
          </c:cat>
          <c:val>
            <c:numRef>
              <c:f>Sheet1!$B$2:$B$14</c:f>
              <c:numCache>
                <c:formatCode>0.0"%";[Red](0.0"%")</c:formatCode>
                <c:ptCount val="13"/>
                <c:pt idx="0">
                  <c:v>62.9</c:v>
                </c:pt>
                <c:pt idx="1">
                  <c:v>63.1</c:v>
                </c:pt>
                <c:pt idx="2">
                  <c:v>63.1</c:v>
                </c:pt>
                <c:pt idx="3">
                  <c:v>63.4</c:v>
                </c:pt>
                <c:pt idx="4">
                  <c:v>63.6</c:v>
                </c:pt>
                <c:pt idx="5">
                  <c:v>63.8</c:v>
                </c:pt>
                <c:pt idx="6">
                  <c:v>64.0</c:v>
                </c:pt>
                <c:pt idx="7">
                  <c:v>64.2</c:v>
                </c:pt>
                <c:pt idx="8">
                  <c:v>64.3</c:v>
                </c:pt>
                <c:pt idx="9">
                  <c:v>64.3</c:v>
                </c:pt>
                <c:pt idx="10">
                  <c:v>64.4</c:v>
                </c:pt>
                <c:pt idx="11">
                  <c:v>65.1</c:v>
                </c:pt>
                <c:pt idx="12">
                  <c:v>66.2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6.1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Logan Central school switchboard upgrade</c:v>
                </c:pt>
                <c:pt idx="1">
                  <c:v>Rocklea warehouse EV chargers</c:v>
                </c:pt>
                <c:pt idx="2">
                  <c:v>Kedron warehouse data cabling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37.1</c:v>
                </c:pt>
                <c:pt idx="1">
                  <c:v>41.9</c:v>
                </c:pt>
                <c:pt idx="2">
                  <c:v>46.2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3.1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1.5-hour call-outs (6)</c:v>
                </c:pt>
                <c:pt idx="1">
                  <c:v>1-hour call-outs (4)</c:v>
                </c:pt>
                <c:pt idx="2">
                  <c:v>2-hour call-outs (12)</c:v>
                </c:pt>
                <c:pt idx="3">
                  <c:v>2.5-hour call-outs (8)</c:v>
                </c:pt>
                <c:pt idx="4">
                  <c:v>4-hour call-outs (8)</c:v>
                </c:pt>
                <c:pt idx="5">
                  <c:v>3-hour call-outs (7)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42.3</c:v>
                </c:pt>
                <c:pt idx="1">
                  <c:v>42.4</c:v>
                </c:pt>
                <c:pt idx="2">
                  <c:v>46.3</c:v>
                </c:pt>
                <c:pt idx="3">
                  <c:v>49.0</c:v>
                </c:pt>
                <c:pt idx="4">
                  <c:v>50.9</c:v>
                </c:pt>
                <c:pt idx="5">
                  <c:v>51.5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9.22499999999999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0.0"%";[Red](0.0"%")</c:formatCode>
                <c:ptCount val="19"/>
                <c:pt idx="0">
                  <c:v>40.1</c:v>
                </c:pt>
                <c:pt idx="1">
                  <c:v>43.5</c:v>
                </c:pt>
                <c:pt idx="2">
                  <c:v>46.5</c:v>
                </c:pt>
                <c:pt idx="3">
                  <c:v>48.5</c:v>
                </c:pt>
                <c:pt idx="4">
                  <c:v>42.9</c:v>
                </c:pt>
                <c:pt idx="5">
                  <c:v>43.0</c:v>
                </c:pt>
                <c:pt idx="6">
                  <c:v>44.7</c:v>
                </c:pt>
                <c:pt idx="7">
                  <c:v>42.1</c:v>
                </c:pt>
                <c:pt idx="8">
                  <c:v>46.8</c:v>
                </c:pt>
                <c:pt idx="9">
                  <c:v>42.3</c:v>
                </c:pt>
                <c:pt idx="10">
                  <c:v>49.5</c:v>
                </c:pt>
                <c:pt idx="11">
                  <c:v>44.0</c:v>
                </c:pt>
                <c:pt idx="12">
                  <c:v>44.7</c:v>
                </c:pt>
                <c:pt idx="13">
                  <c:v>40.5</c:v>
                </c:pt>
                <c:pt idx="14">
                  <c:v>43.7</c:v>
                </c:pt>
                <c:pt idx="15">
                  <c:v>41.9</c:v>
                </c:pt>
                <c:pt idx="16">
                  <c:v>44.9</c:v>
                </c:pt>
                <c:pt idx="17">
                  <c:v>42.2</c:v>
                </c:pt>
                <c:pt idx="18">
                  <c:v>47.7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jobs actually make money?. Sample Electrical &amp; Air Pty Ltd. Period: April 2026.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gross margin to profit. April's jobs made $87,823 gross margin (47.7%). Technician time not charged to jobs took $24,208 and overheads $59,290, leaving $4,325 profit before tax (2.4% of revenue). To cover overheads, jobs need a 45.4%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jobs. Job gross margin, April · All jobs: 47.7%; Job gross margin, March · All jobs: 42.2%; Gross margin jobs need to break even: 45.4%. In April maintenance contracts made a 63.9% job gross margin, installations made a 41.8% job gross margin, call-outs and repairs made a 48.3% job gross margin (technician time at $68 an hour, wages and all on-costs). Jobs need 45.4% just to cover overheads. Installations: 41.8% gross margin, 6.8 points over the 35.0% target ($7,969 ahead on $116,900 in April). Maintenance contracts: 63.9% gross margin, 28.9 points over the 35.0% target ($12,142 ahead on $42,000 in April).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Maintenance contracts. Job gross margin, April · Maintenance contracts: 63.9%; Job gross margin, March · Maintenance contracts: 63.9%; Gross margin jobs need to break even: 45.4%. All 13 contracts made more than the 35.0% job gross margin target. The thinnest was Kangaroo Point townhouses at 62.9% job gross margin: 14.0 h of technician time on a $2,700 monthly fee. The thinnest, Kangaroo Point townhouses: 62.9% gross margin, 27.9 points over the 35.0% target ($753 ahead on $2,700 in April). All maintenance contracts: 63.9% gross margin, 28.9 points over the 35.0% target ($12,142 ahead on $42,000 in April).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on each maintenance contract, April 2026. The month's fee less materials and technician time at $68/hour. Target 35.0% is what to price for; break-even 45.4% only covers overheads and time not charged.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Installations. Job gross margin, April · Installations: 41.8%; Job gross margin, March · Installations: 34.9%; Gross margin jobs need to break even: 45.4%. 0 of the 3 installation jobs invoiced in April made less than the 35.0% job gross margin target. The Logan Central school switchboard upgrade made a 37.1% job gross margin: 132.0 h of technician time ($8,976) and $3,800 of subcontractors on a $42,600 job. Jobs need 45.4% gross margin just to cover overheads. Every installation cleared the 35.0% target. Most profitable: Kedron warehouse data cabling (46.2%).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Call-outs and repairs. Job gross margin, April · Call-outs and repairs: 48.3%; Job gross margin, March · Call-outs and repairs: 47.9%; Gross margin jobs need to break even: 45.4%; Technician time charged, April: $17,930; Materials charged, April: $7,137. 45 call-outs in April billed $17,930 of technician time and $7,137 of materials ($5,490 at cost plus 30%), and made a 48.3% job gross margin between them. Gross margins run from 42.3% to 51.5% by length: the hourly rate covers technician time comfortably, so the gross margin mostly moves with how much material goes on the van. All call-outs: 48.3% gross margin, 13.3 points over the 35.0% target ($3,324 ahead on $25,067 in April).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jobs actually make money?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From gross margin to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April's jobs made $87,823 gross margin (47.7%). Technician time not charged to jobs took $24,208 and overheads $59,290, leaving $4,325 profit before tax (2.4% of revenue). To cover overheads, jobs need a 45.4%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9136"/>
          <a:ext cx="11277294" cy="3419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$87,823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wages and on-costs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$72,352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charged to jobs (at 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$48,144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not charged to jobs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$24,208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$63,615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Overheads (operating expenses, depreciation, interest)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$59,290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$4,325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$183,967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jobs,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tax, % of 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jobs need just to cover overheads and time not charged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by type of job, April 2026.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April · All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47.7%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March · All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42.2%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(April)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6955705" y="2661025"/>
            <a:ext cx="0" cy="1657625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58425" y="431865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81400" y="2661025"/>
            <a:ext cx="0" cy="1657625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84120" y="455639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45.4%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911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02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April maintenance contracts made a 63.9% job gross margin, installations made a 41.8% job gross margin, call-outs and repairs made a 48.3% job gross margin (technician time at $68 an hour, wages and all on-costs). Jobs need 45.4%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9911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202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41.8% gross margin, 6.8 points over the 35.0% target ($7,969 ahead on $116,900 in April). Maintenance contracts: 63.9% gross margin, 28.9 points over the 35.0% target ($12,142 ahead on $42,000 in April).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April · Maintenance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March · Maintenance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(April)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13 contracts made more than the 35.0% job gross margin target. The thinnest was Kangaroo Point townhouses at 62.9% job gross margin: 14.0 h of technician time on a $2,700 monthly fee.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22860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thinnest, Kangaroo Point townhouses: 62.9% gross margin, 27.9 points over the 35.0% target ($753 ahead on $2,700 in April). All maintenance contracts: 63.9% gross margin, 28.9 points over the 35.0% target ($12,142 ahead on $42,000 in April).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on each maintenance contract, April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The month's fee less materials and technician time at $68/hour. Target 35.0% is what to price for; break-even 45.4% only covers overheads and time not charged.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6847469" y="1599255"/>
            <a:ext cx="0" cy="381682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50189" y="541608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41002" y="1599255"/>
            <a:ext cx="0" cy="3816827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43722" y="5653826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45.4%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each installation invoiced in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April · Installations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March · Installations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34.9%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(April)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8149236" y="2661025"/>
            <a:ext cx="0" cy="1657625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051956" y="431865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29579" y="2661025"/>
            <a:ext cx="0" cy="1657625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32299" y="455639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45.4%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91100"/>
            <a:ext cx="5501487" cy="13639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0 of the 3 installation jobs invoiced in April made less than the 35.0% job gross margin target. The Logan Central school switchboard upgrade made a 37.1% job gross margin: 132.0 h of technician time ($8,976) and $3,800 of subcontractors on a $42,600 job. Jobs need 45.4% gross margin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991100"/>
            <a:ext cx="5501487" cy="13639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Every installation cleared the 35.0% target. Most profitable: Kedron warehouse data cabling (46.2%).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call-outs by length,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April · Call-outs and repairs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8379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895539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March · Call-outs and repairs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47.9%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9558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196718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6718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718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(April)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737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497897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Technician time charged, April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7897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$17,930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7897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71.5% of call-out revenue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61916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799076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Materials charged, April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076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$7,137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076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$5,490 at cost, plus 30%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7" name="Connector 26"/>
          <p:cNvCxnSpPr/>
          <p:nvPr/>
        </p:nvCxnSpPr>
        <p:spPr>
          <a:xfrm>
            <a:off x="7705801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08521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54381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757101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45.4%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45 call-outs in April billed $17,930 of technician time and $7,137 of materials ($5,490 at cost plus 30%), and made a 48.3% job gross margin between them. Gross margins run from 42.3% to 51.5% by length: the hourly rate covers technician time comfortably, so the gross margin mostly moves with how much material goes on the van.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call-outs: 48.3% gross margin, 13.3 points over the 35.0% target ($3,324 ahead on $25,067 in April).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