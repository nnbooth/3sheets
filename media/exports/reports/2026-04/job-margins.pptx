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34.9</c:v>
                </c:pt>
                <c:pt idx="1">
                  <c:v>43.8</c:v>
                </c:pt>
                <c:pt idx="2">
                  <c:v>59.6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36384</c:v>
                </c:pt>
                <c:pt idx="1">
                  <c:v>10117</c:v>
                </c:pt>
                <c:pt idx="2">
                  <c:v>22342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0.0"%";[Red](0.0"%")</c:formatCode>
                <c:ptCount val="13"/>
                <c:pt idx="0">
                  <c:v>58.2</c:v>
                </c:pt>
                <c:pt idx="1">
                  <c:v>58.8</c:v>
                </c:pt>
                <c:pt idx="2">
                  <c:v>58.8</c:v>
                </c:pt>
                <c:pt idx="3">
                  <c:v>59.0</c:v>
                </c:pt>
                <c:pt idx="4">
                  <c:v>59.0</c:v>
                </c:pt>
                <c:pt idx="5">
                  <c:v>59.4</c:v>
                </c:pt>
                <c:pt idx="6">
                  <c:v>59.9</c:v>
                </c:pt>
                <c:pt idx="7">
                  <c:v>59.9</c:v>
                </c:pt>
                <c:pt idx="8">
                  <c:v>59.9</c:v>
                </c:pt>
                <c:pt idx="9">
                  <c:v>60.0</c:v>
                </c:pt>
                <c:pt idx="10">
                  <c:v>60.0</c:v>
                </c:pt>
                <c:pt idx="11">
                  <c:v>61.1</c:v>
                </c:pt>
                <c:pt idx="12">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$#,##0;[Red]($#,##0);"-"</c:formatCode>
                <c:ptCount val="13"/>
                <c:pt idx="0">
                  <c:v>1398</c:v>
                </c:pt>
                <c:pt idx="1">
                  <c:v>1530</c:v>
                </c:pt>
                <c:pt idx="2">
                  <c:v>2294</c:v>
                </c:pt>
                <c:pt idx="3">
                  <c:v>2478</c:v>
                </c:pt>
                <c:pt idx="4">
                  <c:v>1652</c:v>
                </c:pt>
                <c:pt idx="5">
                  <c:v>2436</c:v>
                </c:pt>
                <c:pt idx="6">
                  <c:v>2038</c:v>
                </c:pt>
                <c:pt idx="7">
                  <c:v>1916</c:v>
                </c:pt>
                <c:pt idx="8">
                  <c:v>958</c:v>
                </c:pt>
                <c:pt idx="9">
                  <c:v>1080</c:v>
                </c:pt>
                <c:pt idx="10">
                  <c:v>2160</c:v>
                </c:pt>
                <c:pt idx="11">
                  <c:v>1344</c:v>
                </c:pt>
                <c:pt idx="12">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Logan Central school switchboard upgrade</c:v>
                </c:pt>
                <c:pt idx="1">
                  <c:v>Rocklea warehouse EV chargers</c:v>
                </c:pt>
                <c:pt idx="2">
                  <c:v>Kedron warehouse data cabling</c:v>
                </c:pt>
              </c:strCache>
            </c:strRef>
          </c:cat>
          <c:val>
            <c:numRef>
              <c:f>Sheet1!$B$2:$B$4</c:f>
              <c:numCache>
                <c:formatCode>0.0"%";[Red](0.0"%")</c:formatCode>
                <c:ptCount val="3"/>
                <c:pt idx="0">
                  <c:v>29.5</c:v>
                </c:pt>
                <c:pt idx="1">
                  <c:v>35.0</c:v>
                </c:pt>
                <c:pt idx="2">
                  <c:v>39.8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0E9F6E"/>
              </a:solidFill>
            </c:spPr>
          </c:dPt>
          <c:cat>
            <c:strRef>
              <c:f>Sheet1!$A$2:$A$4</c:f>
              <c:strCache>
                <c:ptCount val="3"/>
                <c:pt idx="0">
                  <c:v>Logan Central school switchboard upgrade</c:v>
                </c:pt>
                <c:pt idx="1">
                  <c:v>Rocklea warehouse EV chargers</c:v>
                </c:pt>
                <c:pt idx="2">
                  <c:v>Kedron warehouse data cabling</c:v>
                </c:pt>
              </c:strCache>
            </c:strRef>
          </c:cat>
          <c:val>
            <c:numRef>
              <c:f>Sheet1!$B$2:$B$4</c:f>
              <c:numCache>
                <c:formatCode>$#,##0;[Red]($#,##0);"-"</c:formatCode>
                <c:ptCount val="3"/>
                <c:pt idx="0">
                  <c:v>11224</c:v>
                </c:pt>
                <c:pt idx="1">
                  <c:v>9126</c:v>
                </c:pt>
                <c:pt idx="2">
                  <c:v>16034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(6)</c:v>
                </c:pt>
                <c:pt idx="2">
                  <c:v>2-hour call-outs (12)</c:v>
                </c:pt>
                <c:pt idx="3">
                  <c:v>2.5-hour call-outs (8)</c:v>
                </c:pt>
                <c:pt idx="4">
                  <c:v>4-hour call-outs (8)</c:v>
                </c:pt>
                <c:pt idx="5">
                  <c:v>3-hour call-outs (7)</c:v>
                </c:pt>
              </c:strCache>
            </c:strRef>
          </c:cat>
          <c:val>
            <c:numRef>
              <c:f>Sheet1!$B$2:$B$7</c:f>
              <c:numCache>
                <c:formatCode>0.0"%";[Red](0.0"%")</c:formatCode>
                <c:ptCount val="6"/>
                <c:pt idx="0">
                  <c:v>38.7</c:v>
                </c:pt>
                <c:pt idx="1">
                  <c:v>38.7</c:v>
                </c:pt>
                <c:pt idx="2">
                  <c:v>42.0</c:v>
                </c:pt>
                <c:pt idx="3">
                  <c:v>44.4</c:v>
                </c:pt>
                <c:pt idx="4">
                  <c:v>46.2</c:v>
                </c:pt>
                <c:pt idx="5">
                  <c:v>46.7</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(6)</c:v>
                </c:pt>
                <c:pt idx="2">
                  <c:v>2-hour call-outs (12)</c:v>
                </c:pt>
                <c:pt idx="3">
                  <c:v>2.5-hour call-outs (8)</c:v>
                </c:pt>
                <c:pt idx="4">
                  <c:v>4-hour call-outs (8)</c:v>
                </c:pt>
                <c:pt idx="5">
                  <c:v>3-hour call-outs (7)</c:v>
                </c:pt>
              </c:strCache>
            </c:strRef>
          </c:cat>
          <c:val>
            <c:numRef>
              <c:f>Sheet1!$B$2:$B$7</c:f>
              <c:numCache>
                <c:formatCode>$#,##0;[Red]($#,##0);"-"</c:formatCode>
                <c:ptCount val="6"/>
                <c:pt idx="0">
                  <c:v>431</c:v>
                </c:pt>
                <c:pt idx="1">
                  <c:v>974</c:v>
                </c:pt>
                <c:pt idx="2">
                  <c:v>2316</c:v>
                </c:pt>
                <c:pt idx="3">
                  <c:v>1808</c:v>
                </c:pt>
                <c:pt idx="4">
                  <c:v>2782</c:v>
                </c:pt>
                <c:pt idx="5">
                  <c:v>1806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0.0"%";[Red](0.0"%")</c:formatCode>
                <c:ptCount val="19"/>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$#,##0;[Red]($#,##0);"-"</c:formatCode>
                <c:ptCount val="19"/>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April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March 2026: Locked. March 2026 is locked (closed 2 Apr 2026). These numbers won't change.</a:t>
            </a:r>
          </a:p>
          <a:p>
            <a:pPr>
              <a:defRPr>
                <a:latin typeface="Roboto"/>
              </a:defRPr>
            </a:pPr>
            <a:r>
              <a:rPr sz="1100" b="0">
                <a:solidFill>
                  <a:srgbClr val="5F6F63"/>
                </a:solidFill>
                <a:latin typeface="Roboto"/>
              </a:rPr>
              <a:t>April 2026: Locked. April 2026 is locked (closed 5 May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April's jobs made $68,843 gross margin (41.7%). Technician time not charged to jobs took $6,456 and overheads $59,290, leaving $3,097 profit before tax (1.9% of revenue). To cover overheads, jobs need a 39.8%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April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$68,843</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$48,144</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$6,456</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$62,387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$59,290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$3,097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$164,987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41.7%</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1.9%</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39.8%</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April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41.7%</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March 35.6%</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April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April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April maintenance contracts made a 59.6% job gross margin, installations made a 34.9% job gross margin, call-outs and repairs made a 43.8% job gross margin (technician time at $68 an hour, wages and all on-costs). Jobs need 39.8%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59.6% gross margin, the most profitable work you do. Installations: 34.9% gross margin, below the 39.8%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April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59.6%</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March 59.6%</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April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April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13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18.4 points clear of the 39.8% overheads need. Maintenance contracts overall: 59.6%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April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34.9%</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March 27.1%</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April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April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2 of the 3 installation jobs invoiced in April made less than the 35.0% job gross margin target. The Logan Central school switchboard upgrade made a 29.5% job gross margin: 132.0 h of technician time ($8,976) and $3,800 of subcontractors on a $38,000 job. Jobs need 39.8%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39.8% overheads need: Kedron warehouse data cabling (39.8%), Rocklea warehouse EV chargers (35.0%), Logan Central school switchboard upgrade (29.5%). Most profitable: Kedron warehouse data cabling (39.8%).</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April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March 43.5%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April</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$15,950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69.1%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April</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$7,137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$5,490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April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April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45 call-outs in April billed $15,950 of technician time and $7,137 of materials ($5,490 at cost plus 30%), and made a 43.8% job gross margin between them. Gross margins run from 38.7% to 46.7%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43.8% gross margin, 4.0 points clear of the 39.8%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