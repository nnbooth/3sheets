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11</c:v>
                </c:pt>
                <c:pt idx="1">
                  <c:v>13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Sheet1!$A$2:$A$20</c:f>
              <c:strCache>
                <c:ptCount val="19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</c:strCache>
            </c:strRef>
          </c:cat>
          <c:val>
            <c:numRef>
              <c:f>Sheet1!$B$2:$B$20</c:f>
              <c:numCache>
                <c:formatCode>$#,##0;[Red]($#,##0);"-"</c:formatCode>
                <c:ptCount val="19"/>
                <c:pt idx="0">
                  <c:v>41900</c:v>
                </c:pt>
                <c:pt idx="1">
                  <c:v>49500</c:v>
                </c:pt>
                <c:pt idx="2">
                  <c:v>60600</c:v>
                </c:pt>
                <c:pt idx="3">
                  <c:v>75100</c:v>
                </c:pt>
                <c:pt idx="4">
                  <c:v>77300</c:v>
                </c:pt>
                <c:pt idx="5">
                  <c:v>70200</c:v>
                </c:pt>
                <c:pt idx="6">
                  <c:v>77200</c:v>
                </c:pt>
                <c:pt idx="7">
                  <c:v>77500</c:v>
                </c:pt>
                <c:pt idx="8">
                  <c:v>90300</c:v>
                </c:pt>
                <c:pt idx="9">
                  <c:v>72563</c:v>
                </c:pt>
                <c:pt idx="10">
                  <c:v>77544</c:v>
                </c:pt>
                <c:pt idx="11">
                  <c:v>115037</c:v>
                </c:pt>
                <c:pt idx="12">
                  <c:v>85385</c:v>
                </c:pt>
                <c:pt idx="13">
                  <c:v>88864</c:v>
                </c:pt>
                <c:pt idx="14">
                  <c:v>101093</c:v>
                </c:pt>
                <c:pt idx="15">
                  <c:v>72885</c:v>
                </c:pt>
                <c:pt idx="16">
                  <c:v>72159</c:v>
                </c:pt>
                <c:pt idx="17">
                  <c:v>70306</c:v>
                </c:pt>
                <c:pt idx="18">
                  <c:v>83329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Sheet1!$A$2:$A$20</c:f>
              <c:strCache>
                <c:ptCount val="19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</c:strCache>
            </c:strRef>
          </c:cat>
          <c:val>
            <c:numRef>
              <c:f>Sheet1!$B$2:$B$20</c:f>
              <c:numCache>
                <c:formatCode>$#,##0;[Red]($#,##0);"-"</c:formatCode>
                <c:ptCount val="19"/>
                <c:pt idx="0">
                  <c:v>33200</c:v>
                </c:pt>
                <c:pt idx="1">
                  <c:v>39900</c:v>
                </c:pt>
                <c:pt idx="2">
                  <c:v>47100</c:v>
                </c:pt>
                <c:pt idx="3">
                  <c:v>66400</c:v>
                </c:pt>
                <c:pt idx="4">
                  <c:v>68600</c:v>
                </c:pt>
                <c:pt idx="5">
                  <c:v>61500</c:v>
                </c:pt>
                <c:pt idx="6">
                  <c:v>68500</c:v>
                </c:pt>
                <c:pt idx="7">
                  <c:v>68800</c:v>
                </c:pt>
                <c:pt idx="8">
                  <c:v>78300</c:v>
                </c:pt>
                <c:pt idx="9">
                  <c:v>63263</c:v>
                </c:pt>
                <c:pt idx="10">
                  <c:v>68244</c:v>
                </c:pt>
                <c:pt idx="11">
                  <c:v>90537</c:v>
                </c:pt>
                <c:pt idx="12">
                  <c:v>76085</c:v>
                </c:pt>
                <c:pt idx="13">
                  <c:v>78664</c:v>
                </c:pt>
                <c:pt idx="14">
                  <c:v>86993</c:v>
                </c:pt>
                <c:pt idx="15">
                  <c:v>63585</c:v>
                </c:pt>
                <c:pt idx="16">
                  <c:v>62859</c:v>
                </c:pt>
                <c:pt idx="17">
                  <c:v>61006</c:v>
                </c:pt>
                <c:pt idx="18">
                  <c:v>74029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April 2026. Each source of money compared on what it raises and what it costs to raise. Pick a source and every chart, table row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2026: Locked. March 2026 is locked (closed 2 Apr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2026: Locked. April 2026 is locked (closed 5 May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Cost to raise a dollar, by source, April 2026 (cents) · Source: All sources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All 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In April it cost: Grants 11¢, donations 13¢ to raise each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Cheapest to raise in April: grants (11¢ a dollar). Dearest: donations (13¢). Events are worth counting for what else they bring too (new donors, profile).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Grants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Grants: $626,965 raised this financial year to date (74.7% of everything raised), $71,000 to raise it, so $555,965 left for programs: 11¢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Most of the money, and usually the cheapest to raise, starting with grants that renew.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Donations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Donations: $169,200 raised this financial year to date (20.2% of everything raised), $25,100 to raise it, so $144,100 left for programs: 15¢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Cheap and flexible (untied): the money that builds reserves.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Fundraising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Fundraising events: $43,000 raised this financial year to date (5.1% of everything raised), $17,800 to raise it, so $25,200 left for programs: 41¢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dearest per dollar: worth measuring the new donors each event brings in too.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Headline numbers · Every source at once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Cheapest to raise: Grants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11¢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per $1 raised in April</a:t>
            </a:r>
          </a:p>
        </p:txBody>
      </p:sp>
      <p:sp>
        <p:nvSpPr>
          <p:cNvPr id="9" name="Rectangle 8"/>
          <p:cNvSpPr/>
          <p:nvPr/>
        </p:nvSpPr>
        <p:spPr>
          <a:xfrm>
            <a:off x="4307738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90618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Dearest to raise: Donations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13¢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per $1 raised in April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58276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341156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Raised, year to 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1156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$839,165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1156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 to Apr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Financial year to date (Jul to Apr 2026), by source · Every source at once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Raised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of raising it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Left after costs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per $1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$626,965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$555,965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$169,200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$25,100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$144,100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15¢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$43,000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$17,800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$25,200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Raised and left after costs, by month · Raised $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9 of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Raised and left after costs, by month · Left after costs $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10 of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