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A7B0B8"/>
              </a:solidFill>
            </c:spPr>
          </c:dPt>
          <c:dPt>
            <c:idx val="1"/>
            <c:spPr>
              <a:solidFill>
                <a:srgbClr val="0E9F6E"/>
              </a:solidFill>
            </c:spPr>
          </c:dPt>
          <c:dPt>
            <c:idx val="2"/>
            <c:spPr>
              <a:solidFill>
                <a:srgbClr val="0E9F6E"/>
              </a:solidFill>
            </c:spPr>
          </c:dPt>
          <c:cat>
            <c:strRef>
              <c:f>Sheet1!$A$2:$A$4</c:f>
              <c:strCache>
                <c:ptCount val="3"/>
                <c:pt idx="0">
                  <c:v>Installations</c:v>
                </c:pt>
                <c:pt idx="1">
                  <c:v>Call-outs and repairs</c:v>
                </c:pt>
                <c:pt idx="2">
                  <c:v>Maintenance contracts</c:v>
                </c:pt>
              </c:strCache>
            </c:strRef>
          </c:cat>
          <c:val>
            <c:numRef>
              <c:f>Sheet1!$B$2:$B$4</c:f>
              <c:numCache>
                <c:formatCode>0.0"%";[Red](0.0"%")</c:formatCode>
                <c:ptCount val="3"/>
                <c:pt idx="0">
                  <c:v>23.1</c:v>
                </c:pt>
                <c:pt idx="1">
                  <c:v>44.5</c:v>
                </c:pt>
                <c:pt idx="2">
                  <c:v>59.5</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A7B0B8"/>
              </a:solidFill>
            </c:spPr>
          </c:dPt>
          <c:dPt>
            <c:idx val="1"/>
            <c:spPr>
              <a:solidFill>
                <a:srgbClr val="0E9F6E"/>
              </a:solidFill>
            </c:spPr>
          </c:dPt>
          <c:dPt>
            <c:idx val="2"/>
            <c:spPr>
              <a:solidFill>
                <a:srgbClr val="0E9F6E"/>
              </a:solidFill>
            </c:spPr>
          </c:dPt>
          <c:cat>
            <c:strRef>
              <c:f>Sheet1!$A$2:$A$4</c:f>
              <c:strCache>
                <c:ptCount val="3"/>
                <c:pt idx="0">
                  <c:v>Installations</c:v>
                </c:pt>
                <c:pt idx="1">
                  <c:v>Call-outs and repairs</c:v>
                </c:pt>
                <c:pt idx="2">
                  <c:v>Maintenance contracts</c:v>
                </c:pt>
              </c:strCache>
            </c:strRef>
          </c:cat>
          <c:val>
            <c:numRef>
              <c:f>Sheet1!$B$2:$B$4</c:f>
              <c:numCache>
                <c:formatCode>$#,##0;[Red]($#,##0);"-"</c:formatCode>
                <c:ptCount val="3"/>
                <c:pt idx="0">
                  <c:v>26126</c:v>
                </c:pt>
                <c:pt idx="1">
                  <c:v>11434</c:v>
                </c:pt>
                <c:pt idx="2">
                  <c:v>21284</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dPt>
            <c:idx val="6"/>
            <c:spPr>
              <a:solidFill>
                <a:srgbClr val="0E9F6E"/>
              </a:solidFill>
            </c:spPr>
          </c:dPt>
          <c:dPt>
            <c:idx val="7"/>
            <c:spPr>
              <a:solidFill>
                <a:srgbClr val="0E9F6E"/>
              </a:solidFill>
            </c:spPr>
          </c:dPt>
          <c:dPt>
            <c:idx val="8"/>
            <c:spPr>
              <a:solidFill>
                <a:srgbClr val="0E9F6E"/>
              </a:solidFill>
            </c:spPr>
          </c:dPt>
          <c:dPt>
            <c:idx val="9"/>
            <c:spPr>
              <a:solidFill>
                <a:srgbClr val="0E9F6E"/>
              </a:solidFill>
            </c:spPr>
          </c:dPt>
          <c:dPt>
            <c:idx val="10"/>
            <c:spPr>
              <a:solidFill>
                <a:srgbClr val="0E9F6E"/>
              </a:solidFill>
            </c:spPr>
          </c:dPt>
          <c:dPt>
            <c:idx val="11"/>
            <c:spPr>
              <a:solidFill>
                <a:srgbClr val="0E9F6E"/>
              </a:solidFill>
            </c:spPr>
          </c:dPt>
          <c:cat>
            <c:strRef>
              <c:f>Sheet1!$A$2:$A$13</c:f>
              <c:strCache>
                <c:ptCount val="12"/>
                <c:pt idx="0">
                  <c:v>Kangaroo Point townhouses</c:v>
                </c:pt>
                <c:pt idx="1">
                  <c:v>West End brewery</c:v>
                </c:pt>
                <c:pt idx="2">
                  <c:v>Rocklea factory</c:v>
                </c:pt>
                <c:pt idx="3">
                  <c:v>Milton office tower</c:v>
                </c:pt>
                <c:pt idx="4">
                  <c:v>Bulimba school</c:v>
                </c:pt>
                <c:pt idx="5">
                  <c:v>Chermside retail centre</c:v>
                </c:pt>
                <c:pt idx="6">
                  <c:v>Fortitude Valley hotel</c:v>
                </c:pt>
                <c:pt idx="7">
                  <c:v>Riverside Apartments (strata)</c:v>
                </c:pt>
                <c:pt idx="8">
                  <c:v>Newstead gym</c:v>
                </c:pt>
                <c:pt idx="9">
                  <c:v>Southbank cafe group</c:v>
                </c:pt>
                <c:pt idx="10">
                  <c:v>Ashgrove aged care</c:v>
                </c:pt>
                <c:pt idx="11">
                  <c:v>Wynnum medical centre</c:v>
                </c:pt>
              </c:strCache>
            </c:strRef>
          </c:cat>
          <c:val>
            <c:numRef>
              <c:f>Sheet1!$B$2:$B$13</c:f>
              <c:numCache>
                <c:formatCode>0.0"%";[Red](0.0"%")</c:formatCode>
                <c:ptCount val="12"/>
                <c:pt idx="0">
                  <c:v>58.2</c:v>
                </c:pt>
                <c:pt idx="1">
                  <c:v>58.8</c:v>
                </c:pt>
                <c:pt idx="2">
                  <c:v>58.8</c:v>
                </c:pt>
                <c:pt idx="3">
                  <c:v>59.0</c:v>
                </c:pt>
                <c:pt idx="4">
                  <c:v>59.0</c:v>
                </c:pt>
                <c:pt idx="5">
                  <c:v>59.4</c:v>
                </c:pt>
                <c:pt idx="6">
                  <c:v>59.9</c:v>
                </c:pt>
                <c:pt idx="7">
                  <c:v>59.9</c:v>
                </c:pt>
                <c:pt idx="8">
                  <c:v>59.9</c:v>
                </c:pt>
                <c:pt idx="9">
                  <c:v>60.0</c:v>
                </c:pt>
                <c:pt idx="10">
                  <c:v>60.0</c:v>
                </c:pt>
                <c:pt idx="11">
                  <c:v>61.1</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dPt>
            <c:idx val="6"/>
            <c:spPr>
              <a:solidFill>
                <a:srgbClr val="0E9F6E"/>
              </a:solidFill>
            </c:spPr>
          </c:dPt>
          <c:dPt>
            <c:idx val="7"/>
            <c:spPr>
              <a:solidFill>
                <a:srgbClr val="0E9F6E"/>
              </a:solidFill>
            </c:spPr>
          </c:dPt>
          <c:dPt>
            <c:idx val="8"/>
            <c:spPr>
              <a:solidFill>
                <a:srgbClr val="0E9F6E"/>
              </a:solidFill>
            </c:spPr>
          </c:dPt>
          <c:dPt>
            <c:idx val="9"/>
            <c:spPr>
              <a:solidFill>
                <a:srgbClr val="0E9F6E"/>
              </a:solidFill>
            </c:spPr>
          </c:dPt>
          <c:dPt>
            <c:idx val="10"/>
            <c:spPr>
              <a:solidFill>
                <a:srgbClr val="0E9F6E"/>
              </a:solidFill>
            </c:spPr>
          </c:dPt>
          <c:dPt>
            <c:idx val="11"/>
            <c:spPr>
              <a:solidFill>
                <a:srgbClr val="0E9F6E"/>
              </a:solidFill>
            </c:spPr>
          </c:dPt>
          <c:cat>
            <c:strRef>
              <c:f>Sheet1!$A$2:$A$13</c:f>
              <c:strCache>
                <c:ptCount val="12"/>
                <c:pt idx="0">
                  <c:v>Kangaroo Point townhouses</c:v>
                </c:pt>
                <c:pt idx="1">
                  <c:v>West End brewery</c:v>
                </c:pt>
                <c:pt idx="2">
                  <c:v>Rocklea factory</c:v>
                </c:pt>
                <c:pt idx="3">
                  <c:v>Milton office tower</c:v>
                </c:pt>
                <c:pt idx="4">
                  <c:v>Bulimba school</c:v>
                </c:pt>
                <c:pt idx="5">
                  <c:v>Chermside retail centre</c:v>
                </c:pt>
                <c:pt idx="6">
                  <c:v>Fortitude Valley hotel</c:v>
                </c:pt>
                <c:pt idx="7">
                  <c:v>Riverside Apartments (strata)</c:v>
                </c:pt>
                <c:pt idx="8">
                  <c:v>Newstead gym</c:v>
                </c:pt>
                <c:pt idx="9">
                  <c:v>Southbank cafe group</c:v>
                </c:pt>
                <c:pt idx="10">
                  <c:v>Ashgrove aged care</c:v>
                </c:pt>
                <c:pt idx="11">
                  <c:v>Wynnum medical centre</c:v>
                </c:pt>
              </c:strCache>
            </c:strRef>
          </c:cat>
          <c:val>
            <c:numRef>
              <c:f>Sheet1!$B$2:$B$13</c:f>
              <c:numCache>
                <c:formatCode>$#,##0;[Red]($#,##0);"-"</c:formatCode>
                <c:ptCount val="12"/>
                <c:pt idx="0">
                  <c:v>1398</c:v>
                </c:pt>
                <c:pt idx="1">
                  <c:v>1530</c:v>
                </c:pt>
                <c:pt idx="2">
                  <c:v>2294</c:v>
                </c:pt>
                <c:pt idx="3">
                  <c:v>2478</c:v>
                </c:pt>
                <c:pt idx="4">
                  <c:v>1652</c:v>
                </c:pt>
                <c:pt idx="5">
                  <c:v>2436</c:v>
                </c:pt>
                <c:pt idx="6">
                  <c:v>2038</c:v>
                </c:pt>
                <c:pt idx="7">
                  <c:v>1916</c:v>
                </c:pt>
                <c:pt idx="8">
                  <c:v>958</c:v>
                </c:pt>
                <c:pt idx="9">
                  <c:v>1080</c:v>
                </c:pt>
                <c:pt idx="10">
                  <c:v>2160</c:v>
                </c:pt>
                <c:pt idx="11">
                  <c:v>1344</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A7B0B8"/>
              </a:solidFill>
            </c:spPr>
          </c:dPt>
          <c:dPt>
            <c:idx val="1"/>
            <c:spPr>
              <a:solidFill>
                <a:srgbClr val="A7B0B8"/>
              </a:solidFill>
            </c:spPr>
          </c:dPt>
          <c:dPt>
            <c:idx val="2"/>
            <c:spPr>
              <a:solidFill>
                <a:srgbClr val="A7B0B8"/>
              </a:solidFill>
            </c:spPr>
          </c:dPt>
          <c:dPt>
            <c:idx val="3"/>
            <c:spPr>
              <a:solidFill>
                <a:srgbClr val="0E9F6E"/>
              </a:solidFill>
            </c:spPr>
          </c:dPt>
          <c:cat>
            <c:strRef>
              <c:f>Sheet1!$A$2:$A$5</c:f>
              <c:strCache>
                <c:ptCount val="4"/>
                <c:pt idx="0">
                  <c:v>Windsor office solar and battery</c:v>
                </c:pt>
                <c:pt idx="1">
                  <c:v>Newstead warehouse solar and battery</c:v>
                </c:pt>
                <c:pt idx="2">
                  <c:v>Capalaba factory solar and battery</c:v>
                </c:pt>
                <c:pt idx="3">
                  <c:v>Everton Park office LED lighting</c:v>
                </c:pt>
              </c:strCache>
            </c:strRef>
          </c:cat>
          <c:val>
            <c:numRef>
              <c:f>Sheet1!$B$2:$B$5</c:f>
              <c:numCache>
                <c:formatCode>0.0"%";[Red](0.0"%")</c:formatCode>
                <c:ptCount val="4"/>
                <c:pt idx="0">
                  <c:v>13.5</c:v>
                </c:pt>
                <c:pt idx="1">
                  <c:v>18.8</c:v>
                </c:pt>
                <c:pt idx="2">
                  <c:v>19.4</c:v>
                </c:pt>
                <c:pt idx="3">
                  <c:v>40.1</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A7B0B8"/>
              </a:solidFill>
            </c:spPr>
          </c:dPt>
          <c:dPt>
            <c:idx val="1"/>
            <c:spPr>
              <a:solidFill>
                <a:srgbClr val="A7B0B8"/>
              </a:solidFill>
            </c:spPr>
          </c:dPt>
          <c:dPt>
            <c:idx val="2"/>
            <c:spPr>
              <a:solidFill>
                <a:srgbClr val="A7B0B8"/>
              </a:solidFill>
            </c:spPr>
          </c:dPt>
          <c:dPt>
            <c:idx val="3"/>
            <c:spPr>
              <a:solidFill>
                <a:srgbClr val="0E9F6E"/>
              </a:solidFill>
            </c:spPr>
          </c:dPt>
          <c:cat>
            <c:strRef>
              <c:f>Sheet1!$A$2:$A$5</c:f>
              <c:strCache>
                <c:ptCount val="4"/>
                <c:pt idx="0">
                  <c:v>Windsor office solar and battery</c:v>
                </c:pt>
                <c:pt idx="1">
                  <c:v>Newstead warehouse solar and battery</c:v>
                </c:pt>
                <c:pt idx="2">
                  <c:v>Capalaba factory solar and battery</c:v>
                </c:pt>
                <c:pt idx="3">
                  <c:v>Everton Park office LED lighting</c:v>
                </c:pt>
              </c:strCache>
            </c:strRef>
          </c:cat>
          <c:val>
            <c:numRef>
              <c:f>Sheet1!$B$2:$B$5</c:f>
              <c:numCache>
                <c:formatCode>$#,##0;[Red]($#,##0);"-"</c:formatCode>
                <c:ptCount val="4"/>
                <c:pt idx="0">
                  <c:v>3172</c:v>
                </c:pt>
                <c:pt idx="1">
                  <c:v>6408</c:v>
                </c:pt>
                <c:pt idx="2">
                  <c:v>5440</c:v>
                </c:pt>
                <c:pt idx="3">
                  <c:v>11106</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cat>
            <c:strRef>
              <c:f>Sheet1!$A$2:$A$7</c:f>
              <c:strCache>
                <c:ptCount val="6"/>
                <c:pt idx="0">
                  <c:v>1-hour call-outs (4)</c:v>
                </c:pt>
                <c:pt idx="1">
                  <c:v>1.5-hour call-outs (7)</c:v>
                </c:pt>
                <c:pt idx="2">
                  <c:v>2-hour call-outs (14)</c:v>
                </c:pt>
                <c:pt idx="3">
                  <c:v>3-hour call-outs (10)</c:v>
                </c:pt>
                <c:pt idx="4">
                  <c:v>4-hour call-outs (11)</c:v>
                </c:pt>
                <c:pt idx="5">
                  <c:v>2.5-hour call-outs (4)</c:v>
                </c:pt>
              </c:strCache>
            </c:strRef>
          </c:cat>
          <c:val>
            <c:numRef>
              <c:f>Sheet1!$B$2:$B$7</c:f>
              <c:numCache>
                <c:formatCode>0.0"%";[Red](0.0"%")</c:formatCode>
                <c:ptCount val="6"/>
                <c:pt idx="0">
                  <c:v>38.9</c:v>
                </c:pt>
                <c:pt idx="1">
                  <c:v>40.8</c:v>
                </c:pt>
                <c:pt idx="2">
                  <c:v>42.5</c:v>
                </c:pt>
                <c:pt idx="3">
                  <c:v>45.9</c:v>
                </c:pt>
                <c:pt idx="4">
                  <c:v>46.5</c:v>
                </c:pt>
                <c:pt idx="5">
                  <c:v>47.1</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cat>
            <c:strRef>
              <c:f>Sheet1!$A$2:$A$7</c:f>
              <c:strCache>
                <c:ptCount val="6"/>
                <c:pt idx="0">
                  <c:v>1-hour call-outs (4)</c:v>
                </c:pt>
                <c:pt idx="1">
                  <c:v>1.5-hour call-outs (7)</c:v>
                </c:pt>
                <c:pt idx="2">
                  <c:v>2-hour call-outs (14)</c:v>
                </c:pt>
                <c:pt idx="3">
                  <c:v>3-hour call-outs (10)</c:v>
                </c:pt>
                <c:pt idx="4">
                  <c:v>4-hour call-outs (11)</c:v>
                </c:pt>
                <c:pt idx="5">
                  <c:v>2.5-hour call-outs (4)</c:v>
                </c:pt>
              </c:strCache>
            </c:strRef>
          </c:cat>
          <c:val>
            <c:numRef>
              <c:f>Sheet1!$B$2:$B$7</c:f>
              <c:numCache>
                <c:formatCode>$#,##0;[Red]($#,##0);"-"</c:formatCode>
                <c:ptCount val="6"/>
                <c:pt idx="0">
                  <c:v>428</c:v>
                </c:pt>
                <c:pt idx="1">
                  <c:v>1050</c:v>
                </c:pt>
                <c:pt idx="2">
                  <c:v>2669</c:v>
                </c:pt>
                <c:pt idx="3">
                  <c:v>2628</c:v>
                </c:pt>
                <c:pt idx="4">
                  <c:v>3805</c:v>
                </c:pt>
                <c:pt idx="5">
                  <c:v>854</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Sheet1!$A$2:$A$15</c:f>
              <c:strCache>
                <c:ptCount val="14"/>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strCache>
            </c:strRef>
          </c:cat>
          <c:val>
            <c:numRef>
              <c:f>Sheet1!$B$2:$B$15</c:f>
              <c:numCache>
                <c:formatCode>0.0"%";[Red](0.0"%")</c:formatCode>
                <c:ptCount val="14"/>
                <c:pt idx="0">
                  <c:v>33.1</c:v>
                </c:pt>
                <c:pt idx="1">
                  <c:v>37.0</c:v>
                </c:pt>
                <c:pt idx="2">
                  <c:v>40.4</c:v>
                </c:pt>
                <c:pt idx="3">
                  <c:v>42.7</c:v>
                </c:pt>
                <c:pt idx="4">
                  <c:v>36.4</c:v>
                </c:pt>
                <c:pt idx="5">
                  <c:v>36.5</c:v>
                </c:pt>
                <c:pt idx="6">
                  <c:v>38.4</c:v>
                </c:pt>
                <c:pt idx="7">
                  <c:v>35.5</c:v>
                </c:pt>
                <c:pt idx="8">
                  <c:v>40.5</c:v>
                </c:pt>
                <c:pt idx="9">
                  <c:v>35.6</c:v>
                </c:pt>
                <c:pt idx="10">
                  <c:v>43.8</c:v>
                </c:pt>
                <c:pt idx="11">
                  <c:v>37.6</c:v>
                </c:pt>
                <c:pt idx="12">
                  <c:v>38.4</c:v>
                </c:pt>
                <c:pt idx="13">
                  <c:v>33.7</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pPr>
      <a:endParaR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Sheet1!$A$2:$A$15</c:f>
              <c:strCache>
                <c:ptCount val="14"/>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strCache>
            </c:strRef>
          </c:cat>
          <c:val>
            <c:numRef>
              <c:f>Sheet1!$B$2:$B$15</c:f>
              <c:numCache>
                <c:formatCode>$#,##0;[Red]($#,##0);"-"</c:formatCode>
                <c:ptCount val="14"/>
                <c:pt idx="0">
                  <c:v>56675</c:v>
                </c:pt>
                <c:pt idx="1">
                  <c:v>66458</c:v>
                </c:pt>
                <c:pt idx="2">
                  <c:v>57840</c:v>
                </c:pt>
                <c:pt idx="3">
                  <c:v>60167</c:v>
                </c:pt>
                <c:pt idx="4">
                  <c:v>58595</c:v>
                </c:pt>
                <c:pt idx="5">
                  <c:v>49330</c:v>
                </c:pt>
                <c:pt idx="6">
                  <c:v>47897</c:v>
                </c:pt>
                <c:pt idx="7">
                  <c:v>46116</c:v>
                </c:pt>
                <c:pt idx="8">
                  <c:v>66529</c:v>
                </c:pt>
                <c:pt idx="9">
                  <c:v>66434</c:v>
                </c:pt>
                <c:pt idx="10">
                  <c:v>60906</c:v>
                </c:pt>
                <c:pt idx="11">
                  <c:v>48201</c:v>
                </c:pt>
                <c:pt idx="12">
                  <c:v>49446</c:v>
                </c:pt>
                <c:pt idx="13">
                  <c:v>58844</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1600" b="1">
                <a:solidFill>
                  <a:srgbClr val="FFFFFF"/>
                </a:solidFill>
              </a:rPr>
              <a:t>4th</a:t>
            </a:r>
          </a:p>
        </p:txBody>
      </p:sp>
      <p:sp>
        <p:nvSpPr>
          <p:cNvPr id="3" name="TextBox 2"/>
          <p:cNvSpPr txBox="1"/>
          <p:nvPr/>
        </p:nvSpPr>
        <p:spPr>
          <a:xfrm>
            <a:off x="1234440" y="658368"/>
            <a:ext cx="5486400" cy="457200"/>
          </a:xfrm>
          <a:prstGeom prst="rect">
            <a:avLst/>
          </a:prstGeom>
          <a:noFill/>
        </p:spPr>
        <p:txBody>
          <a:bodyPr wrap="square">
            <a:spAutoFit/>
          </a:bodyPr>
          <a:lstStyle/>
          <a:p>
            <a:r>
              <a:rPr sz="1800" b="1">
                <a:solidFill>
                  <a:srgbClr val="25342A"/>
                </a:solidFill>
                <a:latin typeface="Arial"/>
              </a:rPr>
              <a:t>The 4th Sheet</a:t>
            </a:r>
          </a:p>
        </p:txBody>
      </p:sp>
      <p:sp>
        <p:nvSpPr>
          <p:cNvPr id="4" name="TextBox 3"/>
          <p:cNvSpPr txBox="1"/>
          <p:nvPr/>
        </p:nvSpPr>
        <p:spPr>
          <a:xfrm>
            <a:off x="457200" y="1554480"/>
            <a:ext cx="10972800" cy="365760"/>
          </a:xfrm>
          <a:prstGeom prst="rect">
            <a:avLst/>
          </a:prstGeom>
          <a:noFill/>
        </p:spPr>
        <p:txBody>
          <a:bodyPr wrap="square">
            <a:spAutoFit/>
          </a:bodyPr>
          <a:lstStyle/>
          <a:p>
            <a:r>
              <a:rPr sz="1100" b="1">
                <a:solidFill>
                  <a:srgbClr val="8A7A52"/>
                </a:solidFill>
                <a:latin typeface="Arial"/>
              </a:rPr>
              <a:t>SAMPLE DATA · invented figures for demonstration</a:t>
            </a:r>
          </a:p>
        </p:txBody>
      </p:sp>
      <p:sp>
        <p:nvSpPr>
          <p:cNvPr id="5" name="TextBox 4"/>
          <p:cNvSpPr txBox="1"/>
          <p:nvPr/>
        </p:nvSpPr>
        <p:spPr>
          <a:xfrm>
            <a:off x="457200" y="2011680"/>
            <a:ext cx="11247120" cy="1097280"/>
          </a:xfrm>
          <a:prstGeom prst="rect">
            <a:avLst/>
          </a:prstGeom>
          <a:noFill/>
        </p:spPr>
        <p:txBody>
          <a:bodyPr wrap="square">
            <a:spAutoFit/>
          </a:bodyPr>
          <a:lstStyle/>
          <a:p>
            <a:r>
              <a:rPr sz="3400" b="1">
                <a:solidFill>
                  <a:srgbClr val="25342A"/>
                </a:solidFill>
                <a:latin typeface="Arial"/>
              </a:rPr>
              <a:t>Which jobs actually make money?</a:t>
            </a:r>
          </a:p>
        </p:txBody>
      </p:sp>
      <p:sp>
        <p:nvSpPr>
          <p:cNvPr id="6" name="TextBox 5"/>
          <p:cNvSpPr txBox="1"/>
          <p:nvPr/>
        </p:nvSpPr>
        <p:spPr>
          <a:xfrm>
            <a:off x="457200" y="3154680"/>
            <a:ext cx="11247120" cy="457200"/>
          </a:xfrm>
          <a:prstGeom prst="rect">
            <a:avLst/>
          </a:prstGeom>
          <a:noFill/>
        </p:spPr>
        <p:txBody>
          <a:bodyPr wrap="square">
            <a:spAutoFit/>
          </a:bodyPr>
          <a:lstStyle/>
          <a:p>
            <a:r>
              <a:rPr sz="1600" b="0">
                <a:solidFill>
                  <a:srgbClr val="5F6F63"/>
                </a:solidFill>
                <a:latin typeface="Arial"/>
              </a:rPr>
              <a:t>Sample Electrical &amp; Air Pty Ltd</a:t>
            </a:r>
          </a:p>
        </p:txBody>
      </p:sp>
      <p:sp>
        <p:nvSpPr>
          <p:cNvPr id="7" name="TextBox 6"/>
          <p:cNvSpPr txBox="1"/>
          <p:nvPr/>
        </p:nvSpPr>
        <p:spPr>
          <a:xfrm>
            <a:off x="457200" y="3703320"/>
            <a:ext cx="11247120" cy="1097280"/>
          </a:xfrm>
          <a:prstGeom prst="rect">
            <a:avLst/>
          </a:prstGeom>
          <a:noFill/>
        </p:spPr>
        <p:txBody>
          <a:bodyPr wrap="square">
            <a:spAutoFit/>
          </a:bodyPr>
          <a:lstStyle/>
          <a:p>
            <a:r>
              <a:rPr sz="1400" b="0">
                <a:solidFill>
                  <a:srgbClr val="25342A"/>
                </a:solidFill>
                <a:latin typeface="Arial"/>
              </a:rPr>
              <a:t>Period: November 2025. Every job's gross margin: revenue less materials, subcontractors and technician time at $68 an hour (fully loaded: wages and all on-costs). Before overheads, so this is not profit. Pick a type of job and every number, chart and note on the page follows it.</a:t>
            </a:r>
          </a:p>
        </p:txBody>
      </p:sp>
      <p:sp>
        <p:nvSpPr>
          <p:cNvPr id="8" name="TextBox 7"/>
          <p:cNvSpPr txBox="1"/>
          <p:nvPr/>
        </p:nvSpPr>
        <p:spPr>
          <a:xfrm>
            <a:off x="457200" y="4937760"/>
            <a:ext cx="11247120" cy="1097280"/>
          </a:xfrm>
          <a:prstGeom prst="rect">
            <a:avLst/>
          </a:prstGeom>
          <a:noFill/>
        </p:spPr>
        <p:txBody>
          <a:bodyPr wrap="square">
            <a:spAutoFit/>
          </a:bodyPr>
          <a:lstStyle/>
          <a:p>
            <a:r>
              <a:rPr sz="1100" b="0">
                <a:solidFill>
                  <a:srgbClr val="5F6F63"/>
                </a:solidFill>
                <a:latin typeface="Arial"/>
              </a:rPr>
              <a:t>How final is this data?</a:t>
            </a:r>
          </a:p>
          <a:p>
            <a:r>
              <a:rPr sz="1100" b="0">
                <a:solidFill>
                  <a:srgbClr val="5F6F63"/>
                </a:solidFill>
                <a:latin typeface="Arial"/>
              </a:rPr>
              <a:t>October 2025: Locked. October 2025 is locked (closed 4 Nov 2025). These numbers won't change.</a:t>
            </a:r>
          </a:p>
          <a:p>
            <a:r>
              <a:rPr sz="1100" b="0">
                <a:solidFill>
                  <a:srgbClr val="5F6F63"/>
                </a:solidFill>
                <a:latin typeface="Arial"/>
              </a:rPr>
              <a:t>November 2025: Locked. November 2025 is locked (closed 2 Dec 2025). These numbers won't change.</a:t>
            </a:r>
          </a:p>
          <a:p>
            <a:r>
              <a:rPr sz="1100" b="0">
                <a:solidFill>
                  <a:srgbClr val="5F6F63"/>
                </a:solidFill>
                <a:latin typeface="Arial"/>
              </a:rPr>
              <a:t>October 2026: Incomplete. October 2026 is still in progress: figures to 6 Oct only.</a:t>
            </a:r>
          </a:p>
        </p:txBody>
      </p:sp>
      <p:sp>
        <p:nvSpPr>
          <p:cNvPr id="9" name="TextBox 8"/>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 of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10820095" cy="365760"/>
          </a:xfrm>
          <a:prstGeom prst="rect">
            <a:avLst/>
          </a:prstGeom>
          <a:noFill/>
        </p:spPr>
        <p:txBody>
          <a:bodyPr wrap="square">
            <a:spAutoFit/>
          </a:bodyPr>
          <a:lstStyle/>
          <a:p>
            <a:r>
              <a:rPr sz="1100" b="1">
                <a:solidFill>
                  <a:srgbClr val="5F6F63"/>
                </a:solidFill>
                <a:latin typeface="Arial"/>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r>
              <a:rPr sz="1600" b="0">
                <a:solidFill>
                  <a:srgbClr val="25342A"/>
                </a:solidFill>
                <a:latin typeface="Arial"/>
              </a:rPr>
              <a:t>Gross margin is not profit. Job gross margin = revenue less materials, subcontractors and technician time charged to the job at $68 an hour (wages and all on-costs). Not included: technician time not charged to any job (travel, training, waiting), and overheads (office wages, marketing, vehicles, rent, insurance, IT,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 of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From gross margin to profit</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November's jobs made $58,844 gross margin (33.7%). Technician time not charged to jobs took ($3,112) and overheads $57,960, leaving $3,996 profit before tax (2.3% of revenue). To cover overheads, jobs need a 31.4%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txBody>
                  <a:tcPr>
                    <a:solidFill>
                      <a:srgbClr val="2F7A5D"/>
                    </a:solidFill>
                  </a:tcPr>
                </a:tc>
                <a:tc>
                  <a:txBody>
                    <a:bodyPr/>
                    <a:lstStyle/>
                    <a:p>
                      <a:pPr algn="r"/>
                      <a:r>
                        <a:rPr sz="1100" b="1">
                          <a:solidFill>
                            <a:srgbClr val="FFFFFF"/>
                          </a:solidFill>
                        </a:rPr>
                        <a:t>November 2025</a:t>
                      </a:r>
                    </a:p>
                  </a:txBody>
                  <a:tcPr>
                    <a:solidFill>
                      <a:srgbClr val="2F7A5D"/>
                    </a:solidFill>
                  </a:tcPr>
                </a:tc>
              </a:tr>
              <a:tr h="329184">
                <a:tc>
                  <a:txBody>
                    <a:bodyPr/>
                    <a:lstStyle/>
                    <a:p>
                      <a:r>
                        <a:rPr sz="1050">
                          <a:solidFill>
                            <a:srgbClr val="25342A"/>
                          </a:solidFill>
                        </a:rPr>
                        <a:t>Gross margin on jobs</a:t>
                      </a:r>
                    </a:p>
                  </a:txBody>
                  <a:tcPr>
                    <a:solidFill>
                      <a:srgbClr val="FFFFFF"/>
                    </a:solidFill>
                  </a:tcPr>
                </a:tc>
                <a:tc>
                  <a:txBody>
                    <a:bodyPr/>
                    <a:lstStyle/>
                    <a:p>
                      <a:pPr algn="r"/>
                      <a:r>
                        <a:rPr sz="1050">
                          <a:solidFill>
                            <a:srgbClr val="25342A"/>
                          </a:solidFill>
                        </a:rPr>
                        <a:t>$58,844</a:t>
                      </a:r>
                    </a:p>
                  </a:txBody>
                  <a:tcPr>
                    <a:solidFill>
                      <a:srgbClr val="FFFFFF"/>
                    </a:solidFill>
                  </a:tcPr>
                </a:tc>
              </a:tr>
              <a:tr h="329184">
                <a:tc>
                  <a:txBody>
                    <a:bodyPr/>
                    <a:lstStyle/>
                    <a:p>
                      <a:r>
                        <a:rPr sz="1050">
                          <a:solidFill>
                            <a:srgbClr val="25342A"/>
                          </a:solidFill>
                        </a:rPr>
                        <a:t>Technician wages and on-costs</a:t>
                      </a:r>
                    </a:p>
                  </a:txBody>
                  <a:tcPr>
                    <a:solidFill>
                      <a:srgbClr val="F7FAF7"/>
                    </a:solidFill>
                  </a:tcPr>
                </a:tc>
                <a:tc>
                  <a:txBody>
                    <a:bodyPr/>
                    <a:lstStyle/>
                    <a:p>
                      <a:pPr algn="r"/>
                      <a:r>
                        <a:rPr sz="1050">
                          <a:solidFill>
                            <a:srgbClr val="25342A"/>
                          </a:solidFill>
                        </a:rPr>
                        <a:t>$46,800</a:t>
                      </a:r>
                    </a:p>
                  </a:txBody>
                  <a:tcPr>
                    <a:solidFill>
                      <a:srgbClr val="F7FAF7"/>
                    </a:solidFill>
                  </a:tcPr>
                </a:tc>
              </a:tr>
              <a:tr h="329184">
                <a:tc>
                  <a:txBody>
                    <a:bodyPr/>
                    <a:lstStyle/>
                    <a:p>
                      <a:r>
                        <a:rPr sz="1050">
                          <a:solidFill>
                            <a:srgbClr val="25342A"/>
                          </a:solidFill>
                        </a:rPr>
                        <a:t>Technician time charged to jobs (at cost)</a:t>
                      </a:r>
                    </a:p>
                  </a:txBody>
                  <a:tcPr>
                    <a:solidFill>
                      <a:srgbClr val="FFFFFF"/>
                    </a:solidFill>
                  </a:tcPr>
                </a:tc>
                <a:tc>
                  <a:txBody>
                    <a:bodyPr/>
                    <a:lstStyle/>
                    <a:p>
                      <a:pPr algn="r"/>
                      <a:r>
                        <a:rPr sz="1050">
                          <a:solidFill>
                            <a:srgbClr val="25342A"/>
                          </a:solidFill>
                        </a:rPr>
                        <a:t>$49,912</a:t>
                      </a:r>
                    </a:p>
                  </a:txBody>
                  <a:tcPr>
                    <a:solidFill>
                      <a:srgbClr val="FFFFFF"/>
                    </a:solidFill>
                  </a:tcPr>
                </a:tc>
              </a:tr>
              <a:tr h="329184">
                <a:tc>
                  <a:txBody>
                    <a:bodyPr/>
                    <a:lstStyle/>
                    <a:p>
                      <a:r>
                        <a:rPr sz="1050">
                          <a:solidFill>
                            <a:srgbClr val="25342A"/>
                          </a:solidFill>
                        </a:rPr>
                        <a:t>Technician time not charged to jobs</a:t>
                      </a:r>
                    </a:p>
                  </a:txBody>
                  <a:tcPr>
                    <a:solidFill>
                      <a:srgbClr val="F7FAF7"/>
                    </a:solidFill>
                  </a:tcPr>
                </a:tc>
                <a:tc>
                  <a:txBody>
                    <a:bodyPr/>
                    <a:lstStyle/>
                    <a:p>
                      <a:pPr algn="r"/>
                      <a:r>
                        <a:rPr sz="1050">
                          <a:solidFill>
                            <a:srgbClr val="B42318"/>
                          </a:solidFill>
                        </a:rPr>
                        <a:t>($3,112)</a:t>
                      </a:r>
                    </a:p>
                  </a:txBody>
                  <a:tcPr>
                    <a:solidFill>
                      <a:srgbClr val="F7FAF7"/>
                    </a:solidFill>
                  </a:tcPr>
                </a:tc>
              </a:tr>
              <a:tr h="329184">
                <a:tc>
                  <a:txBody>
                    <a:bodyPr/>
                    <a:lstStyle/>
                    <a:p>
                      <a:r>
                        <a:rPr sz="1050">
                          <a:solidFill>
                            <a:srgbClr val="25342A"/>
                          </a:solidFill>
                        </a:rPr>
                        <a:t>Gross profit (the P&amp;L)</a:t>
                      </a:r>
                    </a:p>
                  </a:txBody>
                  <a:tcPr>
                    <a:solidFill>
                      <a:srgbClr val="FFFFFF"/>
                    </a:solidFill>
                  </a:tcPr>
                </a:tc>
                <a:tc>
                  <a:txBody>
                    <a:bodyPr/>
                    <a:lstStyle/>
                    <a:p>
                      <a:pPr algn="r"/>
                      <a:r>
                        <a:rPr sz="1050">
                          <a:solidFill>
                            <a:srgbClr val="25342A"/>
                          </a:solidFill>
                        </a:rPr>
                        <a:t>$61,956</a:t>
                      </a:r>
                    </a:p>
                  </a:txBody>
                  <a:tcPr>
                    <a:solidFill>
                      <a:srgbClr val="FFFFFF"/>
                    </a:solidFill>
                  </a:tcPr>
                </a:tc>
              </a:tr>
              <a:tr h="329184">
                <a:tc>
                  <a:txBody>
                    <a:bodyPr/>
                    <a:lstStyle/>
                    <a:p>
                      <a:r>
                        <a:rPr sz="1050">
                          <a:solidFill>
                            <a:srgbClr val="25342A"/>
                          </a:solidFill>
                        </a:rPr>
                        <a:t>Overheads (operating expenses, depreciation, interest)</a:t>
                      </a:r>
                    </a:p>
                  </a:txBody>
                  <a:tcPr>
                    <a:solidFill>
                      <a:srgbClr val="F7FAF7"/>
                    </a:solidFill>
                  </a:tcPr>
                </a:tc>
                <a:tc>
                  <a:txBody>
                    <a:bodyPr/>
                    <a:lstStyle/>
                    <a:p>
                      <a:pPr algn="r"/>
                      <a:r>
                        <a:rPr sz="1050">
                          <a:solidFill>
                            <a:srgbClr val="25342A"/>
                          </a:solidFill>
                        </a:rPr>
                        <a:t>$57,960</a:t>
                      </a:r>
                    </a:p>
                  </a:txBody>
                  <a:tcPr>
                    <a:solidFill>
                      <a:srgbClr val="F7FAF7"/>
                    </a:solidFill>
                  </a:tcPr>
                </a:tc>
              </a:tr>
              <a:tr h="329184">
                <a:tc>
                  <a:txBody>
                    <a:bodyPr/>
                    <a:lstStyle/>
                    <a:p>
                      <a:r>
                        <a:rPr sz="1050">
                          <a:solidFill>
                            <a:srgbClr val="25342A"/>
                          </a:solidFill>
                        </a:rPr>
                        <a:t>Profit before tax (the P&amp;L)</a:t>
                      </a:r>
                    </a:p>
                  </a:txBody>
                  <a:tcPr>
                    <a:solidFill>
                      <a:srgbClr val="FFFFFF"/>
                    </a:solidFill>
                  </a:tcPr>
                </a:tc>
                <a:tc>
                  <a:txBody>
                    <a:bodyPr/>
                    <a:lstStyle/>
                    <a:p>
                      <a:pPr algn="r"/>
                      <a:r>
                        <a:rPr sz="1050">
                          <a:solidFill>
                            <a:srgbClr val="25342A"/>
                          </a:solidFill>
                        </a:rPr>
                        <a:t>$3,996</a:t>
                      </a:r>
                    </a:p>
                  </a:txBody>
                  <a:tcPr>
                    <a:solidFill>
                      <a:srgbClr val="FFFFFF"/>
                    </a:solidFill>
                  </a:tcPr>
                </a:tc>
              </a:tr>
              <a:tr h="329184">
                <a:tc>
                  <a:txBody>
                    <a:bodyPr/>
                    <a:lstStyle/>
                    <a:p>
                      <a:r>
                        <a:rPr sz="1050">
                          <a:solidFill>
                            <a:srgbClr val="25342A"/>
                          </a:solidFill>
                        </a:rPr>
                        <a:t>Revenue</a:t>
                      </a:r>
                    </a:p>
                  </a:txBody>
                  <a:tcPr>
                    <a:solidFill>
                      <a:srgbClr val="F7FAF7"/>
                    </a:solidFill>
                  </a:tcPr>
                </a:tc>
                <a:tc>
                  <a:txBody>
                    <a:bodyPr/>
                    <a:lstStyle/>
                    <a:p>
                      <a:pPr algn="r"/>
                      <a:r>
                        <a:rPr sz="1050">
                          <a:solidFill>
                            <a:srgbClr val="25342A"/>
                          </a:solidFill>
                        </a:rPr>
                        <a:t>$174,786</a:t>
                      </a:r>
                    </a:p>
                  </a:txBody>
                  <a:tcPr>
                    <a:solidFill>
                      <a:srgbClr val="F7FAF7"/>
                    </a:solidFill>
                  </a:tcPr>
                </a:tc>
              </a:tr>
              <a:tr h="329184">
                <a:tc>
                  <a:txBody>
                    <a:bodyPr/>
                    <a:lstStyle/>
                    <a:p>
                      <a:r>
                        <a:rPr sz="1050">
                          <a:solidFill>
                            <a:srgbClr val="25342A"/>
                          </a:solidFill>
                        </a:rPr>
                        <a:t>Gross margin on jobs, %</a:t>
                      </a:r>
                    </a:p>
                  </a:txBody>
                  <a:tcPr>
                    <a:solidFill>
                      <a:srgbClr val="FFFFFF"/>
                    </a:solidFill>
                  </a:tcPr>
                </a:tc>
                <a:tc>
                  <a:txBody>
                    <a:bodyPr/>
                    <a:lstStyle/>
                    <a:p>
                      <a:pPr algn="r"/>
                      <a:r>
                        <a:rPr sz="1050">
                          <a:solidFill>
                            <a:srgbClr val="25342A"/>
                          </a:solidFill>
                        </a:rPr>
                        <a:t>33.7%</a:t>
                      </a:r>
                    </a:p>
                  </a:txBody>
                  <a:tcPr>
                    <a:solidFill>
                      <a:srgbClr val="FFFFFF"/>
                    </a:solidFill>
                  </a:tcPr>
                </a:tc>
              </a:tr>
              <a:tr h="329184">
                <a:tc>
                  <a:txBody>
                    <a:bodyPr/>
                    <a:lstStyle/>
                    <a:p>
                      <a:r>
                        <a:rPr sz="1050">
                          <a:solidFill>
                            <a:srgbClr val="25342A"/>
                          </a:solidFill>
                        </a:rPr>
                        <a:t>Profit before tax, % of revenue</a:t>
                      </a:r>
                    </a:p>
                  </a:txBody>
                  <a:tcPr>
                    <a:solidFill>
                      <a:srgbClr val="F7FAF7"/>
                    </a:solidFill>
                  </a:tcPr>
                </a:tc>
                <a:tc>
                  <a:txBody>
                    <a:bodyPr/>
                    <a:lstStyle/>
                    <a:p>
                      <a:pPr algn="r"/>
                      <a:r>
                        <a:rPr sz="1050">
                          <a:solidFill>
                            <a:srgbClr val="25342A"/>
                          </a:solidFill>
                        </a:rPr>
                        <a:t>2.3%</a:t>
                      </a:r>
                    </a:p>
                  </a:txBody>
                  <a:tcPr>
                    <a:solidFill>
                      <a:srgbClr val="F7FAF7"/>
                    </a:solidFill>
                  </a:tcPr>
                </a:tc>
              </a:tr>
              <a:tr h="329184">
                <a:tc>
                  <a:txBody>
                    <a:bodyPr/>
                    <a:lstStyle/>
                    <a:p>
                      <a:r>
                        <a:rPr sz="1050">
                          <a:solidFill>
                            <a:srgbClr val="25342A"/>
                          </a:solidFill>
                        </a:rPr>
                        <a:t>Gross margin jobs need just to cover overheads and time not charged</a:t>
                      </a:r>
                    </a:p>
                  </a:txBody>
                  <a:tcPr>
                    <a:solidFill>
                      <a:srgbClr val="FFFFFF"/>
                    </a:solidFill>
                  </a:tcPr>
                </a:tc>
                <a:tc>
                  <a:txBody>
                    <a:bodyPr/>
                    <a:lstStyle/>
                    <a:p>
                      <a:pPr algn="r"/>
                      <a:r>
                        <a:rPr sz="1050">
                          <a:solidFill>
                            <a:srgbClr val="25342A"/>
                          </a:solidFill>
                        </a:rPr>
                        <a:t>31.4%</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3 of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Type of job: All jobs</a:t>
            </a:r>
          </a:p>
        </p:txBody>
      </p:sp>
      <p:sp>
        <p:nvSpPr>
          <p:cNvPr id="5" name="Rectangle 4"/>
          <p:cNvSpPr/>
          <p:nvPr/>
        </p:nvSpPr>
        <p:spPr>
          <a:xfrm>
            <a:off x="457200" y="1645920"/>
            <a:ext cx="11277295"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911535" cy="457200"/>
          </a:xfrm>
          <a:prstGeom prst="rect">
            <a:avLst/>
          </a:prstGeom>
          <a:noFill/>
        </p:spPr>
        <p:txBody>
          <a:bodyPr wrap="square">
            <a:spAutoFit/>
          </a:bodyPr>
          <a:lstStyle/>
          <a:p>
            <a:r>
              <a:rPr sz="1200" b="0">
                <a:solidFill>
                  <a:srgbClr val="5F6F63"/>
                </a:solidFill>
                <a:latin typeface="Arial"/>
              </a:rPr>
              <a:t>Job gross margin, November · All jobs</a:t>
            </a:r>
          </a:p>
        </p:txBody>
      </p:sp>
      <p:sp>
        <p:nvSpPr>
          <p:cNvPr id="7" name="TextBox 6"/>
          <p:cNvSpPr txBox="1"/>
          <p:nvPr/>
        </p:nvSpPr>
        <p:spPr>
          <a:xfrm>
            <a:off x="640080" y="2240280"/>
            <a:ext cx="10911535" cy="731520"/>
          </a:xfrm>
          <a:prstGeom prst="rect">
            <a:avLst/>
          </a:prstGeom>
          <a:noFill/>
        </p:spPr>
        <p:txBody>
          <a:bodyPr wrap="square">
            <a:spAutoFit/>
          </a:bodyPr>
          <a:lstStyle/>
          <a:p>
            <a:r>
              <a:rPr sz="3000" b="1">
                <a:solidFill>
                  <a:srgbClr val="2F7A5D"/>
                </a:solidFill>
                <a:latin typeface="Arial"/>
              </a:rPr>
              <a:t>33.7%</a:t>
            </a:r>
          </a:p>
        </p:txBody>
      </p:sp>
      <p:sp>
        <p:nvSpPr>
          <p:cNvPr id="8" name="TextBox 7"/>
          <p:cNvSpPr txBox="1"/>
          <p:nvPr/>
        </p:nvSpPr>
        <p:spPr>
          <a:xfrm>
            <a:off x="640080" y="3017520"/>
            <a:ext cx="10911535" cy="548640"/>
          </a:xfrm>
          <a:prstGeom prst="rect">
            <a:avLst/>
          </a:prstGeom>
          <a:noFill/>
        </p:spPr>
        <p:txBody>
          <a:bodyPr wrap="square">
            <a:spAutoFit/>
          </a:bodyPr>
          <a:lstStyle/>
          <a:p>
            <a:r>
              <a:rPr sz="1100" b="0">
                <a:solidFill>
                  <a:srgbClr val="5F6F63"/>
                </a:solidFill>
                <a:latin typeface="Arial"/>
              </a:rPr>
              <a:t>October 38.4%</a:t>
            </a:r>
          </a:p>
        </p:txBody>
      </p:sp>
      <p:sp>
        <p:nvSpPr>
          <p:cNvPr id="9" name="TextBox 8"/>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4 of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by type of job, November 2025 · Gross margin % · Type of job: All jobs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Revenue less materials, subcontractors and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r>
              <a:rPr sz="1000" b="0">
                <a:solidFill>
                  <a:srgbClr val="5F6F63"/>
                </a:solidFill>
                <a:latin typeface="Arial"/>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5 of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by type of job, November 2025 · Gross margin $ · Type of job: All jobs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Revenue less materials, subcontractors and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6 of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Type of job: All jobs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In November maintenance contracts made a 59.5% job gross margin, installations made a 23.1% job gross margin, call-outs and repairs made a 44.5% job gross margin (technician time at $68 an hour, wages and all on-costs). Jobs need 31.4%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Maintenance contracts: 59.5% gross margin, the most profitable work you do. Installations: 23.1% gross margin, below the 31.4% needed to cover overheads.</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7 of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Type of job: Maintenance contracts</a:t>
            </a:r>
          </a:p>
        </p:txBody>
      </p:sp>
      <p:sp>
        <p:nvSpPr>
          <p:cNvPr id="5" name="Rectangle 4"/>
          <p:cNvSpPr/>
          <p:nvPr/>
        </p:nvSpPr>
        <p:spPr>
          <a:xfrm>
            <a:off x="457200" y="1645920"/>
            <a:ext cx="11277295"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911535" cy="457200"/>
          </a:xfrm>
          <a:prstGeom prst="rect">
            <a:avLst/>
          </a:prstGeom>
          <a:noFill/>
        </p:spPr>
        <p:txBody>
          <a:bodyPr wrap="square">
            <a:spAutoFit/>
          </a:bodyPr>
          <a:lstStyle/>
          <a:p>
            <a:r>
              <a:rPr sz="1200" b="0">
                <a:solidFill>
                  <a:srgbClr val="5F6F63"/>
                </a:solidFill>
                <a:latin typeface="Arial"/>
              </a:rPr>
              <a:t>Job gross margin, November · Maintenance contracts</a:t>
            </a:r>
          </a:p>
        </p:txBody>
      </p:sp>
      <p:sp>
        <p:nvSpPr>
          <p:cNvPr id="7" name="TextBox 6"/>
          <p:cNvSpPr txBox="1"/>
          <p:nvPr/>
        </p:nvSpPr>
        <p:spPr>
          <a:xfrm>
            <a:off x="640080" y="2240280"/>
            <a:ext cx="10911535" cy="731520"/>
          </a:xfrm>
          <a:prstGeom prst="rect">
            <a:avLst/>
          </a:prstGeom>
          <a:noFill/>
        </p:spPr>
        <p:txBody>
          <a:bodyPr wrap="square">
            <a:spAutoFit/>
          </a:bodyPr>
          <a:lstStyle/>
          <a:p>
            <a:r>
              <a:rPr sz="3000" b="1">
                <a:solidFill>
                  <a:srgbClr val="2F7A5D"/>
                </a:solidFill>
                <a:latin typeface="Arial"/>
              </a:rPr>
              <a:t>59.5%</a:t>
            </a:r>
          </a:p>
        </p:txBody>
      </p:sp>
      <p:sp>
        <p:nvSpPr>
          <p:cNvPr id="8" name="TextBox 7"/>
          <p:cNvSpPr txBox="1"/>
          <p:nvPr/>
        </p:nvSpPr>
        <p:spPr>
          <a:xfrm>
            <a:off x="640080" y="3017520"/>
            <a:ext cx="10911535" cy="548640"/>
          </a:xfrm>
          <a:prstGeom prst="rect">
            <a:avLst/>
          </a:prstGeom>
          <a:noFill/>
        </p:spPr>
        <p:txBody>
          <a:bodyPr wrap="square">
            <a:spAutoFit/>
          </a:bodyPr>
          <a:lstStyle/>
          <a:p>
            <a:r>
              <a:rPr sz="1100" b="0">
                <a:solidFill>
                  <a:srgbClr val="5F6F63"/>
                </a:solidFill>
                <a:latin typeface="Arial"/>
              </a:rPr>
              <a:t>October 59.5%</a:t>
            </a:r>
          </a:p>
        </p:txBody>
      </p:sp>
      <p:sp>
        <p:nvSpPr>
          <p:cNvPr id="9" name="TextBox 8"/>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8 of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on each maintenance contract, November 2025 · Gross margin % · Type of job: Maintenance contracts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The month's fee less materials and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r>
              <a:rPr sz="1000" b="0">
                <a:solidFill>
                  <a:srgbClr val="5F6F63"/>
                </a:solidFill>
                <a:latin typeface="Arial"/>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9 of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on each maintenance contract, November 2025 · Gross margin $ · Type of job: Maintenance contracts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The month's fee less materials and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10 of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Type of job: Maintenance contracts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All 12 contracts made more than the 35.0% job gross margin target. The thinnest was Kangaroo Point townhouses at 58.2% job gross margin: 14.0 h of technician time on a $2,400 monthly fee.</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The Kangaroo Point townhouses contract: 58.2% gross margin, 26.9 points clear of the 31.4% overheads need. Maintenance contracts overall: 59.5% gross margin.</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11 of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Type of job: Installations</a:t>
            </a:r>
          </a:p>
        </p:txBody>
      </p:sp>
      <p:sp>
        <p:nvSpPr>
          <p:cNvPr id="5" name="Rectangle 4"/>
          <p:cNvSpPr/>
          <p:nvPr/>
        </p:nvSpPr>
        <p:spPr>
          <a:xfrm>
            <a:off x="457200" y="1645920"/>
            <a:ext cx="11277295"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911535" cy="457200"/>
          </a:xfrm>
          <a:prstGeom prst="rect">
            <a:avLst/>
          </a:prstGeom>
          <a:noFill/>
        </p:spPr>
        <p:txBody>
          <a:bodyPr wrap="square">
            <a:spAutoFit/>
          </a:bodyPr>
          <a:lstStyle/>
          <a:p>
            <a:r>
              <a:rPr sz="1200" b="0">
                <a:solidFill>
                  <a:srgbClr val="5F6F63"/>
                </a:solidFill>
                <a:latin typeface="Arial"/>
              </a:rPr>
              <a:t>Job gross margin, November · Installations</a:t>
            </a:r>
          </a:p>
        </p:txBody>
      </p:sp>
      <p:sp>
        <p:nvSpPr>
          <p:cNvPr id="7" name="TextBox 6"/>
          <p:cNvSpPr txBox="1"/>
          <p:nvPr/>
        </p:nvSpPr>
        <p:spPr>
          <a:xfrm>
            <a:off x="640080" y="2240280"/>
            <a:ext cx="10911535" cy="731520"/>
          </a:xfrm>
          <a:prstGeom prst="rect">
            <a:avLst/>
          </a:prstGeom>
          <a:noFill/>
        </p:spPr>
        <p:txBody>
          <a:bodyPr wrap="square">
            <a:spAutoFit/>
          </a:bodyPr>
          <a:lstStyle/>
          <a:p>
            <a:r>
              <a:rPr sz="3000" b="1">
                <a:solidFill>
                  <a:srgbClr val="2F7A5D"/>
                </a:solidFill>
                <a:latin typeface="Arial"/>
              </a:rPr>
              <a:t>23.1%</a:t>
            </a:r>
          </a:p>
        </p:txBody>
      </p:sp>
      <p:sp>
        <p:nvSpPr>
          <p:cNvPr id="8" name="TextBox 7"/>
          <p:cNvSpPr txBox="1"/>
          <p:nvPr/>
        </p:nvSpPr>
        <p:spPr>
          <a:xfrm>
            <a:off x="640080" y="3017520"/>
            <a:ext cx="10911535" cy="548640"/>
          </a:xfrm>
          <a:prstGeom prst="rect">
            <a:avLst/>
          </a:prstGeom>
          <a:noFill/>
        </p:spPr>
        <p:txBody>
          <a:bodyPr wrap="square">
            <a:spAutoFit/>
          </a:bodyPr>
          <a:lstStyle/>
          <a:p>
            <a:r>
              <a:rPr sz="1100" b="0">
                <a:solidFill>
                  <a:srgbClr val="5F6F63"/>
                </a:solidFill>
                <a:latin typeface="Arial"/>
              </a:rPr>
              <a:t>October 26.1%</a:t>
            </a:r>
          </a:p>
        </p:txBody>
      </p:sp>
      <p:sp>
        <p:nvSpPr>
          <p:cNvPr id="9" name="TextBox 8"/>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12 of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on each installation invoiced in November 2025 · Gross margin % · Type of job: Installations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Whole job, recognised when invoiced: revenue less materials, subcontractors and technician time at $68/hour. Before overheads: not profit. One 35.0% target for every job for now.</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r>
              <a:rPr sz="1000" b="0">
                <a:solidFill>
                  <a:srgbClr val="5F6F63"/>
                </a:solidFill>
                <a:latin typeface="Arial"/>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13 of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on each installation invoiced in November 2025 · Gross margin $ · Type of job: Installations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Whole job, recognised when invoiced: revenue less materials, subcontractors and technician time at $68/hour. Before overheads: not profit. One 35.0% target for every job for now.</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14 of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Type of job: Installations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3 of the 4 installation jobs invoiced in November made less than the 35.0% job gross margin target. The Windsor office solar and battery made a 13.5% job gross margin: 96.0 h of technician time ($6,528) and $2,600 of subcontractors on a $23,500 job. Jobs need 31.4%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Below the 31.4% overheads need: Capalaba factory solar and battery (19.4%), Newstead warehouse solar and battery (18.8%), Windsor office solar and battery (13.5%). Most profitable: Everton Park office LED lighting (40.1%).</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15 of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Type of job: Call-outs and repairs</a:t>
            </a:r>
          </a:p>
        </p:txBody>
      </p:sp>
      <p:sp>
        <p:nvSpPr>
          <p:cNvPr id="5" name="Rectangle 4"/>
          <p:cNvSpPr/>
          <p:nvPr/>
        </p:nvSpPr>
        <p:spPr>
          <a:xfrm>
            <a:off x="457200" y="1645920"/>
            <a:ext cx="11277295"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911535" cy="457200"/>
          </a:xfrm>
          <a:prstGeom prst="rect">
            <a:avLst/>
          </a:prstGeom>
          <a:noFill/>
        </p:spPr>
        <p:txBody>
          <a:bodyPr wrap="square">
            <a:spAutoFit/>
          </a:bodyPr>
          <a:lstStyle/>
          <a:p>
            <a:r>
              <a:rPr sz="1200" b="0">
                <a:solidFill>
                  <a:srgbClr val="5F6F63"/>
                </a:solidFill>
                <a:latin typeface="Arial"/>
              </a:rPr>
              <a:t>Job gross margin, November · Call-outs and repairs</a:t>
            </a:r>
          </a:p>
        </p:txBody>
      </p:sp>
      <p:sp>
        <p:nvSpPr>
          <p:cNvPr id="7" name="TextBox 6"/>
          <p:cNvSpPr txBox="1"/>
          <p:nvPr/>
        </p:nvSpPr>
        <p:spPr>
          <a:xfrm>
            <a:off x="640080" y="2240280"/>
            <a:ext cx="10911535" cy="731520"/>
          </a:xfrm>
          <a:prstGeom prst="rect">
            <a:avLst/>
          </a:prstGeom>
          <a:noFill/>
        </p:spPr>
        <p:txBody>
          <a:bodyPr wrap="square">
            <a:spAutoFit/>
          </a:bodyPr>
          <a:lstStyle/>
          <a:p>
            <a:r>
              <a:rPr sz="3000" b="1">
                <a:solidFill>
                  <a:srgbClr val="2F7A5D"/>
                </a:solidFill>
                <a:latin typeface="Arial"/>
              </a:rPr>
              <a:t>44.5%</a:t>
            </a:r>
          </a:p>
        </p:txBody>
      </p:sp>
      <p:sp>
        <p:nvSpPr>
          <p:cNvPr id="8" name="TextBox 7"/>
          <p:cNvSpPr txBox="1"/>
          <p:nvPr/>
        </p:nvSpPr>
        <p:spPr>
          <a:xfrm>
            <a:off x="640080" y="3017520"/>
            <a:ext cx="10911535" cy="548640"/>
          </a:xfrm>
          <a:prstGeom prst="rect">
            <a:avLst/>
          </a:prstGeom>
          <a:noFill/>
        </p:spPr>
        <p:txBody>
          <a:bodyPr wrap="square">
            <a:spAutoFit/>
          </a:bodyPr>
          <a:lstStyle/>
          <a:p>
            <a:r>
              <a:rPr sz="1100" b="0">
                <a:solidFill>
                  <a:srgbClr val="5F6F63"/>
                </a:solidFill>
                <a:latin typeface="Arial"/>
              </a:rPr>
              <a:t>October 43.3%</a:t>
            </a:r>
          </a:p>
        </p:txBody>
      </p:sp>
      <p:sp>
        <p:nvSpPr>
          <p:cNvPr id="9" name="TextBox 8"/>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16 of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on call-outs by length, November 2025 · Gross margin % · Type of job: Call-outs and repairs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Charged at $145/hour plus materials at cost × 1.3;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r>
              <a:rPr sz="1000" b="0">
                <a:solidFill>
                  <a:srgbClr val="5F6F63"/>
                </a:solidFill>
                <a:latin typeface="Arial"/>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17 of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on call-outs by length, November 2025 · Gross margin $ · Type of job: Call-outs and repairs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Charged at $145/hour plus materials at cost × 1.3;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18 of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Type of job: Call-outs and repairs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50 call-outs in November made a 44.5% job gross margin between them. Gross margins run from 38.9% to 47.1% by length: the hourly rate covers technician time comfortably, so the gross margin mostly moves with how much material goes on the van.</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Call-outs: 44.5% gross margin, 13.1 points clear of the 31.4% overheads need.</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19 of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by month · Gross margin % · Every type of job at once</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Tap a month for its workings.</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20 of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by month · Gross margin $ · Every type of job at once</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Tap a month for its workings.</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21 of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