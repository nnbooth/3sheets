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ayout>
        <c:manualLayout>
          <c:layoutTarget val="inner"/>
          <c:xMode val="edge"/>
          <c:yMode val="edge"/>
          <c:x val="0.3"/>
          <c:y val="0.03"/>
          <c:w val="0.58"/>
          <c:h val="0.88"/>
        </c:manualLayout>
      </c:layout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Share reached %</c:v>
                </c:pt>
              </c:strCache>
            </c:strRef>
          </c:tx>
          <c:dPt>
            <c:idx val="0"/>
            <c:spPr>
              <a:solidFill>
                <a:srgbClr val="7D8790"/>
              </a:solidFill>
            </c:spPr>
          </c:dPt>
          <c:dPt>
            <c:idx val="1"/>
            <c:spPr>
              <a:solidFill>
                <a:srgbClr val="7D8790"/>
              </a:solidFill>
            </c:spPr>
          </c:dPt>
          <c:dPt>
            <c:idx val="2"/>
            <c:spPr>
              <a:solidFill>
                <a:srgbClr val="0E9F6E"/>
              </a:solidFill>
            </c:spPr>
          </c:dPt>
          <c:dPt>
            <c:idx val="3"/>
            <c:spPr>
              <a:solidFill>
                <a:srgbClr val="0E9F6E"/>
              </a:solidFill>
            </c:spPr>
          </c:dPt>
          <c:dPt>
            <c:idx val="4"/>
            <c:spPr>
              <a:solidFill>
                <a:srgbClr val="0E9F6E"/>
              </a:solidFill>
            </c:spPr>
          </c:dPt>
          <c:cat>
            <c:strRef>
              <c:f>Sheet1!$A$2:$A$6</c:f>
              <c:strCache>
                <c:ptCount val="5"/>
                <c:pt idx="0">
                  <c:v>Youth outreach</c:v>
                </c:pt>
                <c:pt idx="1">
                  <c:v>Emergency relief</c:v>
                </c:pt>
                <c:pt idx="2">
                  <c:v>Housing support</c:v>
                </c:pt>
                <c:pt idx="3">
                  <c:v>Digital literacy</c:v>
                </c:pt>
                <c:pt idx="4">
                  <c:v>Community meals</c:v>
                </c:pt>
              </c:strCache>
            </c:strRef>
          </c:cat>
          <c:val>
            <c:numRef>
              <c:f>Sheet1!$B$2:$B$6</c:f>
              <c:numCache>
                <c:formatCode>0.0"%";[Red](0.0"%")</c:formatCode>
                <c:ptCount val="5"/>
                <c:pt idx="0">
                  <c:v>88.4</c:v>
                </c:pt>
                <c:pt idx="1">
                  <c:v>89.6</c:v>
                </c:pt>
                <c:pt idx="2">
                  <c:v>90.7</c:v>
                </c:pt>
                <c:pt idx="3">
                  <c:v>92.3</c:v>
                </c:pt>
                <c:pt idx="4">
                  <c:v>92.8</c:v>
                </c:pt>
              </c:numCache>
            </c:numRef>
          </c:val>
        </c:ser>
        <c:dLbls>
          <c:numFmt formatCode="0.0&quot;%&quot;;[Red](0.0&quot;%&quot;)" sourceLinked="0"/>
          <c:txPr>
            <a:bodyPr/>
            <a:lstStyle/>
            <a:p>
              <a:pPr>
                <a:defRPr sz="10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06.71999999999998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>
          <a:latin typeface="Roboto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People helped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Sheet1!$A$2:$A$15</c:f>
              <c:strCache>
                <c:ptCount val="14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</c:strCache>
            </c:strRef>
          </c:cat>
          <c:val>
            <c:numRef>
              <c:f>Sheet1!$B$2:$B$15</c:f>
              <c:numCache>
                <c:formatCode>#,##0;[Red](#,##0)</c:formatCode>
                <c:ptCount val="14"/>
                <c:pt idx="0">
                  <c:v>175</c:v>
                </c:pt>
                <c:pt idx="1">
                  <c:v>211</c:v>
                </c:pt>
                <c:pt idx="2">
                  <c:v>195</c:v>
                </c:pt>
                <c:pt idx="3">
                  <c:v>308</c:v>
                </c:pt>
                <c:pt idx="4">
                  <c:v>297</c:v>
                </c:pt>
                <c:pt idx="5">
                  <c:v>278</c:v>
                </c:pt>
                <c:pt idx="6">
                  <c:v>314</c:v>
                </c:pt>
                <c:pt idx="7">
                  <c:v>305</c:v>
                </c:pt>
                <c:pt idx="8">
                  <c:v>265</c:v>
                </c:pt>
                <c:pt idx="9">
                  <c:v>425</c:v>
                </c:pt>
                <c:pt idx="10">
                  <c:v>446</c:v>
                </c:pt>
                <c:pt idx="11">
                  <c:v>474</c:v>
                </c:pt>
                <c:pt idx="12">
                  <c:v>506</c:v>
                </c:pt>
                <c:pt idx="13">
                  <c:v>495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2"/>
        <c:noMultiLvlLbl val="0"/>
      </c:catAx>
      <c:valAx>
        <c:axId val="-2100718248"/>
        <c:scaling>
          <c:orientation val="minMax"/>
          <c:max val="6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#,##0;[Red](#,##0)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20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How many people did we help this month, and how many couldn't we reach?. Sample Community Services Ltd. Period: November 2025. People helped by each program, day by day, and the people who came to a program but couldn't be helped (and why). People helped are counted against each program's own grant spend.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How many people did we help this month, and how many couldn't we reach?. People helped, November: 495; Couldn't reach, November: 51; Share reached, November: 90.7%. 495 people were helped in November, and 51 came to a program but couldn't be helped: 90.7% reached (target 90.0%), against 88.2% in October. Youth outreach reached the smallest share: 88.4% (15 couldn't be helped). The main reason: program at capacity (19 people).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People helped by month. Tap a month for its workings.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Why people couldn't be helped, November 2025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Relationship Id="rId3" Type="http://schemas.openxmlformats.org/officeDocument/2006/relationships/chart" Target="../charts/char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Relationship Id="rId3" Type="http://schemas.openxmlformats.org/officeDocument/2006/relationships/chart" Target="../charts/char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1965960"/>
            <a:ext cx="11277295" cy="1097280"/>
          </a:xfrm>
        </p:spPr>
        <p:txBody>
          <a:bodyPr wrap="square"/>
          <a:lstStyle/>
          <a:p>
            <a:pPr algn="l">
              <a:defRPr>
                <a:latin typeface="Roboto"/>
              </a:defRPr>
            </a:pPr>
            <a:r>
              <a:rPr sz="3400" b="1">
                <a:solidFill>
                  <a:srgbClr val="25342A"/>
                </a:solidFill>
                <a:latin typeface="Roboto"/>
              </a:rPr>
              <a:t>How many people did we help this month, and how many couldn't we reach?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548640"/>
            <a:ext cx="640080" cy="640080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>
                <a:latin typeface="Roboto"/>
              </a:defRPr>
            </a:pPr>
            <a:r>
              <a:rPr sz="1600" b="1">
                <a:solidFill>
                  <a:srgbClr val="FFFFFF"/>
                </a:solidFill>
                <a:latin typeface="Roboto"/>
              </a:rPr>
              <a:t>4th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658368"/>
            <a:ext cx="54864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800" b="1">
                <a:solidFill>
                  <a:srgbClr val="25342A"/>
                </a:solidFill>
                <a:latin typeface="Roboto"/>
              </a:rPr>
              <a:t>The Fourth Sheet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109728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8A7A52"/>
                </a:solidFill>
                <a:latin typeface="Roboto"/>
              </a:rPr>
              <a:t>SAMPLE DATA · invented figures for demonstration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154680"/>
            <a:ext cx="11277295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5F6F63"/>
                </a:solidFill>
                <a:latin typeface="Roboto"/>
              </a:rPr>
              <a:t>Sample Community Services Ltd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703320"/>
            <a:ext cx="11277295" cy="5359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400" b="0">
                <a:solidFill>
                  <a:srgbClr val="25342A"/>
                </a:solidFill>
                <a:latin typeface="Roboto"/>
              </a:rPr>
              <a:t>Period: November 2025. People helped by each program, day by day, and the people who came to a program but couldn't be helped (and why). People helped are counted against each program's own grant spend.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330700"/>
            <a:ext cx="11277295" cy="1097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How final is this data?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October 2025: Locked. October 2025 is locked (closed 4 Nov 2025). These numbers won't change.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November 2025: Locked. November 2025 is locked (closed 2 Dec 2025). These numbers won't change.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October 2026: Incomplete. October 2026 is still in progress: figures to 6 Oct only.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people-helped.pptx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8 Oct 2026, 6:29pm · Sample data · Made with Python (python-pptx)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1 of 4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1452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000" b="1">
                <a:solidFill>
                  <a:srgbClr val="25342A"/>
                </a:solidFill>
                <a:latin typeface="Roboto"/>
              </a:rPr>
              <a:t>How many people did we help this month, and how many couldn't we reach?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How many people did we help this month, and how many couldn't we reach?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5344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Share of people reached, by program, November 2025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1767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29082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People helped, November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65658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495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2234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October 506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2498" y="121767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4429658" y="129082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Couldn't reach, November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29658" y="165658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51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29658" y="202234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October 68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27796" y="121767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8264956" y="129082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Share reached, November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4956" y="165658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90.7%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64956" y="202234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target 90.0%</a:t>
            </a:r>
          </a:p>
        </p:txBody>
      </p:sp>
      <p:graphicFrame>
        <p:nvGraphicFramePr>
          <p:cNvPr id="18" name="Chart 17"/>
          <p:cNvGraphicFramePr>
            <a:graphicFrameLocks noGrp="1"/>
          </p:cNvGraphicFramePr>
          <p:nvPr/>
        </p:nvGraphicFramePr>
        <p:xfrm>
          <a:off x="457200" y="2543556"/>
          <a:ext cx="11277295" cy="257708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cxnSp>
        <p:nvCxnSpPr>
          <p:cNvPr id="19" name="Connector 18"/>
          <p:cNvCxnSpPr/>
          <p:nvPr/>
        </p:nvCxnSpPr>
        <p:spPr>
          <a:xfrm>
            <a:off x="9356456" y="2620868"/>
            <a:ext cx="0" cy="2267834"/>
          </a:xfrm>
          <a:prstGeom prst="line">
            <a:avLst/>
          </a:prstGeom>
          <a:ln w="19050">
            <a:solidFill>
              <a:srgbClr val="25342A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8259176" y="4888702"/>
            <a:ext cx="2194560" cy="23774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1000" b="1">
                <a:solidFill>
                  <a:srgbClr val="25342A"/>
                </a:solidFill>
                <a:latin typeface="Roboto"/>
              </a:rPr>
              <a:t>Target 90.0%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5440680"/>
            <a:ext cx="5501487" cy="91440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2" name="TextBox 21"/>
          <p:cNvSpPr txBox="1"/>
          <p:nvPr/>
        </p:nvSpPr>
        <p:spPr>
          <a:xfrm>
            <a:off x="594360" y="549554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94360" y="5769864"/>
            <a:ext cx="5227167" cy="548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495 people were helped in November, and 51 came to a program but couldn't be helped: 90.7% reached (target 90.0%), against 88.2% in October.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233007" y="5440680"/>
            <a:ext cx="5501487" cy="91440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5" name="TextBox 24"/>
          <p:cNvSpPr txBox="1"/>
          <p:nvPr/>
        </p:nvSpPr>
        <p:spPr>
          <a:xfrm>
            <a:off x="6370167" y="549554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70167" y="5769864"/>
            <a:ext cx="5227167" cy="548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Youth outreach reached the smallest share: 88.4% (15 couldn't be helped). The main reason: program at capacity (19 people).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people-helped.pptx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8 Oct 2026, 6:29pm · Sample data · Made with Python (python-pptx)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2 of 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People helped by month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How many people did we help this month, and how many couldn't we reach?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Tap a month for its workings.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278636"/>
          <a:ext cx="11277295" cy="480212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people-helped.pptx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8 Oct 2026, 6:29pm · Sample data · Made with Python (python-pptx)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3 of 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Why people couldn't be helped, November 2025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How many people did we help this month, and how many couldn't we reach?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960120"/>
          <a:ext cx="11277295" cy="18653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38647"/>
                <a:gridCol w="5638648"/>
              </a:tblGrid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Main reason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People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Program at capacity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Waitlist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13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Outside the service area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Couldn't make contact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6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Not eligible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people-helped.pptx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8 Oct 2026, 6:29pm · Sample data · Made with Python (python-pptx)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4 of 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25342A"/>
      </a:dk2>
      <a:lt2>
        <a:srgbClr val="F4F7F2"/>
      </a:lt2>
      <a:accent1>
        <a:srgbClr val="2F7A5D"/>
      </a:accent1>
      <a:accent2>
        <a:srgbClr val="0E9F6E"/>
      </a:accent2>
      <a:accent3>
        <a:srgbClr val="7D8790"/>
      </a:accent3>
      <a:accent4>
        <a:srgbClr val="8A6D3B"/>
      </a:accent4>
      <a:accent5>
        <a:srgbClr val="B42318"/>
      </a:accent5>
      <a:accent6>
        <a:srgbClr val="8E9CAB"/>
      </a:accent6>
      <a:hlink>
        <a:srgbClr val="0000FF"/>
      </a:hlink>
      <a:folHlink>
        <a:srgbClr val="800080"/>
      </a:folHlink>
    </a:clrScheme>
    <a:fontScheme name="Office">
      <a:maj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