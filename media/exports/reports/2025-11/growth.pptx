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$#,##0;[Red]($#,##0);"-"</c:formatCode>
                <c:ptCount val="14"/>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0.0"%";[Red](0.0"%")</c:formatCode>
                <c:ptCount val="14"/>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$#,##0;[Red]($#,##0);"-"</c:formatCode>
                <c:ptCount val="14"/>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0.0"%";[Red](0.0"%")</c:formatCode>
                <c:ptCount val="14"/>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November 2025.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October 2025: Locked. October 2025 is locked (closed 4 Nov 2025). These numbers won't change.</a:t>
            </a:r>
          </a:p>
          <a:p>
            <a:pPr>
              <a:defRPr>
                <a:latin typeface="Roboto"/>
              </a:defRPr>
            </a:pPr>
            <a:r>
              <a:rPr sz="1100" b="0">
                <a:solidFill>
                  <a:srgbClr val="5F6F63"/>
                </a:solidFill>
                <a:latin typeface="Roboto"/>
              </a:rPr>
              <a:t>November 2025: Locked. November 2025 is locked (closed 2 Dec 2025).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November's jobs made $58,844 gross margin (33.7%). Technician time not charged to jobs took ($3,112) and overheads $57,960, leaving $3,996 profit before tax (2.3% of revenue). To cover overheads, jobs need a 31.4%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November 2025</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$58,844</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$46,800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$49,912</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B42318"/>
                          </a:solidFill>
                          <a:latin typeface="Roboto"/>
                        </a:rPr>
                        <a:t>($3,112)</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$61,956</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$57,960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$3,996</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$174,786</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33.7%</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2.3%</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31.4%</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(2.6%)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$174,786 against $179,474</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$757,863</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$283,831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$757,863 this financial year to date (Jul to Nov 2025). Maintenance contracts make the highest gross margin (59.5%); Installations the lowest (28.2%). The business needs 31.4%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28.2% gross margin, 6.8 points under the 35.0% target: about $32,632 on $481,200 of revenue this financial year to date. It's below the 31.4% needed to cover overheads, too. Maintenance contracts: 59.5% gross margin, 24.5 points over the 35.0% target ($41,910 ahead on $171,200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45.1%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$35,800 against $24,670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$171,200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$101,830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$171,200 this financial year to date, at a 59.5% gross margin (above the 37.5%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($41,910 ahead on $171,200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(13.8%)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$113,300 against $131,400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$481,200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28.2%</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$135,788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$481,200 this financial year to date, at a 28.2% gross margin (below the 37.5%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28.2% gross margin, 6.8 points under the 35.0% target: about $32,632 on $481,200 of revenue this financial year to date. It's below the 31.4%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$25,686 against $23,404</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$105,463</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$46,213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$105,463 this financial year to date, at a 43.8% gross margin (above the 37.5%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43.8% gross margin, 8.8 points over the 35.0% target ($9,301 ahead on $105,463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Nov 2025)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$171,200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$101,830</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$481,200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$135,788</a:t>
                      </a:r>
                    </a:p>
                  </a:txBody>
                  <a:tcPr>
                    <a:solidFill>
                      <a:srgbClr val="F7FAF7"/>
                    </a:solidFill>
                  </a:tcPr>
                </a:tc>
                <a:tc>
                  <a:txBody>
                    <a:bodyPr/>
                    <a:lstStyle/>
                    <a:p>
                      <a:pPr algn="r">
                        <a:defRPr>
                          <a:latin typeface="Roboto"/>
                        </a:defRPr>
                      </a:pPr>
                      <a:r>
                        <a:rPr sz="1050">
                          <a:solidFill>
                            <a:srgbClr val="25342A"/>
                          </a:solidFill>
                          <a:latin typeface="Roboto"/>
                        </a:rPr>
                        <a:t>28.2%</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$105,463</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$46,213</a:t>
                      </a:r>
                    </a:p>
                  </a:txBody>
                  <a:tcPr>
                    <a:solidFill>
                      <a:srgbClr val="FFFFFF"/>
                    </a:solidFill>
                  </a:tcPr>
                </a:tc>
                <a:tc>
                  <a:txBody>
                    <a:bodyPr/>
                    <a:lstStyle/>
                    <a:p>
                      <a:pPr algn="r">
                        <a:defRPr>
                          <a:latin typeface="Roboto"/>
                        </a:defRPr>
                      </a:pPr>
                      <a:r>
                        <a:rPr sz="1050">
                          <a:solidFill>
                            <a:srgbClr val="25342A"/>
                          </a:solidFill>
                          <a:latin typeface="Roboto"/>
                        </a:rPr>
                        <a:t>43.8%</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$757,863</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$283,831</a:t>
                      </a:r>
                    </a:p>
                  </a:txBody>
                  <a:tcPr>
                    <a:solidFill>
                      <a:srgbClr val="F7FAF7"/>
                    </a:solidFill>
                  </a:tcPr>
                </a:tc>
                <a:tc>
                  <a:txBody>
                    <a:bodyPr/>
                    <a:lstStyle/>
                    <a:p>
                      <a:pPr algn="r">
                        <a:defRPr>
                          <a:latin typeface="Roboto"/>
                        </a:defRPr>
                      </a:pPr>
                      <a:r>
                        <a:rPr sz="1050" b="1">
                          <a:solidFill>
                            <a:srgbClr val="25342A"/>
                          </a:solidFill>
                          <a:latin typeface="Roboto"/>
                        </a:rPr>
                        <a:t>37.5%</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November's client work made $52,800 gross margin (62.9%). Consultant time not charged to client work took $11,210 and overheads $51,270, leaving ($9,680) profit before tax ((11.5%) of revenue). To cover overheads, client work needs a 74.4%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November 2025</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$52,800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$38,750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$27,540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$11,210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$41,590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$51,270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B42318"/>
                          </a:solidFill>
                          <a:latin typeface="Roboto"/>
                        </a:rPr>
                        <a:t>($9,680)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$83,940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62.9%</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B42318"/>
                          </a:solidFill>
                          <a:latin typeface="Roboto"/>
                        </a:rPr>
                        <a:t>(11.5%)</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74.4%</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(22.4%)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$83,940 against $108,140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$362,530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63.8%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$231,390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$362,530 this financial year to date (Jul to Nov 2025). Training makes the highest gross margin (75.8%); Projects the lowest (61.4%). The business needs 74.4%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61.4% gross margin, 21.4 points over the 40.0% target ($50,078 ahead on $234,330 this financial year to date). Training: 75.8% gross margin, 35.8 points over the 40.0% target ($12,420 ahead on $34,700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(47.1%)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$46,840 against $88,540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$234,330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61.4%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$143,810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$234,330 this financial year to date, at a 61.4% gross margin (below the 63.8%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61.4% gross margin, 21.4 points over the 40.0% target ($50,078 ahead on $234,330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88.7%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$28,300 against $15,000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$93,500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65.5%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$61,280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$93,500 this financial year to date, at a 65.5% gross margin (above the 63.8%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65.5% gross margin, 25.5 points over the 40.0% target ($23,880 ahead on $93,500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November against November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91.3%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$8,800 against $4,600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Nov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$34,700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75.8%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$26,300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$34,700 this financial year to date, at a 75.8% gross margin (above the 63.8%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75.8% gross margin, 35.8 points over the 40.0% target ($12,420 ahead on $34,700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Nov 2025)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$234,330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$143,810</a:t>
                      </a:r>
                    </a:p>
                  </a:txBody>
                  <a:tcPr>
                    <a:solidFill>
                      <a:srgbClr val="FFFFFF"/>
                    </a:solidFill>
                  </a:tcPr>
                </a:tc>
                <a:tc>
                  <a:txBody>
                    <a:bodyPr/>
                    <a:lstStyle/>
                    <a:p>
                      <a:pPr algn="r">
                        <a:defRPr>
                          <a:latin typeface="Roboto"/>
                        </a:defRPr>
                      </a:pPr>
                      <a:r>
                        <a:rPr sz="1050">
                          <a:solidFill>
                            <a:srgbClr val="25342A"/>
                          </a:solidFill>
                          <a:latin typeface="Roboto"/>
                        </a:rPr>
                        <a:t>61.4%</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$93,500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$61,280</a:t>
                      </a:r>
                    </a:p>
                  </a:txBody>
                  <a:tcPr>
                    <a:solidFill>
                      <a:srgbClr val="F7FAF7"/>
                    </a:solidFill>
                  </a:tcPr>
                </a:tc>
                <a:tc>
                  <a:txBody>
                    <a:bodyPr/>
                    <a:lstStyle/>
                    <a:p>
                      <a:pPr algn="r">
                        <a:defRPr>
                          <a:latin typeface="Roboto"/>
                        </a:defRPr>
                      </a:pPr>
                      <a:r>
                        <a:rPr sz="1050">
                          <a:solidFill>
                            <a:srgbClr val="25342A"/>
                          </a:solidFill>
                          <a:latin typeface="Roboto"/>
                        </a:rPr>
                        <a:t>65.5%</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$34,700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$26,300</a:t>
                      </a:r>
                    </a:p>
                  </a:txBody>
                  <a:tcPr>
                    <a:solidFill>
                      <a:srgbClr val="FFFFFF"/>
                    </a:solidFill>
                  </a:tcPr>
                </a:tc>
                <a:tc>
                  <a:txBody>
                    <a:bodyPr/>
                    <a:lstStyle/>
                    <a:p>
                      <a:pPr algn="r">
                        <a:defRPr>
                          <a:latin typeface="Roboto"/>
                        </a:defRPr>
                      </a:pPr>
                      <a:r>
                        <a:rPr sz="1050">
                          <a:solidFill>
                            <a:srgbClr val="25342A"/>
                          </a:solidFill>
                          <a:latin typeface="Roboto"/>
                        </a:rPr>
                        <a:t>75.8%</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$362,530</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$231,390</a:t>
                      </a:r>
                    </a:p>
                  </a:txBody>
                  <a:tcPr>
                    <a:solidFill>
                      <a:srgbClr val="F7FAF7"/>
                    </a:solidFill>
                  </a:tcPr>
                </a:tc>
                <a:tc>
                  <a:txBody>
                    <a:bodyPr/>
                    <a:lstStyle/>
                    <a:p>
                      <a:pPr algn="r">
                        <a:defRPr>
                          <a:latin typeface="Roboto"/>
                        </a:defRPr>
                      </a:pPr>
                      <a:r>
                        <a:rPr sz="1050" b="1">
                          <a:solidFill>
                            <a:srgbClr val="25342A"/>
                          </a:solidFill>
                          <a:latin typeface="Roboto"/>
                        </a:rPr>
                        <a:t>63.8%</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