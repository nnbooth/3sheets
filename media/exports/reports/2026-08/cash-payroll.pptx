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Sheet1!$A$2:$A$123</c:f>
              <c:strCache>
                <c:ptCount val="12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strCache>
            </c:strRef>
          </c:cat>
          <c:val>
            <c:numRef>
              <c:f>Sheet1!$B$2:$B$123</c:f>
              <c:numCache>
                <c:formatCode>$#,##0;[Red]($#,##0);"-"</c:formatCode>
                <c:ptCount val="122"/>
                <c:pt idx="0">
                  <c:v>88000</c:v>
                </c:pt>
                <c:pt idx="1">
                  <c:v>112411</c:v>
                </c:pt>
                <c:pt idx="2">
                  <c:v>124362</c:v>
                </c:pt>
                <c:pt idx="3">
                  <c:v>139672</c:v>
                </c:pt>
                <c:pt idx="4">
                  <c:v>140540</c:v>
                </c:pt>
                <c:pt idx="5">
                  <c:v>134936</c:v>
                </c:pt>
                <c:pt idx="6">
                  <c:v>135317</c:v>
                </c:pt>
                <c:pt idx="7">
                  <c:v>147735</c:v>
                </c:pt>
                <c:pt idx="8">
                  <c:v>157535</c:v>
                </c:pt>
                <c:pt idx="9">
                  <c:v>159179</c:v>
                </c:pt>
                <c:pt idx="10">
                  <c:v>160618</c:v>
                </c:pt>
                <c:pt idx="11">
                  <c:v>160999</c:v>
                </c:pt>
                <c:pt idx="12">
                  <c:v>161655</c:v>
                </c:pt>
                <c:pt idx="13">
                  <c:v>162638</c:v>
                </c:pt>
                <c:pt idx="14">
                  <c:v>163871</c:v>
                </c:pt>
                <c:pt idx="15">
                  <c:v>164213</c:v>
                </c:pt>
                <c:pt idx="16">
                  <c:v>117019</c:v>
                </c:pt>
                <c:pt idx="17">
                  <c:v>118547</c:v>
                </c:pt>
                <c:pt idx="18">
                  <c:v>119573</c:v>
                </c:pt>
                <c:pt idx="19">
                  <c:v>82483</c:v>
                </c:pt>
                <c:pt idx="20">
                  <c:v>82483</c:v>
                </c:pt>
                <c:pt idx="21">
                  <c:v>84321</c:v>
                </c:pt>
                <c:pt idx="22">
                  <c:v>85990</c:v>
                </c:pt>
                <c:pt idx="23">
                  <c:v>87510</c:v>
                </c:pt>
                <c:pt idx="24">
                  <c:v>88034</c:v>
                </c:pt>
                <c:pt idx="25">
                  <c:v>105372</c:v>
                </c:pt>
                <c:pt idx="26">
                  <c:v>106041</c:v>
                </c:pt>
                <c:pt idx="27">
                  <c:v>102428</c:v>
                </c:pt>
                <c:pt idx="28">
                  <c:v>104108</c:v>
                </c:pt>
                <c:pt idx="29">
                  <c:v>104818</c:v>
                </c:pt>
                <c:pt idx="30">
                  <c:v>65263</c:v>
                </c:pt>
                <c:pt idx="31">
                  <c:v>65263</c:v>
                </c:pt>
                <c:pt idx="32">
                  <c:v>65263</c:v>
                </c:pt>
                <c:pt idx="33">
                  <c:v>28828</c:v>
                </c:pt>
                <c:pt idx="34">
                  <c:v>30094</c:v>
                </c:pt>
                <c:pt idx="35">
                  <c:v>31359</c:v>
                </c:pt>
                <c:pt idx="36">
                  <c:v>71125</c:v>
                </c:pt>
                <c:pt idx="37">
                  <c:v>91344</c:v>
                </c:pt>
                <c:pt idx="38">
                  <c:v>91344</c:v>
                </c:pt>
                <c:pt idx="39">
                  <c:v>92609</c:v>
                </c:pt>
                <c:pt idx="40">
                  <c:v>93874</c:v>
                </c:pt>
                <c:pt idx="41">
                  <c:v>95140</c:v>
                </c:pt>
                <c:pt idx="42">
                  <c:v>96405</c:v>
                </c:pt>
                <c:pt idx="43">
                  <c:v>118970</c:v>
                </c:pt>
                <c:pt idx="44">
                  <c:v>118970</c:v>
                </c:pt>
                <c:pt idx="45">
                  <c:v>72455</c:v>
                </c:pt>
                <c:pt idx="46">
                  <c:v>73721</c:v>
                </c:pt>
                <c:pt idx="47">
                  <c:v>37286</c:v>
                </c:pt>
                <c:pt idx="48">
                  <c:v>55352</c:v>
                </c:pt>
                <c:pt idx="49">
                  <c:v>56617</c:v>
                </c:pt>
                <c:pt idx="50">
                  <c:v>57882</c:v>
                </c:pt>
                <c:pt idx="51">
                  <c:v>57882</c:v>
                </c:pt>
                <c:pt idx="52">
                  <c:v>57882</c:v>
                </c:pt>
                <c:pt idx="53">
                  <c:v>78748</c:v>
                </c:pt>
                <c:pt idx="54">
                  <c:v>80013</c:v>
                </c:pt>
                <c:pt idx="55">
                  <c:v>81278</c:v>
                </c:pt>
                <c:pt idx="56">
                  <c:v>82544</c:v>
                </c:pt>
                <c:pt idx="57">
                  <c:v>97209</c:v>
                </c:pt>
                <c:pt idx="58">
                  <c:v>92209</c:v>
                </c:pt>
                <c:pt idx="59">
                  <c:v>92209</c:v>
                </c:pt>
                <c:pt idx="60">
                  <c:v>45860</c:v>
                </c:pt>
                <c:pt idx="61">
                  <c:v>55083</c:v>
                </c:pt>
                <c:pt idx="62">
                  <c:v>61505</c:v>
                </c:pt>
                <c:pt idx="63">
                  <c:v>67928</c:v>
                </c:pt>
                <c:pt idx="64">
                  <c:v>74351</c:v>
                </c:pt>
                <c:pt idx="65">
                  <c:v>74351</c:v>
                </c:pt>
                <c:pt idx="66">
                  <c:v>74351</c:v>
                </c:pt>
                <c:pt idx="67">
                  <c:v>80774</c:v>
                </c:pt>
                <c:pt idx="68">
                  <c:v>87197</c:v>
                </c:pt>
                <c:pt idx="69">
                  <c:v>93620</c:v>
                </c:pt>
                <c:pt idx="70">
                  <c:v>100043</c:v>
                </c:pt>
                <c:pt idx="71">
                  <c:v>106466</c:v>
                </c:pt>
                <c:pt idx="72">
                  <c:v>106466</c:v>
                </c:pt>
                <c:pt idx="73">
                  <c:v>106466</c:v>
                </c:pt>
                <c:pt idx="74">
                  <c:v>112889</c:v>
                </c:pt>
                <c:pt idx="75">
                  <c:v>35097</c:v>
                </c:pt>
                <c:pt idx="76">
                  <c:v>41520</c:v>
                </c:pt>
                <c:pt idx="77">
                  <c:v>47943</c:v>
                </c:pt>
                <c:pt idx="78">
                  <c:v>54366</c:v>
                </c:pt>
                <c:pt idx="79">
                  <c:v>54366</c:v>
                </c:pt>
                <c:pt idx="80">
                  <c:v>54366</c:v>
                </c:pt>
                <c:pt idx="81">
                  <c:v>60789</c:v>
                </c:pt>
                <c:pt idx="82">
                  <c:v>67212</c:v>
                </c:pt>
                <c:pt idx="83">
                  <c:v>73635</c:v>
                </c:pt>
                <c:pt idx="84">
                  <c:v>80058</c:v>
                </c:pt>
                <c:pt idx="85">
                  <c:v>86481</c:v>
                </c:pt>
                <c:pt idx="86">
                  <c:v>86481</c:v>
                </c:pt>
                <c:pt idx="87">
                  <c:v>86481</c:v>
                </c:pt>
                <c:pt idx="88">
                  <c:v>82392</c:v>
                </c:pt>
                <c:pt idx="89">
                  <c:v>51115</c:v>
                </c:pt>
                <c:pt idx="90">
                  <c:v>57538</c:v>
                </c:pt>
                <c:pt idx="91">
                  <c:v>104461</c:v>
                </c:pt>
                <c:pt idx="92">
                  <c:v>110883</c:v>
                </c:pt>
                <c:pt idx="93">
                  <c:v>63268</c:v>
                </c:pt>
                <c:pt idx="94">
                  <c:v>63268</c:v>
                </c:pt>
                <c:pt idx="95">
                  <c:v>69691</c:v>
                </c:pt>
                <c:pt idx="96">
                  <c:v>76114</c:v>
                </c:pt>
                <c:pt idx="97">
                  <c:v>82537</c:v>
                </c:pt>
                <c:pt idx="98">
                  <c:v>88960</c:v>
                </c:pt>
                <c:pt idx="99">
                  <c:v>95383</c:v>
                </c:pt>
                <c:pt idx="100">
                  <c:v>95383</c:v>
                </c:pt>
                <c:pt idx="101">
                  <c:v>95383</c:v>
                </c:pt>
                <c:pt idx="102">
                  <c:v>101806</c:v>
                </c:pt>
                <c:pt idx="103">
                  <c:v>70529</c:v>
                </c:pt>
                <c:pt idx="104">
                  <c:v>76952</c:v>
                </c:pt>
                <c:pt idx="105">
                  <c:v>83375</c:v>
                </c:pt>
                <c:pt idx="106">
                  <c:v>89798</c:v>
                </c:pt>
                <c:pt idx="107">
                  <c:v>43283</c:v>
                </c:pt>
                <c:pt idx="108">
                  <c:v>43283</c:v>
                </c:pt>
                <c:pt idx="109">
                  <c:v>49706</c:v>
                </c:pt>
                <c:pt idx="110">
                  <c:v>56129</c:v>
                </c:pt>
                <c:pt idx="111">
                  <c:v>62552</c:v>
                </c:pt>
                <c:pt idx="112">
                  <c:v>68975</c:v>
                </c:pt>
                <c:pt idx="113">
                  <c:v>75398</c:v>
                </c:pt>
                <c:pt idx="114">
                  <c:v>75398</c:v>
                </c:pt>
                <c:pt idx="115">
                  <c:v>75398</c:v>
                </c:pt>
                <c:pt idx="116">
                  <c:v>81821</c:v>
                </c:pt>
                <c:pt idx="117">
                  <c:v>50544</c:v>
                </c:pt>
                <c:pt idx="118">
                  <c:v>56967</c:v>
                </c:pt>
                <c:pt idx="119">
                  <c:v>63390</c:v>
                </c:pt>
                <c:pt idx="120">
                  <c:v>69813</c:v>
                </c:pt>
                <c:pt idx="121">
                  <c:v>17198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4"/>
        <c:noMultiLvlLbl val="0"/>
      </c:catAx>
      <c:valAx>
        <c:axId val="-2100718248"/>
        <c:scaling>
          <c:orientation val="minMax"/>
          <c:max val="20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September: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0E9F6E"/>
              </a:solidFill>
            </c:spPr>
          </c:dPt>
          <c:dPt>
            <c:idx val="4"/>
            <c:spPr>
              <a:solidFill>
                <a:srgbClr val="0E9F6E"/>
              </a:solidFill>
            </c:spPr>
          </c:dPt>
          <c:cat>
            <c:strRef>
              <c:f>Sheet1!$A$2:$A$6</c:f>
              <c:strCache>
                <c:ptCount val="5"/>
                <c:pt idx="0">
                  <c:v>Suppliers and overheads</c:v>
                </c:pt>
                <c:pt idx="1">
                  <c:v>Wages (2 pay runs)</c:v>
                </c:pt>
                <c:pt idx="2">
                  <c:v>Tax, interest and equipment finance</c:v>
                </c:pt>
                <c:pt idx="3">
                  <c:v>New work collected</c:v>
                </c:pt>
                <c:pt idx="4">
                  <c:v>Unpaid invoices collected</c:v>
                </c:pt>
              </c:strCache>
            </c:strRef>
          </c:cat>
          <c:val>
            <c:numRef>
              <c:f>Sheet1!$B$2:$B$6</c:f>
              <c:numCache>
                <c:formatCode>$#,##0;[Red]($#,##0);"-"</c:formatCode>
                <c:ptCount val="5"/>
                <c:pt idx="0">
                  <c:v>-93030</c:v>
                </c:pt>
                <c:pt idx="1">
                  <c:v>-75400</c:v>
                </c:pt>
                <c:pt idx="2">
                  <c:v>-6100</c:v>
                </c:pt>
                <c:pt idx="3">
                  <c:v>25308</c:v>
                </c:pt>
                <c:pt idx="4">
                  <c:v>129819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149291.84999999998"/>
          <c:min val="-106984.49999999999"/>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August 2026. A 13-week cash forecast from 31 August: cash at bank, plus what customers owe on their usual payment dates and new work at its recent rate, less pay runs, supplier bills, tax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31 Aug: $65,263; Wages to pay in September: $75,400; After the tightest pay run, 3 Sep: $28,828; Lowest point, next 13 weeks: $17,198. Cash at bank was $65,263 at 31 August. September has 2 pay runs ($75,400). The tightest is 3 September: $28,828 left after paying wages, less than one pay run ($37,700) in reserve. The lowest point in the 13 weeks is $17,198 on 30 November. 15 invoices ($20,219) are already past the customer's usual payment date; the forecast assumes they arrive within a week. Without them, 3 September would be $8,609.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this forecast has done so far. For 5 October it said $74,351; the bank says $47,244, $27,107 less.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September: where the cash comes from and goes (forecast). Money in, and money out in brackets.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($37,700), red below zero.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($20,219)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sp>
        <p:nvSpPr>
          <p:cNvPr id="3" name="Rectangle 2"/>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75819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August 2026. A 13-week cash forecast from 31 August: cash at bank, plus what customers owe on their usual payment dates and new work at its recent rate, less pay runs, supplier bills, tax and finance on their due dates. Every day opens its workings.</a:t>
            </a:r>
          </a:p>
        </p:txBody>
      </p:sp>
      <p:sp>
        <p:nvSpPr>
          <p:cNvPr id="8" name="TextBox 7"/>
          <p:cNvSpPr txBox="1"/>
          <p:nvPr/>
        </p:nvSpPr>
        <p:spPr>
          <a:xfrm>
            <a:off x="457200" y="455295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31 Aug, then forecast to 30 Nov</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31 Aug</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$65,263</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end of the day</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Wages to pay in September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$75,400</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2 fortnightly pay runs</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3 Sep</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8A6D3B"/>
                </a:solidFill>
                <a:latin typeface="Roboto"/>
              </a:rPr>
              <a:t>$28,828</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$37,700</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8A6D3B"/>
                </a:solidFill>
                <a:latin typeface="Roboto"/>
              </a:rPr>
              <a:t>$17,198</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30 November</a:t>
            </a:r>
          </a:p>
        </p:txBody>
      </p:sp>
      <p:graphicFrame>
        <p:nvGraphicFramePr>
          <p:cNvPr id="22" name="Chart 21"/>
          <p:cNvGraphicFramePr>
            <a:graphicFrameLocks noGrp="1"/>
          </p:cNvGraphicFramePr>
          <p:nvPr/>
        </p:nvGraphicFramePr>
        <p:xfrm>
          <a:off x="457200" y="2604516"/>
          <a:ext cx="11277295" cy="231800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225264"/>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950944"/>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$37,700</a:t>
            </a:r>
          </a:p>
        </p:txBody>
      </p:sp>
      <p:sp>
        <p:nvSpPr>
          <p:cNvPr id="25" name="Rectangle 24"/>
          <p:cNvSpPr/>
          <p:nvPr/>
        </p:nvSpPr>
        <p:spPr>
          <a:xfrm>
            <a:off x="457200" y="5013960"/>
            <a:ext cx="5501487" cy="129540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506882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5343144"/>
            <a:ext cx="5227167" cy="92964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$65,263 at 31 August. September has 2 pay runs ($75,400). The tightest is 3 September: $28,828 left after paying wages, less than one pay run ($37,700) in reserve. The lowest point in the 13 weeks is $17,198 on 30 November.</a:t>
            </a:r>
          </a:p>
        </p:txBody>
      </p:sp>
      <p:sp>
        <p:nvSpPr>
          <p:cNvPr id="28" name="Rectangle 27"/>
          <p:cNvSpPr/>
          <p:nvPr/>
        </p:nvSpPr>
        <p:spPr>
          <a:xfrm>
            <a:off x="6233007" y="5013960"/>
            <a:ext cx="5501487" cy="129540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506882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5343144"/>
            <a:ext cx="5227167" cy="929640"/>
          </a:xfrm>
          <a:prstGeom prst="rect">
            <a:avLst/>
          </a:prstGeom>
          <a:noFill/>
        </p:spPr>
        <p:txBody>
          <a:bodyPr wrap="square" lIns="45720" rIns="45720">
            <a:spAutoFit/>
          </a:bodyPr>
          <a:lstStyle/>
          <a:p>
            <a:pPr>
              <a:defRPr>
                <a:latin typeface="Roboto"/>
              </a:defRPr>
            </a:pPr>
            <a:r>
              <a:rPr sz="1200" b="0">
                <a:solidFill>
                  <a:srgbClr val="25342A"/>
                </a:solidFill>
                <a:latin typeface="Roboto"/>
              </a:rPr>
              <a:t>15 invoices ($20,219) are already past the customer's usual payment date; the forecast assumes they arrive within a week. Without them, 3 September would be $8,609.</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How this forecast has done so far</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For 5 October it said $74,351; the bank says $47,244, $27,107 less.</a:t>
            </a:r>
          </a:p>
        </p:txBody>
      </p:sp>
      <p:graphicFrame>
        <p:nvGraphicFramePr>
          <p:cNvPr id="6" name="Table 5"/>
          <p:cNvGraphicFramePr>
            <a:graphicFrameLocks noGrp="1"/>
          </p:cNvGraphicFramePr>
          <p:nvPr/>
        </p:nvGraphicFramePr>
        <p:xfrm>
          <a:off x="457200" y="1278636"/>
          <a:ext cx="11277294" cy="1554480"/>
        </p:xfrm>
        <a:graphic>
          <a:graphicData uri="http://schemas.openxmlformats.org/drawingml/2006/table">
            <a:tbl>
              <a:tblPr bandRow="1">
                <a:tableStyleId>{5C22544A-7EE6-4342-B048-85BDC9FD1C3A}</a:tableStyleId>
              </a:tblPr>
              <a:tblGrid>
                <a:gridCol w="3608734"/>
                <a:gridCol w="7668560"/>
              </a:tblGrid>
              <a:tr h="310896">
                <a:tc>
                  <a:txBody>
                    <a:bodyPr/>
                    <a:lstStyle/>
                    <a:p>
                      <a:pPr algn="l">
                        <a:defRPr>
                          <a:latin typeface="Roboto"/>
                        </a:defRPr>
                      </a:pPr>
                      <a:r>
                        <a:rPr sz="1050">
                          <a:solidFill>
                            <a:srgbClr val="25342A"/>
                          </a:solidFill>
                          <a:latin typeface="Roboto"/>
                        </a:rPr>
                        <a:t>Forecast for 5 October</a:t>
                      </a:r>
                    </a:p>
                  </a:txBody>
                  <a:tcPr>
                    <a:solidFill>
                      <a:srgbClr val="FFFFFF"/>
                    </a:solidFill>
                  </a:tcPr>
                </a:tc>
                <a:tc>
                  <a:txBody>
                    <a:bodyPr/>
                    <a:lstStyle/>
                    <a:p>
                      <a:pPr algn="r">
                        <a:defRPr>
                          <a:latin typeface="Roboto"/>
                        </a:defRPr>
                      </a:pPr>
                      <a:r>
                        <a:rPr sz="1050">
                          <a:solidFill>
                            <a:srgbClr val="25342A"/>
                          </a:solidFill>
                          <a:latin typeface="Roboto"/>
                        </a:rPr>
                        <a:t>$74,351</a:t>
                      </a:r>
                    </a:p>
                  </a:txBody>
                  <a:tcPr>
                    <a:solidFill>
                      <a:srgbClr val="FFFFFF"/>
                    </a:solidFill>
                  </a:tcPr>
                </a:tc>
              </a:tr>
              <a:tr h="310896">
                <a:tc>
                  <a:txBody>
                    <a:bodyPr/>
                    <a:lstStyle/>
                    <a:p>
                      <a:pPr algn="l">
                        <a:defRPr>
                          <a:latin typeface="Roboto"/>
                        </a:defRPr>
                      </a:pPr>
                      <a:r>
                        <a:rPr sz="1050">
                          <a:solidFill>
                            <a:srgbClr val="25342A"/>
                          </a:solidFill>
                          <a:latin typeface="Roboto"/>
                        </a:rPr>
                        <a:t>Actual, 5 October</a:t>
                      </a:r>
                    </a:p>
                  </a:txBody>
                  <a:tcPr>
                    <a:solidFill>
                      <a:srgbClr val="F7FAF7"/>
                    </a:solidFill>
                  </a:tcPr>
                </a:tc>
                <a:tc>
                  <a:txBody>
                    <a:bodyPr/>
                    <a:lstStyle/>
                    <a:p>
                      <a:pPr algn="r">
                        <a:defRPr>
                          <a:latin typeface="Roboto"/>
                        </a:defRPr>
                      </a:pPr>
                      <a:r>
                        <a:rPr sz="1050">
                          <a:solidFill>
                            <a:srgbClr val="25342A"/>
                          </a:solidFill>
                          <a:latin typeface="Roboto"/>
                        </a:rPr>
                        <a:t>$47,244</a:t>
                      </a:r>
                    </a:p>
                  </a:txBody>
                  <a:tcPr>
                    <a:solidFill>
                      <a:srgbClr val="F7FAF7"/>
                    </a:solidFill>
                  </a:tcPr>
                </a:tc>
              </a:tr>
              <a:tr h="310896">
                <a:tc>
                  <a:txBody>
                    <a:bodyPr/>
                    <a:lstStyle/>
                    <a:p>
                      <a:pPr algn="l">
                        <a:defRPr>
                          <a:latin typeface="Roboto"/>
                        </a:defRPr>
                      </a:pPr>
                      <a:r>
                        <a:rPr sz="1050">
                          <a:solidFill>
                            <a:srgbClr val="25342A"/>
                          </a:solidFill>
                          <a:latin typeface="Roboto"/>
                        </a:rPr>
                        <a:t>Actual − forecast</a:t>
                      </a:r>
                    </a:p>
                  </a:txBody>
                  <a:tcPr>
                    <a:solidFill>
                      <a:srgbClr val="FFFFFF"/>
                    </a:solidFill>
                  </a:tcPr>
                </a:tc>
                <a:tc>
                  <a:txBody>
                    <a:bodyPr/>
                    <a:lstStyle/>
                    <a:p>
                      <a:pPr algn="r">
                        <a:defRPr>
                          <a:latin typeface="Roboto"/>
                        </a:defRPr>
                      </a:pPr>
                      <a:r>
                        <a:rPr sz="1050">
                          <a:solidFill>
                            <a:srgbClr val="B42318"/>
                          </a:solidFill>
                          <a:latin typeface="Roboto"/>
                        </a:rPr>
                        <a:t>($27,107)</a:t>
                      </a:r>
                    </a:p>
                  </a:txBody>
                  <a:tcPr>
                    <a:solidFill>
                      <a:srgbClr val="FFFFFF"/>
                    </a:solidFill>
                  </a:tcPr>
                </a:tc>
              </a:tr>
              <a:tr h="310896">
                <a:tc>
                  <a:txBody>
                    <a:bodyPr/>
                    <a:lstStyle/>
                    <a:p>
                      <a:pPr algn="l">
                        <a:defRPr>
                          <a:latin typeface="Roboto"/>
                        </a:defRPr>
                      </a:pPr>
                      <a:r>
                        <a:rPr sz="1050">
                          <a:solidFill>
                            <a:srgbClr val="25342A"/>
                          </a:solidFill>
                          <a:latin typeface="Roboto"/>
                        </a:rPr>
                        <a:t>Of which: invoices expected by then, not yet paid</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r>
              <a:tr h="310896">
                <a:tc>
                  <a:txBody>
                    <a:bodyPr/>
                    <a:lstStyle/>
                    <a:p>
                      <a:pPr algn="l">
                        <a:defRPr>
                          <a:latin typeface="Roboto"/>
                        </a:defRPr>
                      </a:pPr>
                      <a:r>
                        <a:rPr sz="1050">
                          <a:solidFill>
                            <a:srgbClr val="25342A"/>
                          </a:solidFill>
                          <a:latin typeface="Roboto"/>
                        </a:rPr>
                        <a:t>Everything else (timing of other money in and out)</a:t>
                      </a:r>
                    </a:p>
                  </a:txBody>
                  <a:tcPr>
                    <a:solidFill>
                      <a:srgbClr val="FFFFFF"/>
                    </a:solidFill>
                  </a:tcPr>
                </a:tc>
                <a:tc>
                  <a:txBody>
                    <a:bodyPr/>
                    <a:lstStyle/>
                    <a:p>
                      <a:pPr algn="r">
                        <a:defRPr>
                          <a:latin typeface="Roboto"/>
                        </a:defRPr>
                      </a:pPr>
                      <a:r>
                        <a:rPr sz="1050">
                          <a:solidFill>
                            <a:srgbClr val="B42318"/>
                          </a:solidFill>
                          <a:latin typeface="Roboto"/>
                        </a:rPr>
                        <a:t>($27,107)</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September: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($37,700), red below zero.</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253032"/>
                <a:gridCol w="1253032"/>
                <a:gridCol w="1253032"/>
                <a:gridCol w="1253032"/>
                <a:gridCol w="1253032"/>
                <a:gridCol w="1253032"/>
                <a:gridCol w="1253032"/>
                <a:gridCol w="1253032"/>
                <a:gridCol w="1253039"/>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Wages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Tax, 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7 Sep</a:t>
                      </a:r>
                    </a:p>
                  </a:txBody>
                  <a:tcPr>
                    <a:solidFill>
                      <a:srgbClr val="FFFFFF"/>
                    </a:solidFill>
                  </a:tcPr>
                </a:tc>
                <a:tc>
                  <a:txBody>
                    <a:bodyPr/>
                    <a:lstStyle/>
                    <a:p>
                      <a:pPr algn="r">
                        <a:defRPr>
                          <a:latin typeface="Roboto"/>
                        </a:defRPr>
                      </a:pPr>
                      <a:r>
                        <a:rPr sz="1050">
                          <a:solidFill>
                            <a:srgbClr val="25342A"/>
                          </a:solidFill>
                          <a:latin typeface="Roboto"/>
                        </a:rPr>
                        <a:t>$65,263</a:t>
                      </a:r>
                    </a:p>
                  </a:txBody>
                  <a:tcPr>
                    <a:solidFill>
                      <a:srgbClr val="FFFFFF"/>
                    </a:solidFill>
                  </a:tcPr>
                </a:tc>
                <a:tc>
                  <a:txBody>
                    <a:bodyPr/>
                    <a:lstStyle/>
                    <a:p>
                      <a:pPr algn="r">
                        <a:defRPr>
                          <a:latin typeface="Roboto"/>
                        </a:defRPr>
                      </a:pPr>
                      <a:r>
                        <a:rPr sz="1050">
                          <a:solidFill>
                            <a:srgbClr val="25342A"/>
                          </a:solidFill>
                          <a:latin typeface="Roboto"/>
                        </a:rPr>
                        <a:t>$58,719</a:t>
                      </a:r>
                    </a:p>
                  </a:txBody>
                  <a:tcPr>
                    <a:solidFill>
                      <a:srgbClr val="FFFFFF"/>
                    </a:solidFill>
                  </a:tcPr>
                </a:tc>
                <a:tc>
                  <a:txBody>
                    <a:bodyPr/>
                    <a:lstStyle/>
                    <a:p>
                      <a:pPr algn="r">
                        <a:defRPr>
                          <a:latin typeface="Roboto"/>
                        </a:defRPr>
                      </a:pPr>
                      <a:r>
                        <a:rPr sz="1050">
                          <a:solidFill>
                            <a:srgbClr val="25342A"/>
                          </a:solidFill>
                          <a:latin typeface="Roboto"/>
                        </a:rPr>
                        <a:t>$5,062</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$91,344</a:t>
                      </a:r>
                    </a:p>
                  </a:txBody>
                  <a:tcPr>
                    <a:solidFill>
                      <a:srgbClr val="FFFFFF"/>
                    </a:solidFill>
                  </a:tcPr>
                </a:tc>
                <a:tc>
                  <a:txBody>
                    <a:bodyPr/>
                    <a:lstStyle/>
                    <a:p>
                      <a:pPr algn="r">
                        <a:defRPr>
                          <a:latin typeface="Roboto"/>
                        </a:defRPr>
                      </a:pPr>
                      <a:r>
                        <a:rPr sz="1050">
                          <a:solidFill>
                            <a:srgbClr val="25342A"/>
                          </a:solidFill>
                          <a:latin typeface="Roboto"/>
                        </a:rPr>
                        <a:t>$28,828</a:t>
                      </a:r>
                    </a:p>
                  </a:txBody>
                  <a:tcPr>
                    <a:solidFill>
                      <a:srgbClr val="FFFFFF"/>
                    </a:solidFill>
                  </a:tcPr>
                </a:tc>
              </a:tr>
              <a:tr h="310896">
                <a:tc>
                  <a:txBody>
                    <a:bodyPr/>
                    <a:lstStyle/>
                    <a:p>
                      <a:pPr algn="l">
                        <a:defRPr>
                          <a:latin typeface="Roboto"/>
                        </a:defRPr>
                      </a:pPr>
                      <a:r>
                        <a:rPr sz="1050">
                          <a:solidFill>
                            <a:srgbClr val="25342A"/>
                          </a:solidFill>
                          <a:latin typeface="Roboto"/>
                        </a:rPr>
                        <a:t>14 Sep</a:t>
                      </a:r>
                    </a:p>
                  </a:txBody>
                  <a:tcPr>
                    <a:solidFill>
                      <a:srgbClr val="F7FAF7"/>
                    </a:solidFill>
                  </a:tcPr>
                </a:tc>
                <a:tc>
                  <a:txBody>
                    <a:bodyPr/>
                    <a:lstStyle/>
                    <a:p>
                      <a:pPr algn="r">
                        <a:defRPr>
                          <a:latin typeface="Roboto"/>
                        </a:defRPr>
                      </a:pPr>
                      <a:r>
                        <a:rPr sz="1050">
                          <a:solidFill>
                            <a:srgbClr val="25342A"/>
                          </a:solidFill>
                          <a:latin typeface="Roboto"/>
                        </a:rPr>
                        <a:t>$91,344</a:t>
                      </a:r>
                    </a:p>
                  </a:txBody>
                  <a:tcPr>
                    <a:solidFill>
                      <a:srgbClr val="F7FAF7"/>
                    </a:solidFill>
                  </a:tcPr>
                </a:tc>
                <a:tc>
                  <a:txBody>
                    <a:bodyPr/>
                    <a:lstStyle/>
                    <a:p>
                      <a:pPr algn="r">
                        <a:defRPr>
                          <a:latin typeface="Roboto"/>
                        </a:defRPr>
                      </a:pPr>
                      <a:r>
                        <a:rPr sz="1050">
                          <a:solidFill>
                            <a:srgbClr val="25342A"/>
                          </a:solidFill>
                          <a:latin typeface="Roboto"/>
                        </a:rPr>
                        <a:t>$21,300</a:t>
                      </a:r>
                    </a:p>
                  </a:txBody>
                  <a:tcPr>
                    <a:solidFill>
                      <a:srgbClr val="F7FAF7"/>
                    </a:solidFill>
                  </a:tcPr>
                </a:tc>
                <a:tc>
                  <a:txBody>
                    <a:bodyPr/>
                    <a:lstStyle/>
                    <a:p>
                      <a:pPr algn="r">
                        <a:defRPr>
                          <a:latin typeface="Roboto"/>
                        </a:defRPr>
                      </a:pPr>
                      <a:r>
                        <a:rPr sz="1050">
                          <a:solidFill>
                            <a:srgbClr val="25342A"/>
                          </a:solidFill>
                          <a:latin typeface="Roboto"/>
                        </a:rPr>
                        <a:t>$6,327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$118,970</a:t>
                      </a:r>
                    </a:p>
                  </a:txBody>
                  <a:tcPr>
                    <a:solidFill>
                      <a:srgbClr val="F7FAF7"/>
                    </a:solidFill>
                  </a:tcPr>
                </a:tc>
                <a:tc>
                  <a:txBody>
                    <a:bodyPr/>
                    <a:lstStyle/>
                    <a:p>
                      <a:pPr algn="r">
                        <a:defRPr>
                          <a:latin typeface="Roboto"/>
                        </a:defRPr>
                      </a:pPr>
                      <a:r>
                        <a:rPr sz="1050">
                          <a:solidFill>
                            <a:srgbClr val="25342A"/>
                          </a:solidFill>
                          <a:latin typeface="Roboto"/>
                        </a:rPr>
                        <a:t>$91,344</a:t>
                      </a:r>
                    </a:p>
                  </a:txBody>
                  <a:tcPr>
                    <a:solidFill>
                      <a:srgbClr val="F7FAF7"/>
                    </a:solidFill>
                  </a:tcPr>
                </a:tc>
              </a:tr>
              <a:tr h="310896">
                <a:tc>
                  <a:txBody>
                    <a:bodyPr/>
                    <a:lstStyle/>
                    <a:p>
                      <a:pPr algn="l">
                        <a:defRPr>
                          <a:latin typeface="Roboto"/>
                        </a:defRPr>
                      </a:pPr>
                      <a:r>
                        <a:rPr sz="1050">
                          <a:solidFill>
                            <a:srgbClr val="25342A"/>
                          </a:solidFill>
                          <a:latin typeface="Roboto"/>
                        </a:rPr>
                        <a:t>21 Sep</a:t>
                      </a:r>
                    </a:p>
                  </a:txBody>
                  <a:tcPr>
                    <a:solidFill>
                      <a:srgbClr val="FFFFFF"/>
                    </a:solidFill>
                  </a:tcPr>
                </a:tc>
                <a:tc>
                  <a:txBody>
                    <a:bodyPr/>
                    <a:lstStyle/>
                    <a:p>
                      <a:pPr algn="r">
                        <a:defRPr>
                          <a:latin typeface="Roboto"/>
                        </a:defRPr>
                      </a:pPr>
                      <a:r>
                        <a:rPr sz="1050">
                          <a:solidFill>
                            <a:srgbClr val="25342A"/>
                          </a:solidFill>
                          <a:latin typeface="Roboto"/>
                        </a:rPr>
                        <a:t>$118,970</a:t>
                      </a:r>
                    </a:p>
                  </a:txBody>
                  <a:tcPr>
                    <a:solidFill>
                      <a:srgbClr val="FFFFFF"/>
                    </a:solidFill>
                  </a:tcPr>
                </a:tc>
                <a:tc>
                  <a:txBody>
                    <a:bodyPr/>
                    <a:lstStyle/>
                    <a:p>
                      <a:pPr algn="r">
                        <a:defRPr>
                          <a:latin typeface="Roboto"/>
                        </a:defRPr>
                      </a:pPr>
                      <a:r>
                        <a:rPr sz="1050">
                          <a:solidFill>
                            <a:srgbClr val="25342A"/>
                          </a:solidFill>
                          <a:latin typeface="Roboto"/>
                        </a:rPr>
                        <a:t>$16,800</a:t>
                      </a:r>
                    </a:p>
                  </a:txBody>
                  <a:tcPr>
                    <a:solidFill>
                      <a:srgbClr val="FFFFFF"/>
                    </a:solidFill>
                  </a:tcPr>
                </a:tc>
                <a:tc>
                  <a:txBody>
                    <a:bodyPr/>
                    <a:lstStyle/>
                    <a:p>
                      <a:pPr algn="r">
                        <a:defRPr>
                          <a:latin typeface="Roboto"/>
                        </a:defRPr>
                      </a:pPr>
                      <a:r>
                        <a:rPr sz="1050">
                          <a:solidFill>
                            <a:srgbClr val="25342A"/>
                          </a:solidFill>
                          <a:latin typeface="Roboto"/>
                        </a:rPr>
                        <a:t>$6,327</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$57,882</a:t>
                      </a:r>
                    </a:p>
                  </a:txBody>
                  <a:tcPr>
                    <a:solidFill>
                      <a:srgbClr val="FFFFFF"/>
                    </a:solidFill>
                  </a:tcPr>
                </a:tc>
                <a:tc>
                  <a:txBody>
                    <a:bodyPr/>
                    <a:lstStyle/>
                    <a:p>
                      <a:pPr algn="r">
                        <a:defRPr>
                          <a:latin typeface="Roboto"/>
                        </a:defRPr>
                      </a:pPr>
                      <a:r>
                        <a:rPr sz="1050">
                          <a:solidFill>
                            <a:srgbClr val="25342A"/>
                          </a:solidFill>
                          <a:latin typeface="Roboto"/>
                        </a:rPr>
                        <a:t>$37,286</a:t>
                      </a:r>
                    </a:p>
                  </a:txBody>
                  <a:tcPr>
                    <a:solidFill>
                      <a:srgbClr val="FFFFFF"/>
                    </a:solidFill>
                  </a:tcPr>
                </a:tc>
              </a:tr>
              <a:tr h="310896">
                <a:tc>
                  <a:txBody>
                    <a:bodyPr/>
                    <a:lstStyle/>
                    <a:p>
                      <a:pPr algn="l">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$57,882</a:t>
                      </a:r>
                    </a:p>
                  </a:txBody>
                  <a:tcPr>
                    <a:solidFill>
                      <a:srgbClr val="F7FAF7"/>
                    </a:solidFill>
                  </a:tcPr>
                </a:tc>
                <a:tc>
                  <a:txBody>
                    <a:bodyPr/>
                    <a:lstStyle/>
                    <a:p>
                      <a:pPr algn="r">
                        <a:defRPr>
                          <a:latin typeface="Roboto"/>
                        </a:defRPr>
                      </a:pPr>
                      <a:r>
                        <a:rPr sz="1050">
                          <a:solidFill>
                            <a:srgbClr val="25342A"/>
                          </a:solidFill>
                          <a:latin typeface="Roboto"/>
                        </a:rPr>
                        <a:t>$33,000</a:t>
                      </a:r>
                    </a:p>
                  </a:txBody>
                  <a:tcPr>
                    <a:solidFill>
                      <a:srgbClr val="F7FAF7"/>
                    </a:solidFill>
                  </a:tcPr>
                </a:tc>
                <a:tc>
                  <a:txBody>
                    <a:bodyPr/>
                    <a:lstStyle/>
                    <a:p>
                      <a:pPr algn="r">
                        <a:defRPr>
                          <a:latin typeface="Roboto"/>
                        </a:defRPr>
                      </a:pPr>
                      <a:r>
                        <a:rPr sz="1050">
                          <a:solidFill>
                            <a:srgbClr val="25342A"/>
                          </a:solidFill>
                          <a:latin typeface="Roboto"/>
                        </a:rPr>
                        <a:t>$6,327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$92,209</a:t>
                      </a:r>
                    </a:p>
                  </a:txBody>
                  <a:tcPr>
                    <a:solidFill>
                      <a:srgbClr val="F7FAF7"/>
                    </a:solidFill>
                  </a:tcPr>
                </a:tc>
                <a:tc>
                  <a:txBody>
                    <a:bodyPr/>
                    <a:lstStyle/>
                    <a:p>
                      <a:pPr algn="r">
                        <a:defRPr>
                          <a:latin typeface="Roboto"/>
                        </a:defRPr>
                      </a:pPr>
                      <a:r>
                        <a:rPr sz="1050">
                          <a:solidFill>
                            <a:srgbClr val="25342A"/>
                          </a:solidFill>
                          <a:latin typeface="Roboto"/>
                        </a:rPr>
                        <a:t>$57,882</a:t>
                      </a:r>
                    </a:p>
                  </a:txBody>
                  <a:tcPr>
                    <a:solidFill>
                      <a:srgbClr val="F7FAF7"/>
                    </a:solidFill>
                  </a:tcPr>
                </a:tc>
              </a:tr>
              <a:tr h="310896">
                <a:tc>
                  <a:txBody>
                    <a:bodyPr/>
                    <a:lstStyle/>
                    <a:p>
                      <a:pPr algn="l">
                        <a:defRPr>
                          <a:latin typeface="Roboto"/>
                        </a:defRPr>
                      </a:pPr>
                      <a:r>
                        <a:rPr sz="1050">
                          <a:solidFill>
                            <a:srgbClr val="25342A"/>
                          </a:solidFill>
                          <a:latin typeface="Roboto"/>
                        </a:rPr>
                        <a:t>5 Oct</a:t>
                      </a:r>
                    </a:p>
                  </a:txBody>
                  <a:tcPr>
                    <a:solidFill>
                      <a:srgbClr val="FFFFFF"/>
                    </a:solidFill>
                  </a:tcPr>
                </a:tc>
                <a:tc>
                  <a:txBody>
                    <a:bodyPr/>
                    <a:lstStyle/>
                    <a:p>
                      <a:pPr algn="r">
                        <a:defRPr>
                          <a:latin typeface="Roboto"/>
                        </a:defRPr>
                      </a:pPr>
                      <a:r>
                        <a:rPr sz="1050">
                          <a:solidFill>
                            <a:srgbClr val="25342A"/>
                          </a:solidFill>
                          <a:latin typeface="Roboto"/>
                        </a:rPr>
                        <a:t>$92,209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$67,457</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B42318"/>
                          </a:solidFill>
                          <a:latin typeface="Roboto"/>
                        </a:rPr>
                        <a:t>($1,100)</a:t>
                      </a:r>
                    </a:p>
                  </a:txBody>
                  <a:tcPr>
                    <a:solidFill>
                      <a:srgbClr val="FFFFFF"/>
                    </a:solidFill>
                  </a:tcPr>
                </a:tc>
                <a:tc>
                  <a:txBody>
                    <a:bodyPr/>
                    <a:lstStyle/>
                    <a:p>
                      <a:pPr algn="r">
                        <a:defRPr>
                          <a:latin typeface="Roboto"/>
                        </a:defRPr>
                      </a:pPr>
                      <a:r>
                        <a:rPr sz="1050">
                          <a:solidFill>
                            <a:srgbClr val="25342A"/>
                          </a:solidFill>
                          <a:latin typeface="Roboto"/>
                        </a:rPr>
                        <a:t>$74,351</a:t>
                      </a:r>
                    </a:p>
                  </a:txBody>
                  <a:tcPr>
                    <a:solidFill>
                      <a:srgbClr val="FFFFFF"/>
                    </a:solidFill>
                  </a:tcPr>
                </a:tc>
                <a:tc>
                  <a:txBody>
                    <a:bodyPr/>
                    <a:lstStyle/>
                    <a:p>
                      <a:pPr algn="r">
                        <a:defRPr>
                          <a:latin typeface="Roboto"/>
                        </a:defRPr>
                      </a:pPr>
                      <a:r>
                        <a:rPr sz="1050">
                          <a:solidFill>
                            <a:srgbClr val="25342A"/>
                          </a:solidFill>
                          <a:latin typeface="Roboto"/>
                        </a:rPr>
                        <a:t>$45,860</a:t>
                      </a:r>
                    </a:p>
                  </a:txBody>
                  <a:tcPr>
                    <a:solidFill>
                      <a:srgbClr val="FFFFFF"/>
                    </a:solidFill>
                  </a:tcPr>
                </a:tc>
              </a:tr>
              <a:tr h="310896">
                <a:tc>
                  <a:txBody>
                    <a:bodyPr/>
                    <a:lstStyle/>
                    <a:p>
                      <a:pPr algn="l">
                        <a:defRPr>
                          <a:latin typeface="Roboto"/>
                        </a:defRPr>
                      </a:pPr>
                      <a:r>
                        <a:rPr sz="1050">
                          <a:solidFill>
                            <a:srgbClr val="25342A"/>
                          </a:solidFill>
                          <a:latin typeface="Roboto"/>
                        </a:rPr>
                        <a:t>12 Oct</a:t>
                      </a:r>
                    </a:p>
                  </a:txBody>
                  <a:tcPr>
                    <a:solidFill>
                      <a:srgbClr val="F7FAF7"/>
                    </a:solidFill>
                  </a:tcPr>
                </a:tc>
                <a:tc>
                  <a:txBody>
                    <a:bodyPr/>
                    <a:lstStyle/>
                    <a:p>
                      <a:pPr algn="r">
                        <a:defRPr>
                          <a:latin typeface="Roboto"/>
                        </a:defRPr>
                      </a:pPr>
                      <a:r>
                        <a:rPr sz="1050">
                          <a:solidFill>
                            <a:srgbClr val="25342A"/>
                          </a:solidFill>
                          <a:latin typeface="Roboto"/>
                        </a:rPr>
                        <a:t>$74,351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$32,115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$106,466</a:t>
                      </a:r>
                    </a:p>
                  </a:txBody>
                  <a:tcPr>
                    <a:solidFill>
                      <a:srgbClr val="F7FAF7"/>
                    </a:solidFill>
                  </a:tcPr>
                </a:tc>
                <a:tc>
                  <a:txBody>
                    <a:bodyPr/>
                    <a:lstStyle/>
                    <a:p>
                      <a:pPr algn="r">
                        <a:defRPr>
                          <a:latin typeface="Roboto"/>
                        </a:defRPr>
                      </a:pPr>
                      <a:r>
                        <a:rPr sz="1050">
                          <a:solidFill>
                            <a:srgbClr val="25342A"/>
                          </a:solidFill>
                          <a:latin typeface="Roboto"/>
                        </a:rPr>
                        <a:t>$74,351</a:t>
                      </a:r>
                    </a:p>
                  </a:txBody>
                  <a:tcPr>
                    <a:solidFill>
                      <a:srgbClr val="F7FAF7"/>
                    </a:solidFill>
                  </a:tcPr>
                </a:tc>
              </a:tr>
              <a:tr h="310896">
                <a:tc>
                  <a:txBody>
                    <a:bodyPr/>
                    <a:lstStyle/>
                    <a:p>
                      <a:pPr algn="l">
                        <a:defRPr>
                          <a:latin typeface="Roboto"/>
                        </a:defRPr>
                      </a:pPr>
                      <a:r>
                        <a:rPr sz="1050">
                          <a:solidFill>
                            <a:srgbClr val="25342A"/>
                          </a:solidFill>
                          <a:latin typeface="Roboto"/>
                        </a:rPr>
                        <a:t>19 Oct</a:t>
                      </a:r>
                    </a:p>
                  </a:txBody>
                  <a:tcPr>
                    <a:solidFill>
                      <a:srgbClr val="FFFFFF"/>
                    </a:solidFill>
                  </a:tcPr>
                </a:tc>
                <a:tc>
                  <a:txBody>
                    <a:bodyPr/>
                    <a:lstStyle/>
                    <a:p>
                      <a:pPr algn="r">
                        <a:defRPr>
                          <a:latin typeface="Roboto"/>
                        </a:defRPr>
                      </a:pPr>
                      <a:r>
                        <a:rPr sz="1050">
                          <a:solidFill>
                            <a:srgbClr val="25342A"/>
                          </a:solidFill>
                          <a:latin typeface="Roboto"/>
                        </a:rPr>
                        <a:t>$106,466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$32,115</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$54,366</a:t>
                      </a:r>
                    </a:p>
                  </a:txBody>
                  <a:tcPr>
                    <a:solidFill>
                      <a:srgbClr val="FFFFFF"/>
                    </a:solidFill>
                  </a:tcPr>
                </a:tc>
                <a:tc>
                  <a:txBody>
                    <a:bodyPr/>
                    <a:lstStyle/>
                    <a:p>
                      <a:pPr algn="r">
                        <a:defRPr>
                          <a:latin typeface="Roboto"/>
                        </a:defRPr>
                      </a:pPr>
                      <a:r>
                        <a:rPr sz="1050">
                          <a:solidFill>
                            <a:srgbClr val="25342A"/>
                          </a:solidFill>
                          <a:latin typeface="Roboto"/>
                        </a:rPr>
                        <a:t>$35,097</a:t>
                      </a:r>
                    </a:p>
                  </a:txBody>
                  <a:tcPr>
                    <a:solidFill>
                      <a:srgbClr val="FFFFFF"/>
                    </a:solidFill>
                  </a:tcPr>
                </a:tc>
              </a:tr>
              <a:tr h="310896">
                <a:tc>
                  <a:txBody>
                    <a:bodyPr/>
                    <a:lstStyle/>
                    <a:p>
                      <a:pPr algn="l">
                        <a:defRPr>
                          <a:latin typeface="Roboto"/>
                        </a:defRPr>
                      </a:pPr>
                      <a:r>
                        <a:rPr sz="1050">
                          <a:solidFill>
                            <a:srgbClr val="25342A"/>
                          </a:solidFill>
                          <a:latin typeface="Roboto"/>
                        </a:rPr>
                        <a:t>26 Oct</a:t>
                      </a:r>
                    </a:p>
                  </a:txBody>
                  <a:tcPr>
                    <a:solidFill>
                      <a:srgbClr val="F7FAF7"/>
                    </a:solidFill>
                  </a:tcPr>
                </a:tc>
                <a:tc>
                  <a:txBody>
                    <a:bodyPr/>
                    <a:lstStyle/>
                    <a:p>
                      <a:pPr algn="r">
                        <a:defRPr>
                          <a:latin typeface="Roboto"/>
                        </a:defRPr>
                      </a:pPr>
                      <a:r>
                        <a:rPr sz="1050">
                          <a:solidFill>
                            <a:srgbClr val="25342A"/>
                          </a:solidFill>
                          <a:latin typeface="Roboto"/>
                        </a:rPr>
                        <a:t>$54,366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$32,115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$86,481</a:t>
                      </a:r>
                    </a:p>
                  </a:txBody>
                  <a:tcPr>
                    <a:solidFill>
                      <a:srgbClr val="F7FAF7"/>
                    </a:solidFill>
                  </a:tcPr>
                </a:tc>
                <a:tc>
                  <a:txBody>
                    <a:bodyPr/>
                    <a:lstStyle/>
                    <a:p>
                      <a:pPr algn="r">
                        <a:defRPr>
                          <a:latin typeface="Roboto"/>
                        </a:defRPr>
                      </a:pPr>
                      <a:r>
                        <a:rPr sz="1050">
                          <a:solidFill>
                            <a:srgbClr val="25342A"/>
                          </a:solidFill>
                          <a:latin typeface="Roboto"/>
                        </a:rPr>
                        <a:t>$54,366</a:t>
                      </a:r>
                    </a:p>
                  </a:txBody>
                  <a:tcPr>
                    <a:solidFill>
                      <a:srgbClr val="F7FAF7"/>
                    </a:solidFill>
                  </a:tcPr>
                </a:tc>
              </a:tr>
              <a:tr h="310896">
                <a:tc>
                  <a:txBody>
                    <a:bodyPr/>
                    <a:lstStyle/>
                    <a:p>
                      <a:pPr algn="l">
                        <a:defRPr>
                          <a:latin typeface="Roboto"/>
                        </a:defRPr>
                      </a:pPr>
                      <a:r>
                        <a:rPr sz="1050">
                          <a:solidFill>
                            <a:srgbClr val="25342A"/>
                          </a:solidFill>
                          <a:latin typeface="Roboto"/>
                        </a:rPr>
                        <a:t>2 Nov</a:t>
                      </a:r>
                    </a:p>
                  </a:txBody>
                  <a:tcPr>
                    <a:solidFill>
                      <a:srgbClr val="FFFFFF"/>
                    </a:solidFill>
                  </a:tcPr>
                </a:tc>
                <a:tc>
                  <a:txBody>
                    <a:bodyPr/>
                    <a:lstStyle/>
                    <a:p>
                      <a:pPr algn="r">
                        <a:defRPr>
                          <a:latin typeface="Roboto"/>
                        </a:defRPr>
                      </a:pPr>
                      <a:r>
                        <a:rPr sz="1050">
                          <a:solidFill>
                            <a:srgbClr val="25342A"/>
                          </a:solidFill>
                          <a:latin typeface="Roboto"/>
                        </a:rPr>
                        <a:t>$86,481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$72,615</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B42318"/>
                          </a:solidFill>
                          <a:latin typeface="Roboto"/>
                        </a:rPr>
                        <a:t>($11,612)</a:t>
                      </a:r>
                    </a:p>
                  </a:txBody>
                  <a:tcPr>
                    <a:solidFill>
                      <a:srgbClr val="FFFFFF"/>
                    </a:solidFill>
                  </a:tcPr>
                </a:tc>
                <a:tc>
                  <a:txBody>
                    <a:bodyPr/>
                    <a:lstStyle/>
                    <a:p>
                      <a:pPr algn="r">
                        <a:defRPr>
                          <a:latin typeface="Roboto"/>
                        </a:defRPr>
                      </a:pPr>
                      <a:r>
                        <a:rPr sz="1050">
                          <a:solidFill>
                            <a:srgbClr val="25342A"/>
                          </a:solidFill>
                          <a:latin typeface="Roboto"/>
                        </a:rPr>
                        <a:t>$63,268</a:t>
                      </a:r>
                    </a:p>
                  </a:txBody>
                  <a:tcPr>
                    <a:solidFill>
                      <a:srgbClr val="FFFFFF"/>
                    </a:solidFill>
                  </a:tcPr>
                </a:tc>
                <a:tc>
                  <a:txBody>
                    <a:bodyPr/>
                    <a:lstStyle/>
                    <a:p>
                      <a:pPr algn="r">
                        <a:defRPr>
                          <a:latin typeface="Roboto"/>
                        </a:defRPr>
                      </a:pPr>
                      <a:r>
                        <a:rPr sz="1050">
                          <a:solidFill>
                            <a:srgbClr val="25342A"/>
                          </a:solidFill>
                          <a:latin typeface="Roboto"/>
                        </a:rPr>
                        <a:t>$51,115</a:t>
                      </a:r>
                    </a:p>
                  </a:txBody>
                  <a:tcPr>
                    <a:solidFill>
                      <a:srgbClr val="FFFFFF"/>
                    </a:solidFill>
                  </a:tcPr>
                </a:tc>
              </a:tr>
              <a:tr h="310896">
                <a:tc>
                  <a:txBody>
                    <a:bodyPr/>
                    <a:lstStyle/>
                    <a:p>
                      <a:pPr algn="l">
                        <a:defRPr>
                          <a:latin typeface="Roboto"/>
                        </a:defRPr>
                      </a:pPr>
                      <a:r>
                        <a:rPr sz="1050">
                          <a:solidFill>
                            <a:srgbClr val="25342A"/>
                          </a:solidFill>
                          <a:latin typeface="Roboto"/>
                        </a:rPr>
                        <a:t>9 Nov</a:t>
                      </a:r>
                    </a:p>
                  </a:txBody>
                  <a:tcPr>
                    <a:solidFill>
                      <a:srgbClr val="F7FAF7"/>
                    </a:solidFill>
                  </a:tcPr>
                </a:tc>
                <a:tc>
                  <a:txBody>
                    <a:bodyPr/>
                    <a:lstStyle/>
                    <a:p>
                      <a:pPr algn="r">
                        <a:defRPr>
                          <a:latin typeface="Roboto"/>
                        </a:defRPr>
                      </a:pPr>
                      <a:r>
                        <a:rPr sz="1050">
                          <a:solidFill>
                            <a:srgbClr val="25342A"/>
                          </a:solidFill>
                          <a:latin typeface="Roboto"/>
                        </a:rPr>
                        <a:t>$63,268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$32,115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$95,383</a:t>
                      </a:r>
                    </a:p>
                  </a:txBody>
                  <a:tcPr>
                    <a:solidFill>
                      <a:srgbClr val="F7FAF7"/>
                    </a:solidFill>
                  </a:tcPr>
                </a:tc>
                <a:tc>
                  <a:txBody>
                    <a:bodyPr/>
                    <a:lstStyle/>
                    <a:p>
                      <a:pPr algn="r">
                        <a:defRPr>
                          <a:latin typeface="Roboto"/>
                        </a:defRPr>
                      </a:pPr>
                      <a:r>
                        <a:rPr sz="1050">
                          <a:solidFill>
                            <a:srgbClr val="25342A"/>
                          </a:solidFill>
                          <a:latin typeface="Roboto"/>
                        </a:rPr>
                        <a:t>$63,268</a:t>
                      </a:r>
                    </a:p>
                  </a:txBody>
                  <a:tcPr>
                    <a:solidFill>
                      <a:srgbClr val="F7FAF7"/>
                    </a:solidFill>
                  </a:tcPr>
                </a:tc>
              </a:tr>
              <a:tr h="310896">
                <a:tc>
                  <a:txBody>
                    <a:bodyPr/>
                    <a:lstStyle/>
                    <a:p>
                      <a:pPr algn="l">
                        <a:defRPr>
                          <a:latin typeface="Roboto"/>
                        </a:defRPr>
                      </a:pPr>
                      <a:r>
                        <a:rPr sz="1050">
                          <a:solidFill>
                            <a:srgbClr val="25342A"/>
                          </a:solidFill>
                          <a:latin typeface="Roboto"/>
                        </a:rPr>
                        <a:t>16 Nov</a:t>
                      </a:r>
                    </a:p>
                  </a:txBody>
                  <a:tcPr>
                    <a:solidFill>
                      <a:srgbClr val="FFFFFF"/>
                    </a:solidFill>
                  </a:tcPr>
                </a:tc>
                <a:tc>
                  <a:txBody>
                    <a:bodyPr/>
                    <a:lstStyle/>
                    <a:p>
                      <a:pPr algn="r">
                        <a:defRPr>
                          <a:latin typeface="Roboto"/>
                        </a:defRPr>
                      </a:pPr>
                      <a:r>
                        <a:rPr sz="1050">
                          <a:solidFill>
                            <a:srgbClr val="25342A"/>
                          </a:solidFill>
                          <a:latin typeface="Roboto"/>
                        </a:rPr>
                        <a:t>$95,383</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$32,115</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$43,283</a:t>
                      </a:r>
                    </a:p>
                  </a:txBody>
                  <a:tcPr>
                    <a:solidFill>
                      <a:srgbClr val="FFFFFF"/>
                    </a:solidFill>
                  </a:tcPr>
                </a:tc>
                <a:tc>
                  <a:txBody>
                    <a:bodyPr/>
                    <a:lstStyle/>
                    <a:p>
                      <a:pPr algn="r">
                        <a:defRPr>
                          <a:latin typeface="Roboto"/>
                        </a:defRPr>
                      </a:pPr>
                      <a:r>
                        <a:rPr sz="1050">
                          <a:solidFill>
                            <a:srgbClr val="25342A"/>
                          </a:solidFill>
                          <a:latin typeface="Roboto"/>
                        </a:rPr>
                        <a:t>$43,283</a:t>
                      </a:r>
                    </a:p>
                  </a:txBody>
                  <a:tcPr>
                    <a:solidFill>
                      <a:srgbClr val="FFFFFF"/>
                    </a:solidFill>
                  </a:tcPr>
                </a:tc>
              </a:tr>
              <a:tr h="310896">
                <a:tc>
                  <a:txBody>
                    <a:bodyPr/>
                    <a:lstStyle/>
                    <a:p>
                      <a:pPr algn="l">
                        <a:defRPr>
                          <a:latin typeface="Roboto"/>
                        </a:defRPr>
                      </a:pPr>
                      <a:r>
                        <a:rPr sz="1050">
                          <a:solidFill>
                            <a:srgbClr val="25342A"/>
                          </a:solidFill>
                          <a:latin typeface="Roboto"/>
                        </a:rPr>
                        <a:t>23 Nov</a:t>
                      </a:r>
                    </a:p>
                  </a:txBody>
                  <a:tcPr>
                    <a:solidFill>
                      <a:srgbClr val="F7FAF7"/>
                    </a:solidFill>
                  </a:tcPr>
                </a:tc>
                <a:tc>
                  <a:txBody>
                    <a:bodyPr/>
                    <a:lstStyle/>
                    <a:p>
                      <a:pPr algn="r">
                        <a:defRPr>
                          <a:latin typeface="Roboto"/>
                        </a:defRPr>
                      </a:pPr>
                      <a:r>
                        <a:rPr sz="1050">
                          <a:solidFill>
                            <a:srgbClr val="25342A"/>
                          </a:solidFill>
                          <a:latin typeface="Roboto"/>
                        </a:rPr>
                        <a:t>$43,283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$32,115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$75,398</a:t>
                      </a:r>
                    </a:p>
                  </a:txBody>
                  <a:tcPr>
                    <a:solidFill>
                      <a:srgbClr val="F7FAF7"/>
                    </a:solidFill>
                  </a:tcPr>
                </a:tc>
                <a:tc>
                  <a:txBody>
                    <a:bodyPr/>
                    <a:lstStyle/>
                    <a:p>
                      <a:pPr algn="r">
                        <a:defRPr>
                          <a:latin typeface="Roboto"/>
                        </a:defRPr>
                      </a:pPr>
                      <a:r>
                        <a:rPr sz="1050">
                          <a:solidFill>
                            <a:srgbClr val="25342A"/>
                          </a:solidFill>
                          <a:latin typeface="Roboto"/>
                        </a:rPr>
                        <a:t>$43,283</a:t>
                      </a:r>
                    </a:p>
                  </a:txBody>
                  <a:tcPr>
                    <a:solidFill>
                      <a:srgbClr val="F7FAF7"/>
                    </a:solidFill>
                  </a:tcPr>
                </a:tc>
              </a:tr>
              <a:tr h="310896">
                <a:tc>
                  <a:txBody>
                    <a:bodyPr/>
                    <a:lstStyle/>
                    <a:p>
                      <a:pPr algn="l">
                        <a:defRPr>
                          <a:latin typeface="Roboto"/>
                        </a:defRPr>
                      </a:pPr>
                      <a:r>
                        <a:rPr sz="1050">
                          <a:solidFill>
                            <a:srgbClr val="25342A"/>
                          </a:solidFill>
                          <a:latin typeface="Roboto"/>
                        </a:rPr>
                        <a:t>30 Nov</a:t>
                      </a:r>
                    </a:p>
                  </a:txBody>
                  <a:tcPr>
                    <a:solidFill>
                      <a:srgbClr val="FFFFFF"/>
                    </a:solidFill>
                  </a:tcPr>
                </a:tc>
                <a:tc>
                  <a:txBody>
                    <a:bodyPr/>
                    <a:lstStyle/>
                    <a:p>
                      <a:pPr algn="r">
                        <a:defRPr>
                          <a:latin typeface="Roboto"/>
                        </a:defRPr>
                      </a:pPr>
                      <a:r>
                        <a:rPr sz="1050">
                          <a:solidFill>
                            <a:srgbClr val="25342A"/>
                          </a:solidFill>
                          <a:latin typeface="Roboto"/>
                        </a:rPr>
                        <a:t>$75,398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$32,115</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B42318"/>
                          </a:solidFill>
                          <a:latin typeface="Roboto"/>
                        </a:rPr>
                        <a:t>($6,100)</a:t>
                      </a:r>
                    </a:p>
                  </a:txBody>
                  <a:tcPr>
                    <a:solidFill>
                      <a:srgbClr val="FFFFFF"/>
                    </a:solidFill>
                  </a:tcPr>
                </a:tc>
                <a:tc>
                  <a:txBody>
                    <a:bodyPr/>
                    <a:lstStyle/>
                    <a:p>
                      <a:pPr algn="r">
                        <a:defRPr>
                          <a:latin typeface="Roboto"/>
                        </a:defRPr>
                      </a:pPr>
                      <a:r>
                        <a:rPr sz="1050">
                          <a:solidFill>
                            <a:srgbClr val="25342A"/>
                          </a:solidFill>
                          <a:latin typeface="Roboto"/>
                        </a:rPr>
                        <a:t>$17,198</a:t>
                      </a:r>
                    </a:p>
                  </a:txBody>
                  <a:tcPr>
                    <a:solidFill>
                      <a:srgbClr val="FFFFFF"/>
                    </a:solidFill>
                  </a:tcPr>
                </a:tc>
                <a:tc>
                  <a:txBody>
                    <a:bodyPr/>
                    <a:lstStyle/>
                    <a:p>
                      <a:pPr algn="r">
                        <a:defRPr>
                          <a:latin typeface="Roboto"/>
                        </a:defRPr>
                      </a:pPr>
                      <a:r>
                        <a:rPr sz="1050">
                          <a:solidFill>
                            <a:srgbClr val="25342A"/>
                          </a:solidFill>
                          <a:latin typeface="Roboto"/>
                        </a:rPr>
                        <a:t>$17,198</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Invoices past the customer's usual payment date ($20,219)</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960120"/>
          <a:ext cx="11277295" cy="3419856"/>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Chermside retail centre</a:t>
                      </a:r>
                    </a:p>
                  </a:txBody>
                  <a:tcPr>
                    <a:solidFill>
                      <a:srgbClr val="FFFFFF"/>
                    </a:solidFill>
                  </a:tcPr>
                </a:tc>
                <a:tc>
                  <a:txBody>
                    <a:bodyPr/>
                    <a:lstStyle/>
                    <a:p>
                      <a:pPr algn="l">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$4,100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10896">
                <a:tc>
                  <a:txBody>
                    <a:bodyPr/>
                    <a:lstStyle/>
                    <a:p>
                      <a:pPr algn="l">
                        <a:defRPr>
                          <a:latin typeface="Roboto"/>
                        </a:defRPr>
                      </a:pPr>
                      <a:r>
                        <a:rPr sz="1050">
                          <a:solidFill>
                            <a:srgbClr val="25342A"/>
                          </a:solidFill>
                          <a:latin typeface="Roboto"/>
                        </a:rPr>
                        <a:t>Rocklea factory</a:t>
                      </a:r>
                    </a:p>
                  </a:txBody>
                  <a:tcPr>
                    <a:solidFill>
                      <a:srgbClr val="F7FAF7"/>
                    </a:solidFill>
                  </a:tcPr>
                </a:tc>
                <a:tc>
                  <a:txBody>
                    <a:bodyPr/>
                    <a:lstStyle/>
                    <a:p>
                      <a:pPr algn="l">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$3,900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10896">
                <a:tc>
                  <a:txBody>
                    <a:bodyPr/>
                    <a:lstStyle/>
                    <a:p>
                      <a:pPr algn="l">
                        <a:defRPr>
                          <a:latin typeface="Roboto"/>
                        </a:defRPr>
                      </a:pPr>
                      <a:r>
                        <a:rPr sz="1050">
                          <a:solidFill>
                            <a:srgbClr val="25342A"/>
                          </a:solidFill>
                          <a:latin typeface="Roboto"/>
                        </a:rPr>
                        <a:t>Riverside Apartments (strata)</a:t>
                      </a:r>
                    </a:p>
                  </a:txBody>
                  <a:tcPr>
                    <a:solidFill>
                      <a:srgbClr val="FFFFFF"/>
                    </a:solidFill>
                  </a:tcPr>
                </a:tc>
                <a:tc>
                  <a:txBody>
                    <a:bodyPr/>
                    <a:lstStyle/>
                    <a:p>
                      <a:pPr algn="l">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$3,200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10896">
                <a:tc>
                  <a:txBody>
                    <a:bodyPr/>
                    <a:lstStyle/>
                    <a:p>
                      <a:pPr algn="l">
                        <a:defRPr>
                          <a:latin typeface="Roboto"/>
                        </a:defRPr>
                      </a:pPr>
                      <a:r>
                        <a:rPr sz="1050">
                          <a:solidFill>
                            <a:srgbClr val="25342A"/>
                          </a:solidFill>
                          <a:latin typeface="Roboto"/>
                        </a:rPr>
                        <a:t>Wacol logistics depot</a:t>
                      </a:r>
                    </a:p>
                  </a:txBody>
                  <a:tcPr>
                    <a:solidFill>
                      <a:srgbClr val="F7FAF7"/>
                    </a:solidFill>
                  </a:tcPr>
                </a:tc>
                <a:tc>
                  <a:txBody>
                    <a:bodyPr/>
                    <a:lstStyle/>
                    <a:p>
                      <a:pPr algn="l">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$3,000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10896">
                <a:tc>
                  <a:txBody>
                    <a:bodyPr/>
                    <a:lstStyle/>
                    <a:p>
                      <a:pPr algn="l">
                        <a:defRPr>
                          <a:latin typeface="Roboto"/>
                        </a:defRPr>
                      </a:pPr>
                      <a:r>
                        <a:rPr sz="1050">
                          <a:solidFill>
                            <a:srgbClr val="25342A"/>
                          </a:solidFill>
                          <a:latin typeface="Roboto"/>
                        </a:rPr>
                        <a:t>Call-out 1, August</a:t>
                      </a:r>
                    </a:p>
                  </a:txBody>
                  <a:tcPr>
                    <a:solidFill>
                      <a:srgbClr val="FFFFFF"/>
                    </a:solidFill>
                  </a:tcPr>
                </a:tc>
                <a:tc>
                  <a:txBody>
                    <a:bodyPr/>
                    <a:lstStyle/>
                    <a:p>
                      <a:pPr algn="l">
                        <a:defRPr>
                          <a:latin typeface="Roboto"/>
                        </a:defRPr>
                      </a:pPr>
                      <a:r>
                        <a:rPr sz="1050">
                          <a:solidFill>
                            <a:srgbClr val="25342A"/>
                          </a:solidFill>
                          <a:latin typeface="Roboto"/>
                        </a:rPr>
                        <a:t>24 Aug</a:t>
                      </a:r>
                    </a:p>
                  </a:txBody>
                  <a:tcPr>
                    <a:solidFill>
                      <a:srgbClr val="FFFFFF"/>
                    </a:solidFill>
                  </a:tcPr>
                </a:tc>
                <a:tc>
                  <a:txBody>
                    <a:bodyPr/>
                    <a:lstStyle/>
                    <a:p>
                      <a:pPr algn="r">
                        <a:defRPr>
                          <a:latin typeface="Roboto"/>
                        </a:defRPr>
                      </a:pPr>
                      <a:r>
                        <a:rPr sz="1050">
                          <a:solidFill>
                            <a:srgbClr val="25342A"/>
                          </a:solidFill>
                          <a:latin typeface="Roboto"/>
                        </a:rPr>
                        <a:t>$853</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r>
              <a:tr h="310896">
                <a:tc>
                  <a:txBody>
                    <a:bodyPr/>
                    <a:lstStyle/>
                    <a:p>
                      <a:pPr algn="l">
                        <a:defRPr>
                          <a:latin typeface="Roboto"/>
                        </a:defRPr>
                      </a:pPr>
                      <a:r>
                        <a:rPr sz="1050">
                          <a:solidFill>
                            <a:srgbClr val="25342A"/>
                          </a:solidFill>
                          <a:latin typeface="Roboto"/>
                        </a:rPr>
                        <a:t>Call-out 16, August</a:t>
                      </a:r>
                    </a:p>
                  </a:txBody>
                  <a:tcPr>
                    <a:solidFill>
                      <a:srgbClr val="F7FAF7"/>
                    </a:solidFill>
                  </a:tcPr>
                </a:tc>
                <a:tc>
                  <a:txBody>
                    <a:bodyPr/>
                    <a:lstStyle/>
                    <a:p>
                      <a:pPr algn="l">
                        <a:defRPr>
                          <a:latin typeface="Roboto"/>
                        </a:defRPr>
                      </a:pPr>
                      <a:r>
                        <a:rPr sz="1050">
                          <a:solidFill>
                            <a:srgbClr val="25342A"/>
                          </a:solidFill>
                          <a:latin typeface="Roboto"/>
                        </a:rPr>
                        <a:t>22 Aug</a:t>
                      </a:r>
                    </a:p>
                  </a:txBody>
                  <a:tcPr>
                    <a:solidFill>
                      <a:srgbClr val="F7FAF7"/>
                    </a:solidFill>
                  </a:tcPr>
                </a:tc>
                <a:tc>
                  <a:txBody>
                    <a:bodyPr/>
                    <a:lstStyle/>
                    <a:p>
                      <a:pPr algn="r">
                        <a:defRPr>
                          <a:latin typeface="Roboto"/>
                        </a:defRPr>
                      </a:pPr>
                      <a:r>
                        <a:rPr sz="1050">
                          <a:solidFill>
                            <a:srgbClr val="25342A"/>
                          </a:solidFill>
                          <a:latin typeface="Roboto"/>
                        </a:rPr>
                        <a:t>$840</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14, August</a:t>
                      </a:r>
                    </a:p>
                  </a:txBody>
                  <a:tcPr>
                    <a:solidFill>
                      <a:srgbClr val="FFFFFF"/>
                    </a:solidFill>
                  </a:tcPr>
                </a:tc>
                <a:tc>
                  <a:txBody>
                    <a:bodyPr/>
                    <a:lstStyle/>
                    <a:p>
                      <a:pPr algn="l">
                        <a:defRPr>
                          <a:latin typeface="Roboto"/>
                        </a:defRPr>
                      </a:pPr>
                      <a:r>
                        <a:rPr sz="1050">
                          <a:solidFill>
                            <a:srgbClr val="25342A"/>
                          </a:solidFill>
                          <a:latin typeface="Roboto"/>
                        </a:rPr>
                        <a:t>5 Aug</a:t>
                      </a:r>
                    </a:p>
                  </a:txBody>
                  <a:tcPr>
                    <a:solidFill>
                      <a:srgbClr val="FFFFFF"/>
                    </a:solidFill>
                  </a:tcPr>
                </a:tc>
                <a:tc>
                  <a:txBody>
                    <a:bodyPr/>
                    <a:lstStyle/>
                    <a:p>
                      <a:pPr algn="r">
                        <a:defRPr>
                          <a:latin typeface="Roboto"/>
                        </a:defRPr>
                      </a:pPr>
                      <a:r>
                        <a:rPr sz="1050">
                          <a:solidFill>
                            <a:srgbClr val="25342A"/>
                          </a:solidFill>
                          <a:latin typeface="Roboto"/>
                        </a:rPr>
                        <a:t>$695</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26</a:t>
                      </a:r>
                    </a:p>
                  </a:txBody>
                  <a:tcPr>
                    <a:solidFill>
                      <a:srgbClr val="FFFFFF"/>
                    </a:solidFill>
                  </a:tcPr>
                </a:tc>
              </a:tr>
              <a:tr h="310896">
                <a:tc>
                  <a:txBody>
                    <a:bodyPr/>
                    <a:lstStyle/>
                    <a:p>
                      <a:pPr algn="l">
                        <a:defRPr>
                          <a:latin typeface="Roboto"/>
                        </a:defRPr>
                      </a:pPr>
                      <a:r>
                        <a:rPr sz="1050">
                          <a:solidFill>
                            <a:srgbClr val="25342A"/>
                          </a:solidFill>
                          <a:latin typeface="Roboto"/>
                        </a:rPr>
                        <a:t>Call-out 38, August</a:t>
                      </a:r>
                    </a:p>
                  </a:txBody>
                  <a:tcPr>
                    <a:solidFill>
                      <a:srgbClr val="F7FAF7"/>
                    </a:solidFill>
                  </a:tcPr>
                </a:tc>
                <a:tc>
                  <a:txBody>
                    <a:bodyPr/>
                    <a:lstStyle/>
                    <a:p>
                      <a:pPr algn="l">
                        <a:defRPr>
                          <a:latin typeface="Roboto"/>
                        </a:defRPr>
                      </a:pPr>
                      <a:r>
                        <a:rPr sz="1050">
                          <a:solidFill>
                            <a:srgbClr val="25342A"/>
                          </a:solidFill>
                          <a:latin typeface="Roboto"/>
                        </a:rPr>
                        <a:t>25 Aug</a:t>
                      </a:r>
                    </a:p>
                  </a:txBody>
                  <a:tcPr>
                    <a:solidFill>
                      <a:srgbClr val="F7FAF7"/>
                    </a:solidFill>
                  </a:tcPr>
                </a:tc>
                <a:tc>
                  <a:txBody>
                    <a:bodyPr/>
                    <a:lstStyle/>
                    <a:p>
                      <a:pPr algn="r">
                        <a:defRPr>
                          <a:latin typeface="Roboto"/>
                        </a:defRPr>
                      </a:pPr>
                      <a:r>
                        <a:rPr sz="1050">
                          <a:solidFill>
                            <a:srgbClr val="25342A"/>
                          </a:solidFill>
                          <a:latin typeface="Roboto"/>
                        </a:rPr>
                        <a:t>$656</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27, August</a:t>
                      </a:r>
                    </a:p>
                  </a:txBody>
                  <a:tcPr>
                    <a:solidFill>
                      <a:srgbClr val="FFFFFF"/>
                    </a:solidFill>
                  </a:tcPr>
                </a:tc>
                <a:tc>
                  <a:txBody>
                    <a:bodyPr/>
                    <a:lstStyle/>
                    <a:p>
                      <a:pPr algn="l">
                        <a:defRPr>
                          <a:latin typeface="Roboto"/>
                        </a:defRPr>
                      </a:pPr>
                      <a:r>
                        <a:rPr sz="1050">
                          <a:solidFill>
                            <a:srgbClr val="25342A"/>
                          </a:solidFill>
                          <a:latin typeface="Roboto"/>
                        </a:rPr>
                        <a:t>3 Aug</a:t>
                      </a:r>
                    </a:p>
                  </a:txBody>
                  <a:tcPr>
                    <a:solidFill>
                      <a:srgbClr val="FFFFFF"/>
                    </a:solidFill>
                  </a:tcPr>
                </a:tc>
                <a:tc>
                  <a:txBody>
                    <a:bodyPr/>
                    <a:lstStyle/>
                    <a:p>
                      <a:pPr algn="r">
                        <a:defRPr>
                          <a:latin typeface="Roboto"/>
                        </a:defRPr>
                      </a:pPr>
                      <a:r>
                        <a:rPr sz="1050">
                          <a:solidFill>
                            <a:srgbClr val="25342A"/>
                          </a:solidFill>
                          <a:latin typeface="Roboto"/>
                        </a:rPr>
                        <a:t>$571</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28</a:t>
                      </a:r>
                    </a:p>
                  </a:txBody>
                  <a:tcPr>
                    <a:solidFill>
                      <a:srgbClr val="FFFFFF"/>
                    </a:solidFill>
                  </a:tcPr>
                </a:tc>
              </a:tr>
              <a:tr h="310896">
                <a:tc>
                  <a:txBody>
                    <a:bodyPr/>
                    <a:lstStyle/>
                    <a:p>
                      <a:pPr algn="l">
                        <a:defRPr>
                          <a:latin typeface="Roboto"/>
                        </a:defRPr>
                      </a:pPr>
                      <a:r>
                        <a:rPr sz="1050">
                          <a:solidFill>
                            <a:srgbClr val="25342A"/>
                          </a:solidFill>
                          <a:latin typeface="Roboto"/>
                        </a:rPr>
                        <a:t>Call-out 5, August</a:t>
                      </a:r>
                    </a:p>
                  </a:txBody>
                  <a:tcPr>
                    <a:solidFill>
                      <a:srgbClr val="F7FAF7"/>
                    </a:solidFill>
                  </a:tcPr>
                </a:tc>
                <a:tc>
                  <a:txBody>
                    <a:bodyPr/>
                    <a:lstStyle/>
                    <a:p>
                      <a:pPr algn="l">
                        <a:defRPr>
                          <a:latin typeface="Roboto"/>
                        </a:defRPr>
                      </a:pPr>
                      <a:r>
                        <a:rPr sz="1050">
                          <a:solidFill>
                            <a:srgbClr val="25342A"/>
                          </a:solidFill>
                          <a:latin typeface="Roboto"/>
                        </a:rPr>
                        <a:t>26 Aug</a:t>
                      </a:r>
                    </a:p>
                  </a:txBody>
                  <a:tcPr>
                    <a:solidFill>
                      <a:srgbClr val="F7FAF7"/>
                    </a:solidFill>
                  </a:tcPr>
                </a:tc>
                <a:tc>
                  <a:txBody>
                    <a:bodyPr/>
                    <a:lstStyle/>
                    <a:p>
                      <a:pPr algn="r">
                        <a:defRPr>
                          <a:latin typeface="Roboto"/>
                        </a:defRPr>
                      </a:pPr>
                      <a:r>
                        <a:rPr sz="1050">
                          <a:solidFill>
                            <a:srgbClr val="25342A"/>
                          </a:solidFill>
                          <a:latin typeface="Roboto"/>
                        </a:rPr>
                        <a:t>$493</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8 Oct 2026, 9:35am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