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Sheet1!$A$2:$A$123</c:f>
              <c:strCache>
                <c:ptCount val="12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strCache>
            </c:strRef>
          </c:cat>
          <c:val>
            <c:numRef>
              <c:f>Sheet1!$B$2:$B$123</c:f>
              <c:numCache>
                <c:formatCode>$#,##0;[Red]($#,##0);"-"</c:formatCode>
                <c:ptCount val="122"/>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92859</c:v>
                </c:pt>
                <c:pt idx="32">
                  <c:v>92859</c:v>
                </c:pt>
                <c:pt idx="33">
                  <c:v>56248</c:v>
                </c:pt>
                <c:pt idx="34">
                  <c:v>57783</c:v>
                </c:pt>
                <c:pt idx="35">
                  <c:v>57783</c:v>
                </c:pt>
                <c:pt idx="36">
                  <c:v>57783</c:v>
                </c:pt>
                <c:pt idx="37">
                  <c:v>134475</c:v>
                </c:pt>
                <c:pt idx="38">
                  <c:v>134475</c:v>
                </c:pt>
                <c:pt idx="39">
                  <c:v>134475</c:v>
                </c:pt>
                <c:pt idx="40">
                  <c:v>136011</c:v>
                </c:pt>
                <c:pt idx="41">
                  <c:v>137546</c:v>
                </c:pt>
                <c:pt idx="42">
                  <c:v>137546</c:v>
                </c:pt>
                <c:pt idx="43">
                  <c:v>137546</c:v>
                </c:pt>
                <c:pt idx="44">
                  <c:v>168442</c:v>
                </c:pt>
                <c:pt idx="45">
                  <c:v>117276</c:v>
                </c:pt>
                <c:pt idx="46">
                  <c:v>117276</c:v>
                </c:pt>
                <c:pt idx="47">
                  <c:v>82200</c:v>
                </c:pt>
                <c:pt idx="48">
                  <c:v>104416</c:v>
                </c:pt>
                <c:pt idx="49">
                  <c:v>104416</c:v>
                </c:pt>
                <c:pt idx="50">
                  <c:v>104416</c:v>
                </c:pt>
                <c:pt idx="51">
                  <c:v>109022</c:v>
                </c:pt>
                <c:pt idx="52">
                  <c:v>109022</c:v>
                </c:pt>
                <c:pt idx="53">
                  <c:v>133222</c:v>
                </c:pt>
                <c:pt idx="54">
                  <c:v>134757</c:v>
                </c:pt>
                <c:pt idx="55">
                  <c:v>136292</c:v>
                </c:pt>
                <c:pt idx="56">
                  <c:v>136292</c:v>
                </c:pt>
                <c:pt idx="57">
                  <c:v>136292</c:v>
                </c:pt>
                <c:pt idx="58">
                  <c:v>152398</c:v>
                </c:pt>
                <c:pt idx="59">
                  <c:v>152398</c:v>
                </c:pt>
                <c:pt idx="60">
                  <c:v>100131</c:v>
                </c:pt>
                <c:pt idx="61">
                  <c:v>121395</c:v>
                </c:pt>
                <c:pt idx="62">
                  <c:v>129385</c:v>
                </c:pt>
                <c:pt idx="63">
                  <c:v>129385</c:v>
                </c:pt>
                <c:pt idx="64">
                  <c:v>129385</c:v>
                </c:pt>
                <c:pt idx="65">
                  <c:v>129385</c:v>
                </c:pt>
                <c:pt idx="66">
                  <c:v>146900</c:v>
                </c:pt>
                <c:pt idx="67">
                  <c:v>153354</c:v>
                </c:pt>
                <c:pt idx="68">
                  <c:v>159809</c:v>
                </c:pt>
                <c:pt idx="69">
                  <c:v>167799</c:v>
                </c:pt>
                <c:pt idx="70">
                  <c:v>167799</c:v>
                </c:pt>
                <c:pt idx="71">
                  <c:v>167799</c:v>
                </c:pt>
                <c:pt idx="72">
                  <c:v>185314</c:v>
                </c:pt>
                <c:pt idx="73">
                  <c:v>185314</c:v>
                </c:pt>
                <c:pt idx="74">
                  <c:v>191768</c:v>
                </c:pt>
                <c:pt idx="75">
                  <c:v>111981</c:v>
                </c:pt>
                <c:pt idx="76">
                  <c:v>119971</c:v>
                </c:pt>
                <c:pt idx="77">
                  <c:v>119971</c:v>
                </c:pt>
                <c:pt idx="78">
                  <c:v>119971</c:v>
                </c:pt>
                <c:pt idx="79">
                  <c:v>137486</c:v>
                </c:pt>
                <c:pt idx="80">
                  <c:v>137486</c:v>
                </c:pt>
                <c:pt idx="81">
                  <c:v>143940</c:v>
                </c:pt>
                <c:pt idx="82">
                  <c:v>151930</c:v>
                </c:pt>
                <c:pt idx="83">
                  <c:v>159920</c:v>
                </c:pt>
                <c:pt idx="84">
                  <c:v>159920</c:v>
                </c:pt>
                <c:pt idx="85">
                  <c:v>159920</c:v>
                </c:pt>
                <c:pt idx="86">
                  <c:v>177435</c:v>
                </c:pt>
                <c:pt idx="87">
                  <c:v>177435</c:v>
                </c:pt>
                <c:pt idx="88">
                  <c:v>92669</c:v>
                </c:pt>
                <c:pt idx="89">
                  <c:v>64048</c:v>
                </c:pt>
                <c:pt idx="90">
                  <c:v>72038</c:v>
                </c:pt>
                <c:pt idx="91">
                  <c:v>72038</c:v>
                </c:pt>
                <c:pt idx="92">
                  <c:v>72038</c:v>
                </c:pt>
                <c:pt idx="93">
                  <c:v>87171</c:v>
                </c:pt>
                <c:pt idx="94">
                  <c:v>87171</c:v>
                </c:pt>
                <c:pt idx="95">
                  <c:v>87171</c:v>
                </c:pt>
                <c:pt idx="96">
                  <c:v>95160</c:v>
                </c:pt>
                <c:pt idx="97">
                  <c:v>103150</c:v>
                </c:pt>
                <c:pt idx="98">
                  <c:v>103150</c:v>
                </c:pt>
                <c:pt idx="99">
                  <c:v>103150</c:v>
                </c:pt>
                <c:pt idx="100">
                  <c:v>120665</c:v>
                </c:pt>
                <c:pt idx="101">
                  <c:v>120665</c:v>
                </c:pt>
                <c:pt idx="102">
                  <c:v>127120</c:v>
                </c:pt>
                <c:pt idx="103">
                  <c:v>98498</c:v>
                </c:pt>
                <c:pt idx="104">
                  <c:v>106488</c:v>
                </c:pt>
                <c:pt idx="105">
                  <c:v>106488</c:v>
                </c:pt>
                <c:pt idx="106">
                  <c:v>106488</c:v>
                </c:pt>
                <c:pt idx="107">
                  <c:v>72837</c:v>
                </c:pt>
                <c:pt idx="108">
                  <c:v>72837</c:v>
                </c:pt>
                <c:pt idx="109">
                  <c:v>79292</c:v>
                </c:pt>
                <c:pt idx="110">
                  <c:v>87281</c:v>
                </c:pt>
                <c:pt idx="111">
                  <c:v>95271</c:v>
                </c:pt>
                <c:pt idx="112">
                  <c:v>95271</c:v>
                </c:pt>
                <c:pt idx="113">
                  <c:v>95271</c:v>
                </c:pt>
                <c:pt idx="114">
                  <c:v>112786</c:v>
                </c:pt>
                <c:pt idx="115">
                  <c:v>112786</c:v>
                </c:pt>
                <c:pt idx="116">
                  <c:v>119241</c:v>
                </c:pt>
                <c:pt idx="117">
                  <c:v>90619</c:v>
                </c:pt>
                <c:pt idx="118">
                  <c:v>98609</c:v>
                </c:pt>
                <c:pt idx="119">
                  <c:v>98609</c:v>
                </c:pt>
                <c:pt idx="120">
                  <c:v>98609</c:v>
                </c:pt>
                <c:pt idx="121">
                  <c:v>58857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4"/>
        <c:noMultiLvlLbl val="0"/>
      </c:catAx>
      <c:valAx>
        <c:axId val="-2100718248"/>
        <c:scaling>
          <c:orientation val="minMax"/>
          <c:max val="20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September: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Suppliers and overheads</c:v>
                </c:pt>
                <c:pt idx="1">
                  <c:v>Pay runs (2)</c:v>
                </c:pt>
                <c:pt idx="2">
                  <c:v>Interest and equipment finance</c:v>
                </c:pt>
                <c:pt idx="3">
                  <c:v>BAS (GST and PAYG)</c:v>
                </c:pt>
                <c:pt idx="4">
                  <c:v>New work collected</c:v>
                </c:pt>
                <c:pt idx="5">
                  <c:v>Unpaid invoices collected</c:v>
                </c:pt>
              </c:strCache>
            </c:strRef>
          </c:cat>
          <c:val>
            <c:numRef>
              <c:f>Sheet1!$B$2:$B$7</c:f>
              <c:numCache>
                <c:formatCode>$#,##0;[Red]($#,##0);"-"</c:formatCode>
                <c:ptCount val="6"/>
                <c:pt idx="0">
                  <c:v>-102333</c:v>
                </c:pt>
                <c:pt idx="1">
                  <c:v>-73222</c:v>
                </c:pt>
                <c:pt idx="2">
                  <c:v>-6100</c:v>
                </c:pt>
                <c:pt idx="3">
                  <c:v>0</c:v>
                </c:pt>
                <c:pt idx="4">
                  <c:v>29171</c:v>
                </c:pt>
                <c:pt idx="5">
                  <c:v>159756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83719.4"/>
          <c:min val="-117682.95"/>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August 2026. A 13-week cash forecast from 31 August: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31 Aug: $92,859; Paid to employees in September: $73,222; After the tightest pay run, 3 Sep: $56,248; Lowest point, next 13 weeks: $56,248. Cash at bank was $92,859 at 31 August. September has 2 pay runs ($73,222). The tightest is 3 September: $56,248 left after paying wages, $19,637 more than a pay run in reserve. The lowest point in the 13 weeks is $56,248 on 3 September. 15 invoices ($24,676) are already past the customer's usual payment date; the forecast assumes they arrive within a week. Without them, the lowest point would be $34,181. The July to September BAS ($86,220, estimated) is due 28 October: GST $33,132, PAYG withheld $47,754 and the PAYG instalment $5,334.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September: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($24,676):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($24,676):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75819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August 2026. A 13-week cash forecast from 31 August: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55295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31 Aug, then forecast to 30 Nov</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31 Aug</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$92,859</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September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$73,222</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3 Sep</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$56,248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$56,248</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 September</a:t>
            </a:r>
          </a:p>
        </p:txBody>
      </p:sp>
      <p:graphicFrame>
        <p:nvGraphicFramePr>
          <p:cNvPr id="22" name="Chart 21"/>
          <p:cNvGraphicFramePr>
            <a:graphicFrameLocks noGrp="1"/>
          </p:cNvGraphicFramePr>
          <p:nvPr/>
        </p:nvGraphicFramePr>
        <p:xfrm>
          <a:off x="457200" y="2604516"/>
          <a:ext cx="11277295" cy="211988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095973"/>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821653"/>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815840"/>
            <a:ext cx="5501487" cy="14935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$92,859 at 31 August. September has 2 pay runs ($73,222). The tightest is 3 September: $56,248 left after paying wages, $19,637 more than a pay run in reserve. The lowest point in the 13 weeks is $56,248 on 3 September.</a:t>
            </a:r>
          </a:p>
        </p:txBody>
      </p:sp>
      <p:sp>
        <p:nvSpPr>
          <p:cNvPr id="28" name="Rectangle 27"/>
          <p:cNvSpPr/>
          <p:nvPr/>
        </p:nvSpPr>
        <p:spPr>
          <a:xfrm>
            <a:off x="6233007" y="4815840"/>
            <a:ext cx="5501487" cy="14935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87070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145024"/>
            <a:ext cx="5227167" cy="1127760"/>
          </a:xfrm>
          <a:prstGeom prst="rect">
            <a:avLst/>
          </a:prstGeom>
          <a:noFill/>
        </p:spPr>
        <p:txBody>
          <a:bodyPr wrap="square" lIns="45720" rIns="45720">
            <a:spAutoFit/>
          </a:bodyPr>
          <a:lstStyle/>
          <a:p>
            <a:pPr>
              <a:defRPr>
                <a:latin typeface="Roboto"/>
              </a:defRPr>
            </a:pPr>
            <a:r>
              <a:rPr sz="1200" b="0">
                <a:solidFill>
                  <a:srgbClr val="25342A"/>
                </a:solidFill>
                <a:latin typeface="Roboto"/>
              </a:rPr>
              <a:t>15 invoices ($24,676) are already past the customer's usual payment date; the forecast assumes they arrive within a week. Without them, the lowest point would be $34,181. The July to September BAS ($86,220, estimated) is due 28 October: GST $33,132, PAYG withheld $47,754 and the PAYG instalment $5,334.</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September: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Sep</a:t>
                      </a:r>
                    </a:p>
                  </a:txBody>
                  <a:tcPr>
                    <a:solidFill>
                      <a:srgbClr val="FFFFFF"/>
                    </a:solidFill>
                  </a:tcPr>
                </a:tc>
                <a:tc>
                  <a:txBody>
                    <a:bodyPr/>
                    <a:lstStyle/>
                    <a:p>
                      <a:pPr algn="r">
                        <a:defRPr>
                          <a:latin typeface="Roboto"/>
                        </a:defRPr>
                      </a:pPr>
                      <a:r>
                        <a:rPr sz="1050">
                          <a:solidFill>
                            <a:srgbClr val="25342A"/>
                          </a:solidFill>
                          <a:latin typeface="Roboto"/>
                        </a:rPr>
                        <a:t>$92,859</a:t>
                      </a:r>
                    </a:p>
                  </a:txBody>
                  <a:tcPr>
                    <a:solidFill>
                      <a:srgbClr val="FFFFFF"/>
                    </a:solidFill>
                  </a:tcPr>
                </a:tc>
                <a:tc>
                  <a:txBody>
                    <a:bodyPr/>
                    <a:lstStyle/>
                    <a:p>
                      <a:pPr algn="r">
                        <a:defRPr>
                          <a:latin typeface="Roboto"/>
                        </a:defRPr>
                      </a:pPr>
                      <a:r>
                        <a:rPr sz="1050">
                          <a:solidFill>
                            <a:srgbClr val="25342A"/>
                          </a:solidFill>
                          <a:latin typeface="Roboto"/>
                        </a:rPr>
                        <a:t>$72,086</a:t>
                      </a:r>
                    </a:p>
                  </a:txBody>
                  <a:tcPr>
                    <a:solidFill>
                      <a:srgbClr val="FFFFFF"/>
                    </a:solidFill>
                  </a:tcPr>
                </a:tc>
                <a:tc>
                  <a:txBody>
                    <a:bodyPr/>
                    <a:lstStyle/>
                    <a:p>
                      <a:pPr algn="r">
                        <a:defRPr>
                          <a:latin typeface="Roboto"/>
                        </a:defRPr>
                      </a:pPr>
                      <a:r>
                        <a:rPr sz="1050">
                          <a:solidFill>
                            <a:srgbClr val="25342A"/>
                          </a:solidFill>
                          <a:latin typeface="Roboto"/>
                        </a:rPr>
                        <a:t>$6,141</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$134,475</a:t>
                      </a:r>
                    </a:p>
                  </a:txBody>
                  <a:tcPr>
                    <a:solidFill>
                      <a:srgbClr val="FFFFFF"/>
                    </a:solidFill>
                  </a:tcPr>
                </a:tc>
                <a:tc>
                  <a:txBody>
                    <a:bodyPr/>
                    <a:lstStyle/>
                    <a:p>
                      <a:pPr algn="r">
                        <a:defRPr>
                          <a:latin typeface="Roboto"/>
                        </a:defRPr>
                      </a:pPr>
                      <a:r>
                        <a:rPr sz="1050">
                          <a:solidFill>
                            <a:srgbClr val="25342A"/>
                          </a:solidFill>
                          <a:latin typeface="Roboto"/>
                        </a:rPr>
                        <a:t>$56,248</a:t>
                      </a:r>
                    </a:p>
                  </a:txBody>
                  <a:tcPr>
                    <a:solidFill>
                      <a:srgbClr val="FFFFFF"/>
                    </a:solidFill>
                  </a:tcPr>
                </a:tc>
              </a:tr>
              <a:tr h="310896">
                <a:tc>
                  <a:txBody>
                    <a:bodyPr/>
                    <a:lstStyle/>
                    <a:p>
                      <a:pPr algn="l">
                        <a:defRPr>
                          <a:latin typeface="Roboto"/>
                        </a:defRPr>
                      </a:pPr>
                      <a:r>
                        <a:rPr sz="1050">
                          <a:solidFill>
                            <a:srgbClr val="25342A"/>
                          </a:solidFill>
                          <a:latin typeface="Roboto"/>
                        </a:rPr>
                        <a:t>14 Sep</a:t>
                      </a:r>
                    </a:p>
                  </a:txBody>
                  <a:tcPr>
                    <a:solidFill>
                      <a:srgbClr val="F7FAF7"/>
                    </a:solidFill>
                  </a:tcPr>
                </a:tc>
                <a:tc>
                  <a:txBody>
                    <a:bodyPr/>
                    <a:lstStyle/>
                    <a:p>
                      <a:pPr algn="r">
                        <a:defRPr>
                          <a:latin typeface="Roboto"/>
                        </a:defRPr>
                      </a:pPr>
                      <a:r>
                        <a:rPr sz="1050">
                          <a:solidFill>
                            <a:srgbClr val="25342A"/>
                          </a:solidFill>
                          <a:latin typeface="Roboto"/>
                        </a:rPr>
                        <a:t>$134,475</a:t>
                      </a:r>
                    </a:p>
                  </a:txBody>
                  <a:tcPr>
                    <a:solidFill>
                      <a:srgbClr val="F7FAF7"/>
                    </a:solidFill>
                  </a:tcPr>
                </a:tc>
                <a:tc>
                  <a:txBody>
                    <a:bodyPr/>
                    <a:lstStyle/>
                    <a:p>
                      <a:pPr algn="r">
                        <a:defRPr>
                          <a:latin typeface="Roboto"/>
                        </a:defRPr>
                      </a:pPr>
                      <a:r>
                        <a:rPr sz="1050">
                          <a:solidFill>
                            <a:srgbClr val="25342A"/>
                          </a:solidFill>
                          <a:latin typeface="Roboto"/>
                        </a:rPr>
                        <a:t>$26,290</a:t>
                      </a:r>
                    </a:p>
                  </a:txBody>
                  <a:tcPr>
                    <a:solidFill>
                      <a:srgbClr val="F7FAF7"/>
                    </a:solidFill>
                  </a:tcPr>
                </a:tc>
                <a:tc>
                  <a:txBody>
                    <a:bodyPr/>
                    <a:lstStyle/>
                    <a:p>
                      <a:pPr algn="r">
                        <a:defRPr>
                          <a:latin typeface="Roboto"/>
                        </a:defRPr>
                      </a:pPr>
                      <a:r>
                        <a:rPr sz="1050">
                          <a:solidFill>
                            <a:srgbClr val="25342A"/>
                          </a:solidFill>
                          <a:latin typeface="Roboto"/>
                        </a:rPr>
                        <a:t>$7,677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$168,442</a:t>
                      </a:r>
                    </a:p>
                  </a:txBody>
                  <a:tcPr>
                    <a:solidFill>
                      <a:srgbClr val="F7FAF7"/>
                    </a:solidFill>
                  </a:tcPr>
                </a:tc>
                <a:tc>
                  <a:txBody>
                    <a:bodyPr/>
                    <a:lstStyle/>
                    <a:p>
                      <a:pPr algn="r">
                        <a:defRPr>
                          <a:latin typeface="Roboto"/>
                        </a:defRPr>
                      </a:pPr>
                      <a:r>
                        <a:rPr sz="1050">
                          <a:solidFill>
                            <a:srgbClr val="25342A"/>
                          </a:solidFill>
                          <a:latin typeface="Roboto"/>
                        </a:rPr>
                        <a:t>$134,475</a:t>
                      </a:r>
                    </a:p>
                  </a:txBody>
                  <a:tcPr>
                    <a:solidFill>
                      <a:srgbClr val="F7FAF7"/>
                    </a:solidFill>
                  </a:tcPr>
                </a:tc>
              </a:tr>
              <a:tr h="310896">
                <a:tc>
                  <a:txBody>
                    <a:bodyPr/>
                    <a:lstStyle/>
                    <a:p>
                      <a:pPr algn="l">
                        <a:defRPr>
                          <a:latin typeface="Roboto"/>
                        </a:defRPr>
                      </a:pPr>
                      <a:r>
                        <a:rPr sz="1050">
                          <a:solidFill>
                            <a:srgbClr val="25342A"/>
                          </a:solidFill>
                          <a:latin typeface="Roboto"/>
                        </a:rPr>
                        <a:t>21 Sep</a:t>
                      </a:r>
                    </a:p>
                  </a:txBody>
                  <a:tcPr>
                    <a:solidFill>
                      <a:srgbClr val="FFFFFF"/>
                    </a:solidFill>
                  </a:tcPr>
                </a:tc>
                <a:tc>
                  <a:txBody>
                    <a:bodyPr/>
                    <a:lstStyle/>
                    <a:p>
                      <a:pPr algn="r">
                        <a:defRPr>
                          <a:latin typeface="Roboto"/>
                        </a:defRPr>
                      </a:pPr>
                      <a:r>
                        <a:rPr sz="1050">
                          <a:solidFill>
                            <a:srgbClr val="25342A"/>
                          </a:solidFill>
                          <a:latin typeface="Roboto"/>
                        </a:rPr>
                        <a:t>$168,442</a:t>
                      </a:r>
                    </a:p>
                  </a:txBody>
                  <a:tcPr>
                    <a:solidFill>
                      <a:srgbClr val="FFFFFF"/>
                    </a:solidFill>
                  </a:tcPr>
                </a:tc>
                <a:tc>
                  <a:txBody>
                    <a:bodyPr/>
                    <a:lstStyle/>
                    <a:p>
                      <a:pPr algn="r">
                        <a:defRPr>
                          <a:latin typeface="Roboto"/>
                        </a:defRPr>
                      </a:pPr>
                      <a:r>
                        <a:rPr sz="1050">
                          <a:solidFill>
                            <a:srgbClr val="25342A"/>
                          </a:solidFill>
                          <a:latin typeface="Roboto"/>
                        </a:rPr>
                        <a:t>$20,680</a:t>
                      </a:r>
                    </a:p>
                  </a:txBody>
                  <a:tcPr>
                    <a:solidFill>
                      <a:srgbClr val="FFFFFF"/>
                    </a:solidFill>
                  </a:tcPr>
                </a:tc>
                <a:tc>
                  <a:txBody>
                    <a:bodyPr/>
                    <a:lstStyle/>
                    <a:p>
                      <a:pPr algn="r">
                        <a:defRPr>
                          <a:latin typeface="Roboto"/>
                        </a:defRPr>
                      </a:pPr>
                      <a:r>
                        <a:rPr sz="1050">
                          <a:solidFill>
                            <a:srgbClr val="25342A"/>
                          </a:solidFill>
                          <a:latin typeface="Roboto"/>
                        </a:rPr>
                        <a:t>$7,677</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$109,022</a:t>
                      </a:r>
                    </a:p>
                  </a:txBody>
                  <a:tcPr>
                    <a:solidFill>
                      <a:srgbClr val="FFFFFF"/>
                    </a:solidFill>
                  </a:tcPr>
                </a:tc>
                <a:tc>
                  <a:txBody>
                    <a:bodyPr/>
                    <a:lstStyle/>
                    <a:p>
                      <a:pPr algn="r">
                        <a:defRPr>
                          <a:latin typeface="Roboto"/>
                        </a:defRPr>
                      </a:pPr>
                      <a:r>
                        <a:rPr sz="1050">
                          <a:solidFill>
                            <a:srgbClr val="25342A"/>
                          </a:solidFill>
                          <a:latin typeface="Roboto"/>
                        </a:rPr>
                        <a:t>$82,200</a:t>
                      </a:r>
                    </a:p>
                  </a:txBody>
                  <a:tcPr>
                    <a:solidFill>
                      <a:srgbClr val="FFFFFF"/>
                    </a:solidFill>
                  </a:tcPr>
                </a:tc>
              </a:tr>
              <a:tr h="310896">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$109,022</a:t>
                      </a:r>
                    </a:p>
                  </a:txBody>
                  <a:tcPr>
                    <a:solidFill>
                      <a:srgbClr val="F7FAF7"/>
                    </a:solidFill>
                  </a:tcPr>
                </a:tc>
                <a:tc>
                  <a:txBody>
                    <a:bodyPr/>
                    <a:lstStyle/>
                    <a:p>
                      <a:pPr algn="r">
                        <a:defRPr>
                          <a:latin typeface="Roboto"/>
                        </a:defRPr>
                      </a:pPr>
                      <a:r>
                        <a:rPr sz="1050">
                          <a:solidFill>
                            <a:srgbClr val="25342A"/>
                          </a:solidFill>
                          <a:latin typeface="Roboto"/>
                        </a:rPr>
                        <a:t>$40,700</a:t>
                      </a:r>
                    </a:p>
                  </a:txBody>
                  <a:tcPr>
                    <a:solidFill>
                      <a:srgbClr val="F7FAF7"/>
                    </a:solidFill>
                  </a:tcPr>
                </a:tc>
                <a:tc>
                  <a:txBody>
                    <a:bodyPr/>
                    <a:lstStyle/>
                    <a:p>
                      <a:pPr algn="r">
                        <a:defRPr>
                          <a:latin typeface="Roboto"/>
                        </a:defRPr>
                      </a:pPr>
                      <a:r>
                        <a:rPr sz="1050">
                          <a:solidFill>
                            <a:srgbClr val="25342A"/>
                          </a:solidFill>
                          <a:latin typeface="Roboto"/>
                        </a:rPr>
                        <a:t>$7,676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$152,398</a:t>
                      </a:r>
                    </a:p>
                  </a:txBody>
                  <a:tcPr>
                    <a:solidFill>
                      <a:srgbClr val="F7FAF7"/>
                    </a:solidFill>
                  </a:tcPr>
                </a:tc>
                <a:tc>
                  <a:txBody>
                    <a:bodyPr/>
                    <a:lstStyle/>
                    <a:p>
                      <a:pPr algn="r">
                        <a:defRPr>
                          <a:latin typeface="Roboto"/>
                        </a:defRPr>
                      </a:pPr>
                      <a:r>
                        <a:rPr sz="1050">
                          <a:solidFill>
                            <a:srgbClr val="25342A"/>
                          </a:solidFill>
                          <a:latin typeface="Roboto"/>
                        </a:rPr>
                        <a:t>$109,022</a:t>
                      </a:r>
                    </a:p>
                  </a:txBody>
                  <a:tcPr>
                    <a:solidFill>
                      <a:srgbClr val="F7FAF7"/>
                    </a:solidFill>
                  </a:tcPr>
                </a:tc>
              </a:tr>
              <a:tr h="310896">
                <a:tc>
                  <a:txBody>
                    <a:bodyPr/>
                    <a:lstStyle/>
                    <a:p>
                      <a:pPr algn="l">
                        <a:defRPr>
                          <a:latin typeface="Roboto"/>
                        </a:defRPr>
                      </a:pPr>
                      <a:r>
                        <a:rPr sz="1050">
                          <a:solidFill>
                            <a:srgbClr val="25342A"/>
                          </a:solidFill>
                          <a:latin typeface="Roboto"/>
                        </a:rPr>
                        <a:t>5 Oct</a:t>
                      </a:r>
                    </a:p>
                  </a:txBody>
                  <a:tcPr>
                    <a:solidFill>
                      <a:srgbClr val="FFFFFF"/>
                    </a:solidFill>
                  </a:tcPr>
                </a:tc>
                <a:tc>
                  <a:txBody>
                    <a:bodyPr/>
                    <a:lstStyle/>
                    <a:p>
                      <a:pPr algn="r">
                        <a:defRPr>
                          <a:latin typeface="Roboto"/>
                        </a:defRPr>
                      </a:pPr>
                      <a:r>
                        <a:rPr sz="1050">
                          <a:solidFill>
                            <a:srgbClr val="25342A"/>
                          </a:solidFill>
                          <a:latin typeface="Roboto"/>
                        </a:rPr>
                        <a:t>$152,398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$65,865</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($1,100)</a:t>
                      </a:r>
                    </a:p>
                  </a:txBody>
                  <a:tcPr>
                    <a:solidFill>
                      <a:srgbClr val="FFFFFF"/>
                    </a:solidFill>
                  </a:tcPr>
                </a:tc>
                <a:tc>
                  <a:txBody>
                    <a:bodyPr/>
                    <a:lstStyle/>
                    <a:p>
                      <a:pPr algn="r">
                        <a:defRPr>
                          <a:latin typeface="Roboto"/>
                        </a:defRPr>
                      </a:pPr>
                      <a:r>
                        <a:rPr sz="1050">
                          <a:solidFill>
                            <a:srgbClr val="25342A"/>
                          </a:solidFill>
                          <a:latin typeface="Roboto"/>
                        </a:rPr>
                        <a:t>$129,385</a:t>
                      </a:r>
                    </a:p>
                  </a:txBody>
                  <a:tcPr>
                    <a:solidFill>
                      <a:srgbClr val="FFFFFF"/>
                    </a:solidFill>
                  </a:tcPr>
                </a:tc>
                <a:tc>
                  <a:txBody>
                    <a:bodyPr/>
                    <a:lstStyle/>
                    <a:p>
                      <a:pPr algn="r">
                        <a:defRPr>
                          <a:latin typeface="Roboto"/>
                        </a:defRPr>
                      </a:pPr>
                      <a:r>
                        <a:rPr sz="1050">
                          <a:solidFill>
                            <a:srgbClr val="25342A"/>
                          </a:solidFill>
                          <a:latin typeface="Roboto"/>
                        </a:rPr>
                        <a:t>$100,131</a:t>
                      </a:r>
                    </a:p>
                  </a:txBody>
                  <a:tcPr>
                    <a:solidFill>
                      <a:srgbClr val="FFFFFF"/>
                    </a:solidFill>
                  </a:tcPr>
                </a:tc>
              </a:tr>
              <a:tr h="310896">
                <a:tc>
                  <a:txBody>
                    <a:bodyPr/>
                    <a:lstStyle/>
                    <a:p>
                      <a:pPr algn="l">
                        <a:defRPr>
                          <a:latin typeface="Roboto"/>
                        </a:defRPr>
                      </a:pPr>
                      <a:r>
                        <a:rPr sz="1050">
                          <a:solidFill>
                            <a:srgbClr val="25342A"/>
                          </a:solidFill>
                          <a:latin typeface="Roboto"/>
                        </a:rPr>
                        <a:t>12 Oct</a:t>
                      </a:r>
                    </a:p>
                  </a:txBody>
                  <a:tcPr>
                    <a:solidFill>
                      <a:srgbClr val="F7FAF7"/>
                    </a:solidFill>
                  </a:tcPr>
                </a:tc>
                <a:tc>
                  <a:txBody>
                    <a:bodyPr/>
                    <a:lstStyle/>
                    <a:p>
                      <a:pPr algn="r">
                        <a:defRPr>
                          <a:latin typeface="Roboto"/>
                        </a:defRPr>
                      </a:pPr>
                      <a:r>
                        <a:rPr sz="1050">
                          <a:solidFill>
                            <a:srgbClr val="25342A"/>
                          </a:solidFill>
                          <a:latin typeface="Roboto"/>
                        </a:rPr>
                        <a:t>$129,385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$55,929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$185,314</a:t>
                      </a:r>
                    </a:p>
                  </a:txBody>
                  <a:tcPr>
                    <a:solidFill>
                      <a:srgbClr val="F7FAF7"/>
                    </a:solidFill>
                  </a:tcPr>
                </a:tc>
                <a:tc>
                  <a:txBody>
                    <a:bodyPr/>
                    <a:lstStyle/>
                    <a:p>
                      <a:pPr algn="r">
                        <a:defRPr>
                          <a:latin typeface="Roboto"/>
                        </a:defRPr>
                      </a:pPr>
                      <a:r>
                        <a:rPr sz="1050">
                          <a:solidFill>
                            <a:srgbClr val="25342A"/>
                          </a:solidFill>
                          <a:latin typeface="Roboto"/>
                        </a:rPr>
                        <a:t>$146,900</a:t>
                      </a:r>
                    </a:p>
                  </a:txBody>
                  <a:tcPr>
                    <a:solidFill>
                      <a:srgbClr val="F7FAF7"/>
                    </a:solidFill>
                  </a:tcPr>
                </a:tc>
              </a:tr>
              <a:tr h="310896">
                <a:tc>
                  <a:txBody>
                    <a:bodyPr/>
                    <a:lstStyle/>
                    <a:p>
                      <a:pPr algn="l">
                        <a:defRPr>
                          <a:latin typeface="Roboto"/>
                        </a:defRPr>
                      </a:pPr>
                      <a:r>
                        <a:rPr sz="1050">
                          <a:solidFill>
                            <a:srgbClr val="25342A"/>
                          </a:solidFill>
                          <a:latin typeface="Roboto"/>
                        </a:rPr>
                        <a:t>19 Oct</a:t>
                      </a:r>
                    </a:p>
                  </a:txBody>
                  <a:tcPr>
                    <a:solidFill>
                      <a:srgbClr val="FFFFFF"/>
                    </a:solidFill>
                  </a:tcPr>
                </a:tc>
                <a:tc>
                  <a:txBody>
                    <a:bodyPr/>
                    <a:lstStyle/>
                    <a:p>
                      <a:pPr algn="r">
                        <a:defRPr>
                          <a:latin typeface="Roboto"/>
                        </a:defRPr>
                      </a:pPr>
                      <a:r>
                        <a:rPr sz="1050">
                          <a:solidFill>
                            <a:srgbClr val="25342A"/>
                          </a:solidFill>
                          <a:latin typeface="Roboto"/>
                        </a:rPr>
                        <a:t>$185,314</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$137,486</a:t>
                      </a:r>
                    </a:p>
                  </a:txBody>
                  <a:tcPr>
                    <a:solidFill>
                      <a:srgbClr val="FFFFFF"/>
                    </a:solidFill>
                  </a:tcPr>
                </a:tc>
                <a:tc>
                  <a:txBody>
                    <a:bodyPr/>
                    <a:lstStyle/>
                    <a:p>
                      <a:pPr algn="r">
                        <a:defRPr>
                          <a:latin typeface="Roboto"/>
                        </a:defRPr>
                      </a:pPr>
                      <a:r>
                        <a:rPr sz="1050">
                          <a:solidFill>
                            <a:srgbClr val="25342A"/>
                          </a:solidFill>
                          <a:latin typeface="Roboto"/>
                        </a:rPr>
                        <a:t>$111,981</a:t>
                      </a:r>
                    </a:p>
                  </a:txBody>
                  <a:tcPr>
                    <a:solidFill>
                      <a:srgbClr val="FFFFFF"/>
                    </a:solidFill>
                  </a:tcPr>
                </a:tc>
              </a:tr>
              <a:tr h="310896">
                <a:tc>
                  <a:txBody>
                    <a:bodyPr/>
                    <a:lstStyle/>
                    <a:p>
                      <a:pPr algn="l">
                        <a:defRPr>
                          <a:latin typeface="Roboto"/>
                        </a:defRPr>
                      </a:pPr>
                      <a:r>
                        <a:rPr sz="1050">
                          <a:solidFill>
                            <a:srgbClr val="25342A"/>
                          </a:solidFill>
                          <a:latin typeface="Roboto"/>
                        </a:rPr>
                        <a:t>26 Oct</a:t>
                      </a:r>
                    </a:p>
                  </a:txBody>
                  <a:tcPr>
                    <a:solidFill>
                      <a:srgbClr val="F7FAF7"/>
                    </a:solidFill>
                  </a:tcPr>
                </a:tc>
                <a:tc>
                  <a:txBody>
                    <a:bodyPr/>
                    <a:lstStyle/>
                    <a:p>
                      <a:pPr algn="r">
                        <a:defRPr>
                          <a:latin typeface="Roboto"/>
                        </a:defRPr>
                      </a:pPr>
                      <a:r>
                        <a:rPr sz="1050">
                          <a:solidFill>
                            <a:srgbClr val="25342A"/>
                          </a:solidFill>
                          <a:latin typeface="Roboto"/>
                        </a:rPr>
                        <a:t>$137,486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$39,949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$177,435</a:t>
                      </a:r>
                    </a:p>
                  </a:txBody>
                  <a:tcPr>
                    <a:solidFill>
                      <a:srgbClr val="F7FAF7"/>
                    </a:solidFill>
                  </a:tcPr>
                </a:tc>
                <a:tc>
                  <a:txBody>
                    <a:bodyPr/>
                    <a:lstStyle/>
                    <a:p>
                      <a:pPr algn="r">
                        <a:defRPr>
                          <a:latin typeface="Roboto"/>
                        </a:defRPr>
                      </a:pPr>
                      <a:r>
                        <a:rPr sz="1050">
                          <a:solidFill>
                            <a:srgbClr val="25342A"/>
                          </a:solidFill>
                          <a:latin typeface="Roboto"/>
                        </a:rPr>
                        <a:t>$137,486</a:t>
                      </a:r>
                    </a:p>
                  </a:txBody>
                  <a:tcPr>
                    <a:solidFill>
                      <a:srgbClr val="F7FAF7"/>
                    </a:solidFill>
                  </a:tcPr>
                </a:tc>
              </a:tr>
              <a:tr h="310896">
                <a:tc>
                  <a:txBody>
                    <a:bodyPr/>
                    <a:lstStyle/>
                    <a:p>
                      <a:pPr algn="l">
                        <a:defRPr>
                          <a:latin typeface="Roboto"/>
                        </a:defRPr>
                      </a:pPr>
                      <a:r>
                        <a:rPr sz="1050">
                          <a:solidFill>
                            <a:srgbClr val="25342A"/>
                          </a:solidFill>
                          <a:latin typeface="Roboto"/>
                        </a:rPr>
                        <a:t>2 Nov</a:t>
                      </a:r>
                    </a:p>
                  </a:txBody>
                  <a:tcPr>
                    <a:solidFill>
                      <a:srgbClr val="FFFFFF"/>
                    </a:solidFill>
                  </a:tcPr>
                </a:tc>
                <a:tc>
                  <a:txBody>
                    <a:bodyPr/>
                    <a:lstStyle/>
                    <a:p>
                      <a:pPr algn="r">
                        <a:defRPr>
                          <a:latin typeface="Roboto"/>
                        </a:defRPr>
                      </a:pPr>
                      <a:r>
                        <a:rPr sz="1050">
                          <a:solidFill>
                            <a:srgbClr val="25342A"/>
                          </a:solidFill>
                          <a:latin typeface="Roboto"/>
                        </a:rPr>
                        <a:t>$177,435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$89,834</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B42318"/>
                          </a:solidFill>
                          <a:latin typeface="Roboto"/>
                        </a:rPr>
                        <a:t>($86,220)</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$87,171</a:t>
                      </a:r>
                    </a:p>
                  </a:txBody>
                  <a:tcPr>
                    <a:solidFill>
                      <a:srgbClr val="FFFFFF"/>
                    </a:solidFill>
                  </a:tcPr>
                </a:tc>
                <a:tc>
                  <a:txBody>
                    <a:bodyPr/>
                    <a:lstStyle/>
                    <a:p>
                      <a:pPr algn="r">
                        <a:defRPr>
                          <a:latin typeface="Roboto"/>
                        </a:defRPr>
                      </a:pPr>
                      <a:r>
                        <a:rPr sz="1050">
                          <a:solidFill>
                            <a:srgbClr val="25342A"/>
                          </a:solidFill>
                          <a:latin typeface="Roboto"/>
                        </a:rPr>
                        <a:t>$64,048</a:t>
                      </a:r>
                    </a:p>
                  </a:txBody>
                  <a:tcPr>
                    <a:solidFill>
                      <a:srgbClr val="FFFFFF"/>
                    </a:solidFill>
                  </a:tcPr>
                </a:tc>
              </a:tr>
              <a:tr h="310896">
                <a:tc>
                  <a:txBody>
                    <a:bodyPr/>
                    <a:lstStyle/>
                    <a:p>
                      <a:pPr algn="l">
                        <a:defRPr>
                          <a:latin typeface="Roboto"/>
                        </a:defRPr>
                      </a:pPr>
                      <a:r>
                        <a:rPr sz="1050">
                          <a:solidFill>
                            <a:srgbClr val="25342A"/>
                          </a:solidFill>
                          <a:latin typeface="Roboto"/>
                        </a:rPr>
                        <a:t>9 Nov</a:t>
                      </a:r>
                    </a:p>
                  </a:txBody>
                  <a:tcPr>
                    <a:solidFill>
                      <a:srgbClr val="F7FAF7"/>
                    </a:solidFill>
                  </a:tcPr>
                </a:tc>
                <a:tc>
                  <a:txBody>
                    <a:bodyPr/>
                    <a:lstStyle/>
                    <a:p>
                      <a:pPr algn="r">
                        <a:defRPr>
                          <a:latin typeface="Roboto"/>
                        </a:defRPr>
                      </a:pPr>
                      <a:r>
                        <a:rPr sz="1050">
                          <a:solidFill>
                            <a:srgbClr val="25342A"/>
                          </a:solidFill>
                          <a:latin typeface="Roboto"/>
                        </a:rPr>
                        <a:t>$87,171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$33,494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$120,665</a:t>
                      </a:r>
                    </a:p>
                  </a:txBody>
                  <a:tcPr>
                    <a:solidFill>
                      <a:srgbClr val="F7FAF7"/>
                    </a:solidFill>
                  </a:tcPr>
                </a:tc>
                <a:tc>
                  <a:txBody>
                    <a:bodyPr/>
                    <a:lstStyle/>
                    <a:p>
                      <a:pPr algn="r">
                        <a:defRPr>
                          <a:latin typeface="Roboto"/>
                        </a:defRPr>
                      </a:pPr>
                      <a:r>
                        <a:rPr sz="1050">
                          <a:solidFill>
                            <a:srgbClr val="25342A"/>
                          </a:solidFill>
                          <a:latin typeface="Roboto"/>
                        </a:rPr>
                        <a:t>$87,171</a:t>
                      </a:r>
                    </a:p>
                  </a:txBody>
                  <a:tcPr>
                    <a:solidFill>
                      <a:srgbClr val="F7FAF7"/>
                    </a:solidFill>
                  </a:tcPr>
                </a:tc>
              </a:tr>
              <a:tr h="310896">
                <a:tc>
                  <a:txBody>
                    <a:bodyPr/>
                    <a:lstStyle/>
                    <a:p>
                      <a:pPr algn="l">
                        <a:defRPr>
                          <a:latin typeface="Roboto"/>
                        </a:defRPr>
                      </a:pPr>
                      <a:r>
                        <a:rPr sz="1050">
                          <a:solidFill>
                            <a:srgbClr val="25342A"/>
                          </a:solidFill>
                          <a:latin typeface="Roboto"/>
                        </a:rPr>
                        <a:t>16 Nov</a:t>
                      </a:r>
                    </a:p>
                  </a:txBody>
                  <a:tcPr>
                    <a:solidFill>
                      <a:srgbClr val="FFFFFF"/>
                    </a:solidFill>
                  </a:tcPr>
                </a:tc>
                <a:tc>
                  <a:txBody>
                    <a:bodyPr/>
                    <a:lstStyle/>
                    <a:p>
                      <a:pPr algn="r">
                        <a:defRPr>
                          <a:latin typeface="Roboto"/>
                        </a:defRPr>
                      </a:pPr>
                      <a:r>
                        <a:rPr sz="1050">
                          <a:solidFill>
                            <a:srgbClr val="25342A"/>
                          </a:solidFill>
                          <a:latin typeface="Roboto"/>
                        </a:rPr>
                        <a:t>$120,665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$72,837</a:t>
                      </a:r>
                    </a:p>
                  </a:txBody>
                  <a:tcPr>
                    <a:solidFill>
                      <a:srgbClr val="FFFFFF"/>
                    </a:solidFill>
                  </a:tcPr>
                </a:tc>
                <a:tc>
                  <a:txBody>
                    <a:bodyPr/>
                    <a:lstStyle/>
                    <a:p>
                      <a:pPr algn="r">
                        <a:defRPr>
                          <a:latin typeface="Roboto"/>
                        </a:defRPr>
                      </a:pPr>
                      <a:r>
                        <a:rPr sz="1050">
                          <a:solidFill>
                            <a:srgbClr val="25342A"/>
                          </a:solidFill>
                          <a:latin typeface="Roboto"/>
                        </a:rPr>
                        <a:t>$72,837</a:t>
                      </a:r>
                    </a:p>
                  </a:txBody>
                  <a:tcPr>
                    <a:solidFill>
                      <a:srgbClr val="FFFFFF"/>
                    </a:solidFill>
                  </a:tcPr>
                </a:tc>
              </a:tr>
              <a:tr h="310896">
                <a:tc>
                  <a:txBody>
                    <a:bodyPr/>
                    <a:lstStyle/>
                    <a:p>
                      <a:pPr algn="l">
                        <a:defRPr>
                          <a:latin typeface="Roboto"/>
                        </a:defRPr>
                      </a:pPr>
                      <a:r>
                        <a:rPr sz="1050">
                          <a:solidFill>
                            <a:srgbClr val="25342A"/>
                          </a:solidFill>
                          <a:latin typeface="Roboto"/>
                        </a:rPr>
                        <a:t>23 Nov</a:t>
                      </a:r>
                    </a:p>
                  </a:txBody>
                  <a:tcPr>
                    <a:solidFill>
                      <a:srgbClr val="F7FAF7"/>
                    </a:solidFill>
                  </a:tcPr>
                </a:tc>
                <a:tc>
                  <a:txBody>
                    <a:bodyPr/>
                    <a:lstStyle/>
                    <a:p>
                      <a:pPr algn="r">
                        <a:defRPr>
                          <a:latin typeface="Roboto"/>
                        </a:defRPr>
                      </a:pPr>
                      <a:r>
                        <a:rPr sz="1050">
                          <a:solidFill>
                            <a:srgbClr val="25342A"/>
                          </a:solidFill>
                          <a:latin typeface="Roboto"/>
                        </a:rPr>
                        <a:t>$72,837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$39,949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$112,786</a:t>
                      </a:r>
                    </a:p>
                  </a:txBody>
                  <a:tcPr>
                    <a:solidFill>
                      <a:srgbClr val="F7FAF7"/>
                    </a:solidFill>
                  </a:tcPr>
                </a:tc>
                <a:tc>
                  <a:txBody>
                    <a:bodyPr/>
                    <a:lstStyle/>
                    <a:p>
                      <a:pPr algn="r">
                        <a:defRPr>
                          <a:latin typeface="Roboto"/>
                        </a:defRPr>
                      </a:pPr>
                      <a:r>
                        <a:rPr sz="1050">
                          <a:solidFill>
                            <a:srgbClr val="25342A"/>
                          </a:solidFill>
                          <a:latin typeface="Roboto"/>
                        </a:rPr>
                        <a:t>$72,837</a:t>
                      </a:r>
                    </a:p>
                  </a:txBody>
                  <a:tcPr>
                    <a:solidFill>
                      <a:srgbClr val="F7FAF7"/>
                    </a:solidFill>
                  </a:tcPr>
                </a:tc>
              </a:tr>
              <a:tr h="310896">
                <a:tc>
                  <a:txBody>
                    <a:bodyPr/>
                    <a:lstStyle/>
                    <a:p>
                      <a:pPr algn="l">
                        <a:defRPr>
                          <a:latin typeface="Roboto"/>
                        </a:defRPr>
                      </a:pPr>
                      <a:r>
                        <a:rPr sz="1050">
                          <a:solidFill>
                            <a:srgbClr val="25342A"/>
                          </a:solidFill>
                          <a:latin typeface="Roboto"/>
                        </a:rPr>
                        <a:t>30 Nov</a:t>
                      </a:r>
                    </a:p>
                  </a:txBody>
                  <a:tcPr>
                    <a:solidFill>
                      <a:srgbClr val="FFFFFF"/>
                    </a:solidFill>
                  </a:tcPr>
                </a:tc>
                <a:tc>
                  <a:txBody>
                    <a:bodyPr/>
                    <a:lstStyle/>
                    <a:p>
                      <a:pPr algn="r">
                        <a:defRPr>
                          <a:latin typeface="Roboto"/>
                        </a:defRPr>
                      </a:pPr>
                      <a:r>
                        <a:rPr sz="1050">
                          <a:solidFill>
                            <a:srgbClr val="25342A"/>
                          </a:solidFill>
                          <a:latin typeface="Roboto"/>
                        </a:rPr>
                        <a:t>$112,786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$39,949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($51,167)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$58,857</a:t>
                      </a:r>
                    </a:p>
                  </a:txBody>
                  <a:tcPr>
                    <a:solidFill>
                      <a:srgbClr val="FFFFFF"/>
                    </a:solidFill>
                  </a:tcPr>
                </a:tc>
                <a:tc>
                  <a:txBody>
                    <a:bodyPr/>
                    <a:lstStyle/>
                    <a:p>
                      <a:pPr algn="r">
                        <a:defRPr>
                          <a:latin typeface="Roboto"/>
                        </a:defRPr>
                      </a:pPr>
                      <a:r>
                        <a:rPr sz="1050">
                          <a:solidFill>
                            <a:srgbClr val="25342A"/>
                          </a:solidFill>
                          <a:latin typeface="Roboto"/>
                        </a:rPr>
                        <a:t>$58,857</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($24,676):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Chermside retail centre</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$5,060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Rocklea factory</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$4,785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Riverside Apartments (strata)</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$3,960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Wacol logistics depot</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$3,685</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Call-out CO-49132</a:t>
                      </a:r>
                    </a:p>
                  </a:txBody>
                  <a:tcPr>
                    <a:solidFill>
                      <a:srgbClr val="FFFFFF"/>
                    </a:solidFill>
                  </a:tcPr>
                </a:tc>
                <a:tc>
                  <a:txBody>
                    <a:bodyPr/>
                    <a:lstStyle/>
                    <a:p>
                      <a:pPr algn="l">
                        <a:defRPr>
                          <a:latin typeface="Roboto"/>
                        </a:defRPr>
                      </a:pPr>
                      <a:r>
                        <a:rPr sz="1050">
                          <a:solidFill>
                            <a:srgbClr val="25342A"/>
                          </a:solidFill>
                          <a:latin typeface="Roboto"/>
                        </a:rPr>
                        <a:t>24 Aug</a:t>
                      </a:r>
                    </a:p>
                  </a:txBody>
                  <a:tcPr>
                    <a:solidFill>
                      <a:srgbClr val="FFFFFF"/>
                    </a:solidFill>
                  </a:tcPr>
                </a:tc>
                <a:tc>
                  <a:txBody>
                    <a:bodyPr/>
                    <a:lstStyle/>
                    <a:p>
                      <a:pPr algn="r">
                        <a:defRPr>
                          <a:latin typeface="Roboto"/>
                        </a:defRPr>
                      </a:pPr>
                      <a:r>
                        <a:rPr sz="1050">
                          <a:solidFill>
                            <a:srgbClr val="25342A"/>
                          </a:solidFill>
                          <a:latin typeface="Roboto"/>
                        </a:rPr>
                        <a:t>$1,018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r>
              <a:tr h="310896">
                <a:tc>
                  <a:txBody>
                    <a:bodyPr/>
                    <a:lstStyle/>
                    <a:p>
                      <a:pPr algn="l">
                        <a:defRPr>
                          <a:latin typeface="Roboto"/>
                        </a:defRPr>
                      </a:pPr>
                      <a:r>
                        <a:rPr sz="1050">
                          <a:solidFill>
                            <a:srgbClr val="25342A"/>
                          </a:solidFill>
                          <a:latin typeface="Roboto"/>
                        </a:rPr>
                        <a:t>Call-out CO-49149</a:t>
                      </a:r>
                    </a:p>
                  </a:txBody>
                  <a:tcPr>
                    <a:solidFill>
                      <a:srgbClr val="F7FAF7"/>
                    </a:solidFill>
                  </a:tcPr>
                </a:tc>
                <a:tc>
                  <a:txBody>
                    <a:bodyPr/>
                    <a:lstStyle/>
                    <a:p>
                      <a:pPr algn="l">
                        <a:defRPr>
                          <a:latin typeface="Roboto"/>
                        </a:defRPr>
                      </a:pPr>
                      <a:r>
                        <a:rPr sz="1050">
                          <a:solidFill>
                            <a:srgbClr val="25342A"/>
                          </a:solidFill>
                          <a:latin typeface="Roboto"/>
                        </a:rPr>
                        <a:t>22 Aug</a:t>
                      </a:r>
                    </a:p>
                  </a:txBody>
                  <a:tcPr>
                    <a:solidFill>
                      <a:srgbClr val="F7FAF7"/>
                    </a:solidFill>
                  </a:tcPr>
                </a:tc>
                <a:tc>
                  <a:txBody>
                    <a:bodyPr/>
                    <a:lstStyle/>
                    <a:p>
                      <a:pPr algn="r">
                        <a:defRPr>
                          <a:latin typeface="Roboto"/>
                        </a:defRPr>
                      </a:pPr>
                      <a:r>
                        <a:rPr sz="1050">
                          <a:solidFill>
                            <a:srgbClr val="25342A"/>
                          </a:solidFill>
                          <a:latin typeface="Roboto"/>
                        </a:rPr>
                        <a:t>$1,003</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CO-49147</a:t>
                      </a:r>
                    </a:p>
                  </a:txBody>
                  <a:tcPr>
                    <a:solidFill>
                      <a:srgbClr val="FFFFFF"/>
                    </a:solidFill>
                  </a:tcPr>
                </a:tc>
                <a:tc>
                  <a:txBody>
                    <a:bodyPr/>
                    <a:lstStyle/>
                    <a:p>
                      <a:pPr algn="l">
                        <a:defRPr>
                          <a:latin typeface="Roboto"/>
                        </a:defRPr>
                      </a:pPr>
                      <a:r>
                        <a:rPr sz="1050">
                          <a:solidFill>
                            <a:srgbClr val="25342A"/>
                          </a:solidFill>
                          <a:latin typeface="Roboto"/>
                        </a:rPr>
                        <a:t>5 Aug</a:t>
                      </a:r>
                    </a:p>
                  </a:txBody>
                  <a:tcPr>
                    <a:solidFill>
                      <a:srgbClr val="FFFFFF"/>
                    </a:solidFill>
                  </a:tcPr>
                </a:tc>
                <a:tc>
                  <a:txBody>
                    <a:bodyPr/>
                    <a:lstStyle/>
                    <a:p>
                      <a:pPr algn="r">
                        <a:defRPr>
                          <a:latin typeface="Roboto"/>
                        </a:defRPr>
                      </a:pPr>
                      <a:r>
                        <a:rPr sz="1050">
                          <a:solidFill>
                            <a:srgbClr val="25342A"/>
                          </a:solidFill>
                          <a:latin typeface="Roboto"/>
                        </a:rPr>
                        <a:t>$824</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26</a:t>
                      </a:r>
                    </a:p>
                  </a:txBody>
                  <a:tcPr>
                    <a:solidFill>
                      <a:srgbClr val="FFFFFF"/>
                    </a:solidFill>
                  </a:tcPr>
                </a:tc>
              </a:tr>
              <a:tr h="310896">
                <a:tc>
                  <a:txBody>
                    <a:bodyPr/>
                    <a:lstStyle/>
                    <a:p>
                      <a:pPr algn="l">
                        <a:defRPr>
                          <a:latin typeface="Roboto"/>
                        </a:defRPr>
                      </a:pPr>
                      <a:r>
                        <a:rPr sz="1050">
                          <a:solidFill>
                            <a:srgbClr val="25342A"/>
                          </a:solidFill>
                          <a:latin typeface="Roboto"/>
                        </a:rPr>
                        <a:t>Call-out CO-49175</a:t>
                      </a:r>
                    </a:p>
                  </a:txBody>
                  <a:tcPr>
                    <a:solidFill>
                      <a:srgbClr val="F7FAF7"/>
                    </a:solidFill>
                  </a:tcPr>
                </a:tc>
                <a:tc>
                  <a:txBody>
                    <a:bodyPr/>
                    <a:lstStyle/>
                    <a:p>
                      <a:pPr algn="l">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$781</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CO-49162</a:t>
                      </a:r>
                    </a:p>
                  </a:txBody>
                  <a:tcPr>
                    <a:solidFill>
                      <a:srgbClr val="FFFFFF"/>
                    </a:solidFill>
                  </a:tcPr>
                </a:tc>
                <a:tc>
                  <a:txBody>
                    <a:bodyPr/>
                    <a:lstStyle/>
                    <a:p>
                      <a:pPr algn="l">
                        <a:defRPr>
                          <a:latin typeface="Roboto"/>
                        </a:defRPr>
                      </a:pPr>
                      <a:r>
                        <a:rPr sz="1050">
                          <a:solidFill>
                            <a:srgbClr val="25342A"/>
                          </a:solidFill>
                          <a:latin typeface="Roboto"/>
                        </a:rPr>
                        <a:t>3 Aug</a:t>
                      </a:r>
                    </a:p>
                  </a:txBody>
                  <a:tcPr>
                    <a:solidFill>
                      <a:srgbClr val="FFFFFF"/>
                    </a:solidFill>
                  </a:tcPr>
                </a:tc>
                <a:tc>
                  <a:txBody>
                    <a:bodyPr/>
                    <a:lstStyle/>
                    <a:p>
                      <a:pPr algn="r">
                        <a:defRPr>
                          <a:latin typeface="Roboto"/>
                        </a:defRPr>
                      </a:pPr>
                      <a:r>
                        <a:rPr sz="1050">
                          <a:solidFill>
                            <a:srgbClr val="25342A"/>
                          </a:solidFill>
                          <a:latin typeface="Roboto"/>
                        </a:rPr>
                        <a:t>$678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28</a:t>
                      </a:r>
                    </a:p>
                  </a:txBody>
                  <a:tcPr>
                    <a:solidFill>
                      <a:srgbClr val="FFFFFF"/>
                    </a:solidFill>
                  </a:tcPr>
                </a:tc>
              </a:tr>
              <a:tr h="310896">
                <a:tc>
                  <a:txBody>
                    <a:bodyPr/>
                    <a:lstStyle/>
                    <a:p>
                      <a:pPr algn="l">
                        <a:defRPr>
                          <a:latin typeface="Roboto"/>
                        </a:defRPr>
                      </a:pPr>
                      <a:r>
                        <a:rPr sz="1050">
                          <a:solidFill>
                            <a:srgbClr val="25342A"/>
                          </a:solidFill>
                          <a:latin typeface="Roboto"/>
                        </a:rPr>
                        <a:t>Call-out CO-49136</a:t>
                      </a:r>
                    </a:p>
                  </a:txBody>
                  <a:tcPr>
                    <a:solidFill>
                      <a:srgbClr val="F7FAF7"/>
                    </a:solidFill>
                  </a:tcPr>
                </a:tc>
                <a:tc>
                  <a:txBody>
                    <a:bodyPr/>
                    <a:lstStyle/>
                    <a:p>
                      <a:pPr algn="l">
                        <a:defRPr>
                          <a:latin typeface="Roboto"/>
                        </a:defRPr>
                      </a:pPr>
                      <a:r>
                        <a:rPr sz="1050">
                          <a:solidFill>
                            <a:srgbClr val="25342A"/>
                          </a:solidFill>
                          <a:latin typeface="Roboto"/>
                        </a:rPr>
                        <a:t>26 Aug</a:t>
                      </a:r>
                    </a:p>
                  </a:txBody>
                  <a:tcPr>
                    <a:solidFill>
                      <a:srgbClr val="F7FAF7"/>
                    </a:solidFill>
                  </a:tcPr>
                </a:tc>
                <a:tc>
                  <a:txBody>
                    <a:bodyPr/>
                    <a:lstStyle/>
                    <a:p>
                      <a:pPr algn="r">
                        <a:defRPr>
                          <a:latin typeface="Roboto"/>
                        </a:defRPr>
                      </a:pPr>
                      <a:r>
                        <a:rPr sz="1050">
                          <a:solidFill>
                            <a:srgbClr val="25342A"/>
                          </a:solidFill>
                          <a:latin typeface="Roboto"/>
                        </a:rPr>
                        <a:t>$592</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10896">
                <a:tc>
                  <a:txBody>
                    <a:bodyPr/>
                    <a:lstStyle/>
                    <a:p>
                      <a:pPr algn="l">
                        <a:defRPr>
                          <a:latin typeface="Roboto"/>
                        </a:defRPr>
                      </a:pPr>
                      <a:r>
                        <a:rPr sz="1050">
                          <a:solidFill>
                            <a:srgbClr val="25342A"/>
                          </a:solidFill>
                          <a:latin typeface="Roboto"/>
                        </a:rPr>
                        <a:t>Call-out CO-49176</a:t>
                      </a:r>
                    </a:p>
                  </a:txBody>
                  <a:tcPr>
                    <a:solidFill>
                      <a:srgbClr val="FFFFFF"/>
                    </a:solidFill>
                  </a:tcPr>
                </a:tc>
                <a:tc>
                  <a:txBody>
                    <a:bodyPr/>
                    <a:lstStyle/>
                    <a:p>
                      <a:pPr algn="l">
                        <a:defRPr>
                          <a:latin typeface="Roboto"/>
                        </a:defRPr>
                      </a:pPr>
                      <a:r>
                        <a:rPr sz="1050">
                          <a:solidFill>
                            <a:srgbClr val="25342A"/>
                          </a:solidFill>
                          <a:latin typeface="Roboto"/>
                        </a:rPr>
                        <a:t>25 Aug</a:t>
                      </a:r>
                    </a:p>
                  </a:txBody>
                  <a:tcPr>
                    <a:solidFill>
                      <a:srgbClr val="FFFFFF"/>
                    </a:solidFill>
                  </a:tcPr>
                </a:tc>
                <a:tc>
                  <a:txBody>
                    <a:bodyPr/>
                    <a:lstStyle/>
                    <a:p>
                      <a:pPr algn="r">
                        <a:defRPr>
                          <a:latin typeface="Roboto"/>
                        </a:defRPr>
                      </a:pPr>
                      <a:r>
                        <a:rPr sz="1050">
                          <a:solidFill>
                            <a:srgbClr val="25342A"/>
                          </a:solidFill>
                          <a:latin typeface="Roboto"/>
                        </a:rPr>
                        <a:t>$530</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6</a:t>
                      </a:r>
                    </a:p>
                  </a:txBody>
                  <a:tcPr>
                    <a:solidFill>
                      <a:srgbClr val="FFFFFF"/>
                    </a:solidFill>
                  </a:tcPr>
                </a:tc>
              </a:tr>
              <a:tr h="310896">
                <a:tc>
                  <a:txBody>
                    <a:bodyPr/>
                    <a:lstStyle/>
                    <a:p>
                      <a:pPr algn="l">
                        <a:defRPr>
                          <a:latin typeface="Roboto"/>
                        </a:defRPr>
                      </a:pPr>
                      <a:r>
                        <a:rPr sz="1050">
                          <a:solidFill>
                            <a:srgbClr val="25342A"/>
                          </a:solidFill>
                          <a:latin typeface="Roboto"/>
                        </a:rPr>
                        <a:t>Call-out CO-49156</a:t>
                      </a:r>
                    </a:p>
                  </a:txBody>
                  <a:tcPr>
                    <a:solidFill>
                      <a:srgbClr val="F7FAF7"/>
                    </a:solidFill>
                  </a:tcPr>
                </a:tc>
                <a:tc>
                  <a:txBody>
                    <a:bodyPr/>
                    <a:lstStyle/>
                    <a:p>
                      <a:pPr algn="l">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$516</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CO-49181</a:t>
                      </a:r>
                    </a:p>
                  </a:txBody>
                  <a:tcPr>
                    <a:solidFill>
                      <a:srgbClr val="FFFFFF"/>
                    </a:solidFill>
                  </a:tcPr>
                </a:tc>
                <a:tc>
                  <a:txBody>
                    <a:bodyPr/>
                    <a:lstStyle/>
                    <a:p>
                      <a:pPr algn="l">
                        <a:defRPr>
                          <a:latin typeface="Roboto"/>
                        </a:defRPr>
                      </a:pPr>
                      <a:r>
                        <a:rPr sz="1050">
                          <a:solidFill>
                            <a:srgbClr val="25342A"/>
                          </a:solidFill>
                          <a:latin typeface="Roboto"/>
                        </a:rPr>
                        <a:t>8 Aug</a:t>
                      </a:r>
                    </a:p>
                  </a:txBody>
                  <a:tcPr>
                    <a:solidFill>
                      <a:srgbClr val="FFFFFF"/>
                    </a:solidFill>
                  </a:tcPr>
                </a:tc>
                <a:tc>
                  <a:txBody>
                    <a:bodyPr/>
                    <a:lstStyle/>
                    <a:p>
                      <a:pPr algn="r">
                        <a:defRPr>
                          <a:latin typeface="Roboto"/>
                        </a:defRPr>
                      </a:pPr>
                      <a:r>
                        <a:rPr sz="1050">
                          <a:solidFill>
                            <a:srgbClr val="25342A"/>
                          </a:solidFill>
                          <a:latin typeface="Roboto"/>
                        </a:rPr>
                        <a:t>$430</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23</a:t>
                      </a:r>
                    </a:p>
                  </a:txBody>
                  <a:tcPr>
                    <a:solidFill>
                      <a:srgbClr val="FFFFFF"/>
                    </a:solidFill>
                  </a:tcPr>
                </a:tc>
              </a:tr>
              <a:tr h="310896">
                <a:tc>
                  <a:txBody>
                    <a:bodyPr/>
                    <a:lstStyle/>
                    <a:p>
                      <a:pPr algn="l">
                        <a:defRPr>
                          <a:latin typeface="Roboto"/>
                        </a:defRPr>
                      </a:pPr>
                      <a:r>
                        <a:rPr sz="1050">
                          <a:solidFill>
                            <a:srgbClr val="25342A"/>
                          </a:solidFill>
                          <a:latin typeface="Roboto"/>
                        </a:rPr>
                        <a:t>Call-out CO-49142</a:t>
                      </a:r>
                    </a:p>
                  </a:txBody>
                  <a:tcPr>
                    <a:solidFill>
                      <a:srgbClr val="F7FAF7"/>
                    </a:solidFill>
                  </a:tcPr>
                </a:tc>
                <a:tc>
                  <a:txBody>
                    <a:bodyPr/>
                    <a:lstStyle/>
                    <a:p>
                      <a:pPr algn="l">
                        <a:defRPr>
                          <a:latin typeface="Roboto"/>
                        </a:defRPr>
                      </a:pPr>
                      <a:r>
                        <a:rPr sz="1050">
                          <a:solidFill>
                            <a:srgbClr val="25342A"/>
                          </a:solidFill>
                          <a:latin typeface="Roboto"/>
                        </a:rPr>
                        <a:t>8 Aug</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3</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($24,676):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621792"/>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CO-49182</a:t>
                      </a:r>
                    </a:p>
                  </a:txBody>
                  <a:tcPr>
                    <a:solidFill>
                      <a:srgbClr val="FFFFFF"/>
                    </a:solidFill>
                  </a:tcPr>
                </a:tc>
                <a:tc>
                  <a:txBody>
                    <a:bodyPr/>
                    <a:lstStyle/>
                    <a:p>
                      <a:pPr algn="l">
                        <a:defRPr>
                          <a:latin typeface="Roboto"/>
                        </a:defRPr>
                      </a:pPr>
                      <a:r>
                        <a:rPr sz="1050">
                          <a:solidFill>
                            <a:srgbClr val="25342A"/>
                          </a:solidFill>
                          <a:latin typeface="Roboto"/>
                        </a:rPr>
                        <a:t>4 Aug</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c>
                  <a:txBody>
                    <a:bodyPr/>
                    <a:lstStyle/>
                    <a:p>
                      <a:pPr algn="r">
                        <a:defRPr>
                          <a:latin typeface="Roboto"/>
                        </a:defRPr>
                      </a:pPr>
                      <a:r>
                        <a:rPr sz="1050">
                          <a:solidFill>
                            <a:srgbClr val="25342A"/>
                          </a:solidFill>
                          <a:latin typeface="Roboto"/>
                        </a:rPr>
                        <a:t>27</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9 Oct 2026, 1:20pm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