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Sheet1!$A$2:$A$123</c:f>
              <c:strCache>
                <c:ptCount val="122"/>
                <c:pt idx="0">
                  <c:v>1 Aug</c:v>
                </c:pt>
                <c:pt idx="1">
                  <c:v>2 Aug</c:v>
                </c:pt>
                <c:pt idx="2">
                  <c:v>3 Aug</c:v>
                </c:pt>
                <c:pt idx="3">
                  <c:v>4 Aug</c:v>
                </c:pt>
                <c:pt idx="4">
                  <c:v>5 Aug</c:v>
                </c:pt>
                <c:pt idx="5">
                  <c:v>6 Aug</c:v>
                </c:pt>
                <c:pt idx="6">
                  <c:v>7 Aug</c:v>
                </c:pt>
                <c:pt idx="7">
                  <c:v>8 Aug</c:v>
                </c:pt>
                <c:pt idx="8">
                  <c:v>9 Aug</c:v>
                </c:pt>
                <c:pt idx="9">
                  <c:v>10 Aug</c:v>
                </c:pt>
                <c:pt idx="10">
                  <c:v>11 Aug</c:v>
                </c:pt>
                <c:pt idx="11">
                  <c:v>12 Aug</c:v>
                </c:pt>
                <c:pt idx="12">
                  <c:v>13 Aug</c:v>
                </c:pt>
                <c:pt idx="13">
                  <c:v>14 Aug</c:v>
                </c:pt>
                <c:pt idx="14">
                  <c:v>15 Aug</c:v>
                </c:pt>
                <c:pt idx="15">
                  <c:v>16 Aug</c:v>
                </c:pt>
                <c:pt idx="16">
                  <c:v>17 Aug</c:v>
                </c:pt>
                <c:pt idx="17">
                  <c:v>18 Aug</c:v>
                </c:pt>
                <c:pt idx="18">
                  <c:v>19 Aug</c:v>
                </c:pt>
                <c:pt idx="19">
                  <c:v>20 Aug</c:v>
                </c:pt>
                <c:pt idx="20">
                  <c:v>21 Aug</c:v>
                </c:pt>
                <c:pt idx="21">
                  <c:v>22 Aug</c:v>
                </c:pt>
                <c:pt idx="22">
                  <c:v>23 Aug</c:v>
                </c:pt>
                <c:pt idx="23">
                  <c:v>24 Aug</c:v>
                </c:pt>
                <c:pt idx="24">
                  <c:v>25 Aug</c:v>
                </c:pt>
                <c:pt idx="25">
                  <c:v>26 Aug</c:v>
                </c:pt>
                <c:pt idx="26">
                  <c:v>27 Aug</c:v>
                </c:pt>
                <c:pt idx="27">
                  <c:v>28 Aug</c:v>
                </c:pt>
                <c:pt idx="28">
                  <c:v>29 Aug</c:v>
                </c:pt>
                <c:pt idx="29">
                  <c:v>30 Aug</c:v>
                </c:pt>
                <c:pt idx="30">
                  <c:v>31 Aug</c:v>
                </c:pt>
                <c:pt idx="31">
                  <c:v>1 Sep</c:v>
                </c:pt>
                <c:pt idx="32">
                  <c:v>2 Sep</c:v>
                </c:pt>
                <c:pt idx="33">
                  <c:v>3 Sep</c:v>
                </c:pt>
                <c:pt idx="34">
                  <c:v>4 Sep</c:v>
                </c:pt>
                <c:pt idx="35">
                  <c:v>5 Sep</c:v>
                </c:pt>
                <c:pt idx="36">
                  <c:v>6 Sep</c:v>
                </c:pt>
                <c:pt idx="37">
                  <c:v>7 Sep</c:v>
                </c:pt>
                <c:pt idx="38">
                  <c:v>8 Sep</c:v>
                </c:pt>
                <c:pt idx="39">
                  <c:v>9 Sep</c:v>
                </c:pt>
                <c:pt idx="40">
                  <c:v>10 Sep</c:v>
                </c:pt>
                <c:pt idx="41">
                  <c:v>11 Sep</c:v>
                </c:pt>
                <c:pt idx="42">
                  <c:v>12 Sep</c:v>
                </c:pt>
                <c:pt idx="43">
                  <c:v>13 Sep</c:v>
                </c:pt>
                <c:pt idx="44">
                  <c:v>14 Sep</c:v>
                </c:pt>
                <c:pt idx="45">
                  <c:v>15 Sep</c:v>
                </c:pt>
                <c:pt idx="46">
                  <c:v>16 Sep</c:v>
                </c:pt>
                <c:pt idx="47">
                  <c:v>17 Sep</c:v>
                </c:pt>
                <c:pt idx="48">
                  <c:v>18 Sep</c:v>
                </c:pt>
                <c:pt idx="49">
                  <c:v>19 Sep</c:v>
                </c:pt>
                <c:pt idx="50">
                  <c:v>20 Sep</c:v>
                </c:pt>
                <c:pt idx="51">
                  <c:v>21 Sep</c:v>
                </c:pt>
                <c:pt idx="52">
                  <c:v>22 Sep</c:v>
                </c:pt>
                <c:pt idx="53">
                  <c:v>23 Sep</c:v>
                </c:pt>
                <c:pt idx="54">
                  <c:v>24 Sep</c:v>
                </c:pt>
                <c:pt idx="55">
                  <c:v>25 Sep</c:v>
                </c:pt>
                <c:pt idx="56">
                  <c:v>26 Sep</c:v>
                </c:pt>
                <c:pt idx="57">
                  <c:v>27 Sep</c:v>
                </c:pt>
                <c:pt idx="58">
                  <c:v>28 Sep</c:v>
                </c:pt>
                <c:pt idx="59">
                  <c:v>29 Sep</c:v>
                </c:pt>
                <c:pt idx="60">
                  <c:v>30 Sep</c:v>
                </c:pt>
                <c:pt idx="61">
                  <c:v>1 Oct</c:v>
                </c:pt>
                <c:pt idx="62">
                  <c:v>2 Oct</c:v>
                </c:pt>
                <c:pt idx="63">
                  <c:v>3 Oct</c:v>
                </c:pt>
                <c:pt idx="64">
                  <c:v>4 Oct</c:v>
                </c:pt>
                <c:pt idx="65">
                  <c:v>5 Oct</c:v>
                </c:pt>
                <c:pt idx="66">
                  <c:v>6 Oct</c:v>
                </c:pt>
                <c:pt idx="67">
                  <c:v>7 Oct</c:v>
                </c:pt>
                <c:pt idx="68">
                  <c:v>8 Oct</c:v>
                </c:pt>
                <c:pt idx="69">
                  <c:v>9 Oct</c:v>
                </c:pt>
                <c:pt idx="70">
                  <c:v>10 Oct</c:v>
                </c:pt>
                <c:pt idx="71">
                  <c:v>11 Oct</c:v>
                </c:pt>
                <c:pt idx="72">
                  <c:v>12 Oct</c:v>
                </c:pt>
                <c:pt idx="73">
                  <c:v>13 Oct</c:v>
                </c:pt>
                <c:pt idx="74">
                  <c:v>14 Oct</c:v>
                </c:pt>
                <c:pt idx="75">
                  <c:v>15 Oct</c:v>
                </c:pt>
                <c:pt idx="76">
                  <c:v>16 Oct</c:v>
                </c:pt>
                <c:pt idx="77">
                  <c:v>17 Oct</c:v>
                </c:pt>
                <c:pt idx="78">
                  <c:v>18 Oct</c:v>
                </c:pt>
                <c:pt idx="79">
                  <c:v>19 Oct</c:v>
                </c:pt>
                <c:pt idx="80">
                  <c:v>20 Oct</c:v>
                </c:pt>
                <c:pt idx="81">
                  <c:v>21 Oct</c:v>
                </c:pt>
                <c:pt idx="82">
                  <c:v>22 Oct</c:v>
                </c:pt>
                <c:pt idx="83">
                  <c:v>23 Oct</c:v>
                </c:pt>
                <c:pt idx="84">
                  <c:v>24 Oct</c:v>
                </c:pt>
                <c:pt idx="85">
                  <c:v>25 Oct</c:v>
                </c:pt>
                <c:pt idx="86">
                  <c:v>26 Oct</c:v>
                </c:pt>
                <c:pt idx="87">
                  <c:v>27 Oct</c:v>
                </c:pt>
                <c:pt idx="88">
                  <c:v>28 Oct</c:v>
                </c:pt>
                <c:pt idx="89">
                  <c:v>29 Oct</c:v>
                </c:pt>
                <c:pt idx="90">
                  <c:v>30 Oct</c:v>
                </c:pt>
                <c:pt idx="91">
                  <c:v>31 Oct</c:v>
                </c:pt>
                <c:pt idx="92">
                  <c:v>1 Nov</c:v>
                </c:pt>
                <c:pt idx="93">
                  <c:v>2 Nov</c:v>
                </c:pt>
                <c:pt idx="94">
                  <c:v>3 Nov</c:v>
                </c:pt>
                <c:pt idx="95">
                  <c:v>4 Nov</c:v>
                </c:pt>
                <c:pt idx="96">
                  <c:v>5 Nov</c:v>
                </c:pt>
                <c:pt idx="97">
                  <c:v>6 Nov</c:v>
                </c:pt>
                <c:pt idx="98">
                  <c:v>7 Nov</c:v>
                </c:pt>
                <c:pt idx="99">
                  <c:v>8 Nov</c:v>
                </c:pt>
                <c:pt idx="100">
                  <c:v>9 Nov</c:v>
                </c:pt>
                <c:pt idx="101">
                  <c:v>10 Nov</c:v>
                </c:pt>
                <c:pt idx="102">
                  <c:v>11 Nov</c:v>
                </c:pt>
                <c:pt idx="103">
                  <c:v>12 Nov</c:v>
                </c:pt>
                <c:pt idx="104">
                  <c:v>13 Nov</c:v>
                </c:pt>
                <c:pt idx="105">
                  <c:v>14 Nov</c:v>
                </c:pt>
                <c:pt idx="106">
                  <c:v>15 Nov</c:v>
                </c:pt>
                <c:pt idx="107">
                  <c:v>16 Nov</c:v>
                </c:pt>
                <c:pt idx="108">
                  <c:v>17 Nov</c:v>
                </c:pt>
                <c:pt idx="109">
                  <c:v>18 Nov</c:v>
                </c:pt>
                <c:pt idx="110">
                  <c:v>19 Nov</c:v>
                </c:pt>
                <c:pt idx="111">
                  <c:v>20 Nov</c:v>
                </c:pt>
                <c:pt idx="112">
                  <c:v>21 Nov</c:v>
                </c:pt>
                <c:pt idx="113">
                  <c:v>22 Nov</c:v>
                </c:pt>
                <c:pt idx="114">
                  <c:v>23 Nov</c:v>
                </c:pt>
                <c:pt idx="115">
                  <c:v>24 Nov</c:v>
                </c:pt>
                <c:pt idx="116">
                  <c:v>25 Nov</c:v>
                </c:pt>
                <c:pt idx="117">
                  <c:v>26 Nov</c:v>
                </c:pt>
                <c:pt idx="118">
                  <c:v>27 Nov</c:v>
                </c:pt>
                <c:pt idx="119">
                  <c:v>28 Nov</c:v>
                </c:pt>
                <c:pt idx="120">
                  <c:v>29 Nov</c:v>
                </c:pt>
                <c:pt idx="121">
                  <c:v>30 Nov</c:v>
                </c:pt>
              </c:strCache>
            </c:strRef>
          </c:cat>
          <c:val>
            <c:numRef>
              <c:f>Sheet1!$B$2:$B$123</c:f>
              <c:numCache>
                <c:formatCode>$#,##0;[Red]($#,##0);"-"</c:formatCode>
                <c:ptCount val="122"/>
                <c:pt idx="0">
                  <c:v>88000</c:v>
                </c:pt>
                <c:pt idx="1">
                  <c:v>112411</c:v>
                </c:pt>
                <c:pt idx="2">
                  <c:v>124362</c:v>
                </c:pt>
                <c:pt idx="3">
                  <c:v>139672</c:v>
                </c:pt>
                <c:pt idx="4">
                  <c:v>140540</c:v>
                </c:pt>
                <c:pt idx="5">
                  <c:v>134936</c:v>
                </c:pt>
                <c:pt idx="6">
                  <c:v>135317</c:v>
                </c:pt>
                <c:pt idx="7">
                  <c:v>147735</c:v>
                </c:pt>
                <c:pt idx="8">
                  <c:v>157535</c:v>
                </c:pt>
                <c:pt idx="9">
                  <c:v>159179</c:v>
                </c:pt>
                <c:pt idx="10">
                  <c:v>160618</c:v>
                </c:pt>
                <c:pt idx="11">
                  <c:v>160999</c:v>
                </c:pt>
                <c:pt idx="12">
                  <c:v>161655</c:v>
                </c:pt>
                <c:pt idx="13">
                  <c:v>162638</c:v>
                </c:pt>
                <c:pt idx="14">
                  <c:v>163871</c:v>
                </c:pt>
                <c:pt idx="15">
                  <c:v>164213</c:v>
                </c:pt>
                <c:pt idx="16">
                  <c:v>117019</c:v>
                </c:pt>
                <c:pt idx="17">
                  <c:v>118547</c:v>
                </c:pt>
                <c:pt idx="18">
                  <c:v>119573</c:v>
                </c:pt>
                <c:pt idx="19">
                  <c:v>82483</c:v>
                </c:pt>
                <c:pt idx="20">
                  <c:v>82483</c:v>
                </c:pt>
                <c:pt idx="21">
                  <c:v>84321</c:v>
                </c:pt>
                <c:pt idx="22">
                  <c:v>85990</c:v>
                </c:pt>
                <c:pt idx="23">
                  <c:v>87510</c:v>
                </c:pt>
                <c:pt idx="24">
                  <c:v>88034</c:v>
                </c:pt>
                <c:pt idx="25">
                  <c:v>105372</c:v>
                </c:pt>
                <c:pt idx="26">
                  <c:v>106041</c:v>
                </c:pt>
                <c:pt idx="27">
                  <c:v>102428</c:v>
                </c:pt>
                <c:pt idx="28">
                  <c:v>104108</c:v>
                </c:pt>
                <c:pt idx="29">
                  <c:v>104818</c:v>
                </c:pt>
                <c:pt idx="30">
                  <c:v>65263</c:v>
                </c:pt>
                <c:pt idx="31">
                  <c:v>65263</c:v>
                </c:pt>
                <c:pt idx="32">
                  <c:v>65263</c:v>
                </c:pt>
                <c:pt idx="33">
                  <c:v>28828</c:v>
                </c:pt>
                <c:pt idx="34">
                  <c:v>30094</c:v>
                </c:pt>
                <c:pt idx="35">
                  <c:v>31359</c:v>
                </c:pt>
                <c:pt idx="36">
                  <c:v>71125</c:v>
                </c:pt>
                <c:pt idx="37">
                  <c:v>91344</c:v>
                </c:pt>
                <c:pt idx="38">
                  <c:v>91344</c:v>
                </c:pt>
                <c:pt idx="39">
                  <c:v>92609</c:v>
                </c:pt>
                <c:pt idx="40">
                  <c:v>93874</c:v>
                </c:pt>
                <c:pt idx="41">
                  <c:v>95140</c:v>
                </c:pt>
                <c:pt idx="42">
                  <c:v>96405</c:v>
                </c:pt>
                <c:pt idx="43">
                  <c:v>118970</c:v>
                </c:pt>
                <c:pt idx="44">
                  <c:v>118970</c:v>
                </c:pt>
                <c:pt idx="45">
                  <c:v>72455</c:v>
                </c:pt>
                <c:pt idx="46">
                  <c:v>73721</c:v>
                </c:pt>
                <c:pt idx="47">
                  <c:v>37286</c:v>
                </c:pt>
                <c:pt idx="48">
                  <c:v>55352</c:v>
                </c:pt>
                <c:pt idx="49">
                  <c:v>56617</c:v>
                </c:pt>
                <c:pt idx="50">
                  <c:v>57882</c:v>
                </c:pt>
                <c:pt idx="51">
                  <c:v>57882</c:v>
                </c:pt>
                <c:pt idx="52">
                  <c:v>57882</c:v>
                </c:pt>
                <c:pt idx="53">
                  <c:v>78748</c:v>
                </c:pt>
                <c:pt idx="54">
                  <c:v>80013</c:v>
                </c:pt>
                <c:pt idx="55">
                  <c:v>81278</c:v>
                </c:pt>
                <c:pt idx="56">
                  <c:v>82544</c:v>
                </c:pt>
                <c:pt idx="57">
                  <c:v>97209</c:v>
                </c:pt>
                <c:pt idx="58">
                  <c:v>92209</c:v>
                </c:pt>
                <c:pt idx="59">
                  <c:v>92209</c:v>
                </c:pt>
                <c:pt idx="60">
                  <c:v>45860</c:v>
                </c:pt>
                <c:pt idx="61">
                  <c:v>55083</c:v>
                </c:pt>
                <c:pt idx="62">
                  <c:v>61505</c:v>
                </c:pt>
                <c:pt idx="63">
                  <c:v>67928</c:v>
                </c:pt>
                <c:pt idx="64">
                  <c:v>74351</c:v>
                </c:pt>
                <c:pt idx="65">
                  <c:v>74351</c:v>
                </c:pt>
                <c:pt idx="66">
                  <c:v>74351</c:v>
                </c:pt>
                <c:pt idx="67">
                  <c:v>80774</c:v>
                </c:pt>
                <c:pt idx="68">
                  <c:v>87197</c:v>
                </c:pt>
                <c:pt idx="69">
                  <c:v>93620</c:v>
                </c:pt>
                <c:pt idx="70">
                  <c:v>100043</c:v>
                </c:pt>
                <c:pt idx="71">
                  <c:v>106466</c:v>
                </c:pt>
                <c:pt idx="72">
                  <c:v>106466</c:v>
                </c:pt>
                <c:pt idx="73">
                  <c:v>106466</c:v>
                </c:pt>
                <c:pt idx="74">
                  <c:v>112889</c:v>
                </c:pt>
                <c:pt idx="75">
                  <c:v>35097</c:v>
                </c:pt>
                <c:pt idx="76">
                  <c:v>41520</c:v>
                </c:pt>
                <c:pt idx="77">
                  <c:v>47943</c:v>
                </c:pt>
                <c:pt idx="78">
                  <c:v>54366</c:v>
                </c:pt>
                <c:pt idx="79">
                  <c:v>54366</c:v>
                </c:pt>
                <c:pt idx="80">
                  <c:v>54366</c:v>
                </c:pt>
                <c:pt idx="81">
                  <c:v>60789</c:v>
                </c:pt>
                <c:pt idx="82">
                  <c:v>67212</c:v>
                </c:pt>
                <c:pt idx="83">
                  <c:v>73635</c:v>
                </c:pt>
                <c:pt idx="84">
                  <c:v>80058</c:v>
                </c:pt>
                <c:pt idx="85">
                  <c:v>86481</c:v>
                </c:pt>
                <c:pt idx="86">
                  <c:v>86481</c:v>
                </c:pt>
                <c:pt idx="87">
                  <c:v>86481</c:v>
                </c:pt>
                <c:pt idx="88">
                  <c:v>82392</c:v>
                </c:pt>
                <c:pt idx="89">
                  <c:v>51115</c:v>
                </c:pt>
                <c:pt idx="90">
                  <c:v>57538</c:v>
                </c:pt>
                <c:pt idx="91">
                  <c:v>104461</c:v>
                </c:pt>
                <c:pt idx="92">
                  <c:v>110883</c:v>
                </c:pt>
                <c:pt idx="93">
                  <c:v>63268</c:v>
                </c:pt>
                <c:pt idx="94">
                  <c:v>63268</c:v>
                </c:pt>
                <c:pt idx="95">
                  <c:v>69691</c:v>
                </c:pt>
                <c:pt idx="96">
                  <c:v>76114</c:v>
                </c:pt>
                <c:pt idx="97">
                  <c:v>82537</c:v>
                </c:pt>
                <c:pt idx="98">
                  <c:v>88960</c:v>
                </c:pt>
                <c:pt idx="99">
                  <c:v>95383</c:v>
                </c:pt>
                <c:pt idx="100">
                  <c:v>95383</c:v>
                </c:pt>
                <c:pt idx="101">
                  <c:v>95383</c:v>
                </c:pt>
                <c:pt idx="102">
                  <c:v>101806</c:v>
                </c:pt>
                <c:pt idx="103">
                  <c:v>70529</c:v>
                </c:pt>
                <c:pt idx="104">
                  <c:v>76952</c:v>
                </c:pt>
                <c:pt idx="105">
                  <c:v>83375</c:v>
                </c:pt>
                <c:pt idx="106">
                  <c:v>89798</c:v>
                </c:pt>
                <c:pt idx="107">
                  <c:v>43283</c:v>
                </c:pt>
                <c:pt idx="108">
                  <c:v>43283</c:v>
                </c:pt>
                <c:pt idx="109">
                  <c:v>49706</c:v>
                </c:pt>
                <c:pt idx="110">
                  <c:v>56129</c:v>
                </c:pt>
                <c:pt idx="111">
                  <c:v>62552</c:v>
                </c:pt>
                <c:pt idx="112">
                  <c:v>68975</c:v>
                </c:pt>
                <c:pt idx="113">
                  <c:v>75398</c:v>
                </c:pt>
                <c:pt idx="114">
                  <c:v>75398</c:v>
                </c:pt>
                <c:pt idx="115">
                  <c:v>75398</c:v>
                </c:pt>
                <c:pt idx="116">
                  <c:v>81821</c:v>
                </c:pt>
                <c:pt idx="117">
                  <c:v>50544</c:v>
                </c:pt>
                <c:pt idx="118">
                  <c:v>56967</c:v>
                </c:pt>
                <c:pt idx="119">
                  <c:v>63390</c:v>
                </c:pt>
                <c:pt idx="120">
                  <c:v>69813</c:v>
                </c:pt>
                <c:pt idx="121">
                  <c:v>17198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Value</c:v>
                </c:pt>
              </c:strCache>
            </c:strRef>
          </c:tx>
          <c:dPt>
            <c:idx val="0"/>
            <c:spPr>
              <a:solidFill>
                <a:srgbClr val="0E9F6E"/>
              </a:solidFill>
            </c:spPr>
          </c:dPt>
          <c:dPt>
            <c:idx val="1"/>
            <c:spPr>
              <a:solidFill>
                <a:srgbClr val="0E9F6E"/>
              </a:solidFill>
            </c:spPr>
          </c:dPt>
          <c:dPt>
            <c:idx val="2"/>
            <c:spPr>
              <a:solidFill>
                <a:srgbClr val="0E9F6E"/>
              </a:solidFill>
            </c:spPr>
          </c:dPt>
          <c:dPt>
            <c:idx val="3"/>
            <c:spPr>
              <a:solidFill>
                <a:srgbClr val="0E9F6E"/>
              </a:solidFill>
            </c:spPr>
          </c:dPt>
          <c:dPt>
            <c:idx val="4"/>
            <c:spPr>
              <a:solidFill>
                <a:srgbClr val="0E9F6E"/>
              </a:solidFill>
            </c:spPr>
          </c:dPt>
          <c:cat>
            <c:strRef>
              <c:f>Sheet1!$A$2:$A$6</c:f>
              <c:strCache>
                <c:ptCount val="5"/>
                <c:pt idx="0">
                  <c:v>Suppliers and overheads</c:v>
                </c:pt>
                <c:pt idx="1">
                  <c:v>Wages (2 pay runs)</c:v>
                </c:pt>
                <c:pt idx="2">
                  <c:v>Tax, interest and equipment finance</c:v>
                </c:pt>
                <c:pt idx="3">
                  <c:v>New work collected</c:v>
                </c:pt>
                <c:pt idx="4">
                  <c:v>Unpaid invoices collected</c:v>
                </c:pt>
              </c:strCache>
            </c:strRef>
          </c:cat>
          <c:val>
            <c:numRef>
              <c:f>Sheet1!$B$2:$B$6</c:f>
              <c:numCache>
                <c:formatCode>$#,##0;[Red]($#,##0);"-"</c:formatCode>
                <c:ptCount val="5"/>
                <c:pt idx="0">
                  <c:v>-93030</c:v>
                </c:pt>
                <c:pt idx="1">
                  <c:v>-75400</c:v>
                </c:pt>
                <c:pt idx="2">
                  <c:v>-6100</c:v>
                </c:pt>
                <c:pt idx="3">
                  <c:v>25308</c:v>
                </c:pt>
                <c:pt idx="4">
                  <c:v>129819</c:v>
                </c:pt>
              </c:numCache>
            </c:numRef>
          </c:val>
        </c:ser>
        <c:dLbls>
          <c:numFmt formatCode="$#,##0;[Red]($#,##0);&quot;-&quot;" sourceLinked="0"/>
          <c:txPr>
            <a:bodyPr/>
            <a:lstStyle/>
            <a:p>
              <a:pPr>
                <a:defRPr sz="11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spPr>
          <a:ln>
            <a:noFill/>
          </a:ln>
        </c:spPr>
        <c:txPr>
          <a:bodyPr/>
          <a:lstStyle/>
          <a:p>
            <a:pPr>
              <a:defRPr sz="1200"/>
            </a:pPr>
          </a:p>
        </c:tx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dispBlanksAs val="gap"/>
  </c:chart>
  <c:txPr>
    <a:bodyPr/>
    <a:lstStyle/>
    <a:p>
      <a:pPr>
        <a:defRPr sz="1800">
          <a:latin typeface="Roboto"/>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Will cash cover payroll next month?</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Sample Electrical &amp; Air Pty Ltd</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August 2026. A 13-week cash forecast from 31 August: cash at bank, plus what customers owe on their usual payment dates and new work at its recent rate, less pay runs, supplier bills, tax and finance on their due dates. Every day opens its workings.</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July 2026: Locked. July 2026 is locked (closed 4 Aug 2026). These numbers won't change.</a:t>
            </a:r>
          </a:p>
          <a:p>
            <a:pPr>
              <a:defRPr>
                <a:latin typeface="Roboto"/>
              </a:defRPr>
            </a:pPr>
            <a:r>
              <a:rPr sz="1100" b="0">
                <a:solidFill>
                  <a:srgbClr val="5F6F63"/>
                </a:solidFill>
                <a:latin typeface="Roboto"/>
              </a:rPr>
              <a:t>August 2026: Locked. August 2026 is locked (closed 2 Sep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a:t>
            </a:r>
          </a:p>
        </p:txBody>
      </p:sp>
      <p:sp>
        <p:nvSpPr>
          <p:cNvPr id="5" name="Rectangle 4"/>
          <p:cNvSpPr/>
          <p:nvPr/>
        </p:nvSpPr>
        <p:spPr>
          <a:xfrm>
            <a:off x="457200" y="1645920"/>
            <a:ext cx="261358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2247823" cy="457200"/>
          </a:xfrm>
          <a:prstGeom prst="rect">
            <a:avLst/>
          </a:prstGeom>
          <a:noFill/>
        </p:spPr>
        <p:txBody>
          <a:bodyPr wrap="square">
            <a:spAutoFit/>
          </a:bodyPr>
          <a:lstStyle/>
          <a:p>
            <a:pPr>
              <a:defRPr>
                <a:latin typeface="Roboto"/>
              </a:defRPr>
            </a:pPr>
            <a:r>
              <a:rPr sz="1200" b="0">
                <a:solidFill>
                  <a:srgbClr val="5F6F63"/>
                </a:solidFill>
                <a:latin typeface="Roboto"/>
              </a:rPr>
              <a:t>Cash at bank, 31 Aug</a:t>
            </a:r>
          </a:p>
        </p:txBody>
      </p:sp>
      <p:sp>
        <p:nvSpPr>
          <p:cNvPr id="7" name="TextBox 6"/>
          <p:cNvSpPr txBox="1"/>
          <p:nvPr/>
        </p:nvSpPr>
        <p:spPr>
          <a:xfrm>
            <a:off x="640080" y="2240280"/>
            <a:ext cx="2247823" cy="731520"/>
          </a:xfrm>
          <a:prstGeom prst="rect">
            <a:avLst/>
          </a:prstGeom>
          <a:noFill/>
        </p:spPr>
        <p:txBody>
          <a:bodyPr wrap="square">
            <a:spAutoFit/>
          </a:bodyPr>
          <a:lstStyle/>
          <a:p>
            <a:pPr>
              <a:defRPr>
                <a:latin typeface="Roboto"/>
              </a:defRPr>
            </a:pPr>
            <a:r>
              <a:rPr sz="3000" b="1">
                <a:solidFill>
                  <a:srgbClr val="2F7A5D"/>
                </a:solidFill>
                <a:latin typeface="Roboto"/>
              </a:rPr>
              <a:t>$65,263</a:t>
            </a:r>
          </a:p>
        </p:txBody>
      </p:sp>
      <p:sp>
        <p:nvSpPr>
          <p:cNvPr id="8" name="TextBox 7"/>
          <p:cNvSpPr txBox="1"/>
          <p:nvPr/>
        </p:nvSpPr>
        <p:spPr>
          <a:xfrm>
            <a:off x="640080" y="3017520"/>
            <a:ext cx="2247823" cy="548640"/>
          </a:xfrm>
          <a:prstGeom prst="rect">
            <a:avLst/>
          </a:prstGeom>
          <a:noFill/>
        </p:spPr>
        <p:txBody>
          <a:bodyPr wrap="square">
            <a:spAutoFit/>
          </a:bodyPr>
          <a:lstStyle/>
          <a:p>
            <a:pPr>
              <a:defRPr>
                <a:latin typeface="Roboto"/>
              </a:defRPr>
            </a:pPr>
            <a:r>
              <a:rPr sz="1100" b="0">
                <a:solidFill>
                  <a:srgbClr val="5F6F63"/>
                </a:solidFill>
                <a:latin typeface="Roboto"/>
              </a:rPr>
              <a:t>end of the day</a:t>
            </a:r>
          </a:p>
        </p:txBody>
      </p:sp>
      <p:sp>
        <p:nvSpPr>
          <p:cNvPr id="9" name="Rectangle 8"/>
          <p:cNvSpPr/>
          <p:nvPr/>
        </p:nvSpPr>
        <p:spPr>
          <a:xfrm>
            <a:off x="3345103" y="1645920"/>
            <a:ext cx="261358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3527983" y="1783080"/>
            <a:ext cx="2247823" cy="457200"/>
          </a:xfrm>
          <a:prstGeom prst="rect">
            <a:avLst/>
          </a:prstGeom>
          <a:noFill/>
        </p:spPr>
        <p:txBody>
          <a:bodyPr wrap="square">
            <a:spAutoFit/>
          </a:bodyPr>
          <a:lstStyle/>
          <a:p>
            <a:pPr>
              <a:defRPr>
                <a:latin typeface="Roboto"/>
              </a:defRPr>
            </a:pPr>
            <a:r>
              <a:rPr sz="1200" b="0">
                <a:solidFill>
                  <a:srgbClr val="5F6F63"/>
                </a:solidFill>
                <a:latin typeface="Roboto"/>
              </a:rPr>
              <a:t>Wages to pay in September</a:t>
            </a:r>
          </a:p>
        </p:txBody>
      </p:sp>
      <p:sp>
        <p:nvSpPr>
          <p:cNvPr id="11" name="TextBox 10"/>
          <p:cNvSpPr txBox="1"/>
          <p:nvPr/>
        </p:nvSpPr>
        <p:spPr>
          <a:xfrm>
            <a:off x="3527983" y="2240280"/>
            <a:ext cx="2247823" cy="731520"/>
          </a:xfrm>
          <a:prstGeom prst="rect">
            <a:avLst/>
          </a:prstGeom>
          <a:noFill/>
        </p:spPr>
        <p:txBody>
          <a:bodyPr wrap="square">
            <a:spAutoFit/>
          </a:bodyPr>
          <a:lstStyle/>
          <a:p>
            <a:pPr>
              <a:defRPr>
                <a:latin typeface="Roboto"/>
              </a:defRPr>
            </a:pPr>
            <a:r>
              <a:rPr sz="3000" b="1">
                <a:solidFill>
                  <a:srgbClr val="2F7A5D"/>
                </a:solidFill>
                <a:latin typeface="Roboto"/>
              </a:rPr>
              <a:t>$75,400</a:t>
            </a:r>
          </a:p>
        </p:txBody>
      </p:sp>
      <p:sp>
        <p:nvSpPr>
          <p:cNvPr id="12" name="TextBox 11"/>
          <p:cNvSpPr txBox="1"/>
          <p:nvPr/>
        </p:nvSpPr>
        <p:spPr>
          <a:xfrm>
            <a:off x="3527983" y="3017520"/>
            <a:ext cx="2247823" cy="548640"/>
          </a:xfrm>
          <a:prstGeom prst="rect">
            <a:avLst/>
          </a:prstGeom>
          <a:noFill/>
        </p:spPr>
        <p:txBody>
          <a:bodyPr wrap="square">
            <a:spAutoFit/>
          </a:bodyPr>
          <a:lstStyle/>
          <a:p>
            <a:pPr>
              <a:defRPr>
                <a:latin typeface="Roboto"/>
              </a:defRPr>
            </a:pPr>
            <a:r>
              <a:rPr sz="1100" b="0">
                <a:solidFill>
                  <a:srgbClr val="5F6F63"/>
                </a:solidFill>
                <a:latin typeface="Roboto"/>
              </a:rPr>
              <a:t>2 fortnightly pay runs</a:t>
            </a:r>
          </a:p>
        </p:txBody>
      </p:sp>
      <p:sp>
        <p:nvSpPr>
          <p:cNvPr id="13" name="Rectangle 12"/>
          <p:cNvSpPr/>
          <p:nvPr/>
        </p:nvSpPr>
        <p:spPr>
          <a:xfrm>
            <a:off x="6233007" y="1645920"/>
            <a:ext cx="261358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6415887" y="1783080"/>
            <a:ext cx="2247823" cy="457200"/>
          </a:xfrm>
          <a:prstGeom prst="rect">
            <a:avLst/>
          </a:prstGeom>
          <a:noFill/>
        </p:spPr>
        <p:txBody>
          <a:bodyPr wrap="square">
            <a:spAutoFit/>
          </a:bodyPr>
          <a:lstStyle/>
          <a:p>
            <a:pPr>
              <a:defRPr>
                <a:latin typeface="Roboto"/>
              </a:defRPr>
            </a:pPr>
            <a:r>
              <a:rPr sz="1200" b="0">
                <a:solidFill>
                  <a:srgbClr val="5F6F63"/>
                </a:solidFill>
                <a:latin typeface="Roboto"/>
              </a:rPr>
              <a:t>After the tightest pay run, 3 Sep</a:t>
            </a:r>
          </a:p>
        </p:txBody>
      </p:sp>
      <p:sp>
        <p:nvSpPr>
          <p:cNvPr id="15" name="TextBox 14"/>
          <p:cNvSpPr txBox="1"/>
          <p:nvPr/>
        </p:nvSpPr>
        <p:spPr>
          <a:xfrm>
            <a:off x="6415887" y="2240280"/>
            <a:ext cx="2247823" cy="731520"/>
          </a:xfrm>
          <a:prstGeom prst="rect">
            <a:avLst/>
          </a:prstGeom>
          <a:noFill/>
        </p:spPr>
        <p:txBody>
          <a:bodyPr wrap="square">
            <a:spAutoFit/>
          </a:bodyPr>
          <a:lstStyle/>
          <a:p>
            <a:pPr>
              <a:defRPr>
                <a:latin typeface="Roboto"/>
              </a:defRPr>
            </a:pPr>
            <a:r>
              <a:rPr sz="3000" b="1">
                <a:solidFill>
                  <a:srgbClr val="2F7A5D"/>
                </a:solidFill>
                <a:latin typeface="Roboto"/>
              </a:rPr>
              <a:t>$28,828</a:t>
            </a:r>
          </a:p>
        </p:txBody>
      </p:sp>
      <p:sp>
        <p:nvSpPr>
          <p:cNvPr id="16" name="TextBox 15"/>
          <p:cNvSpPr txBox="1"/>
          <p:nvPr/>
        </p:nvSpPr>
        <p:spPr>
          <a:xfrm>
            <a:off x="6415887" y="3017520"/>
            <a:ext cx="2247823" cy="548640"/>
          </a:xfrm>
          <a:prstGeom prst="rect">
            <a:avLst/>
          </a:prstGeom>
          <a:noFill/>
        </p:spPr>
        <p:txBody>
          <a:bodyPr wrap="square">
            <a:spAutoFit/>
          </a:bodyPr>
          <a:lstStyle/>
          <a:p>
            <a:pPr>
              <a:defRPr>
                <a:latin typeface="Roboto"/>
              </a:defRPr>
            </a:pPr>
            <a:r>
              <a:rPr sz="1100" b="0">
                <a:solidFill>
                  <a:srgbClr val="5F6F63"/>
                </a:solidFill>
                <a:latin typeface="Roboto"/>
              </a:rPr>
              <a:t>buffer: one pay run, $37,700</a:t>
            </a:r>
          </a:p>
        </p:txBody>
      </p:sp>
      <p:sp>
        <p:nvSpPr>
          <p:cNvPr id="17" name="Rectangle 16"/>
          <p:cNvSpPr/>
          <p:nvPr/>
        </p:nvSpPr>
        <p:spPr>
          <a:xfrm>
            <a:off x="9120911" y="1645920"/>
            <a:ext cx="2613583"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8" name="TextBox 17"/>
          <p:cNvSpPr txBox="1"/>
          <p:nvPr/>
        </p:nvSpPr>
        <p:spPr>
          <a:xfrm>
            <a:off x="9303791" y="1783080"/>
            <a:ext cx="2247823" cy="457200"/>
          </a:xfrm>
          <a:prstGeom prst="rect">
            <a:avLst/>
          </a:prstGeom>
          <a:noFill/>
        </p:spPr>
        <p:txBody>
          <a:bodyPr wrap="square">
            <a:spAutoFit/>
          </a:bodyPr>
          <a:lstStyle/>
          <a:p>
            <a:pPr>
              <a:defRPr>
                <a:latin typeface="Roboto"/>
              </a:defRPr>
            </a:pPr>
            <a:r>
              <a:rPr sz="1200" b="0">
                <a:solidFill>
                  <a:srgbClr val="5F6F63"/>
                </a:solidFill>
                <a:latin typeface="Roboto"/>
              </a:rPr>
              <a:t>Lowest point, next 13 weeks</a:t>
            </a:r>
          </a:p>
        </p:txBody>
      </p:sp>
      <p:sp>
        <p:nvSpPr>
          <p:cNvPr id="19" name="TextBox 18"/>
          <p:cNvSpPr txBox="1"/>
          <p:nvPr/>
        </p:nvSpPr>
        <p:spPr>
          <a:xfrm>
            <a:off x="9303791" y="2240280"/>
            <a:ext cx="2247823" cy="731520"/>
          </a:xfrm>
          <a:prstGeom prst="rect">
            <a:avLst/>
          </a:prstGeom>
          <a:noFill/>
        </p:spPr>
        <p:txBody>
          <a:bodyPr wrap="square">
            <a:spAutoFit/>
          </a:bodyPr>
          <a:lstStyle/>
          <a:p>
            <a:pPr>
              <a:defRPr>
                <a:latin typeface="Roboto"/>
              </a:defRPr>
            </a:pPr>
            <a:r>
              <a:rPr sz="3000" b="1">
                <a:solidFill>
                  <a:srgbClr val="2F7A5D"/>
                </a:solidFill>
                <a:latin typeface="Roboto"/>
              </a:rPr>
              <a:t>$17,198</a:t>
            </a:r>
          </a:p>
        </p:txBody>
      </p:sp>
      <p:sp>
        <p:nvSpPr>
          <p:cNvPr id="20" name="TextBox 19"/>
          <p:cNvSpPr txBox="1"/>
          <p:nvPr/>
        </p:nvSpPr>
        <p:spPr>
          <a:xfrm>
            <a:off x="9303791" y="3017520"/>
            <a:ext cx="2247823" cy="548640"/>
          </a:xfrm>
          <a:prstGeom prst="rect">
            <a:avLst/>
          </a:prstGeom>
          <a:noFill/>
        </p:spPr>
        <p:txBody>
          <a:bodyPr wrap="square">
            <a:spAutoFit/>
          </a:bodyPr>
          <a:lstStyle/>
          <a:p>
            <a:pPr>
              <a:defRPr>
                <a:latin typeface="Roboto"/>
              </a:defRPr>
            </a:pPr>
            <a:r>
              <a:rPr sz="1100" b="0">
                <a:solidFill>
                  <a:srgbClr val="5F6F63"/>
                </a:solidFill>
                <a:latin typeface="Roboto"/>
              </a:rPr>
              <a:t>30 November</a:t>
            </a:r>
          </a:p>
        </p:txBody>
      </p:sp>
      <p:sp>
        <p:nvSpPr>
          <p:cNvPr id="21" name="TextBox 2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22" name="TextBox 2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23" name="TextBox 2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Cash at bank was $65,263 at 31 August. September has 2 pay runs ($75,400). The tightest is 3 September: $28,828 left after paying wages, less than one pay run ($37,700) in reserve. The lowest point in the 13 weeks is $17,198 on 30 November.</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15 invoices ($20,219) are already past the customer's usual payment date; the forecast assumes they arrive within a week. Without them, 3 September would be $8,609.</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How this forecast has done so far</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For 5 October it said $74,351; the bank says $47,244, $27,107 less.</a:t>
            </a:r>
          </a:p>
        </p:txBody>
      </p:sp>
      <p:graphicFrame>
        <p:nvGraphicFramePr>
          <p:cNvPr id="6" name="Table 5"/>
          <p:cNvGraphicFramePr>
            <a:graphicFrameLocks noGrp="1"/>
          </p:cNvGraphicFramePr>
          <p:nvPr/>
        </p:nvGraphicFramePr>
        <p:xfrm>
          <a:off x="457200" y="1463040"/>
          <a:ext cx="11247120" cy="1975104"/>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5 Oct</a:t>
                      </a:r>
                    </a:p>
                  </a:txBody>
                  <a:tcPr>
                    <a:solidFill>
                      <a:srgbClr val="2F7A5D"/>
                    </a:solidFill>
                  </a:tcPr>
                </a:tc>
              </a:tr>
              <a:tr h="329184">
                <a:tc>
                  <a:txBody>
                    <a:bodyPr/>
                    <a:lstStyle/>
                    <a:p>
                      <a:pPr>
                        <a:defRPr>
                          <a:latin typeface="Roboto"/>
                        </a:defRPr>
                      </a:pPr>
                      <a:r>
                        <a:rPr sz="1050">
                          <a:solidFill>
                            <a:srgbClr val="25342A"/>
                          </a:solidFill>
                          <a:latin typeface="Roboto"/>
                        </a:rPr>
                        <a:t>Forecast for 5 October</a:t>
                      </a:r>
                    </a:p>
                  </a:txBody>
                  <a:tcPr>
                    <a:solidFill>
                      <a:srgbClr val="FFFFFF"/>
                    </a:solidFill>
                  </a:tcPr>
                </a:tc>
                <a:tc>
                  <a:txBody>
                    <a:bodyPr/>
                    <a:lstStyle/>
                    <a:p>
                      <a:pPr algn="r">
                        <a:defRPr>
                          <a:latin typeface="Roboto"/>
                        </a:defRPr>
                      </a:pPr>
                      <a:r>
                        <a:rPr sz="1050">
                          <a:solidFill>
                            <a:srgbClr val="25342A"/>
                          </a:solidFill>
                          <a:latin typeface="Roboto"/>
                        </a:rPr>
                        <a:t>$74,351</a:t>
                      </a:r>
                    </a:p>
                  </a:txBody>
                  <a:tcPr>
                    <a:solidFill>
                      <a:srgbClr val="FFFFFF"/>
                    </a:solidFill>
                  </a:tcPr>
                </a:tc>
              </a:tr>
              <a:tr h="329184">
                <a:tc>
                  <a:txBody>
                    <a:bodyPr/>
                    <a:lstStyle/>
                    <a:p>
                      <a:pPr>
                        <a:defRPr>
                          <a:latin typeface="Roboto"/>
                        </a:defRPr>
                      </a:pPr>
                      <a:r>
                        <a:rPr sz="1050">
                          <a:solidFill>
                            <a:srgbClr val="25342A"/>
                          </a:solidFill>
                          <a:latin typeface="Roboto"/>
                        </a:rPr>
                        <a:t>Actual, 5 October</a:t>
                      </a:r>
                    </a:p>
                  </a:txBody>
                  <a:tcPr>
                    <a:solidFill>
                      <a:srgbClr val="F7FAF7"/>
                    </a:solidFill>
                  </a:tcPr>
                </a:tc>
                <a:tc>
                  <a:txBody>
                    <a:bodyPr/>
                    <a:lstStyle/>
                    <a:p>
                      <a:pPr algn="r">
                        <a:defRPr>
                          <a:latin typeface="Roboto"/>
                        </a:defRPr>
                      </a:pPr>
                      <a:r>
                        <a:rPr sz="1050">
                          <a:solidFill>
                            <a:srgbClr val="25342A"/>
                          </a:solidFill>
                          <a:latin typeface="Roboto"/>
                        </a:rPr>
                        <a:t>$47,244</a:t>
                      </a:r>
                    </a:p>
                  </a:txBody>
                  <a:tcPr>
                    <a:solidFill>
                      <a:srgbClr val="F7FAF7"/>
                    </a:solidFill>
                  </a:tcPr>
                </a:tc>
              </a:tr>
              <a:tr h="329184">
                <a:tc>
                  <a:txBody>
                    <a:bodyPr/>
                    <a:lstStyle/>
                    <a:p>
                      <a:pPr>
                        <a:defRPr>
                          <a:latin typeface="Roboto"/>
                        </a:defRPr>
                      </a:pPr>
                      <a:r>
                        <a:rPr sz="1050">
                          <a:solidFill>
                            <a:srgbClr val="25342A"/>
                          </a:solidFill>
                          <a:latin typeface="Roboto"/>
                        </a:rPr>
                        <a:t>Actual − forecast</a:t>
                      </a:r>
                    </a:p>
                  </a:txBody>
                  <a:tcPr>
                    <a:solidFill>
                      <a:srgbClr val="FFFFFF"/>
                    </a:solidFill>
                  </a:tcPr>
                </a:tc>
                <a:tc>
                  <a:txBody>
                    <a:bodyPr/>
                    <a:lstStyle/>
                    <a:p>
                      <a:pPr algn="r">
                        <a:defRPr>
                          <a:latin typeface="Roboto"/>
                        </a:defRPr>
                      </a:pPr>
                      <a:r>
                        <a:rPr sz="1050">
                          <a:solidFill>
                            <a:srgbClr val="B42318"/>
                          </a:solidFill>
                          <a:latin typeface="Roboto"/>
                        </a:rPr>
                        <a:t>($27,107)</a:t>
                      </a:r>
                    </a:p>
                  </a:txBody>
                  <a:tcPr>
                    <a:solidFill>
                      <a:srgbClr val="FFFFFF"/>
                    </a:solidFill>
                  </a:tcPr>
                </a:tc>
              </a:tr>
              <a:tr h="329184">
                <a:tc>
                  <a:txBody>
                    <a:bodyPr/>
                    <a:lstStyle/>
                    <a:p>
                      <a:pPr>
                        <a:defRPr>
                          <a:latin typeface="Roboto"/>
                        </a:defRPr>
                      </a:pPr>
                      <a:r>
                        <a:rPr sz="1050">
                          <a:solidFill>
                            <a:srgbClr val="25342A"/>
                          </a:solidFill>
                          <a:latin typeface="Roboto"/>
                        </a:rPr>
                        <a:t>Of which: invoices expected by then, not yet paid</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r>
              <a:tr h="329184">
                <a:tc>
                  <a:txBody>
                    <a:bodyPr/>
                    <a:lstStyle/>
                    <a:p>
                      <a:pPr>
                        <a:defRPr>
                          <a:latin typeface="Roboto"/>
                        </a:defRPr>
                      </a:pPr>
                      <a:r>
                        <a:rPr sz="1050">
                          <a:solidFill>
                            <a:srgbClr val="25342A"/>
                          </a:solidFill>
                          <a:latin typeface="Roboto"/>
                        </a:rPr>
                        <a:t>Everything else (timing of other money in and out)</a:t>
                      </a:r>
                    </a:p>
                  </a:txBody>
                  <a:tcPr>
                    <a:solidFill>
                      <a:srgbClr val="FFFFFF"/>
                    </a:solidFill>
                  </a:tcPr>
                </a:tc>
                <a:tc>
                  <a:txBody>
                    <a:bodyPr/>
                    <a:lstStyle/>
                    <a:p>
                      <a:pPr algn="r">
                        <a:defRPr>
                          <a:latin typeface="Roboto"/>
                        </a:defRPr>
                      </a:pPr>
                      <a:r>
                        <a:rPr sz="1050">
                          <a:solidFill>
                            <a:srgbClr val="B42318"/>
                          </a:solidFill>
                          <a:latin typeface="Roboto"/>
                        </a:rPr>
                        <a:t>($27,107)</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Cash at bank, every day: actual to 31 Aug, then forecast to 30 Nov · Cash at bank $</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Lighter line = forecast. Customers are expected on their usual payment dates; new work at the last three months' rate; pay runs, supplier runs, interest, equipment finance and PAYG on their due dates. GST and BAS are left out of the sample.</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September: where the cash comes from and goes (forecast)</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Money in, and money out in brackets.</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13 weeks, week by week</a:t>
            </a:r>
          </a:p>
        </p:txBody>
      </p:sp>
      <p:graphicFrame>
        <p:nvGraphicFramePr>
          <p:cNvPr id="5" name="Table 4"/>
          <p:cNvGraphicFramePr>
            <a:graphicFrameLocks noGrp="1"/>
          </p:cNvGraphicFramePr>
          <p:nvPr/>
        </p:nvGraphicFramePr>
        <p:xfrm>
          <a:off x="457200" y="1188720"/>
          <a:ext cx="11247120" cy="4608576"/>
        </p:xfrm>
        <a:graphic>
          <a:graphicData uri="http://schemas.openxmlformats.org/drawingml/2006/table">
            <a:tbl>
              <a:tblPr firstRow="1" bandRow="1">
                <a:tableStyleId>{5C22544A-7EE6-4342-B048-85BDC9FD1C3A}</a:tableStyleId>
              </a:tblPr>
              <a:tblGrid>
                <a:gridCol w="1249680"/>
                <a:gridCol w="1249680"/>
                <a:gridCol w="1249680"/>
                <a:gridCol w="1249680"/>
                <a:gridCol w="1249680"/>
                <a:gridCol w="1249680"/>
                <a:gridCol w="1249680"/>
                <a:gridCol w="1249680"/>
                <a:gridCol w="1249680"/>
              </a:tblGrid>
              <a:tr h="329184">
                <a:tc>
                  <a:txBody>
                    <a:bodyPr/>
                    <a:lstStyle/>
                    <a:p>
                      <a:pPr>
                        <a:defRPr>
                          <a:latin typeface="Roboto"/>
                        </a:defRPr>
                      </a:pPr>
                      <a:r>
                        <a:rPr sz="1100" b="1">
                          <a:solidFill>
                            <a:srgbClr val="FFFFFF"/>
                          </a:solidFill>
                          <a:latin typeface="Roboto"/>
                        </a:rPr>
                        <a:t>Week ending</a:t>
                      </a:r>
                    </a:p>
                  </a:txBody>
                  <a:tcPr>
                    <a:solidFill>
                      <a:srgbClr val="2F7A5D"/>
                    </a:solidFill>
                  </a:tcPr>
                </a:tc>
                <a:tc>
                  <a:txBody>
                    <a:bodyPr/>
                    <a:lstStyle/>
                    <a:p>
                      <a:pPr algn="r">
                        <a:defRPr>
                          <a:latin typeface="Roboto"/>
                        </a:defRPr>
                      </a:pPr>
                      <a:r>
                        <a:rPr sz="1100" b="1">
                          <a:solidFill>
                            <a:srgbClr val="FFFFFF"/>
                          </a:solidFill>
                          <a:latin typeface="Roboto"/>
                        </a:rPr>
                        <a:t>Cash at start</a:t>
                      </a:r>
                    </a:p>
                  </a:txBody>
                  <a:tcPr>
                    <a:solidFill>
                      <a:srgbClr val="2F7A5D"/>
                    </a:solidFill>
                  </a:tcPr>
                </a:tc>
                <a:tc>
                  <a:txBody>
                    <a:bodyPr/>
                    <a:lstStyle/>
                    <a:p>
                      <a:pPr algn="r">
                        <a:defRPr>
                          <a:latin typeface="Roboto"/>
                        </a:defRPr>
                      </a:pPr>
                      <a:r>
                        <a:rPr sz="1100" b="1">
                          <a:solidFill>
                            <a:srgbClr val="FFFFFF"/>
                          </a:solidFill>
                          <a:latin typeface="Roboto"/>
                        </a:rPr>
                        <a:t>Unpaid invoices collected</a:t>
                      </a:r>
                    </a:p>
                  </a:txBody>
                  <a:tcPr>
                    <a:solidFill>
                      <a:srgbClr val="2F7A5D"/>
                    </a:solidFill>
                  </a:tcPr>
                </a:tc>
                <a:tc>
                  <a:txBody>
                    <a:bodyPr/>
                    <a:lstStyle/>
                    <a:p>
                      <a:pPr algn="r">
                        <a:defRPr>
                          <a:latin typeface="Roboto"/>
                        </a:defRPr>
                      </a:pPr>
                      <a:r>
                        <a:rPr sz="1100" b="1">
                          <a:solidFill>
                            <a:srgbClr val="FFFFFF"/>
                          </a:solidFill>
                          <a:latin typeface="Roboto"/>
                        </a:rPr>
                        <a:t>New work collected</a:t>
                      </a:r>
                    </a:p>
                  </a:txBody>
                  <a:tcPr>
                    <a:solidFill>
                      <a:srgbClr val="2F7A5D"/>
                    </a:solidFill>
                  </a:tcPr>
                </a:tc>
                <a:tc>
                  <a:txBody>
                    <a:bodyPr/>
                    <a:lstStyle/>
                    <a:p>
                      <a:pPr algn="r">
                        <a:defRPr>
                          <a:latin typeface="Roboto"/>
                        </a:defRPr>
                      </a:pPr>
                      <a:r>
                        <a:rPr sz="1100" b="1">
                          <a:solidFill>
                            <a:srgbClr val="FFFFFF"/>
                          </a:solidFill>
                          <a:latin typeface="Roboto"/>
                        </a:rPr>
                        <a:t>Wages</a:t>
                      </a:r>
                    </a:p>
                  </a:txBody>
                  <a:tcPr>
                    <a:solidFill>
                      <a:srgbClr val="2F7A5D"/>
                    </a:solidFill>
                  </a:tcPr>
                </a:tc>
                <a:tc>
                  <a:txBody>
                    <a:bodyPr/>
                    <a:lstStyle/>
                    <a:p>
                      <a:pPr algn="r">
                        <a:defRPr>
                          <a:latin typeface="Roboto"/>
                        </a:defRPr>
                      </a:pPr>
                      <a:r>
                        <a:rPr sz="1100" b="1">
                          <a:solidFill>
                            <a:srgbClr val="FFFFFF"/>
                          </a:solidFill>
                          <a:latin typeface="Roboto"/>
                        </a:rPr>
                        <a:t>Suppliers and overheads</a:t>
                      </a:r>
                    </a:p>
                  </a:txBody>
                  <a:tcPr>
                    <a:solidFill>
                      <a:srgbClr val="2F7A5D"/>
                    </a:solidFill>
                  </a:tcPr>
                </a:tc>
                <a:tc>
                  <a:txBody>
                    <a:bodyPr/>
                    <a:lstStyle/>
                    <a:p>
                      <a:pPr algn="r">
                        <a:defRPr>
                          <a:latin typeface="Roboto"/>
                        </a:defRPr>
                      </a:pPr>
                      <a:r>
                        <a:rPr sz="1100" b="1">
                          <a:solidFill>
                            <a:srgbClr val="FFFFFF"/>
                          </a:solidFill>
                          <a:latin typeface="Roboto"/>
                        </a:rPr>
                        <a:t>Tax, interest and finance</a:t>
                      </a:r>
                    </a:p>
                  </a:txBody>
                  <a:tcPr>
                    <a:solidFill>
                      <a:srgbClr val="2F7A5D"/>
                    </a:solidFill>
                  </a:tcPr>
                </a:tc>
                <a:tc>
                  <a:txBody>
                    <a:bodyPr/>
                    <a:lstStyle/>
                    <a:p>
                      <a:pPr algn="r">
                        <a:defRPr>
                          <a:latin typeface="Roboto"/>
                        </a:defRPr>
                      </a:pPr>
                      <a:r>
                        <a:rPr sz="1100" b="1">
                          <a:solidFill>
                            <a:srgbClr val="FFFFFF"/>
                          </a:solidFill>
                          <a:latin typeface="Roboto"/>
                        </a:rPr>
                        <a:t>Cash at end</a:t>
                      </a:r>
                    </a:p>
                  </a:txBody>
                  <a:tcPr>
                    <a:solidFill>
                      <a:srgbClr val="2F7A5D"/>
                    </a:solidFill>
                  </a:tcPr>
                </a:tc>
                <a:tc>
                  <a:txBody>
                    <a:bodyPr/>
                    <a:lstStyle/>
                    <a:p>
                      <a:pPr algn="r">
                        <a:defRPr>
                          <a:latin typeface="Roboto"/>
                        </a:defRPr>
                      </a:pPr>
                      <a:r>
                        <a:rPr sz="1100" b="1">
                          <a:solidFill>
                            <a:srgbClr val="FFFFFF"/>
                          </a:solidFill>
                          <a:latin typeface="Roboto"/>
                        </a:rPr>
                        <a:t>Lowest in the week</a:t>
                      </a:r>
                    </a:p>
                  </a:txBody>
                  <a:tcPr>
                    <a:solidFill>
                      <a:srgbClr val="2F7A5D"/>
                    </a:solidFill>
                  </a:tcPr>
                </a:tc>
              </a:tr>
              <a:tr h="329184">
                <a:tc>
                  <a:txBody>
                    <a:bodyPr/>
                    <a:lstStyle/>
                    <a:p>
                      <a:pPr>
                        <a:defRPr>
                          <a:latin typeface="Roboto"/>
                        </a:defRPr>
                      </a:pPr>
                      <a:r>
                        <a:rPr sz="1050">
                          <a:solidFill>
                            <a:srgbClr val="25342A"/>
                          </a:solidFill>
                          <a:latin typeface="Roboto"/>
                        </a:rPr>
                        <a:t>7 Sep</a:t>
                      </a:r>
                    </a:p>
                  </a:txBody>
                  <a:tcPr>
                    <a:solidFill>
                      <a:srgbClr val="FFFFFF"/>
                    </a:solidFill>
                  </a:tcPr>
                </a:tc>
                <a:tc>
                  <a:txBody>
                    <a:bodyPr/>
                    <a:lstStyle/>
                    <a:p>
                      <a:pPr algn="r">
                        <a:defRPr>
                          <a:latin typeface="Roboto"/>
                        </a:defRPr>
                      </a:pPr>
                      <a:r>
                        <a:rPr sz="1050">
                          <a:solidFill>
                            <a:srgbClr val="25342A"/>
                          </a:solidFill>
                          <a:latin typeface="Roboto"/>
                        </a:rPr>
                        <a:t>$65,263</a:t>
                      </a:r>
                    </a:p>
                  </a:txBody>
                  <a:tcPr>
                    <a:solidFill>
                      <a:srgbClr val="FFFFFF"/>
                    </a:solidFill>
                  </a:tcPr>
                </a:tc>
                <a:tc>
                  <a:txBody>
                    <a:bodyPr/>
                    <a:lstStyle/>
                    <a:p>
                      <a:pPr algn="r">
                        <a:defRPr>
                          <a:latin typeface="Roboto"/>
                        </a:defRPr>
                      </a:pPr>
                      <a:r>
                        <a:rPr sz="1050">
                          <a:solidFill>
                            <a:srgbClr val="25342A"/>
                          </a:solidFill>
                          <a:latin typeface="Roboto"/>
                        </a:rPr>
                        <a:t>$58,719</a:t>
                      </a:r>
                    </a:p>
                  </a:txBody>
                  <a:tcPr>
                    <a:solidFill>
                      <a:srgbClr val="FFFFFF"/>
                    </a:solidFill>
                  </a:tcPr>
                </a:tc>
                <a:tc>
                  <a:txBody>
                    <a:bodyPr/>
                    <a:lstStyle/>
                    <a:p>
                      <a:pPr algn="r">
                        <a:defRPr>
                          <a:latin typeface="Roboto"/>
                        </a:defRPr>
                      </a:pPr>
                      <a:r>
                        <a:rPr sz="1050">
                          <a:solidFill>
                            <a:srgbClr val="25342A"/>
                          </a:solidFill>
                          <a:latin typeface="Roboto"/>
                        </a:rPr>
                        <a:t>$5,062</a:t>
                      </a:r>
                    </a:p>
                  </a:txBody>
                  <a:tcPr>
                    <a:solidFill>
                      <a:srgbClr val="FFFFFF"/>
                    </a:solidFill>
                  </a:tcPr>
                </a:tc>
                <a:tc>
                  <a:txBody>
                    <a:bodyPr/>
                    <a:lstStyle/>
                    <a:p>
                      <a:pPr algn="r">
                        <a:defRPr>
                          <a:latin typeface="Roboto"/>
                        </a:defRPr>
                      </a:pPr>
                      <a:r>
                        <a:rPr sz="1050">
                          <a:solidFill>
                            <a:srgbClr val="B42318"/>
                          </a:solidFill>
                          <a:latin typeface="Roboto"/>
                        </a:rPr>
                        <a:t>($37,700)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$91,344</a:t>
                      </a:r>
                    </a:p>
                  </a:txBody>
                  <a:tcPr>
                    <a:solidFill>
                      <a:srgbClr val="FFFFFF"/>
                    </a:solidFill>
                  </a:tcPr>
                </a:tc>
                <a:tc>
                  <a:txBody>
                    <a:bodyPr/>
                    <a:lstStyle/>
                    <a:p>
                      <a:pPr algn="r">
                        <a:defRPr>
                          <a:latin typeface="Roboto"/>
                        </a:defRPr>
                      </a:pPr>
                      <a:r>
                        <a:rPr sz="1050">
                          <a:solidFill>
                            <a:srgbClr val="25342A"/>
                          </a:solidFill>
                          <a:latin typeface="Roboto"/>
                        </a:rPr>
                        <a:t>$28,828</a:t>
                      </a:r>
                    </a:p>
                  </a:txBody>
                  <a:tcPr>
                    <a:solidFill>
                      <a:srgbClr val="FFFFFF"/>
                    </a:solidFill>
                  </a:tcPr>
                </a:tc>
              </a:tr>
              <a:tr h="329184">
                <a:tc>
                  <a:txBody>
                    <a:bodyPr/>
                    <a:lstStyle/>
                    <a:p>
                      <a:pPr>
                        <a:defRPr>
                          <a:latin typeface="Roboto"/>
                        </a:defRPr>
                      </a:pPr>
                      <a:r>
                        <a:rPr sz="1050">
                          <a:solidFill>
                            <a:srgbClr val="25342A"/>
                          </a:solidFill>
                          <a:latin typeface="Roboto"/>
                        </a:rPr>
                        <a:t>14 Sep</a:t>
                      </a:r>
                    </a:p>
                  </a:txBody>
                  <a:tcPr>
                    <a:solidFill>
                      <a:srgbClr val="F7FAF7"/>
                    </a:solidFill>
                  </a:tcPr>
                </a:tc>
                <a:tc>
                  <a:txBody>
                    <a:bodyPr/>
                    <a:lstStyle/>
                    <a:p>
                      <a:pPr algn="r">
                        <a:defRPr>
                          <a:latin typeface="Roboto"/>
                        </a:defRPr>
                      </a:pPr>
                      <a:r>
                        <a:rPr sz="1050">
                          <a:solidFill>
                            <a:srgbClr val="25342A"/>
                          </a:solidFill>
                          <a:latin typeface="Roboto"/>
                        </a:rPr>
                        <a:t>$91,344</a:t>
                      </a:r>
                    </a:p>
                  </a:txBody>
                  <a:tcPr>
                    <a:solidFill>
                      <a:srgbClr val="F7FAF7"/>
                    </a:solidFill>
                  </a:tcPr>
                </a:tc>
                <a:tc>
                  <a:txBody>
                    <a:bodyPr/>
                    <a:lstStyle/>
                    <a:p>
                      <a:pPr algn="r">
                        <a:defRPr>
                          <a:latin typeface="Roboto"/>
                        </a:defRPr>
                      </a:pPr>
                      <a:r>
                        <a:rPr sz="1050">
                          <a:solidFill>
                            <a:srgbClr val="25342A"/>
                          </a:solidFill>
                          <a:latin typeface="Roboto"/>
                        </a:rPr>
                        <a:t>$21,300</a:t>
                      </a:r>
                    </a:p>
                  </a:txBody>
                  <a:tcPr>
                    <a:solidFill>
                      <a:srgbClr val="F7FAF7"/>
                    </a:solidFill>
                  </a:tcPr>
                </a:tc>
                <a:tc>
                  <a:txBody>
                    <a:bodyPr/>
                    <a:lstStyle/>
                    <a:p>
                      <a:pPr algn="r">
                        <a:defRPr>
                          <a:latin typeface="Roboto"/>
                        </a:defRPr>
                      </a:pPr>
                      <a:r>
                        <a:rPr sz="1050">
                          <a:solidFill>
                            <a:srgbClr val="25342A"/>
                          </a:solidFill>
                          <a:latin typeface="Roboto"/>
                        </a:rPr>
                        <a:t>$6,327</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$118,970</a:t>
                      </a:r>
                    </a:p>
                  </a:txBody>
                  <a:tcPr>
                    <a:solidFill>
                      <a:srgbClr val="F7FAF7"/>
                    </a:solidFill>
                  </a:tcPr>
                </a:tc>
                <a:tc>
                  <a:txBody>
                    <a:bodyPr/>
                    <a:lstStyle/>
                    <a:p>
                      <a:pPr algn="r">
                        <a:defRPr>
                          <a:latin typeface="Roboto"/>
                        </a:defRPr>
                      </a:pPr>
                      <a:r>
                        <a:rPr sz="1050">
                          <a:solidFill>
                            <a:srgbClr val="25342A"/>
                          </a:solidFill>
                          <a:latin typeface="Roboto"/>
                        </a:rPr>
                        <a:t>$91,344</a:t>
                      </a:r>
                    </a:p>
                  </a:txBody>
                  <a:tcPr>
                    <a:solidFill>
                      <a:srgbClr val="F7FAF7"/>
                    </a:solidFill>
                  </a:tcPr>
                </a:tc>
              </a:tr>
              <a:tr h="329184">
                <a:tc>
                  <a:txBody>
                    <a:bodyPr/>
                    <a:lstStyle/>
                    <a:p>
                      <a:pPr>
                        <a:defRPr>
                          <a:latin typeface="Roboto"/>
                        </a:defRPr>
                      </a:pPr>
                      <a:r>
                        <a:rPr sz="1050">
                          <a:solidFill>
                            <a:srgbClr val="25342A"/>
                          </a:solidFill>
                          <a:latin typeface="Roboto"/>
                        </a:rPr>
                        <a:t>21 Sep</a:t>
                      </a:r>
                    </a:p>
                  </a:txBody>
                  <a:tcPr>
                    <a:solidFill>
                      <a:srgbClr val="FFFFFF"/>
                    </a:solidFill>
                  </a:tcPr>
                </a:tc>
                <a:tc>
                  <a:txBody>
                    <a:bodyPr/>
                    <a:lstStyle/>
                    <a:p>
                      <a:pPr algn="r">
                        <a:defRPr>
                          <a:latin typeface="Roboto"/>
                        </a:defRPr>
                      </a:pPr>
                      <a:r>
                        <a:rPr sz="1050">
                          <a:solidFill>
                            <a:srgbClr val="25342A"/>
                          </a:solidFill>
                          <a:latin typeface="Roboto"/>
                        </a:rPr>
                        <a:t>$118,970</a:t>
                      </a:r>
                    </a:p>
                  </a:txBody>
                  <a:tcPr>
                    <a:solidFill>
                      <a:srgbClr val="FFFFFF"/>
                    </a:solidFill>
                  </a:tcPr>
                </a:tc>
                <a:tc>
                  <a:txBody>
                    <a:bodyPr/>
                    <a:lstStyle/>
                    <a:p>
                      <a:pPr algn="r">
                        <a:defRPr>
                          <a:latin typeface="Roboto"/>
                        </a:defRPr>
                      </a:pPr>
                      <a:r>
                        <a:rPr sz="1050">
                          <a:solidFill>
                            <a:srgbClr val="25342A"/>
                          </a:solidFill>
                          <a:latin typeface="Roboto"/>
                        </a:rPr>
                        <a:t>$16,800</a:t>
                      </a:r>
                    </a:p>
                  </a:txBody>
                  <a:tcPr>
                    <a:solidFill>
                      <a:srgbClr val="FFFFFF"/>
                    </a:solidFill>
                  </a:tcPr>
                </a:tc>
                <a:tc>
                  <a:txBody>
                    <a:bodyPr/>
                    <a:lstStyle/>
                    <a:p>
                      <a:pPr algn="r">
                        <a:defRPr>
                          <a:latin typeface="Roboto"/>
                        </a:defRPr>
                      </a:pPr>
                      <a:r>
                        <a:rPr sz="1050">
                          <a:solidFill>
                            <a:srgbClr val="25342A"/>
                          </a:solidFill>
                          <a:latin typeface="Roboto"/>
                        </a:rPr>
                        <a:t>$6,327</a:t>
                      </a:r>
                    </a:p>
                  </a:txBody>
                  <a:tcPr>
                    <a:solidFill>
                      <a:srgbClr val="FFFFFF"/>
                    </a:solidFill>
                  </a:tcPr>
                </a:tc>
                <a:tc>
                  <a:txBody>
                    <a:bodyPr/>
                    <a:lstStyle/>
                    <a:p>
                      <a:pPr algn="r">
                        <a:defRPr>
                          <a:latin typeface="Roboto"/>
                        </a:defRPr>
                      </a:pPr>
                      <a:r>
                        <a:rPr sz="1050">
                          <a:solidFill>
                            <a:srgbClr val="B42318"/>
                          </a:solidFill>
                          <a:latin typeface="Roboto"/>
                        </a:rPr>
                        <a:t>($37,700)</a:t>
                      </a:r>
                    </a:p>
                  </a:txBody>
                  <a:tcPr>
                    <a:solidFill>
                      <a:srgbClr val="FFFFFF"/>
                    </a:solidFill>
                  </a:tcPr>
                </a:tc>
                <a:tc>
                  <a:txBody>
                    <a:bodyPr/>
                    <a:lstStyle/>
                    <a:p>
                      <a:pPr algn="r">
                        <a:defRPr>
                          <a:latin typeface="Roboto"/>
                        </a:defRPr>
                      </a:pPr>
                      <a:r>
                        <a:rPr sz="1050">
                          <a:solidFill>
                            <a:srgbClr val="B42318"/>
                          </a:solidFill>
                          <a:latin typeface="Roboto"/>
                        </a:rPr>
                        <a:t>($46,515)</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$57,882</a:t>
                      </a:r>
                    </a:p>
                  </a:txBody>
                  <a:tcPr>
                    <a:solidFill>
                      <a:srgbClr val="FFFFFF"/>
                    </a:solidFill>
                  </a:tcPr>
                </a:tc>
                <a:tc>
                  <a:txBody>
                    <a:bodyPr/>
                    <a:lstStyle/>
                    <a:p>
                      <a:pPr algn="r">
                        <a:defRPr>
                          <a:latin typeface="Roboto"/>
                        </a:defRPr>
                      </a:pPr>
                      <a:r>
                        <a:rPr sz="1050">
                          <a:solidFill>
                            <a:srgbClr val="25342A"/>
                          </a:solidFill>
                          <a:latin typeface="Roboto"/>
                        </a:rPr>
                        <a:t>$37,286</a:t>
                      </a:r>
                    </a:p>
                  </a:txBody>
                  <a:tcPr>
                    <a:solidFill>
                      <a:srgbClr val="FFFFFF"/>
                    </a:solidFill>
                  </a:tcPr>
                </a:tc>
              </a:tr>
              <a:tr h="329184">
                <a:tc>
                  <a:txBody>
                    <a:bodyPr/>
                    <a:lstStyle/>
                    <a:p>
                      <a:pPr>
                        <a:defRPr>
                          <a:latin typeface="Roboto"/>
                        </a:defRPr>
                      </a:pPr>
                      <a:r>
                        <a:rPr sz="1050">
                          <a:solidFill>
                            <a:srgbClr val="25342A"/>
                          </a:solidFill>
                          <a:latin typeface="Roboto"/>
                        </a:rPr>
                        <a:t>28 Sep</a:t>
                      </a:r>
                    </a:p>
                  </a:txBody>
                  <a:tcPr>
                    <a:solidFill>
                      <a:srgbClr val="F7FAF7"/>
                    </a:solidFill>
                  </a:tcPr>
                </a:tc>
                <a:tc>
                  <a:txBody>
                    <a:bodyPr/>
                    <a:lstStyle/>
                    <a:p>
                      <a:pPr algn="r">
                        <a:defRPr>
                          <a:latin typeface="Roboto"/>
                        </a:defRPr>
                      </a:pPr>
                      <a:r>
                        <a:rPr sz="1050">
                          <a:solidFill>
                            <a:srgbClr val="25342A"/>
                          </a:solidFill>
                          <a:latin typeface="Roboto"/>
                        </a:rPr>
                        <a:t>$57,882</a:t>
                      </a:r>
                    </a:p>
                  </a:txBody>
                  <a:tcPr>
                    <a:solidFill>
                      <a:srgbClr val="F7FAF7"/>
                    </a:solidFill>
                  </a:tcPr>
                </a:tc>
                <a:tc>
                  <a:txBody>
                    <a:bodyPr/>
                    <a:lstStyle/>
                    <a:p>
                      <a:pPr algn="r">
                        <a:defRPr>
                          <a:latin typeface="Roboto"/>
                        </a:defRPr>
                      </a:pPr>
                      <a:r>
                        <a:rPr sz="1050">
                          <a:solidFill>
                            <a:srgbClr val="25342A"/>
                          </a:solidFill>
                          <a:latin typeface="Roboto"/>
                        </a:rPr>
                        <a:t>$33,000</a:t>
                      </a:r>
                    </a:p>
                  </a:txBody>
                  <a:tcPr>
                    <a:solidFill>
                      <a:srgbClr val="F7FAF7"/>
                    </a:solidFill>
                  </a:tcPr>
                </a:tc>
                <a:tc>
                  <a:txBody>
                    <a:bodyPr/>
                    <a:lstStyle/>
                    <a:p>
                      <a:pPr algn="r">
                        <a:defRPr>
                          <a:latin typeface="Roboto"/>
                        </a:defRPr>
                      </a:pPr>
                      <a:r>
                        <a:rPr sz="1050">
                          <a:solidFill>
                            <a:srgbClr val="25342A"/>
                          </a:solidFill>
                          <a:latin typeface="Roboto"/>
                        </a:rPr>
                        <a:t>$6,327</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B42318"/>
                          </a:solidFill>
                          <a:latin typeface="Roboto"/>
                        </a:rPr>
                        <a:t>($5,000)</a:t>
                      </a:r>
                    </a:p>
                  </a:txBody>
                  <a:tcPr>
                    <a:solidFill>
                      <a:srgbClr val="F7FAF7"/>
                    </a:solidFill>
                  </a:tcPr>
                </a:tc>
                <a:tc>
                  <a:txBody>
                    <a:bodyPr/>
                    <a:lstStyle/>
                    <a:p>
                      <a:pPr algn="r">
                        <a:defRPr>
                          <a:latin typeface="Roboto"/>
                        </a:defRPr>
                      </a:pPr>
                      <a:r>
                        <a:rPr sz="1050">
                          <a:solidFill>
                            <a:srgbClr val="25342A"/>
                          </a:solidFill>
                          <a:latin typeface="Roboto"/>
                        </a:rPr>
                        <a:t>$92,209</a:t>
                      </a:r>
                    </a:p>
                  </a:txBody>
                  <a:tcPr>
                    <a:solidFill>
                      <a:srgbClr val="F7FAF7"/>
                    </a:solidFill>
                  </a:tcPr>
                </a:tc>
                <a:tc>
                  <a:txBody>
                    <a:bodyPr/>
                    <a:lstStyle/>
                    <a:p>
                      <a:pPr algn="r">
                        <a:defRPr>
                          <a:latin typeface="Roboto"/>
                        </a:defRPr>
                      </a:pPr>
                      <a:r>
                        <a:rPr sz="1050">
                          <a:solidFill>
                            <a:srgbClr val="25342A"/>
                          </a:solidFill>
                          <a:latin typeface="Roboto"/>
                        </a:rPr>
                        <a:t>$57,882</a:t>
                      </a:r>
                    </a:p>
                  </a:txBody>
                  <a:tcPr>
                    <a:solidFill>
                      <a:srgbClr val="F7FAF7"/>
                    </a:solidFill>
                  </a:tcPr>
                </a:tc>
              </a:tr>
              <a:tr h="329184">
                <a:tc>
                  <a:txBody>
                    <a:bodyPr/>
                    <a:lstStyle/>
                    <a:p>
                      <a:pPr>
                        <a:defRPr>
                          <a:latin typeface="Roboto"/>
                        </a:defRPr>
                      </a:pPr>
                      <a:r>
                        <a:rPr sz="1050">
                          <a:solidFill>
                            <a:srgbClr val="25342A"/>
                          </a:solidFill>
                          <a:latin typeface="Roboto"/>
                        </a:rPr>
                        <a:t>5 Oct</a:t>
                      </a:r>
                    </a:p>
                  </a:txBody>
                  <a:tcPr>
                    <a:solidFill>
                      <a:srgbClr val="FFFFFF"/>
                    </a:solidFill>
                  </a:tcPr>
                </a:tc>
                <a:tc>
                  <a:txBody>
                    <a:bodyPr/>
                    <a:lstStyle/>
                    <a:p>
                      <a:pPr algn="r">
                        <a:defRPr>
                          <a:latin typeface="Roboto"/>
                        </a:defRPr>
                      </a:pPr>
                      <a:r>
                        <a:rPr sz="1050">
                          <a:solidFill>
                            <a:srgbClr val="25342A"/>
                          </a:solidFill>
                          <a:latin typeface="Roboto"/>
                        </a:rPr>
                        <a:t>$92,209</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$67,457</a:t>
                      </a:r>
                    </a:p>
                  </a:txBody>
                  <a:tcPr>
                    <a:solidFill>
                      <a:srgbClr val="FFFFFF"/>
                    </a:solidFill>
                  </a:tcPr>
                </a:tc>
                <a:tc>
                  <a:txBody>
                    <a:bodyPr/>
                    <a:lstStyle/>
                    <a:p>
                      <a:pPr algn="r">
                        <a:defRPr>
                          <a:latin typeface="Roboto"/>
                        </a:defRPr>
                      </a:pPr>
                      <a:r>
                        <a:rPr sz="1050">
                          <a:solidFill>
                            <a:srgbClr val="B42318"/>
                          </a:solidFill>
                          <a:latin typeface="Roboto"/>
                        </a:rPr>
                        <a:t>($37,700)</a:t>
                      </a:r>
                    </a:p>
                  </a:txBody>
                  <a:tcPr>
                    <a:solidFill>
                      <a:srgbClr val="FFFFFF"/>
                    </a:solidFill>
                  </a:tcPr>
                </a:tc>
                <a:tc>
                  <a:txBody>
                    <a:bodyPr/>
                    <a:lstStyle/>
                    <a:p>
                      <a:pPr algn="r">
                        <a:defRPr>
                          <a:latin typeface="Roboto"/>
                        </a:defRPr>
                      </a:pPr>
                      <a:r>
                        <a:rPr sz="1050">
                          <a:solidFill>
                            <a:srgbClr val="B42318"/>
                          </a:solidFill>
                          <a:latin typeface="Roboto"/>
                        </a:rPr>
                        <a:t>($46,515)</a:t>
                      </a:r>
                    </a:p>
                  </a:txBody>
                  <a:tcPr>
                    <a:solidFill>
                      <a:srgbClr val="FFFFFF"/>
                    </a:solidFill>
                  </a:tcPr>
                </a:tc>
                <a:tc>
                  <a:txBody>
                    <a:bodyPr/>
                    <a:lstStyle/>
                    <a:p>
                      <a:pPr algn="r">
                        <a:defRPr>
                          <a:latin typeface="Roboto"/>
                        </a:defRPr>
                      </a:pPr>
                      <a:r>
                        <a:rPr sz="1050">
                          <a:solidFill>
                            <a:srgbClr val="B42318"/>
                          </a:solidFill>
                          <a:latin typeface="Roboto"/>
                        </a:rPr>
                        <a:t>($1,100)</a:t>
                      </a:r>
                    </a:p>
                  </a:txBody>
                  <a:tcPr>
                    <a:solidFill>
                      <a:srgbClr val="FFFFFF"/>
                    </a:solidFill>
                  </a:tcPr>
                </a:tc>
                <a:tc>
                  <a:txBody>
                    <a:bodyPr/>
                    <a:lstStyle/>
                    <a:p>
                      <a:pPr algn="r">
                        <a:defRPr>
                          <a:latin typeface="Roboto"/>
                        </a:defRPr>
                      </a:pPr>
                      <a:r>
                        <a:rPr sz="1050">
                          <a:solidFill>
                            <a:srgbClr val="25342A"/>
                          </a:solidFill>
                          <a:latin typeface="Roboto"/>
                        </a:rPr>
                        <a:t>$74,351</a:t>
                      </a:r>
                    </a:p>
                  </a:txBody>
                  <a:tcPr>
                    <a:solidFill>
                      <a:srgbClr val="FFFFFF"/>
                    </a:solidFill>
                  </a:tcPr>
                </a:tc>
                <a:tc>
                  <a:txBody>
                    <a:bodyPr/>
                    <a:lstStyle/>
                    <a:p>
                      <a:pPr algn="r">
                        <a:defRPr>
                          <a:latin typeface="Roboto"/>
                        </a:defRPr>
                      </a:pPr>
                      <a:r>
                        <a:rPr sz="1050">
                          <a:solidFill>
                            <a:srgbClr val="25342A"/>
                          </a:solidFill>
                          <a:latin typeface="Roboto"/>
                        </a:rPr>
                        <a:t>$45,860</a:t>
                      </a:r>
                    </a:p>
                  </a:txBody>
                  <a:tcPr>
                    <a:solidFill>
                      <a:srgbClr val="FFFFFF"/>
                    </a:solidFill>
                  </a:tcPr>
                </a:tc>
              </a:tr>
              <a:tr h="329184">
                <a:tc>
                  <a:txBody>
                    <a:bodyPr/>
                    <a:lstStyle/>
                    <a:p>
                      <a:pPr>
                        <a:defRPr>
                          <a:latin typeface="Roboto"/>
                        </a:defRPr>
                      </a:pPr>
                      <a:r>
                        <a:rPr sz="1050">
                          <a:solidFill>
                            <a:srgbClr val="25342A"/>
                          </a:solidFill>
                          <a:latin typeface="Roboto"/>
                        </a:rPr>
                        <a:t>12 Oct</a:t>
                      </a:r>
                    </a:p>
                  </a:txBody>
                  <a:tcPr>
                    <a:solidFill>
                      <a:srgbClr val="F7FAF7"/>
                    </a:solidFill>
                  </a:tcPr>
                </a:tc>
                <a:tc>
                  <a:txBody>
                    <a:bodyPr/>
                    <a:lstStyle/>
                    <a:p>
                      <a:pPr algn="r">
                        <a:defRPr>
                          <a:latin typeface="Roboto"/>
                        </a:defRPr>
                      </a:pPr>
                      <a:r>
                        <a:rPr sz="1050">
                          <a:solidFill>
                            <a:srgbClr val="25342A"/>
                          </a:solidFill>
                          <a:latin typeface="Roboto"/>
                        </a:rPr>
                        <a:t>$74,351</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$32,115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$106,466</a:t>
                      </a:r>
                    </a:p>
                  </a:txBody>
                  <a:tcPr>
                    <a:solidFill>
                      <a:srgbClr val="F7FAF7"/>
                    </a:solidFill>
                  </a:tcPr>
                </a:tc>
                <a:tc>
                  <a:txBody>
                    <a:bodyPr/>
                    <a:lstStyle/>
                    <a:p>
                      <a:pPr algn="r">
                        <a:defRPr>
                          <a:latin typeface="Roboto"/>
                        </a:defRPr>
                      </a:pPr>
                      <a:r>
                        <a:rPr sz="1050">
                          <a:solidFill>
                            <a:srgbClr val="25342A"/>
                          </a:solidFill>
                          <a:latin typeface="Roboto"/>
                        </a:rPr>
                        <a:t>$74,351</a:t>
                      </a:r>
                    </a:p>
                  </a:txBody>
                  <a:tcPr>
                    <a:solidFill>
                      <a:srgbClr val="F7FAF7"/>
                    </a:solidFill>
                  </a:tcPr>
                </a:tc>
              </a:tr>
              <a:tr h="329184">
                <a:tc>
                  <a:txBody>
                    <a:bodyPr/>
                    <a:lstStyle/>
                    <a:p>
                      <a:pPr>
                        <a:defRPr>
                          <a:latin typeface="Roboto"/>
                        </a:defRPr>
                      </a:pPr>
                      <a:r>
                        <a:rPr sz="1050">
                          <a:solidFill>
                            <a:srgbClr val="25342A"/>
                          </a:solidFill>
                          <a:latin typeface="Roboto"/>
                        </a:rPr>
                        <a:t>19 Oct</a:t>
                      </a:r>
                    </a:p>
                  </a:txBody>
                  <a:tcPr>
                    <a:solidFill>
                      <a:srgbClr val="FFFFFF"/>
                    </a:solidFill>
                  </a:tcPr>
                </a:tc>
                <a:tc>
                  <a:txBody>
                    <a:bodyPr/>
                    <a:lstStyle/>
                    <a:p>
                      <a:pPr algn="r">
                        <a:defRPr>
                          <a:latin typeface="Roboto"/>
                        </a:defRPr>
                      </a:pPr>
                      <a:r>
                        <a:rPr sz="1050">
                          <a:solidFill>
                            <a:srgbClr val="25342A"/>
                          </a:solidFill>
                          <a:latin typeface="Roboto"/>
                        </a:rPr>
                        <a:t>$106,466</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$32,115</a:t>
                      </a:r>
                    </a:p>
                  </a:txBody>
                  <a:tcPr>
                    <a:solidFill>
                      <a:srgbClr val="FFFFFF"/>
                    </a:solidFill>
                  </a:tcPr>
                </a:tc>
                <a:tc>
                  <a:txBody>
                    <a:bodyPr/>
                    <a:lstStyle/>
                    <a:p>
                      <a:pPr algn="r">
                        <a:defRPr>
                          <a:latin typeface="Roboto"/>
                        </a:defRPr>
                      </a:pPr>
                      <a:r>
                        <a:rPr sz="1050">
                          <a:solidFill>
                            <a:srgbClr val="B42318"/>
                          </a:solidFill>
                          <a:latin typeface="Roboto"/>
                        </a:rPr>
                        <a:t>($37,700)</a:t>
                      </a:r>
                    </a:p>
                  </a:txBody>
                  <a:tcPr>
                    <a:solidFill>
                      <a:srgbClr val="FFFFFF"/>
                    </a:solidFill>
                  </a:tcPr>
                </a:tc>
                <a:tc>
                  <a:txBody>
                    <a:bodyPr/>
                    <a:lstStyle/>
                    <a:p>
                      <a:pPr algn="r">
                        <a:defRPr>
                          <a:latin typeface="Roboto"/>
                        </a:defRPr>
                      </a:pPr>
                      <a:r>
                        <a:rPr sz="1050">
                          <a:solidFill>
                            <a:srgbClr val="B42318"/>
                          </a:solidFill>
                          <a:latin typeface="Roboto"/>
                        </a:rPr>
                        <a:t>($46,515)</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$54,366</a:t>
                      </a:r>
                    </a:p>
                  </a:txBody>
                  <a:tcPr>
                    <a:solidFill>
                      <a:srgbClr val="FFFFFF"/>
                    </a:solidFill>
                  </a:tcPr>
                </a:tc>
                <a:tc>
                  <a:txBody>
                    <a:bodyPr/>
                    <a:lstStyle/>
                    <a:p>
                      <a:pPr algn="r">
                        <a:defRPr>
                          <a:latin typeface="Roboto"/>
                        </a:defRPr>
                      </a:pPr>
                      <a:r>
                        <a:rPr sz="1050">
                          <a:solidFill>
                            <a:srgbClr val="25342A"/>
                          </a:solidFill>
                          <a:latin typeface="Roboto"/>
                        </a:rPr>
                        <a:t>$35,097</a:t>
                      </a:r>
                    </a:p>
                  </a:txBody>
                  <a:tcPr>
                    <a:solidFill>
                      <a:srgbClr val="FFFFFF"/>
                    </a:solidFill>
                  </a:tcPr>
                </a:tc>
              </a:tr>
              <a:tr h="329184">
                <a:tc>
                  <a:txBody>
                    <a:bodyPr/>
                    <a:lstStyle/>
                    <a:p>
                      <a:pPr>
                        <a:defRPr>
                          <a:latin typeface="Roboto"/>
                        </a:defRPr>
                      </a:pPr>
                      <a:r>
                        <a:rPr sz="1050">
                          <a:solidFill>
                            <a:srgbClr val="25342A"/>
                          </a:solidFill>
                          <a:latin typeface="Roboto"/>
                        </a:rPr>
                        <a:t>26 Oct</a:t>
                      </a:r>
                    </a:p>
                  </a:txBody>
                  <a:tcPr>
                    <a:solidFill>
                      <a:srgbClr val="F7FAF7"/>
                    </a:solidFill>
                  </a:tcPr>
                </a:tc>
                <a:tc>
                  <a:txBody>
                    <a:bodyPr/>
                    <a:lstStyle/>
                    <a:p>
                      <a:pPr algn="r">
                        <a:defRPr>
                          <a:latin typeface="Roboto"/>
                        </a:defRPr>
                      </a:pPr>
                      <a:r>
                        <a:rPr sz="1050">
                          <a:solidFill>
                            <a:srgbClr val="25342A"/>
                          </a:solidFill>
                          <a:latin typeface="Roboto"/>
                        </a:rPr>
                        <a:t>$54,366</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$32,115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$86,481</a:t>
                      </a:r>
                    </a:p>
                  </a:txBody>
                  <a:tcPr>
                    <a:solidFill>
                      <a:srgbClr val="F7FAF7"/>
                    </a:solidFill>
                  </a:tcPr>
                </a:tc>
                <a:tc>
                  <a:txBody>
                    <a:bodyPr/>
                    <a:lstStyle/>
                    <a:p>
                      <a:pPr algn="r">
                        <a:defRPr>
                          <a:latin typeface="Roboto"/>
                        </a:defRPr>
                      </a:pPr>
                      <a:r>
                        <a:rPr sz="1050">
                          <a:solidFill>
                            <a:srgbClr val="25342A"/>
                          </a:solidFill>
                          <a:latin typeface="Roboto"/>
                        </a:rPr>
                        <a:t>$54,366</a:t>
                      </a:r>
                    </a:p>
                  </a:txBody>
                  <a:tcPr>
                    <a:solidFill>
                      <a:srgbClr val="F7FAF7"/>
                    </a:solidFill>
                  </a:tcPr>
                </a:tc>
              </a:tr>
              <a:tr h="329184">
                <a:tc>
                  <a:txBody>
                    <a:bodyPr/>
                    <a:lstStyle/>
                    <a:p>
                      <a:pPr>
                        <a:defRPr>
                          <a:latin typeface="Roboto"/>
                        </a:defRPr>
                      </a:pPr>
                      <a:r>
                        <a:rPr sz="1050">
                          <a:solidFill>
                            <a:srgbClr val="25342A"/>
                          </a:solidFill>
                          <a:latin typeface="Roboto"/>
                        </a:rPr>
                        <a:t>2 Nov</a:t>
                      </a:r>
                    </a:p>
                  </a:txBody>
                  <a:tcPr>
                    <a:solidFill>
                      <a:srgbClr val="FFFFFF"/>
                    </a:solidFill>
                  </a:tcPr>
                </a:tc>
                <a:tc>
                  <a:txBody>
                    <a:bodyPr/>
                    <a:lstStyle/>
                    <a:p>
                      <a:pPr algn="r">
                        <a:defRPr>
                          <a:latin typeface="Roboto"/>
                        </a:defRPr>
                      </a:pPr>
                      <a:r>
                        <a:rPr sz="1050">
                          <a:solidFill>
                            <a:srgbClr val="25342A"/>
                          </a:solidFill>
                          <a:latin typeface="Roboto"/>
                        </a:rPr>
                        <a:t>$86,481</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$72,615</a:t>
                      </a:r>
                    </a:p>
                  </a:txBody>
                  <a:tcPr>
                    <a:solidFill>
                      <a:srgbClr val="FFFFFF"/>
                    </a:solidFill>
                  </a:tcPr>
                </a:tc>
                <a:tc>
                  <a:txBody>
                    <a:bodyPr/>
                    <a:lstStyle/>
                    <a:p>
                      <a:pPr algn="r">
                        <a:defRPr>
                          <a:latin typeface="Roboto"/>
                        </a:defRPr>
                      </a:pPr>
                      <a:r>
                        <a:rPr sz="1050">
                          <a:solidFill>
                            <a:srgbClr val="B42318"/>
                          </a:solidFill>
                          <a:latin typeface="Roboto"/>
                        </a:rPr>
                        <a:t>($37,700)</a:t>
                      </a:r>
                    </a:p>
                  </a:txBody>
                  <a:tcPr>
                    <a:solidFill>
                      <a:srgbClr val="FFFFFF"/>
                    </a:solidFill>
                  </a:tcPr>
                </a:tc>
                <a:tc>
                  <a:txBody>
                    <a:bodyPr/>
                    <a:lstStyle/>
                    <a:p>
                      <a:pPr algn="r">
                        <a:defRPr>
                          <a:latin typeface="Roboto"/>
                        </a:defRPr>
                      </a:pPr>
                      <a:r>
                        <a:rPr sz="1050">
                          <a:solidFill>
                            <a:srgbClr val="B42318"/>
                          </a:solidFill>
                          <a:latin typeface="Roboto"/>
                        </a:rPr>
                        <a:t>($46,515)</a:t>
                      </a:r>
                    </a:p>
                  </a:txBody>
                  <a:tcPr>
                    <a:solidFill>
                      <a:srgbClr val="FFFFFF"/>
                    </a:solidFill>
                  </a:tcPr>
                </a:tc>
                <a:tc>
                  <a:txBody>
                    <a:bodyPr/>
                    <a:lstStyle/>
                    <a:p>
                      <a:pPr algn="r">
                        <a:defRPr>
                          <a:latin typeface="Roboto"/>
                        </a:defRPr>
                      </a:pPr>
                      <a:r>
                        <a:rPr sz="1050">
                          <a:solidFill>
                            <a:srgbClr val="B42318"/>
                          </a:solidFill>
                          <a:latin typeface="Roboto"/>
                        </a:rPr>
                        <a:t>($11,612)</a:t>
                      </a:r>
                    </a:p>
                  </a:txBody>
                  <a:tcPr>
                    <a:solidFill>
                      <a:srgbClr val="FFFFFF"/>
                    </a:solidFill>
                  </a:tcPr>
                </a:tc>
                <a:tc>
                  <a:txBody>
                    <a:bodyPr/>
                    <a:lstStyle/>
                    <a:p>
                      <a:pPr algn="r">
                        <a:defRPr>
                          <a:latin typeface="Roboto"/>
                        </a:defRPr>
                      </a:pPr>
                      <a:r>
                        <a:rPr sz="1050">
                          <a:solidFill>
                            <a:srgbClr val="25342A"/>
                          </a:solidFill>
                          <a:latin typeface="Roboto"/>
                        </a:rPr>
                        <a:t>$63,268</a:t>
                      </a:r>
                    </a:p>
                  </a:txBody>
                  <a:tcPr>
                    <a:solidFill>
                      <a:srgbClr val="FFFFFF"/>
                    </a:solidFill>
                  </a:tcPr>
                </a:tc>
                <a:tc>
                  <a:txBody>
                    <a:bodyPr/>
                    <a:lstStyle/>
                    <a:p>
                      <a:pPr algn="r">
                        <a:defRPr>
                          <a:latin typeface="Roboto"/>
                        </a:defRPr>
                      </a:pPr>
                      <a:r>
                        <a:rPr sz="1050">
                          <a:solidFill>
                            <a:srgbClr val="25342A"/>
                          </a:solidFill>
                          <a:latin typeface="Roboto"/>
                        </a:rPr>
                        <a:t>$51,115</a:t>
                      </a:r>
                    </a:p>
                  </a:txBody>
                  <a:tcPr>
                    <a:solidFill>
                      <a:srgbClr val="FFFFFF"/>
                    </a:solidFill>
                  </a:tcPr>
                </a:tc>
              </a:tr>
              <a:tr h="329184">
                <a:tc>
                  <a:txBody>
                    <a:bodyPr/>
                    <a:lstStyle/>
                    <a:p>
                      <a:pPr>
                        <a:defRPr>
                          <a:latin typeface="Roboto"/>
                        </a:defRPr>
                      </a:pPr>
                      <a:r>
                        <a:rPr sz="1050">
                          <a:solidFill>
                            <a:srgbClr val="25342A"/>
                          </a:solidFill>
                          <a:latin typeface="Roboto"/>
                        </a:rPr>
                        <a:t>9 Nov</a:t>
                      </a:r>
                    </a:p>
                  </a:txBody>
                  <a:tcPr>
                    <a:solidFill>
                      <a:srgbClr val="F7FAF7"/>
                    </a:solidFill>
                  </a:tcPr>
                </a:tc>
                <a:tc>
                  <a:txBody>
                    <a:bodyPr/>
                    <a:lstStyle/>
                    <a:p>
                      <a:pPr algn="r">
                        <a:defRPr>
                          <a:latin typeface="Roboto"/>
                        </a:defRPr>
                      </a:pPr>
                      <a:r>
                        <a:rPr sz="1050">
                          <a:solidFill>
                            <a:srgbClr val="25342A"/>
                          </a:solidFill>
                          <a:latin typeface="Roboto"/>
                        </a:rPr>
                        <a:t>$63,268</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$32,115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$95,383</a:t>
                      </a:r>
                    </a:p>
                  </a:txBody>
                  <a:tcPr>
                    <a:solidFill>
                      <a:srgbClr val="F7FAF7"/>
                    </a:solidFill>
                  </a:tcPr>
                </a:tc>
                <a:tc>
                  <a:txBody>
                    <a:bodyPr/>
                    <a:lstStyle/>
                    <a:p>
                      <a:pPr algn="r">
                        <a:defRPr>
                          <a:latin typeface="Roboto"/>
                        </a:defRPr>
                      </a:pPr>
                      <a:r>
                        <a:rPr sz="1050">
                          <a:solidFill>
                            <a:srgbClr val="25342A"/>
                          </a:solidFill>
                          <a:latin typeface="Roboto"/>
                        </a:rPr>
                        <a:t>$63,268</a:t>
                      </a:r>
                    </a:p>
                  </a:txBody>
                  <a:tcPr>
                    <a:solidFill>
                      <a:srgbClr val="F7FAF7"/>
                    </a:solidFill>
                  </a:tcPr>
                </a:tc>
              </a:tr>
              <a:tr h="329184">
                <a:tc>
                  <a:txBody>
                    <a:bodyPr/>
                    <a:lstStyle/>
                    <a:p>
                      <a:pPr>
                        <a:defRPr>
                          <a:latin typeface="Roboto"/>
                        </a:defRPr>
                      </a:pPr>
                      <a:r>
                        <a:rPr sz="1050">
                          <a:solidFill>
                            <a:srgbClr val="25342A"/>
                          </a:solidFill>
                          <a:latin typeface="Roboto"/>
                        </a:rPr>
                        <a:t>16 Nov</a:t>
                      </a:r>
                    </a:p>
                  </a:txBody>
                  <a:tcPr>
                    <a:solidFill>
                      <a:srgbClr val="FFFFFF"/>
                    </a:solidFill>
                  </a:tcPr>
                </a:tc>
                <a:tc>
                  <a:txBody>
                    <a:bodyPr/>
                    <a:lstStyle/>
                    <a:p>
                      <a:pPr algn="r">
                        <a:defRPr>
                          <a:latin typeface="Roboto"/>
                        </a:defRPr>
                      </a:pPr>
                      <a:r>
                        <a:rPr sz="1050">
                          <a:solidFill>
                            <a:srgbClr val="25342A"/>
                          </a:solidFill>
                          <a:latin typeface="Roboto"/>
                        </a:rPr>
                        <a:t>$95,383</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$32,115</a:t>
                      </a:r>
                    </a:p>
                  </a:txBody>
                  <a:tcPr>
                    <a:solidFill>
                      <a:srgbClr val="FFFFFF"/>
                    </a:solidFill>
                  </a:tcPr>
                </a:tc>
                <a:tc>
                  <a:txBody>
                    <a:bodyPr/>
                    <a:lstStyle/>
                    <a:p>
                      <a:pPr algn="r">
                        <a:defRPr>
                          <a:latin typeface="Roboto"/>
                        </a:defRPr>
                      </a:pPr>
                      <a:r>
                        <a:rPr sz="1050">
                          <a:solidFill>
                            <a:srgbClr val="B42318"/>
                          </a:solidFill>
                          <a:latin typeface="Roboto"/>
                        </a:rPr>
                        <a:t>($37,700)</a:t>
                      </a:r>
                    </a:p>
                  </a:txBody>
                  <a:tcPr>
                    <a:solidFill>
                      <a:srgbClr val="FFFFFF"/>
                    </a:solidFill>
                  </a:tcPr>
                </a:tc>
                <a:tc>
                  <a:txBody>
                    <a:bodyPr/>
                    <a:lstStyle/>
                    <a:p>
                      <a:pPr algn="r">
                        <a:defRPr>
                          <a:latin typeface="Roboto"/>
                        </a:defRPr>
                      </a:pPr>
                      <a:r>
                        <a:rPr sz="1050">
                          <a:solidFill>
                            <a:srgbClr val="B42318"/>
                          </a:solidFill>
                          <a:latin typeface="Roboto"/>
                        </a:rPr>
                        <a:t>($46,515)</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$43,283</a:t>
                      </a:r>
                    </a:p>
                  </a:txBody>
                  <a:tcPr>
                    <a:solidFill>
                      <a:srgbClr val="FFFFFF"/>
                    </a:solidFill>
                  </a:tcPr>
                </a:tc>
                <a:tc>
                  <a:txBody>
                    <a:bodyPr/>
                    <a:lstStyle/>
                    <a:p>
                      <a:pPr algn="r">
                        <a:defRPr>
                          <a:latin typeface="Roboto"/>
                        </a:defRPr>
                      </a:pPr>
                      <a:r>
                        <a:rPr sz="1050">
                          <a:solidFill>
                            <a:srgbClr val="25342A"/>
                          </a:solidFill>
                          <a:latin typeface="Roboto"/>
                        </a:rPr>
                        <a:t>$43,283</a:t>
                      </a:r>
                    </a:p>
                  </a:txBody>
                  <a:tcPr>
                    <a:solidFill>
                      <a:srgbClr val="FFFFFF"/>
                    </a:solidFill>
                  </a:tcPr>
                </a:tc>
              </a:tr>
              <a:tr h="329184">
                <a:tc>
                  <a:txBody>
                    <a:bodyPr/>
                    <a:lstStyle/>
                    <a:p>
                      <a:pPr>
                        <a:defRPr>
                          <a:latin typeface="Roboto"/>
                        </a:defRPr>
                      </a:pPr>
                      <a:r>
                        <a:rPr sz="1050">
                          <a:solidFill>
                            <a:srgbClr val="25342A"/>
                          </a:solidFill>
                          <a:latin typeface="Roboto"/>
                        </a:rPr>
                        <a:t>23 Nov</a:t>
                      </a:r>
                    </a:p>
                  </a:txBody>
                  <a:tcPr>
                    <a:solidFill>
                      <a:srgbClr val="F7FAF7"/>
                    </a:solidFill>
                  </a:tcPr>
                </a:tc>
                <a:tc>
                  <a:txBody>
                    <a:bodyPr/>
                    <a:lstStyle/>
                    <a:p>
                      <a:pPr algn="r">
                        <a:defRPr>
                          <a:latin typeface="Roboto"/>
                        </a:defRPr>
                      </a:pPr>
                      <a:r>
                        <a:rPr sz="1050">
                          <a:solidFill>
                            <a:srgbClr val="25342A"/>
                          </a:solidFill>
                          <a:latin typeface="Roboto"/>
                        </a:rPr>
                        <a:t>$43,283</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$32,115</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$0</a:t>
                      </a:r>
                    </a:p>
                  </a:txBody>
                  <a:tcPr>
                    <a:solidFill>
                      <a:srgbClr val="F7FAF7"/>
                    </a:solidFill>
                  </a:tcPr>
                </a:tc>
                <a:tc>
                  <a:txBody>
                    <a:bodyPr/>
                    <a:lstStyle/>
                    <a:p>
                      <a:pPr algn="r">
                        <a:defRPr>
                          <a:latin typeface="Roboto"/>
                        </a:defRPr>
                      </a:pPr>
                      <a:r>
                        <a:rPr sz="1050">
                          <a:solidFill>
                            <a:srgbClr val="25342A"/>
                          </a:solidFill>
                          <a:latin typeface="Roboto"/>
                        </a:rPr>
                        <a:t>$75,398</a:t>
                      </a:r>
                    </a:p>
                  </a:txBody>
                  <a:tcPr>
                    <a:solidFill>
                      <a:srgbClr val="F7FAF7"/>
                    </a:solidFill>
                  </a:tcPr>
                </a:tc>
                <a:tc>
                  <a:txBody>
                    <a:bodyPr/>
                    <a:lstStyle/>
                    <a:p>
                      <a:pPr algn="r">
                        <a:defRPr>
                          <a:latin typeface="Roboto"/>
                        </a:defRPr>
                      </a:pPr>
                      <a:r>
                        <a:rPr sz="1050">
                          <a:solidFill>
                            <a:srgbClr val="25342A"/>
                          </a:solidFill>
                          <a:latin typeface="Roboto"/>
                        </a:rPr>
                        <a:t>$43,283</a:t>
                      </a:r>
                    </a:p>
                  </a:txBody>
                  <a:tcPr>
                    <a:solidFill>
                      <a:srgbClr val="F7FAF7"/>
                    </a:solidFill>
                  </a:tcPr>
                </a:tc>
              </a:tr>
              <a:tr h="329184">
                <a:tc>
                  <a:txBody>
                    <a:bodyPr/>
                    <a:lstStyle/>
                    <a:p>
                      <a:pPr>
                        <a:defRPr>
                          <a:latin typeface="Roboto"/>
                        </a:defRPr>
                      </a:pPr>
                      <a:r>
                        <a:rPr sz="1050">
                          <a:solidFill>
                            <a:srgbClr val="25342A"/>
                          </a:solidFill>
                          <a:latin typeface="Roboto"/>
                        </a:rPr>
                        <a:t>30 Nov</a:t>
                      </a:r>
                    </a:p>
                  </a:txBody>
                  <a:tcPr>
                    <a:solidFill>
                      <a:srgbClr val="FFFFFF"/>
                    </a:solidFill>
                  </a:tcPr>
                </a:tc>
                <a:tc>
                  <a:txBody>
                    <a:bodyPr/>
                    <a:lstStyle/>
                    <a:p>
                      <a:pPr algn="r">
                        <a:defRPr>
                          <a:latin typeface="Roboto"/>
                        </a:defRPr>
                      </a:pPr>
                      <a:r>
                        <a:rPr sz="1050">
                          <a:solidFill>
                            <a:srgbClr val="25342A"/>
                          </a:solidFill>
                          <a:latin typeface="Roboto"/>
                        </a:rPr>
                        <a:t>$75,398</a:t>
                      </a:r>
                    </a:p>
                  </a:txBody>
                  <a:tcPr>
                    <a:solidFill>
                      <a:srgbClr val="FFFFFF"/>
                    </a:solidFill>
                  </a:tcPr>
                </a:tc>
                <a:tc>
                  <a:txBody>
                    <a:bodyPr/>
                    <a:lstStyle/>
                    <a:p>
                      <a:pPr algn="r">
                        <a:defRPr>
                          <a:latin typeface="Roboto"/>
                        </a:defRPr>
                      </a:pPr>
                      <a:r>
                        <a:rPr sz="1050">
                          <a:solidFill>
                            <a:srgbClr val="25342A"/>
                          </a:solidFill>
                          <a:latin typeface="Roboto"/>
                        </a:rPr>
                        <a:t>$0</a:t>
                      </a:r>
                    </a:p>
                  </a:txBody>
                  <a:tcPr>
                    <a:solidFill>
                      <a:srgbClr val="FFFFFF"/>
                    </a:solidFill>
                  </a:tcPr>
                </a:tc>
                <a:tc>
                  <a:txBody>
                    <a:bodyPr/>
                    <a:lstStyle/>
                    <a:p>
                      <a:pPr algn="r">
                        <a:defRPr>
                          <a:latin typeface="Roboto"/>
                        </a:defRPr>
                      </a:pPr>
                      <a:r>
                        <a:rPr sz="1050">
                          <a:solidFill>
                            <a:srgbClr val="25342A"/>
                          </a:solidFill>
                          <a:latin typeface="Roboto"/>
                        </a:rPr>
                        <a:t>$32,115</a:t>
                      </a:r>
                    </a:p>
                  </a:txBody>
                  <a:tcPr>
                    <a:solidFill>
                      <a:srgbClr val="FFFFFF"/>
                    </a:solidFill>
                  </a:tcPr>
                </a:tc>
                <a:tc>
                  <a:txBody>
                    <a:bodyPr/>
                    <a:lstStyle/>
                    <a:p>
                      <a:pPr algn="r">
                        <a:defRPr>
                          <a:latin typeface="Roboto"/>
                        </a:defRPr>
                      </a:pPr>
                      <a:r>
                        <a:rPr sz="1050">
                          <a:solidFill>
                            <a:srgbClr val="B42318"/>
                          </a:solidFill>
                          <a:latin typeface="Roboto"/>
                        </a:rPr>
                        <a:t>($37,700)</a:t>
                      </a:r>
                    </a:p>
                  </a:txBody>
                  <a:tcPr>
                    <a:solidFill>
                      <a:srgbClr val="FFFFFF"/>
                    </a:solidFill>
                  </a:tcPr>
                </a:tc>
                <a:tc>
                  <a:txBody>
                    <a:bodyPr/>
                    <a:lstStyle/>
                    <a:p>
                      <a:pPr algn="r">
                        <a:defRPr>
                          <a:latin typeface="Roboto"/>
                        </a:defRPr>
                      </a:pPr>
                      <a:r>
                        <a:rPr sz="1050">
                          <a:solidFill>
                            <a:srgbClr val="B42318"/>
                          </a:solidFill>
                          <a:latin typeface="Roboto"/>
                        </a:rPr>
                        <a:t>($46,515)</a:t>
                      </a:r>
                    </a:p>
                  </a:txBody>
                  <a:tcPr>
                    <a:solidFill>
                      <a:srgbClr val="FFFFFF"/>
                    </a:solidFill>
                  </a:tcPr>
                </a:tc>
                <a:tc>
                  <a:txBody>
                    <a:bodyPr/>
                    <a:lstStyle/>
                    <a:p>
                      <a:pPr algn="r">
                        <a:defRPr>
                          <a:latin typeface="Roboto"/>
                        </a:defRPr>
                      </a:pPr>
                      <a:r>
                        <a:rPr sz="1050">
                          <a:solidFill>
                            <a:srgbClr val="B42318"/>
                          </a:solidFill>
                          <a:latin typeface="Roboto"/>
                        </a:rPr>
                        <a:t>($6,100)</a:t>
                      </a:r>
                    </a:p>
                  </a:txBody>
                  <a:tcPr>
                    <a:solidFill>
                      <a:srgbClr val="FFFFFF"/>
                    </a:solidFill>
                  </a:tcPr>
                </a:tc>
                <a:tc>
                  <a:txBody>
                    <a:bodyPr/>
                    <a:lstStyle/>
                    <a:p>
                      <a:pPr algn="r">
                        <a:defRPr>
                          <a:latin typeface="Roboto"/>
                        </a:defRPr>
                      </a:pPr>
                      <a:r>
                        <a:rPr sz="1050">
                          <a:solidFill>
                            <a:srgbClr val="25342A"/>
                          </a:solidFill>
                          <a:latin typeface="Roboto"/>
                        </a:rPr>
                        <a:t>$17,198</a:t>
                      </a:r>
                    </a:p>
                  </a:txBody>
                  <a:tcPr>
                    <a:solidFill>
                      <a:srgbClr val="FFFFFF"/>
                    </a:solidFill>
                  </a:tcPr>
                </a:tc>
                <a:tc>
                  <a:txBody>
                    <a:bodyPr/>
                    <a:lstStyle/>
                    <a:p>
                      <a:pPr algn="r">
                        <a:defRPr>
                          <a:latin typeface="Roboto"/>
                        </a:defRPr>
                      </a:pPr>
                      <a:r>
                        <a:rPr sz="1050">
                          <a:solidFill>
                            <a:srgbClr val="25342A"/>
                          </a:solidFill>
                          <a:latin typeface="Roboto"/>
                        </a:rPr>
                        <a:t>$17,198</a:t>
                      </a:r>
                    </a:p>
                  </a:txBody>
                  <a:tcPr>
                    <a:solidFill>
                      <a:srgbClr val="FFFFFF"/>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Sample Electrical &amp; Air Pty Ltd · Will cash cover payroll next month?</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Invoices past the customer's usual payment date ($20,219)</a:t>
            </a:r>
          </a:p>
        </p:txBody>
      </p:sp>
      <p:graphicFrame>
        <p:nvGraphicFramePr>
          <p:cNvPr id="5" name="Table 4"/>
          <p:cNvGraphicFramePr>
            <a:graphicFrameLocks noGrp="1"/>
          </p:cNvGraphicFramePr>
          <p:nvPr/>
        </p:nvGraphicFramePr>
        <p:xfrm>
          <a:off x="457200" y="1188720"/>
          <a:ext cx="11247120" cy="3621024"/>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329184">
                <a:tc>
                  <a:txBody>
                    <a:bodyPr/>
                    <a:lstStyle/>
                    <a:p>
                      <a:pPr>
                        <a:defRPr>
                          <a:latin typeface="Roboto"/>
                        </a:defRPr>
                      </a:pPr>
                      <a:r>
                        <a:rPr sz="1100" b="1">
                          <a:solidFill>
                            <a:srgbClr val="FFFFFF"/>
                          </a:solidFill>
                          <a:latin typeface="Roboto"/>
                        </a:rPr>
                        <a:t>Customer or job</a:t>
                      </a:r>
                    </a:p>
                  </a:txBody>
                  <a:tcPr>
                    <a:solidFill>
                      <a:srgbClr val="2F7A5D"/>
                    </a:solidFill>
                  </a:tcPr>
                </a:tc>
                <a:tc>
                  <a:txBody>
                    <a:bodyPr/>
                    <a:lstStyle/>
                    <a:p>
                      <a:pPr algn="r">
                        <a:defRPr>
                          <a:latin typeface="Roboto"/>
                        </a:defRPr>
                      </a:pPr>
                      <a:r>
                        <a:rPr sz="1100" b="1">
                          <a:solidFill>
                            <a:srgbClr val="FFFFFF"/>
                          </a:solidFill>
                          <a:latin typeface="Roboto"/>
                        </a:rPr>
                        <a:t>Invoiced</a:t>
                      </a:r>
                    </a:p>
                  </a:txBody>
                  <a:tcPr>
                    <a:solidFill>
                      <a:srgbClr val="2F7A5D"/>
                    </a:solidFill>
                  </a:tcPr>
                </a:tc>
                <a:tc>
                  <a:txBody>
                    <a:bodyPr/>
                    <a:lstStyle/>
                    <a:p>
                      <a:pPr algn="r">
                        <a:defRPr>
                          <a:latin typeface="Roboto"/>
                        </a:defRPr>
                      </a:pPr>
                      <a:r>
                        <a:rPr sz="1100" b="1">
                          <a:solidFill>
                            <a:srgbClr val="FFFFFF"/>
                          </a:solidFill>
                          <a:latin typeface="Roboto"/>
                        </a:rPr>
                        <a:t>Amount</a:t>
                      </a:r>
                    </a:p>
                  </a:txBody>
                  <a:tcPr>
                    <a:solidFill>
                      <a:srgbClr val="2F7A5D"/>
                    </a:solidFill>
                  </a:tcPr>
                </a:tc>
                <a:tc>
                  <a:txBody>
                    <a:bodyPr/>
                    <a:lstStyle/>
                    <a:p>
                      <a:pPr algn="r">
                        <a:defRPr>
                          <a:latin typeface="Roboto"/>
                        </a:defRPr>
                      </a:pPr>
                      <a:r>
                        <a:rPr sz="1100" b="1">
                          <a:solidFill>
                            <a:srgbClr val="FFFFFF"/>
                          </a:solidFill>
                          <a:latin typeface="Roboto"/>
                        </a:rPr>
                        <a:t>Usually pays in (days)</a:t>
                      </a:r>
                    </a:p>
                  </a:txBody>
                  <a:tcPr>
                    <a:solidFill>
                      <a:srgbClr val="2F7A5D"/>
                    </a:solidFill>
                  </a:tcPr>
                </a:tc>
                <a:tc>
                  <a:txBody>
                    <a:bodyPr/>
                    <a:lstStyle/>
                    <a:p>
                      <a:pPr algn="r">
                        <a:defRPr>
                          <a:latin typeface="Roboto"/>
                        </a:defRPr>
                      </a:pPr>
                      <a:r>
                        <a:rPr sz="1100" b="1">
                          <a:solidFill>
                            <a:srgbClr val="FFFFFF"/>
                          </a:solidFill>
                          <a:latin typeface="Roboto"/>
                        </a:rPr>
                        <a:t>Days since invoiced</a:t>
                      </a:r>
                    </a:p>
                  </a:txBody>
                  <a:tcPr>
                    <a:solidFill>
                      <a:srgbClr val="2F7A5D"/>
                    </a:solidFill>
                  </a:tcPr>
                </a:tc>
              </a:tr>
              <a:tr h="329184">
                <a:tc>
                  <a:txBody>
                    <a:bodyPr/>
                    <a:lstStyle/>
                    <a:p>
                      <a:pPr>
                        <a:defRPr>
                          <a:latin typeface="Roboto"/>
                        </a:defRPr>
                      </a:pPr>
                      <a:r>
                        <a:rPr sz="1050">
                          <a:solidFill>
                            <a:srgbClr val="25342A"/>
                          </a:solidFill>
                          <a:latin typeface="Roboto"/>
                        </a:rPr>
                        <a:t>Chermside retail centre</a:t>
                      </a:r>
                    </a:p>
                  </a:txBody>
                  <a:tcPr>
                    <a:solidFill>
                      <a:srgbClr val="FFFFFF"/>
                    </a:solidFill>
                  </a:tcPr>
                </a:tc>
                <a:tc>
                  <a:txBody>
                    <a:bodyPr/>
                    <a:lstStyle/>
                    <a:p>
                      <a:pPr algn="r">
                        <a:defRPr>
                          <a:latin typeface="Roboto"/>
                        </a:defRPr>
                      </a:pPr>
                      <a:r>
                        <a:rPr sz="1050">
                          <a:solidFill>
                            <a:srgbClr val="25342A"/>
                          </a:solidFill>
                          <a:latin typeface="Roboto"/>
                        </a:rPr>
                        <a:t>1 Aug</a:t>
                      </a:r>
                    </a:p>
                  </a:txBody>
                  <a:tcPr>
                    <a:solidFill>
                      <a:srgbClr val="FFFFFF"/>
                    </a:solidFill>
                  </a:tcPr>
                </a:tc>
                <a:tc>
                  <a:txBody>
                    <a:bodyPr/>
                    <a:lstStyle/>
                    <a:p>
                      <a:pPr algn="r">
                        <a:defRPr>
                          <a:latin typeface="Roboto"/>
                        </a:defRPr>
                      </a:pPr>
                      <a:r>
                        <a:rPr sz="1050">
                          <a:solidFill>
                            <a:srgbClr val="25342A"/>
                          </a:solidFill>
                          <a:latin typeface="Roboto"/>
                        </a:rPr>
                        <a:t>$4,100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r>
              <a:tr h="329184">
                <a:tc>
                  <a:txBody>
                    <a:bodyPr/>
                    <a:lstStyle/>
                    <a:p>
                      <a:pPr>
                        <a:defRPr>
                          <a:latin typeface="Roboto"/>
                        </a:defRPr>
                      </a:pPr>
                      <a:r>
                        <a:rPr sz="1050">
                          <a:solidFill>
                            <a:srgbClr val="25342A"/>
                          </a:solidFill>
                          <a:latin typeface="Roboto"/>
                        </a:rPr>
                        <a:t>Rocklea factory</a:t>
                      </a:r>
                    </a:p>
                  </a:txBody>
                  <a:tcPr>
                    <a:solidFill>
                      <a:srgbClr val="F7FAF7"/>
                    </a:solidFill>
                  </a:tcPr>
                </a:tc>
                <a:tc>
                  <a:txBody>
                    <a:bodyPr/>
                    <a:lstStyle/>
                    <a:p>
                      <a:pPr algn="r">
                        <a:defRPr>
                          <a:latin typeface="Roboto"/>
                        </a:defRPr>
                      </a:pPr>
                      <a:r>
                        <a:rPr sz="1050">
                          <a:solidFill>
                            <a:srgbClr val="25342A"/>
                          </a:solidFill>
                          <a:latin typeface="Roboto"/>
                        </a:rPr>
                        <a:t>1 Aug</a:t>
                      </a:r>
                    </a:p>
                  </a:txBody>
                  <a:tcPr>
                    <a:solidFill>
                      <a:srgbClr val="F7FAF7"/>
                    </a:solidFill>
                  </a:tcPr>
                </a:tc>
                <a:tc>
                  <a:txBody>
                    <a:bodyPr/>
                    <a:lstStyle/>
                    <a:p>
                      <a:pPr algn="r">
                        <a:defRPr>
                          <a:latin typeface="Roboto"/>
                        </a:defRPr>
                      </a:pPr>
                      <a:r>
                        <a:rPr sz="1050">
                          <a:solidFill>
                            <a:srgbClr val="25342A"/>
                          </a:solidFill>
                          <a:latin typeface="Roboto"/>
                        </a:rPr>
                        <a:t>$3,900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r>
              <a:tr h="329184">
                <a:tc>
                  <a:txBody>
                    <a:bodyPr/>
                    <a:lstStyle/>
                    <a:p>
                      <a:pPr>
                        <a:defRPr>
                          <a:latin typeface="Roboto"/>
                        </a:defRPr>
                      </a:pPr>
                      <a:r>
                        <a:rPr sz="1050">
                          <a:solidFill>
                            <a:srgbClr val="25342A"/>
                          </a:solidFill>
                          <a:latin typeface="Roboto"/>
                        </a:rPr>
                        <a:t>Riverside Apartments (strata)</a:t>
                      </a:r>
                    </a:p>
                  </a:txBody>
                  <a:tcPr>
                    <a:solidFill>
                      <a:srgbClr val="FFFFFF"/>
                    </a:solidFill>
                  </a:tcPr>
                </a:tc>
                <a:tc>
                  <a:txBody>
                    <a:bodyPr/>
                    <a:lstStyle/>
                    <a:p>
                      <a:pPr algn="r">
                        <a:defRPr>
                          <a:latin typeface="Roboto"/>
                        </a:defRPr>
                      </a:pPr>
                      <a:r>
                        <a:rPr sz="1050">
                          <a:solidFill>
                            <a:srgbClr val="25342A"/>
                          </a:solidFill>
                          <a:latin typeface="Roboto"/>
                        </a:rPr>
                        <a:t>1 Aug</a:t>
                      </a:r>
                    </a:p>
                  </a:txBody>
                  <a:tcPr>
                    <a:solidFill>
                      <a:srgbClr val="FFFFFF"/>
                    </a:solidFill>
                  </a:tcPr>
                </a:tc>
                <a:tc>
                  <a:txBody>
                    <a:bodyPr/>
                    <a:lstStyle/>
                    <a:p>
                      <a:pPr algn="r">
                        <a:defRPr>
                          <a:latin typeface="Roboto"/>
                        </a:defRPr>
                      </a:pPr>
                      <a:r>
                        <a:rPr sz="1050">
                          <a:solidFill>
                            <a:srgbClr val="25342A"/>
                          </a:solidFill>
                          <a:latin typeface="Roboto"/>
                        </a:rPr>
                        <a:t>$3,200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c>
                  <a:txBody>
                    <a:bodyPr/>
                    <a:lstStyle/>
                    <a:p>
                      <a:pPr algn="r">
                        <a:defRPr>
                          <a:latin typeface="Roboto"/>
                        </a:defRPr>
                      </a:pPr>
                      <a:r>
                        <a:rPr sz="1050">
                          <a:solidFill>
                            <a:srgbClr val="25342A"/>
                          </a:solidFill>
                          <a:latin typeface="Roboto"/>
                        </a:rPr>
                        <a:t>30</a:t>
                      </a:r>
                    </a:p>
                  </a:txBody>
                  <a:tcPr>
                    <a:solidFill>
                      <a:srgbClr val="FFFFFF"/>
                    </a:solidFill>
                  </a:tcPr>
                </a:tc>
              </a:tr>
              <a:tr h="329184">
                <a:tc>
                  <a:txBody>
                    <a:bodyPr/>
                    <a:lstStyle/>
                    <a:p>
                      <a:pPr>
                        <a:defRPr>
                          <a:latin typeface="Roboto"/>
                        </a:defRPr>
                      </a:pPr>
                      <a:r>
                        <a:rPr sz="1050">
                          <a:solidFill>
                            <a:srgbClr val="25342A"/>
                          </a:solidFill>
                          <a:latin typeface="Roboto"/>
                        </a:rPr>
                        <a:t>Wacol logistics depot</a:t>
                      </a:r>
                    </a:p>
                  </a:txBody>
                  <a:tcPr>
                    <a:solidFill>
                      <a:srgbClr val="F7FAF7"/>
                    </a:solidFill>
                  </a:tcPr>
                </a:tc>
                <a:tc>
                  <a:txBody>
                    <a:bodyPr/>
                    <a:lstStyle/>
                    <a:p>
                      <a:pPr algn="r">
                        <a:defRPr>
                          <a:latin typeface="Roboto"/>
                        </a:defRPr>
                      </a:pPr>
                      <a:r>
                        <a:rPr sz="1050">
                          <a:solidFill>
                            <a:srgbClr val="25342A"/>
                          </a:solidFill>
                          <a:latin typeface="Roboto"/>
                        </a:rPr>
                        <a:t>1 Aug</a:t>
                      </a:r>
                    </a:p>
                  </a:txBody>
                  <a:tcPr>
                    <a:solidFill>
                      <a:srgbClr val="F7FAF7"/>
                    </a:solidFill>
                  </a:tcPr>
                </a:tc>
                <a:tc>
                  <a:txBody>
                    <a:bodyPr/>
                    <a:lstStyle/>
                    <a:p>
                      <a:pPr algn="r">
                        <a:defRPr>
                          <a:latin typeface="Roboto"/>
                        </a:defRPr>
                      </a:pPr>
                      <a:r>
                        <a:rPr sz="1050">
                          <a:solidFill>
                            <a:srgbClr val="25342A"/>
                          </a:solidFill>
                          <a:latin typeface="Roboto"/>
                        </a:rPr>
                        <a:t>$3,000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c>
                  <a:txBody>
                    <a:bodyPr/>
                    <a:lstStyle/>
                    <a:p>
                      <a:pPr algn="r">
                        <a:defRPr>
                          <a:latin typeface="Roboto"/>
                        </a:defRPr>
                      </a:pPr>
                      <a:r>
                        <a:rPr sz="1050">
                          <a:solidFill>
                            <a:srgbClr val="25342A"/>
                          </a:solidFill>
                          <a:latin typeface="Roboto"/>
                        </a:rPr>
                        <a:t>30</a:t>
                      </a:r>
                    </a:p>
                  </a:txBody>
                  <a:tcPr>
                    <a:solidFill>
                      <a:srgbClr val="F7FAF7"/>
                    </a:solidFill>
                  </a:tcPr>
                </a:tc>
              </a:tr>
              <a:tr h="329184">
                <a:tc>
                  <a:txBody>
                    <a:bodyPr/>
                    <a:lstStyle/>
                    <a:p>
                      <a:pPr>
                        <a:defRPr>
                          <a:latin typeface="Roboto"/>
                        </a:defRPr>
                      </a:pPr>
                      <a:r>
                        <a:rPr sz="1050">
                          <a:solidFill>
                            <a:srgbClr val="25342A"/>
                          </a:solidFill>
                          <a:latin typeface="Roboto"/>
                        </a:rPr>
                        <a:t>Call-out 1, August</a:t>
                      </a:r>
                    </a:p>
                  </a:txBody>
                  <a:tcPr>
                    <a:solidFill>
                      <a:srgbClr val="FFFFFF"/>
                    </a:solidFill>
                  </a:tcPr>
                </a:tc>
                <a:tc>
                  <a:txBody>
                    <a:bodyPr/>
                    <a:lstStyle/>
                    <a:p>
                      <a:pPr algn="r">
                        <a:defRPr>
                          <a:latin typeface="Roboto"/>
                        </a:defRPr>
                      </a:pPr>
                      <a:r>
                        <a:rPr sz="1050">
                          <a:solidFill>
                            <a:srgbClr val="25342A"/>
                          </a:solidFill>
                          <a:latin typeface="Roboto"/>
                        </a:rPr>
                        <a:t>24 Aug</a:t>
                      </a:r>
                    </a:p>
                  </a:txBody>
                  <a:tcPr>
                    <a:solidFill>
                      <a:srgbClr val="FFFFFF"/>
                    </a:solidFill>
                  </a:tcPr>
                </a:tc>
                <a:tc>
                  <a:txBody>
                    <a:bodyPr/>
                    <a:lstStyle/>
                    <a:p>
                      <a:pPr algn="r">
                        <a:defRPr>
                          <a:latin typeface="Roboto"/>
                        </a:defRPr>
                      </a:pPr>
                      <a:r>
                        <a:rPr sz="1050">
                          <a:solidFill>
                            <a:srgbClr val="25342A"/>
                          </a:solidFill>
                          <a:latin typeface="Roboto"/>
                        </a:rPr>
                        <a:t>$853</a:t>
                      </a:r>
                    </a:p>
                  </a:txBody>
                  <a:tcPr>
                    <a:solidFill>
                      <a:srgbClr val="FFFFFF"/>
                    </a:solidFill>
                  </a:tcPr>
                </a:tc>
                <a:tc>
                  <a:txBody>
                    <a:bodyPr/>
                    <a:lstStyle/>
                    <a:p>
                      <a:pPr algn="r">
                        <a:defRPr>
                          <a:latin typeface="Roboto"/>
                        </a:defRPr>
                      </a:pPr>
                      <a:r>
                        <a:rPr sz="1050">
                          <a:solidFill>
                            <a:srgbClr val="25342A"/>
                          </a:solidFill>
                          <a:latin typeface="Roboto"/>
                        </a:rPr>
                        <a:t>2</a:t>
                      </a:r>
                    </a:p>
                  </a:txBody>
                  <a:tcPr>
                    <a:solidFill>
                      <a:srgbClr val="FFFFFF"/>
                    </a:solidFill>
                  </a:tcPr>
                </a:tc>
                <a:tc>
                  <a:txBody>
                    <a:bodyPr/>
                    <a:lstStyle/>
                    <a:p>
                      <a:pPr algn="r">
                        <a:defRPr>
                          <a:latin typeface="Roboto"/>
                        </a:defRPr>
                      </a:pPr>
                      <a:r>
                        <a:rPr sz="1050">
                          <a:solidFill>
                            <a:srgbClr val="25342A"/>
                          </a:solidFill>
                          <a:latin typeface="Roboto"/>
                        </a:rPr>
                        <a:t>7</a:t>
                      </a:r>
                    </a:p>
                  </a:txBody>
                  <a:tcPr>
                    <a:solidFill>
                      <a:srgbClr val="FFFFFF"/>
                    </a:solidFill>
                  </a:tcPr>
                </a:tc>
              </a:tr>
              <a:tr h="329184">
                <a:tc>
                  <a:txBody>
                    <a:bodyPr/>
                    <a:lstStyle/>
                    <a:p>
                      <a:pPr>
                        <a:defRPr>
                          <a:latin typeface="Roboto"/>
                        </a:defRPr>
                      </a:pPr>
                      <a:r>
                        <a:rPr sz="1050">
                          <a:solidFill>
                            <a:srgbClr val="25342A"/>
                          </a:solidFill>
                          <a:latin typeface="Roboto"/>
                        </a:rPr>
                        <a:t>Call-out 16, August</a:t>
                      </a:r>
                    </a:p>
                  </a:txBody>
                  <a:tcPr>
                    <a:solidFill>
                      <a:srgbClr val="F7FAF7"/>
                    </a:solidFill>
                  </a:tcPr>
                </a:tc>
                <a:tc>
                  <a:txBody>
                    <a:bodyPr/>
                    <a:lstStyle/>
                    <a:p>
                      <a:pPr algn="r">
                        <a:defRPr>
                          <a:latin typeface="Roboto"/>
                        </a:defRPr>
                      </a:pPr>
                      <a:r>
                        <a:rPr sz="1050">
                          <a:solidFill>
                            <a:srgbClr val="25342A"/>
                          </a:solidFill>
                          <a:latin typeface="Roboto"/>
                        </a:rPr>
                        <a:t>22 Aug</a:t>
                      </a:r>
                    </a:p>
                  </a:txBody>
                  <a:tcPr>
                    <a:solidFill>
                      <a:srgbClr val="F7FAF7"/>
                    </a:solidFill>
                  </a:tcPr>
                </a:tc>
                <a:tc>
                  <a:txBody>
                    <a:bodyPr/>
                    <a:lstStyle/>
                    <a:p>
                      <a:pPr algn="r">
                        <a:defRPr>
                          <a:latin typeface="Roboto"/>
                        </a:defRPr>
                      </a:pPr>
                      <a:r>
                        <a:rPr sz="1050">
                          <a:solidFill>
                            <a:srgbClr val="25342A"/>
                          </a:solidFill>
                          <a:latin typeface="Roboto"/>
                        </a:rPr>
                        <a:t>$840</a:t>
                      </a:r>
                    </a:p>
                  </a:txBody>
                  <a:tcPr>
                    <a:solidFill>
                      <a:srgbClr val="F7FAF7"/>
                    </a:solidFill>
                  </a:tcPr>
                </a:tc>
                <a:tc>
                  <a:txBody>
                    <a:bodyPr/>
                    <a:lstStyle/>
                    <a:p>
                      <a:pPr algn="r">
                        <a:defRPr>
                          <a:latin typeface="Roboto"/>
                        </a:defRPr>
                      </a:pPr>
                      <a:r>
                        <a:rPr sz="1050">
                          <a:solidFill>
                            <a:srgbClr val="25342A"/>
                          </a:solidFill>
                          <a:latin typeface="Roboto"/>
                        </a:rPr>
                        <a:t>2</a:t>
                      </a:r>
                    </a:p>
                  </a:txBody>
                  <a:tcPr>
                    <a:solidFill>
                      <a:srgbClr val="F7FAF7"/>
                    </a:solidFill>
                  </a:tcPr>
                </a:tc>
                <a:tc>
                  <a:txBody>
                    <a:bodyPr/>
                    <a:lstStyle/>
                    <a:p>
                      <a:pPr algn="r">
                        <a:defRPr>
                          <a:latin typeface="Roboto"/>
                        </a:defRPr>
                      </a:pPr>
                      <a:r>
                        <a:rPr sz="1050">
                          <a:solidFill>
                            <a:srgbClr val="25342A"/>
                          </a:solidFill>
                          <a:latin typeface="Roboto"/>
                        </a:rPr>
                        <a:t>9</a:t>
                      </a:r>
                    </a:p>
                  </a:txBody>
                  <a:tcPr>
                    <a:solidFill>
                      <a:srgbClr val="F7FAF7"/>
                    </a:solidFill>
                  </a:tcPr>
                </a:tc>
              </a:tr>
              <a:tr h="329184">
                <a:tc>
                  <a:txBody>
                    <a:bodyPr/>
                    <a:lstStyle/>
                    <a:p>
                      <a:pPr>
                        <a:defRPr>
                          <a:latin typeface="Roboto"/>
                        </a:defRPr>
                      </a:pPr>
                      <a:r>
                        <a:rPr sz="1050">
                          <a:solidFill>
                            <a:srgbClr val="25342A"/>
                          </a:solidFill>
                          <a:latin typeface="Roboto"/>
                        </a:rPr>
                        <a:t>Call-out 14, August</a:t>
                      </a:r>
                    </a:p>
                  </a:txBody>
                  <a:tcPr>
                    <a:solidFill>
                      <a:srgbClr val="FFFFFF"/>
                    </a:solidFill>
                  </a:tcPr>
                </a:tc>
                <a:tc>
                  <a:txBody>
                    <a:bodyPr/>
                    <a:lstStyle/>
                    <a:p>
                      <a:pPr algn="r">
                        <a:defRPr>
                          <a:latin typeface="Roboto"/>
                        </a:defRPr>
                      </a:pPr>
                      <a:r>
                        <a:rPr sz="1050">
                          <a:solidFill>
                            <a:srgbClr val="25342A"/>
                          </a:solidFill>
                          <a:latin typeface="Roboto"/>
                        </a:rPr>
                        <a:t>5 Aug</a:t>
                      </a:r>
                    </a:p>
                  </a:txBody>
                  <a:tcPr>
                    <a:solidFill>
                      <a:srgbClr val="FFFFFF"/>
                    </a:solidFill>
                  </a:tcPr>
                </a:tc>
                <a:tc>
                  <a:txBody>
                    <a:bodyPr/>
                    <a:lstStyle/>
                    <a:p>
                      <a:pPr algn="r">
                        <a:defRPr>
                          <a:latin typeface="Roboto"/>
                        </a:defRPr>
                      </a:pPr>
                      <a:r>
                        <a:rPr sz="1050">
                          <a:solidFill>
                            <a:srgbClr val="25342A"/>
                          </a:solidFill>
                          <a:latin typeface="Roboto"/>
                        </a:rPr>
                        <a:t>$695</a:t>
                      </a:r>
                    </a:p>
                  </a:txBody>
                  <a:tcPr>
                    <a:solidFill>
                      <a:srgbClr val="FFFFFF"/>
                    </a:solidFill>
                  </a:tcPr>
                </a:tc>
                <a:tc>
                  <a:txBody>
                    <a:bodyPr/>
                    <a:lstStyle/>
                    <a:p>
                      <a:pPr algn="r">
                        <a:defRPr>
                          <a:latin typeface="Roboto"/>
                        </a:defRPr>
                      </a:pPr>
                      <a:r>
                        <a:rPr sz="1050">
                          <a:solidFill>
                            <a:srgbClr val="25342A"/>
                          </a:solidFill>
                          <a:latin typeface="Roboto"/>
                        </a:rPr>
                        <a:t>2</a:t>
                      </a:r>
                    </a:p>
                  </a:txBody>
                  <a:tcPr>
                    <a:solidFill>
                      <a:srgbClr val="FFFFFF"/>
                    </a:solidFill>
                  </a:tcPr>
                </a:tc>
                <a:tc>
                  <a:txBody>
                    <a:bodyPr/>
                    <a:lstStyle/>
                    <a:p>
                      <a:pPr algn="r">
                        <a:defRPr>
                          <a:latin typeface="Roboto"/>
                        </a:defRPr>
                      </a:pPr>
                      <a:r>
                        <a:rPr sz="1050">
                          <a:solidFill>
                            <a:srgbClr val="25342A"/>
                          </a:solidFill>
                          <a:latin typeface="Roboto"/>
                        </a:rPr>
                        <a:t>26</a:t>
                      </a:r>
                    </a:p>
                  </a:txBody>
                  <a:tcPr>
                    <a:solidFill>
                      <a:srgbClr val="FFFFFF"/>
                    </a:solidFill>
                  </a:tcPr>
                </a:tc>
              </a:tr>
              <a:tr h="329184">
                <a:tc>
                  <a:txBody>
                    <a:bodyPr/>
                    <a:lstStyle/>
                    <a:p>
                      <a:pPr>
                        <a:defRPr>
                          <a:latin typeface="Roboto"/>
                        </a:defRPr>
                      </a:pPr>
                      <a:r>
                        <a:rPr sz="1050">
                          <a:solidFill>
                            <a:srgbClr val="25342A"/>
                          </a:solidFill>
                          <a:latin typeface="Roboto"/>
                        </a:rPr>
                        <a:t>Call-out 38, August</a:t>
                      </a:r>
                    </a:p>
                  </a:txBody>
                  <a:tcPr>
                    <a:solidFill>
                      <a:srgbClr val="F7FAF7"/>
                    </a:solidFill>
                  </a:tcPr>
                </a:tc>
                <a:tc>
                  <a:txBody>
                    <a:bodyPr/>
                    <a:lstStyle/>
                    <a:p>
                      <a:pPr algn="r">
                        <a:defRPr>
                          <a:latin typeface="Roboto"/>
                        </a:defRPr>
                      </a:pPr>
                      <a:r>
                        <a:rPr sz="1050">
                          <a:solidFill>
                            <a:srgbClr val="25342A"/>
                          </a:solidFill>
                          <a:latin typeface="Roboto"/>
                        </a:rPr>
                        <a:t>25 Aug</a:t>
                      </a:r>
                    </a:p>
                  </a:txBody>
                  <a:tcPr>
                    <a:solidFill>
                      <a:srgbClr val="F7FAF7"/>
                    </a:solidFill>
                  </a:tcPr>
                </a:tc>
                <a:tc>
                  <a:txBody>
                    <a:bodyPr/>
                    <a:lstStyle/>
                    <a:p>
                      <a:pPr algn="r">
                        <a:defRPr>
                          <a:latin typeface="Roboto"/>
                        </a:defRPr>
                      </a:pPr>
                      <a:r>
                        <a:rPr sz="1050">
                          <a:solidFill>
                            <a:srgbClr val="25342A"/>
                          </a:solidFill>
                          <a:latin typeface="Roboto"/>
                        </a:rPr>
                        <a:t>$656</a:t>
                      </a:r>
                    </a:p>
                  </a:txBody>
                  <a:tcPr>
                    <a:solidFill>
                      <a:srgbClr val="F7FAF7"/>
                    </a:solidFill>
                  </a:tcPr>
                </a:tc>
                <a:tc>
                  <a:txBody>
                    <a:bodyPr/>
                    <a:lstStyle/>
                    <a:p>
                      <a:pPr algn="r">
                        <a:defRPr>
                          <a:latin typeface="Roboto"/>
                        </a:defRPr>
                      </a:pPr>
                      <a:r>
                        <a:rPr sz="1050">
                          <a:solidFill>
                            <a:srgbClr val="25342A"/>
                          </a:solidFill>
                          <a:latin typeface="Roboto"/>
                        </a:rPr>
                        <a:t>2</a:t>
                      </a:r>
                    </a:p>
                  </a:txBody>
                  <a:tcPr>
                    <a:solidFill>
                      <a:srgbClr val="F7FAF7"/>
                    </a:solidFill>
                  </a:tcPr>
                </a:tc>
                <a:tc>
                  <a:txBody>
                    <a:bodyPr/>
                    <a:lstStyle/>
                    <a:p>
                      <a:pPr algn="r">
                        <a:defRPr>
                          <a:latin typeface="Roboto"/>
                        </a:defRPr>
                      </a:pPr>
                      <a:r>
                        <a:rPr sz="1050">
                          <a:solidFill>
                            <a:srgbClr val="25342A"/>
                          </a:solidFill>
                          <a:latin typeface="Roboto"/>
                        </a:rPr>
                        <a:t>6</a:t>
                      </a:r>
                    </a:p>
                  </a:txBody>
                  <a:tcPr>
                    <a:solidFill>
                      <a:srgbClr val="F7FAF7"/>
                    </a:solidFill>
                  </a:tcPr>
                </a:tc>
              </a:tr>
              <a:tr h="329184">
                <a:tc>
                  <a:txBody>
                    <a:bodyPr/>
                    <a:lstStyle/>
                    <a:p>
                      <a:pPr>
                        <a:defRPr>
                          <a:latin typeface="Roboto"/>
                        </a:defRPr>
                      </a:pPr>
                      <a:r>
                        <a:rPr sz="1050">
                          <a:solidFill>
                            <a:srgbClr val="25342A"/>
                          </a:solidFill>
                          <a:latin typeface="Roboto"/>
                        </a:rPr>
                        <a:t>Call-out 27, August</a:t>
                      </a:r>
                    </a:p>
                  </a:txBody>
                  <a:tcPr>
                    <a:solidFill>
                      <a:srgbClr val="FFFFFF"/>
                    </a:solidFill>
                  </a:tcPr>
                </a:tc>
                <a:tc>
                  <a:txBody>
                    <a:bodyPr/>
                    <a:lstStyle/>
                    <a:p>
                      <a:pPr algn="r">
                        <a:defRPr>
                          <a:latin typeface="Roboto"/>
                        </a:defRPr>
                      </a:pPr>
                      <a:r>
                        <a:rPr sz="1050">
                          <a:solidFill>
                            <a:srgbClr val="25342A"/>
                          </a:solidFill>
                          <a:latin typeface="Roboto"/>
                        </a:rPr>
                        <a:t>3 Aug</a:t>
                      </a:r>
                    </a:p>
                  </a:txBody>
                  <a:tcPr>
                    <a:solidFill>
                      <a:srgbClr val="FFFFFF"/>
                    </a:solidFill>
                  </a:tcPr>
                </a:tc>
                <a:tc>
                  <a:txBody>
                    <a:bodyPr/>
                    <a:lstStyle/>
                    <a:p>
                      <a:pPr algn="r">
                        <a:defRPr>
                          <a:latin typeface="Roboto"/>
                        </a:defRPr>
                      </a:pPr>
                      <a:r>
                        <a:rPr sz="1050">
                          <a:solidFill>
                            <a:srgbClr val="25342A"/>
                          </a:solidFill>
                          <a:latin typeface="Roboto"/>
                        </a:rPr>
                        <a:t>$571</a:t>
                      </a:r>
                    </a:p>
                  </a:txBody>
                  <a:tcPr>
                    <a:solidFill>
                      <a:srgbClr val="FFFFFF"/>
                    </a:solidFill>
                  </a:tcPr>
                </a:tc>
                <a:tc>
                  <a:txBody>
                    <a:bodyPr/>
                    <a:lstStyle/>
                    <a:p>
                      <a:pPr algn="r">
                        <a:defRPr>
                          <a:latin typeface="Roboto"/>
                        </a:defRPr>
                      </a:pPr>
                      <a:r>
                        <a:rPr sz="1050">
                          <a:solidFill>
                            <a:srgbClr val="25342A"/>
                          </a:solidFill>
                          <a:latin typeface="Roboto"/>
                        </a:rPr>
                        <a:t>2</a:t>
                      </a:r>
                    </a:p>
                  </a:txBody>
                  <a:tcPr>
                    <a:solidFill>
                      <a:srgbClr val="FFFFFF"/>
                    </a:solidFill>
                  </a:tcPr>
                </a:tc>
                <a:tc>
                  <a:txBody>
                    <a:bodyPr/>
                    <a:lstStyle/>
                    <a:p>
                      <a:pPr algn="r">
                        <a:defRPr>
                          <a:latin typeface="Roboto"/>
                        </a:defRPr>
                      </a:pPr>
                      <a:r>
                        <a:rPr sz="1050">
                          <a:solidFill>
                            <a:srgbClr val="25342A"/>
                          </a:solidFill>
                          <a:latin typeface="Roboto"/>
                        </a:rPr>
                        <a:t>28</a:t>
                      </a:r>
                    </a:p>
                  </a:txBody>
                  <a:tcPr>
                    <a:solidFill>
                      <a:srgbClr val="FFFFFF"/>
                    </a:solidFill>
                  </a:tcPr>
                </a:tc>
              </a:tr>
              <a:tr h="329184">
                <a:tc>
                  <a:txBody>
                    <a:bodyPr/>
                    <a:lstStyle/>
                    <a:p>
                      <a:pPr>
                        <a:defRPr>
                          <a:latin typeface="Roboto"/>
                        </a:defRPr>
                      </a:pPr>
                      <a:r>
                        <a:rPr sz="1050">
                          <a:solidFill>
                            <a:srgbClr val="25342A"/>
                          </a:solidFill>
                          <a:latin typeface="Roboto"/>
                        </a:rPr>
                        <a:t>Call-out 5, August</a:t>
                      </a:r>
                    </a:p>
                  </a:txBody>
                  <a:tcPr>
                    <a:solidFill>
                      <a:srgbClr val="F7FAF7"/>
                    </a:solidFill>
                  </a:tcPr>
                </a:tc>
                <a:tc>
                  <a:txBody>
                    <a:bodyPr/>
                    <a:lstStyle/>
                    <a:p>
                      <a:pPr algn="r">
                        <a:defRPr>
                          <a:latin typeface="Roboto"/>
                        </a:defRPr>
                      </a:pPr>
                      <a:r>
                        <a:rPr sz="1050">
                          <a:solidFill>
                            <a:srgbClr val="25342A"/>
                          </a:solidFill>
                          <a:latin typeface="Roboto"/>
                        </a:rPr>
                        <a:t>26 Aug</a:t>
                      </a:r>
                    </a:p>
                  </a:txBody>
                  <a:tcPr>
                    <a:solidFill>
                      <a:srgbClr val="F7FAF7"/>
                    </a:solidFill>
                  </a:tcPr>
                </a:tc>
                <a:tc>
                  <a:txBody>
                    <a:bodyPr/>
                    <a:lstStyle/>
                    <a:p>
                      <a:pPr algn="r">
                        <a:defRPr>
                          <a:latin typeface="Roboto"/>
                        </a:defRPr>
                      </a:pPr>
                      <a:r>
                        <a:rPr sz="1050">
                          <a:solidFill>
                            <a:srgbClr val="25342A"/>
                          </a:solidFill>
                          <a:latin typeface="Roboto"/>
                        </a:rPr>
                        <a:t>$493</a:t>
                      </a:r>
                    </a:p>
                  </a:txBody>
                  <a:tcPr>
                    <a:solidFill>
                      <a:srgbClr val="F7FAF7"/>
                    </a:solidFill>
                  </a:tcPr>
                </a:tc>
                <a:tc>
                  <a:txBody>
                    <a:bodyPr/>
                    <a:lstStyle/>
                    <a:p>
                      <a:pPr algn="r">
                        <a:defRPr>
                          <a:latin typeface="Roboto"/>
                        </a:defRPr>
                      </a:pPr>
                      <a:r>
                        <a:rPr sz="1050">
                          <a:solidFill>
                            <a:srgbClr val="25342A"/>
                          </a:solidFill>
                          <a:latin typeface="Roboto"/>
                        </a:rPr>
                        <a:t>2</a:t>
                      </a:r>
                    </a:p>
                  </a:txBody>
                  <a:tcPr>
                    <a:solidFill>
                      <a:srgbClr val="F7FAF7"/>
                    </a:solidFill>
                  </a:tcPr>
                </a:tc>
                <a:tc>
                  <a:txBody>
                    <a:bodyPr/>
                    <a:lstStyle/>
                    <a:p>
                      <a:pPr algn="r">
                        <a:defRPr>
                          <a:latin typeface="Roboto"/>
                        </a:defRPr>
                      </a:pPr>
                      <a:r>
                        <a:rPr sz="1050">
                          <a:solidFill>
                            <a:srgbClr val="25342A"/>
                          </a:solidFill>
                          <a:latin typeface="Roboto"/>
                        </a:rPr>
                        <a:t>5</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cash-payroll.pptx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