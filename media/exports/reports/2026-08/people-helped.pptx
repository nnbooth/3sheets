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reached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7D8790"/>
              </a:solidFill>
            </c:spPr>
          </c:dPt>
          <c:dPt>
            <c:idx val="4"/>
            <c:spPr>
              <a:solidFill>
                <a:srgbClr val="7D8790"/>
              </a:solidFill>
            </c:spPr>
          </c:dPt>
          <c:cat>
            <c:strRef>
              <c:f>Sheet1!$A$2:$A$6</c:f>
              <c:strCache>
                <c:ptCount val="5"/>
                <c:pt idx="0">
                  <c:v>Housing support</c:v>
                </c:pt>
                <c:pt idx="1">
                  <c:v>Mental health first aid</c:v>
                </c:pt>
                <c:pt idx="2">
                  <c:v>Youth outreach</c:v>
                </c:pt>
                <c:pt idx="3">
                  <c:v>Community meals</c:v>
                </c:pt>
                <c:pt idx="4">
                  <c:v>Digital literacy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80.3</c:v>
                </c:pt>
                <c:pt idx="1">
                  <c:v>80.7</c:v>
                </c:pt>
                <c:pt idx="2">
                  <c:v>81.7</c:v>
                </c:pt>
                <c:pt idx="3">
                  <c:v>82.7</c:v>
                </c:pt>
                <c:pt idx="4">
                  <c:v>88.7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3.49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helped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#,##0;[Red](#,##0)</c:formatCode>
                <c:ptCount val="23"/>
                <c:pt idx="0">
                  <c:v>175</c:v>
                </c:pt>
                <c:pt idx="1">
                  <c:v>211</c:v>
                </c:pt>
                <c:pt idx="2">
                  <c:v>195</c:v>
                </c:pt>
                <c:pt idx="3">
                  <c:v>308</c:v>
                </c:pt>
                <c:pt idx="4">
                  <c:v>297</c:v>
                </c:pt>
                <c:pt idx="5">
                  <c:v>278</c:v>
                </c:pt>
                <c:pt idx="6">
                  <c:v>314</c:v>
                </c:pt>
                <c:pt idx="7">
                  <c:v>305</c:v>
                </c:pt>
                <c:pt idx="8">
                  <c:v>265</c:v>
                </c:pt>
                <c:pt idx="9">
                  <c:v>425</c:v>
                </c:pt>
                <c:pt idx="10">
                  <c:v>446</c:v>
                </c:pt>
                <c:pt idx="11">
                  <c:v>474</c:v>
                </c:pt>
                <c:pt idx="12">
                  <c:v>506</c:v>
                </c:pt>
                <c:pt idx="13">
                  <c:v>495</c:v>
                </c:pt>
                <c:pt idx="14">
                  <c:v>521</c:v>
                </c:pt>
                <c:pt idx="15">
                  <c:v>427</c:v>
                </c:pt>
                <c:pt idx="16">
                  <c:v>396</c:v>
                </c:pt>
                <c:pt idx="17">
                  <c:v>412</c:v>
                </c:pt>
                <c:pt idx="18">
                  <c:v>491</c:v>
                </c:pt>
                <c:pt idx="19">
                  <c:v>487</c:v>
                </c:pt>
                <c:pt idx="20">
                  <c:v>490</c:v>
                </c:pt>
                <c:pt idx="21">
                  <c:v>497</c:v>
                </c:pt>
                <c:pt idx="22">
                  <c:v>522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Sample Community Services Ltd. Period: August 2026.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People helped, August: 522; Couldn't reach, August: 112; Share reached, August: 82.3%. 522 people were helped in August, and 112 came to a program but couldn't be helped: 82.3% reached (target 90.0%), against 83.7% in July. Housing support reached the smallest share: 80.3% (24 couldn't be helped). The main reason: program at capacity (50 people).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helped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people couldn't be helped, August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August 2026.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145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344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Share of people reached, by program, August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People helped, August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July 497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Couldn't reach, August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8A6D3B"/>
                </a:solidFill>
                <a:latin typeface="Roboto"/>
              </a:rPr>
              <a:t>112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July 97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Share reached, August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82.3%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543556"/>
          <a:ext cx="11277295" cy="25770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9528067" y="2620868"/>
            <a:ext cx="0" cy="2267834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8430787" y="488870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90.0%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440680"/>
            <a:ext cx="5501487" cy="914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54955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769864"/>
            <a:ext cx="5227167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522 people were helped in August, and 112 came to a program but couldn't be helped: 82.3% reached (target 90.0%), against 83.7% in July.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5440680"/>
            <a:ext cx="5501487" cy="914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54955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5769864"/>
            <a:ext cx="5227167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Housing support reached the smallest share: 80.3% (24 couldn't be helped). The main reason: program at capacity (50 people).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People helped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people couldn't be helped, August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Main reason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People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at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Waitlist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28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Outside the service area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Not eligible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11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Couldn't make contact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