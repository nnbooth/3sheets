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the board need to see?. Sample Community Services Ltd. Period: August 2026. A one-page board summary for August 2026: the result, the money, the risks, and the decisions to make. The full statements are in the downloads.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the board need to see?. Surplus, August: ($23,750); Surplus (deficit), year to date: ($49,170); Unrestricted cash runway: 2.2 months; Cost to raise a dollar, August: 13¢.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the board need to see?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A one-page board summary for August 2026: the result, the money, the risks, and the decisions to make. The full statements are in the downloads.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the board need to see?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the board need to see?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Surplus, August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($23,750)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July ($25,420)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3673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3470833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Surplus (deficit), year to 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0833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($49,170)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 to Aug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0147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347307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Unrestricted cash runway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2.2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reserves target 3.0 months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86621" y="960120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9223781" y="1033272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Cost to raise a dollar, August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3781" y="1399032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64792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July 11¢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286000"/>
            <a:ext cx="5501487" cy="1889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THE BOARD SHOULD NOTE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2615184"/>
            <a:ext cx="5227167" cy="1524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• Unrestricted cash covers 2.2 months of spending, against a 3.0 months reserves target.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• 1 grant ends within 6 months with $133,500 still to spend. Housing support: $133,500 left in 4 months ($33,375 a month needed, against $30,500 spent in August).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• Fundraising cost 13¢ per dollar in August: grants the cheapest (10¢), donations the dearest (12¢).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2286000"/>
            <a:ext cx="5501487" cy="1889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DECISIONS TO MAKE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2615184"/>
            <a:ext cx="5227167" cy="1524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1. Housing support: lift spending to $33,375 a month, or ask State Housing Program about carrying the balance over.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2. Reserves: how much of each month's surplus goes to reserves, and by when the target is reached.</a:t>
            </a:r>
          </a:p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3. Fundraising: where the next spare hours go, given what each source costs to raise.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312920"/>
            <a:ext cx="11277295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GRANTS · AGAINST BUDGET: RED WHEN SPENDING IS MORE THAN 1% OVER OR UNDER BUDGET TO DATE, AMBER WITHIN 1%.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4587240"/>
          <a:ext cx="11277295" cy="1728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Program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Spent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Budget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Against budget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Still to spend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Roboto"/>
                        </a:rPr>
                        <a:t>Months left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Housing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$226,500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$240,000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B42318"/>
                          </a:solidFill>
                          <a:latin typeface="Roboto"/>
                        </a:rPr>
                        <a:t>94.4%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$133,500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Volunteer coordinator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100.0%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Digital literacy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$54,700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$55,000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8A6D3B"/>
                          </a:solidFill>
                          <a:latin typeface="Roboto"/>
                        </a:rPr>
                        <a:t>99.5%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$35,300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Mental health first aid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$46,400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$50,000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B42318"/>
                          </a:solidFill>
                          <a:latin typeface="Roboto"/>
                        </a:rPr>
                        <a:t>92.8%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$73,600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Youth outreach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$283,500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$280,000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B42318"/>
                          </a:solidFill>
                          <a:latin typeface="Roboto"/>
                        </a:rPr>
                        <a:t>101.2%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$196,500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Community meals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$7,700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 b="1">
                          <a:solidFill>
                            <a:srgbClr val="B42318"/>
                          </a:solidFill>
                          <a:latin typeface="Roboto"/>
                        </a:rPr>
                        <a:t>96.2%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$40,300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00">
                          <a:solidFill>
                            <a:srgbClr val="25342A"/>
                          </a:solidFill>
                          <a:latin typeface="Roboto"/>
                        </a:rPr>
                        <a:t>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board.pptx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