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59.3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$73,637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$44,540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$10,060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$63,577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$4,077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$179,007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$179,007 against $139,164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14.2%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$372,252 against $325,924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$144,758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14.2% up on the same period last year, year to date ($372,252 against $325,924). Maintenance contracts make the highest gross margin (59.5%); Installations the lowest (30.8%). The business needs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30.8% gross margin, 4.2 points under the 35.0% target: about $10,060 on $237,200 of revenue this financial year to date. It's below the 38.9% needed to cover overheads, too. Maintenance contracts: 59.5% gross margin, 24.5 points over the 35.0% target ($19,882 ahead on $81,000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$81,000 against $66,400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$48,232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$81,000 this financial year to date, 22.0% on the same period last year (faster than the business as a whole, 14.2%), at a 59.5%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($19,882 ahead on $81,000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$109,600 against $86,200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$237,200 against $222,000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30.8%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$72,960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$237,200 this financial year to date, 6.8% on the same period last year (slower than the business as a whole, 14.2%), at a 30.8% gross margin (below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30.8% gross margin, 4.2 points under the 35.0% target: about $10,060 on $237,200 of revenue this financial year to date. It's below the 38.9%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46.3%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$28,907 against $19,764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$54,052 against $37,524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$23,566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$54,052 this financial year to date, 44.0% on the same period last year (faster than the business as a whole, 14.2%), at a 43.6%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43.6% gross margin, 8.6 points over the 35.0% target ($4,648 ahead on $54,052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Aug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$81,000</a:t>
                      </a:r>
                    </a:p>
                  </a:txBody>
                  <a:tcPr>
                    <a:solidFill>
                      <a:srgbClr val="FFFFFF"/>
                    </a:solidFill>
                  </a:tcPr>
                </a:tc>
                <a:tc>
                  <a:txBody>
                    <a:bodyPr/>
                    <a:lstStyle/>
                    <a:p>
                      <a:pPr algn="r">
                        <a:defRPr>
                          <a:latin typeface="Roboto"/>
                        </a:defRPr>
                      </a:pPr>
                      <a:r>
                        <a:rPr sz="1050">
                          <a:solidFill>
                            <a:srgbClr val="25342A"/>
                          </a:solidFill>
                          <a:latin typeface="Roboto"/>
                        </a:rPr>
                        <a:t>$66,400</a:t>
                      </a:r>
                    </a:p>
                  </a:txBody>
                  <a:tcPr>
                    <a:solidFill>
                      <a:srgbClr val="FFFFFF"/>
                    </a:solidFill>
                  </a:tcPr>
                </a:tc>
                <a:tc>
                  <a:txBody>
                    <a:bodyPr/>
                    <a:lstStyle/>
                    <a:p>
                      <a:pPr algn="r">
                        <a:defRPr>
                          <a:latin typeface="Roboto"/>
                        </a:defRPr>
                      </a:pPr>
                      <a:r>
                        <a:rPr sz="1050">
                          <a:solidFill>
                            <a:srgbClr val="25342A"/>
                          </a:solidFill>
                          <a:latin typeface="Roboto"/>
                        </a:rPr>
                        <a:t>22.0%</a:t>
                      </a:r>
                    </a:p>
                  </a:txBody>
                  <a:tcPr>
                    <a:solidFill>
                      <a:srgbClr val="FFFFFF"/>
                    </a:solidFill>
                  </a:tcPr>
                </a:tc>
                <a:tc>
                  <a:txBody>
                    <a:bodyPr/>
                    <a:lstStyle/>
                    <a:p>
                      <a:pPr algn="r">
                        <a:defRPr>
                          <a:latin typeface="Roboto"/>
                        </a:defRPr>
                      </a:pPr>
                      <a:r>
                        <a:rPr sz="1050">
                          <a:solidFill>
                            <a:srgbClr val="25342A"/>
                          </a:solidFill>
                          <a:latin typeface="Roboto"/>
                        </a:rPr>
                        <a:t>$48,232</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$237,200</a:t>
                      </a:r>
                    </a:p>
                  </a:txBody>
                  <a:tcPr>
                    <a:solidFill>
                      <a:srgbClr val="F7FAF7"/>
                    </a:solidFill>
                  </a:tcPr>
                </a:tc>
                <a:tc>
                  <a:txBody>
                    <a:bodyPr/>
                    <a:lstStyle/>
                    <a:p>
                      <a:pPr algn="r">
                        <a:defRPr>
                          <a:latin typeface="Roboto"/>
                        </a:defRPr>
                      </a:pPr>
                      <a:r>
                        <a:rPr sz="1050">
                          <a:solidFill>
                            <a:srgbClr val="25342A"/>
                          </a:solidFill>
                          <a:latin typeface="Roboto"/>
                        </a:rPr>
                        <a:t>$222,000</a:t>
                      </a:r>
                    </a:p>
                  </a:txBody>
                  <a:tcPr>
                    <a:solidFill>
                      <a:srgbClr val="F7FAF7"/>
                    </a:solidFill>
                  </a:tcPr>
                </a:tc>
                <a:tc>
                  <a:txBody>
                    <a:bodyPr/>
                    <a:lstStyle/>
                    <a:p>
                      <a:pPr algn="r">
                        <a:defRPr>
                          <a:latin typeface="Roboto"/>
                        </a:defRPr>
                      </a:pPr>
                      <a:r>
                        <a:rPr sz="1050">
                          <a:solidFill>
                            <a:srgbClr val="25342A"/>
                          </a:solidFill>
                          <a:latin typeface="Roboto"/>
                        </a:rPr>
                        <a:t>6.8%</a:t>
                      </a:r>
                    </a:p>
                  </a:txBody>
                  <a:tcPr>
                    <a:solidFill>
                      <a:srgbClr val="F7FAF7"/>
                    </a:solidFill>
                  </a:tcPr>
                </a:tc>
                <a:tc>
                  <a:txBody>
                    <a:bodyPr/>
                    <a:lstStyle/>
                    <a:p>
                      <a:pPr algn="r">
                        <a:defRPr>
                          <a:latin typeface="Roboto"/>
                        </a:defRPr>
                      </a:pPr>
                      <a:r>
                        <a:rPr sz="1050">
                          <a:solidFill>
                            <a:srgbClr val="25342A"/>
                          </a:solidFill>
                          <a:latin typeface="Roboto"/>
                        </a:rPr>
                        <a:t>$72,960</a:t>
                      </a:r>
                    </a:p>
                  </a:txBody>
                  <a:tcPr>
                    <a:solidFill>
                      <a:srgbClr val="F7FAF7"/>
                    </a:solidFill>
                  </a:tcPr>
                </a:tc>
                <a:tc>
                  <a:txBody>
                    <a:bodyPr/>
                    <a:lstStyle/>
                    <a:p>
                      <a:pPr algn="r">
                        <a:defRPr>
                          <a:latin typeface="Roboto"/>
                        </a:defRPr>
                      </a:pPr>
                      <a:r>
                        <a:rPr sz="1050">
                          <a:solidFill>
                            <a:srgbClr val="25342A"/>
                          </a:solidFill>
                          <a:latin typeface="Roboto"/>
                        </a:rPr>
                        <a:t>30.8%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$54,052</a:t>
                      </a:r>
                    </a:p>
                  </a:txBody>
                  <a:tcPr>
                    <a:solidFill>
                      <a:srgbClr val="FFFFFF"/>
                    </a:solidFill>
                  </a:tcPr>
                </a:tc>
                <a:tc>
                  <a:txBody>
                    <a:bodyPr/>
                    <a:lstStyle/>
                    <a:p>
                      <a:pPr algn="r">
                        <a:defRPr>
                          <a:latin typeface="Roboto"/>
                        </a:defRPr>
                      </a:pPr>
                      <a:r>
                        <a:rPr sz="1050">
                          <a:solidFill>
                            <a:srgbClr val="25342A"/>
                          </a:solidFill>
                          <a:latin typeface="Roboto"/>
                        </a:rPr>
                        <a:t>$37,524</a:t>
                      </a:r>
                    </a:p>
                  </a:txBody>
                  <a:tcPr>
                    <a:solidFill>
                      <a:srgbClr val="FFFFFF"/>
                    </a:solidFill>
                  </a:tcPr>
                </a:tc>
                <a:tc>
                  <a:txBody>
                    <a:bodyPr/>
                    <a:lstStyle/>
                    <a:p>
                      <a:pPr algn="r">
                        <a:defRPr>
                          <a:latin typeface="Roboto"/>
                        </a:defRPr>
                      </a:pPr>
                      <a:r>
                        <a:rPr sz="1050">
                          <a:solidFill>
                            <a:srgbClr val="25342A"/>
                          </a:solidFill>
                          <a:latin typeface="Roboto"/>
                        </a:rPr>
                        <a:t>44.0%</a:t>
                      </a:r>
                    </a:p>
                  </a:txBody>
                  <a:tcPr>
                    <a:solidFill>
                      <a:srgbClr val="FFFFFF"/>
                    </a:solidFill>
                  </a:tcPr>
                </a:tc>
                <a:tc>
                  <a:txBody>
                    <a:bodyPr/>
                    <a:lstStyle/>
                    <a:p>
                      <a:pPr algn="r">
                        <a:defRPr>
                          <a:latin typeface="Roboto"/>
                        </a:defRPr>
                      </a:pPr>
                      <a:r>
                        <a:rPr sz="1050">
                          <a:solidFill>
                            <a:srgbClr val="25342A"/>
                          </a:solidFill>
                          <a:latin typeface="Roboto"/>
                        </a:rPr>
                        <a:t>$23,566</a:t>
                      </a:r>
                    </a:p>
                  </a:txBody>
                  <a:tcPr>
                    <a:solidFill>
                      <a:srgbClr val="FFFFFF"/>
                    </a:solidFill>
                  </a:tcPr>
                </a:tc>
                <a:tc>
                  <a:txBody>
                    <a:bodyPr/>
                    <a:lstStyle/>
                    <a:p>
                      <a:pPr algn="r">
                        <a:defRPr>
                          <a:latin typeface="Roboto"/>
                        </a:defRPr>
                      </a:pPr>
                      <a:r>
                        <a:rPr sz="1050">
                          <a:solidFill>
                            <a:srgbClr val="25342A"/>
                          </a:solidFill>
                          <a:latin typeface="Roboto"/>
                        </a:rPr>
                        <a:t>43.6%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$372,252</a:t>
                      </a:r>
                    </a:p>
                  </a:txBody>
                  <a:tcPr>
                    <a:solidFill>
                      <a:srgbClr val="F7FAF7"/>
                    </a:solidFill>
                  </a:tcPr>
                </a:tc>
                <a:tc>
                  <a:txBody>
                    <a:bodyPr/>
                    <a:lstStyle/>
                    <a:p>
                      <a:pPr algn="r">
                        <a:defRPr>
                          <a:latin typeface="Roboto"/>
                        </a:defRPr>
                      </a:pPr>
                      <a:r>
                        <a:rPr sz="1050" b="1">
                          <a:solidFill>
                            <a:srgbClr val="25342A"/>
                          </a:solidFill>
                          <a:latin typeface="Roboto"/>
                        </a:rPr>
                        <a:t>$325,924</a:t>
                      </a:r>
                    </a:p>
                  </a:txBody>
                  <a:tcPr>
                    <a:solidFill>
                      <a:srgbClr val="F7FAF7"/>
                    </a:solidFill>
                  </a:tcPr>
                </a:tc>
                <a:tc>
                  <a:txBody>
                    <a:bodyPr/>
                    <a:lstStyle/>
                    <a:p>
                      <a:pPr algn="r">
                        <a:defRPr>
                          <a:latin typeface="Roboto"/>
                        </a:defRPr>
                      </a:pPr>
                      <a:r>
                        <a:rPr sz="1050" b="1">
                          <a:solidFill>
                            <a:srgbClr val="25342A"/>
                          </a:solidFill>
                          <a:latin typeface="Roboto"/>
                        </a:rPr>
                        <a:t>14.2%</a:t>
                      </a:r>
                    </a:p>
                  </a:txBody>
                  <a:tcPr>
                    <a:solidFill>
                      <a:srgbClr val="F7FAF7"/>
                    </a:solidFill>
                  </a:tcPr>
                </a:tc>
                <a:tc>
                  <a:txBody>
                    <a:bodyPr/>
                    <a:lstStyle/>
                    <a:p>
                      <a:pPr algn="r">
                        <a:defRPr>
                          <a:latin typeface="Roboto"/>
                        </a:defRPr>
                      </a:pPr>
                      <a:r>
                        <a:rPr sz="1050" b="1">
                          <a:solidFill>
                            <a:srgbClr val="25342A"/>
                          </a:solidFill>
                          <a:latin typeface="Roboto"/>
                        </a:rPr>
                        <a:t>$144,758</a:t>
                      </a:r>
                    </a:p>
                  </a:txBody>
                  <a:tcPr>
                    <a:solidFill>
                      <a:srgbClr val="F7FAF7"/>
                    </a:solidFill>
                  </a:tcPr>
                </a:tc>
                <a:tc>
                  <a:txBody>
                    <a:bodyPr/>
                    <a:lstStyle/>
                    <a:p>
                      <a:pPr algn="r">
                        <a:defRPr>
                          <a:latin typeface="Roboto"/>
                        </a:defRPr>
                      </a:pPr>
                      <a:r>
                        <a:rPr sz="1050" b="1">
                          <a:solidFill>
                            <a:srgbClr val="25342A"/>
                          </a:solidFill>
                          <a:latin typeface="Roboto"/>
                        </a:rPr>
                        <a:t>38.9%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client work made $68,020 gross margin (59.3%). Consultant time not charged to client work took $6,780 and overheads $53,650, leaving $7,590 profit before tax (6.6% of revenue). To cover overheads, client work needs a 52.7%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$68,020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$39,720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$6,780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$61,240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$53,650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$7,590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$114,640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59.3%</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86.5%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$114,640 against $61,475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$235,395 against $147,795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$141,095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59.3% up on the same period last year, year to date ($235,395 against $147,795). Training makes the highest gross margin (68.4%); Projects the lowest (58.9%). The business needs 52.7%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58.9% gross margin, 18.9 points over the 40.0% target ($29,357 ahead on $155,195 this financial year to date). Training: 68.4% gross margin, 28.4 points over the 40.0% target ($4,320 ahead on $15,200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$75,740 against $38,775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49.8%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$155,195 against $103,595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$91,435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$155,195 this financial year to date, 49.8% on the same period last year (slower than the business as a whole, 59.3%), at a 58.9% gross margin (below the 59.9%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58.9% gross margin, 18.9 points over the 40.0% target ($29,357 ahead on $155,195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$65,000 against $32,600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$39,260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$65,000 this financial year to date, 99.4% on the same period last year (faster than the business as a whole, 59.3%), at a 60.4% gross margin (above the 59.9%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60.4% gross margin, 20.4 points over the 40.0% target ($13,260 ahead on $65,000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$15,200 against $11,600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$10,400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$15,200 this financial year to date, 31.0% on the same period last year (slower than the business as a whole, 59.3%), at a 68.4% gross margin (above the 59.9%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68.4% gross margin, 28.4 points over the 40.0% target ($4,320 ahead on $15,200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Aug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$155,195</a:t>
                      </a:r>
                    </a:p>
                  </a:txBody>
                  <a:tcPr>
                    <a:solidFill>
                      <a:srgbClr val="FFFFFF"/>
                    </a:solidFill>
                  </a:tcPr>
                </a:tc>
                <a:tc>
                  <a:txBody>
                    <a:bodyPr/>
                    <a:lstStyle/>
                    <a:p>
                      <a:pPr algn="r">
                        <a:defRPr>
                          <a:latin typeface="Roboto"/>
                        </a:defRPr>
                      </a:pPr>
                      <a:r>
                        <a:rPr sz="1050">
                          <a:solidFill>
                            <a:srgbClr val="25342A"/>
                          </a:solidFill>
                          <a:latin typeface="Roboto"/>
                        </a:rPr>
                        <a:t>$103,595</a:t>
                      </a:r>
                    </a:p>
                  </a:txBody>
                  <a:tcPr>
                    <a:solidFill>
                      <a:srgbClr val="FFFFFF"/>
                    </a:solidFill>
                  </a:tcPr>
                </a:tc>
                <a:tc>
                  <a:txBody>
                    <a:bodyPr/>
                    <a:lstStyle/>
                    <a:p>
                      <a:pPr algn="r">
                        <a:defRPr>
                          <a:latin typeface="Roboto"/>
                        </a:defRPr>
                      </a:pPr>
                      <a:r>
                        <a:rPr sz="1050">
                          <a:solidFill>
                            <a:srgbClr val="25342A"/>
                          </a:solidFill>
                          <a:latin typeface="Roboto"/>
                        </a:rPr>
                        <a:t>49.8%</a:t>
                      </a:r>
                    </a:p>
                  </a:txBody>
                  <a:tcPr>
                    <a:solidFill>
                      <a:srgbClr val="FFFFFF"/>
                    </a:solidFill>
                  </a:tcPr>
                </a:tc>
                <a:tc>
                  <a:txBody>
                    <a:bodyPr/>
                    <a:lstStyle/>
                    <a:p>
                      <a:pPr algn="r">
                        <a:defRPr>
                          <a:latin typeface="Roboto"/>
                        </a:defRPr>
                      </a:pPr>
                      <a:r>
                        <a:rPr sz="1050">
                          <a:solidFill>
                            <a:srgbClr val="25342A"/>
                          </a:solidFill>
                          <a:latin typeface="Roboto"/>
                        </a:rPr>
                        <a:t>$91,435</a:t>
                      </a:r>
                    </a:p>
                  </a:txBody>
                  <a:tcPr>
                    <a:solidFill>
                      <a:srgbClr val="FFFFFF"/>
                    </a:solidFill>
                  </a:tcPr>
                </a:tc>
                <a:tc>
                  <a:txBody>
                    <a:bodyPr/>
                    <a:lstStyle/>
                    <a:p>
                      <a:pPr algn="r">
                        <a:defRPr>
                          <a:latin typeface="Roboto"/>
                        </a:defRPr>
                      </a:pPr>
                      <a:r>
                        <a:rPr sz="1050">
                          <a:solidFill>
                            <a:srgbClr val="25342A"/>
                          </a:solidFill>
                          <a:latin typeface="Roboto"/>
                        </a:rPr>
                        <a:t>58.9%</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$65,000</a:t>
                      </a:r>
                    </a:p>
                  </a:txBody>
                  <a:tcPr>
                    <a:solidFill>
                      <a:srgbClr val="F7FAF7"/>
                    </a:solidFill>
                  </a:tcPr>
                </a:tc>
                <a:tc>
                  <a:txBody>
                    <a:bodyPr/>
                    <a:lstStyle/>
                    <a:p>
                      <a:pPr algn="r">
                        <a:defRPr>
                          <a:latin typeface="Roboto"/>
                        </a:defRPr>
                      </a:pPr>
                      <a:r>
                        <a:rPr sz="1050">
                          <a:solidFill>
                            <a:srgbClr val="25342A"/>
                          </a:solidFill>
                          <a:latin typeface="Roboto"/>
                        </a:rPr>
                        <a:t>$32,600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$39,260</a:t>
                      </a:r>
                    </a:p>
                  </a:txBody>
                  <a:tcPr>
                    <a:solidFill>
                      <a:srgbClr val="F7FAF7"/>
                    </a:solidFill>
                  </a:tcPr>
                </a:tc>
                <a:tc>
                  <a:txBody>
                    <a:bodyPr/>
                    <a:lstStyle/>
                    <a:p>
                      <a:pPr algn="r">
                        <a:defRPr>
                          <a:latin typeface="Roboto"/>
                        </a:defRPr>
                      </a:pPr>
                      <a:r>
                        <a:rPr sz="1050">
                          <a:solidFill>
                            <a:srgbClr val="25342A"/>
                          </a:solidFill>
                          <a:latin typeface="Roboto"/>
                        </a:rPr>
                        <a:t>60.4%</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$15,200</a:t>
                      </a:r>
                    </a:p>
                  </a:txBody>
                  <a:tcPr>
                    <a:solidFill>
                      <a:srgbClr val="FFFFFF"/>
                    </a:solidFill>
                  </a:tcPr>
                </a:tc>
                <a:tc>
                  <a:txBody>
                    <a:bodyPr/>
                    <a:lstStyle/>
                    <a:p>
                      <a:pPr algn="r">
                        <a:defRPr>
                          <a:latin typeface="Roboto"/>
                        </a:defRPr>
                      </a:pPr>
                      <a:r>
                        <a:rPr sz="1050">
                          <a:solidFill>
                            <a:srgbClr val="25342A"/>
                          </a:solidFill>
                          <a:latin typeface="Roboto"/>
                        </a:rPr>
                        <a:t>$11,600</a:t>
                      </a:r>
                    </a:p>
                  </a:txBody>
                  <a:tcPr>
                    <a:solidFill>
                      <a:srgbClr val="FFFFFF"/>
                    </a:solidFill>
                  </a:tcPr>
                </a:tc>
                <a:tc>
                  <a:txBody>
                    <a:bodyPr/>
                    <a:lstStyle/>
                    <a:p>
                      <a:pPr algn="r">
                        <a:defRPr>
                          <a:latin typeface="Roboto"/>
                        </a:defRPr>
                      </a:pPr>
                      <a:r>
                        <a:rPr sz="1050">
                          <a:solidFill>
                            <a:srgbClr val="25342A"/>
                          </a:solidFill>
                          <a:latin typeface="Roboto"/>
                        </a:rPr>
                        <a:t>31.0%</a:t>
                      </a:r>
                    </a:p>
                  </a:txBody>
                  <a:tcPr>
                    <a:solidFill>
                      <a:srgbClr val="FFFFFF"/>
                    </a:solidFill>
                  </a:tcPr>
                </a:tc>
                <a:tc>
                  <a:txBody>
                    <a:bodyPr/>
                    <a:lstStyle/>
                    <a:p>
                      <a:pPr algn="r">
                        <a:defRPr>
                          <a:latin typeface="Roboto"/>
                        </a:defRPr>
                      </a:pPr>
                      <a:r>
                        <a:rPr sz="1050">
                          <a:solidFill>
                            <a:srgbClr val="25342A"/>
                          </a:solidFill>
                          <a:latin typeface="Roboto"/>
                        </a:rPr>
                        <a:t>$10,400</a:t>
                      </a:r>
                    </a:p>
                  </a:txBody>
                  <a:tcPr>
                    <a:solidFill>
                      <a:srgbClr val="FFFFFF"/>
                    </a:solidFill>
                  </a:tcPr>
                </a:tc>
                <a:tc>
                  <a:txBody>
                    <a:bodyPr/>
                    <a:lstStyle/>
                    <a:p>
                      <a:pPr algn="r">
                        <a:defRPr>
                          <a:latin typeface="Roboto"/>
                        </a:defRPr>
                      </a:pPr>
                      <a:r>
                        <a:rPr sz="1050">
                          <a:solidFill>
                            <a:srgbClr val="25342A"/>
                          </a:solidFill>
                          <a:latin typeface="Roboto"/>
                        </a:rPr>
                        <a:t>68.4%</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$235,395</a:t>
                      </a:r>
                    </a:p>
                  </a:txBody>
                  <a:tcPr>
                    <a:solidFill>
                      <a:srgbClr val="F7FAF7"/>
                    </a:solidFill>
                  </a:tcPr>
                </a:tc>
                <a:tc>
                  <a:txBody>
                    <a:bodyPr/>
                    <a:lstStyle/>
                    <a:p>
                      <a:pPr algn="r">
                        <a:defRPr>
                          <a:latin typeface="Roboto"/>
                        </a:defRPr>
                      </a:pPr>
                      <a:r>
                        <a:rPr sz="1050" b="1">
                          <a:solidFill>
                            <a:srgbClr val="25342A"/>
                          </a:solidFill>
                          <a:latin typeface="Roboto"/>
                        </a:rPr>
                        <a:t>$147,795</a:t>
                      </a:r>
                    </a:p>
                  </a:txBody>
                  <a:tcPr>
                    <a:solidFill>
                      <a:srgbClr val="F7FAF7"/>
                    </a:solidFill>
                  </a:tcPr>
                </a:tc>
                <a:tc>
                  <a:txBody>
                    <a:bodyPr/>
                    <a:lstStyle/>
                    <a:p>
                      <a:pPr algn="r">
                        <a:defRPr>
                          <a:latin typeface="Roboto"/>
                        </a:defRPr>
                      </a:pPr>
                      <a:r>
                        <a:rPr sz="1050" b="1">
                          <a:solidFill>
                            <a:srgbClr val="25342A"/>
                          </a:solidFill>
                          <a:latin typeface="Roboto"/>
                        </a:rPr>
                        <a:t>59.3%</a:t>
                      </a:r>
                    </a:p>
                  </a:txBody>
                  <a:tcPr>
                    <a:solidFill>
                      <a:srgbClr val="F7FAF7"/>
                    </a:solidFill>
                  </a:tcPr>
                </a:tc>
                <a:tc>
                  <a:txBody>
                    <a:bodyPr/>
                    <a:lstStyle/>
                    <a:p>
                      <a:pPr algn="r">
                        <a:defRPr>
                          <a:latin typeface="Roboto"/>
                        </a:defRPr>
                      </a:pPr>
                      <a:r>
                        <a:rPr sz="1050" b="1">
                          <a:solidFill>
                            <a:srgbClr val="25342A"/>
                          </a:solidFill>
                          <a:latin typeface="Roboto"/>
                        </a:rPr>
                        <a:t>$141,095</a:t>
                      </a:r>
                    </a:p>
                  </a:txBody>
                  <a:tcPr>
                    <a:solidFill>
                      <a:srgbClr val="F7FAF7"/>
                    </a:solidFill>
                  </a:tcPr>
                </a:tc>
                <a:tc>
                  <a:txBody>
                    <a:bodyPr/>
                    <a:lstStyle/>
                    <a:p>
                      <a:pPr algn="r">
                        <a:defRPr>
                          <a:latin typeface="Roboto"/>
                        </a:defRPr>
                      </a:pPr>
                      <a:r>
                        <a:rPr sz="1050" b="1">
                          <a:solidFill>
                            <a:srgbClr val="25342A"/>
                          </a:solidFill>
                          <a:latin typeface="Roboto"/>
                        </a:rPr>
                        <a:t>59.9%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