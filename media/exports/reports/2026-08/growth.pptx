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Sheet1!$A$2:$A$24</c:f>
              <c:strCache>
                <c:ptCount val="2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strCache>
            </c:strRef>
          </c:cat>
          <c:val>
            <c:numRef>
              <c:f>Sheet1!$B$2:$B$24</c:f>
              <c:numCache>
                <c:formatCode>$#,##0;[Red]($#,##0);"-"</c:formatCode>
                <c:ptCount val="23"/>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pt idx="13">
                  <c:v>174786</c:v>
                </c:pt>
                <c:pt idx="14">
                  <c:v>135079</c:v>
                </c:pt>
                <c:pt idx="15">
                  <c:v>164780</c:v>
                </c:pt>
                <c:pt idx="16">
                  <c:v>196372</c:v>
                </c:pt>
                <c:pt idx="17">
                  <c:v>191500</c:v>
                </c:pt>
                <c:pt idx="18">
                  <c:v>164987</c:v>
                </c:pt>
                <c:pt idx="19">
                  <c:v>161963</c:v>
                </c:pt>
                <c:pt idx="20">
                  <c:v>173163</c:v>
                </c:pt>
                <c:pt idx="21">
                  <c:v>193245</c:v>
                </c:pt>
                <c:pt idx="22">
                  <c:v>179007</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Sheet1!$A$2:$A$24</c:f>
              <c:strCache>
                <c:ptCount val="2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strCache>
            </c:strRef>
          </c:cat>
          <c:val>
            <c:numRef>
              <c:f>Sheet1!$B$2:$B$24</c:f>
              <c:numCache>
                <c:formatCode>0.0"%";[Red](0.0"%")</c:formatCode>
                <c:ptCount val="23"/>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pt idx="17">
                  <c:v>35.6</c:v>
                </c:pt>
                <c:pt idx="18">
                  <c:v>41.7</c:v>
                </c:pt>
                <c:pt idx="19">
                  <c:v>39.0</c:v>
                </c:pt>
                <c:pt idx="20">
                  <c:v>38.5</c:v>
                </c:pt>
                <c:pt idx="21">
                  <c:v>36.8</c:v>
                </c:pt>
                <c:pt idx="22">
                  <c:v>41.1</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Sheet1!$A$2:$A$24</c:f>
              <c:strCache>
                <c:ptCount val="2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strCache>
            </c:strRef>
          </c:cat>
          <c:val>
            <c:numRef>
              <c:f>Sheet1!$B$2:$B$24</c:f>
              <c:numCache>
                <c:formatCode>$#,##0;[Red]($#,##0);"-"</c:formatCode>
                <c:ptCount val="23"/>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pt idx="13">
                  <c:v>83940</c:v>
                </c:pt>
                <c:pt idx="14">
                  <c:v>69420</c:v>
                </c:pt>
                <c:pt idx="15">
                  <c:v>92370</c:v>
                </c:pt>
                <c:pt idx="16">
                  <c:v>100055</c:v>
                </c:pt>
                <c:pt idx="17">
                  <c:v>109865</c:v>
                </c:pt>
                <c:pt idx="18">
                  <c:v>80590</c:v>
                </c:pt>
                <c:pt idx="19">
                  <c:v>77090</c:v>
                </c:pt>
                <c:pt idx="20">
                  <c:v>115550</c:v>
                </c:pt>
                <c:pt idx="21">
                  <c:v>120755</c:v>
                </c:pt>
                <c:pt idx="22">
                  <c:v>114640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Sheet1!$A$2:$A$24</c:f>
              <c:strCache>
                <c:ptCount val="2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strCache>
            </c:strRef>
          </c:cat>
          <c:val>
            <c:numRef>
              <c:f>Sheet1!$B$2:$B$24</c:f>
              <c:numCache>
                <c:formatCode>0.0"%";[Red](0.0"%")</c:formatCode>
                <c:ptCount val="23"/>
                <c:pt idx="0">
                  <c:v>62.6</c:v>
                </c:pt>
                <c:pt idx="1">
                  <c:v>63.0</c:v>
                </c:pt>
                <c:pt idx="2">
                  <c:v>62.6</c:v>
                </c:pt>
                <c:pt idx="3">
                  <c:v>62.3</c:v>
                </c:pt>
                <c:pt idx="4">
                  <c:v>61.4</c:v>
                </c:pt>
                <c:pt idx="5">
                  <c:v>58.6</c:v>
                </c:pt>
                <c:pt idx="6">
                  <c:v>60.1</c:v>
                </c:pt>
                <c:pt idx="7">
                  <c:v>62.2</c:v>
                </c:pt>
                <c:pt idx="8">
                  <c:v>60.8</c:v>
                </c:pt>
                <c:pt idx="9">
                  <c:v>62.0</c:v>
                </c:pt>
                <c:pt idx="10">
                  <c:v>65.3</c:v>
                </c:pt>
                <c:pt idx="11">
                  <c:v>65.9</c:v>
                </c:pt>
                <c:pt idx="12">
                  <c:v>64.2</c:v>
                </c:pt>
                <c:pt idx="13">
                  <c:v>62.9</c:v>
                </c:pt>
                <c:pt idx="14">
                  <c:v>64.7</c:v>
                </c:pt>
                <c:pt idx="15">
                  <c:v>64.8</c:v>
                </c:pt>
                <c:pt idx="16">
                  <c:v>63.4</c:v>
                </c:pt>
                <c:pt idx="17">
                  <c:v>62.9</c:v>
                </c:pt>
                <c:pt idx="18">
                  <c:v>65.4</c:v>
                </c:pt>
                <c:pt idx="19">
                  <c:v>64.1</c:v>
                </c:pt>
                <c:pt idx="20">
                  <c:v>60.1</c:v>
                </c:pt>
                <c:pt idx="21">
                  <c:v>60.5</c:v>
                </c:pt>
                <c:pt idx="22">
                  <c:v>59.3</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August 2026.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July 2026: Locked. July 2026 is locked (closed 4 Aug 2026). These numbers won't change.</a:t>
            </a:r>
          </a:p>
          <a:p>
            <a:pPr>
              <a:defRPr>
                <a:latin typeface="Roboto"/>
              </a:defRPr>
            </a:pPr>
            <a:r>
              <a:rPr sz="1100" b="0">
                <a:solidFill>
                  <a:srgbClr val="5F6F63"/>
                </a:solidFill>
                <a:latin typeface="Roboto"/>
              </a:rPr>
              <a:t>August 2026: Locked. August 2026 is locked (closed 2 Sep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August's jobs made $73,637 gross margin (41.1%). Technician time not charged to jobs took $10,060 and overheads $59,500, leaving $4,077 profit before tax (2.3% of revenue). To cover overheads, jobs need a 38.9%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August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$73,637</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$44,540</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25342A"/>
                          </a:solidFill>
                          <a:latin typeface="Roboto"/>
                        </a:rPr>
                        <a:t>$10,060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$63,577</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$59,500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$4,077</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$179,007</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41.1%</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2.3%</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38.9%</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August against August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28.6%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$179,007 against $139,164</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14.2%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$372,252 against $325,924</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38.9%</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$144,758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14.2% up on the same period last year, year to date ($372,252 against $325,924). Maintenance contracts make the highest gross margin (59.5%); Installations the lowest (30.8%). The business needs 38.9%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the most profitable work you do. Installations: 30.8% gross margin, below the 38.9%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August against August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22.0%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$40,500 against $33,200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22.0%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$81,000 against $66,400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$48,232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brought in $81,000 this financial year to date, 22.0% on the same period last year (faster than the business as a whole, 14.2%), at a 59.5% gross margin (above the 38.9%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20.7 points clear of the 38.9%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August against August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27.1%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$109,600 against $86,200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6.8%</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$237,200 against $222,000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30.8%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$72,960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brought in $237,200 this financial year to date, 6.8% on the same period last year (slower than the business as a whole, 14.2%), at a 30.8% gross margin (below the 38.9%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30.8% gross margin, below the 38.9%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August against August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46.3%</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$28,907 against $19,764</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44.0%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$54,052 against $37,524</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43.6%</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$23,566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brought in $54,052 this financial year to date, 44.0% on the same period last year (faster than the business as a whole, 14.2%), at a 43.6% gross margin (above the 38.9%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43.6% gross margin, 4.7 points clear of the 38.9%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line: financial year to date (Jul to Aug 2026)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Maintenance contracts</a:t>
                      </a:r>
                    </a:p>
                  </a:txBody>
                  <a:tcPr>
                    <a:solidFill>
                      <a:srgbClr val="FFFFFF"/>
                    </a:solidFill>
                  </a:tcPr>
                </a:tc>
                <a:tc>
                  <a:txBody>
                    <a:bodyPr/>
                    <a:lstStyle/>
                    <a:p>
                      <a:pPr algn="r">
                        <a:defRPr>
                          <a:latin typeface="Roboto"/>
                        </a:defRPr>
                      </a:pPr>
                      <a:r>
                        <a:rPr sz="1050">
                          <a:solidFill>
                            <a:srgbClr val="25342A"/>
                          </a:solidFill>
                          <a:latin typeface="Roboto"/>
                        </a:rPr>
                        <a:t>$81,000</a:t>
                      </a:r>
                    </a:p>
                  </a:txBody>
                  <a:tcPr>
                    <a:solidFill>
                      <a:srgbClr val="FFFFFF"/>
                    </a:solidFill>
                  </a:tcPr>
                </a:tc>
                <a:tc>
                  <a:txBody>
                    <a:bodyPr/>
                    <a:lstStyle/>
                    <a:p>
                      <a:pPr algn="r">
                        <a:defRPr>
                          <a:latin typeface="Roboto"/>
                        </a:defRPr>
                      </a:pPr>
                      <a:r>
                        <a:rPr sz="1050">
                          <a:solidFill>
                            <a:srgbClr val="25342A"/>
                          </a:solidFill>
                          <a:latin typeface="Roboto"/>
                        </a:rPr>
                        <a:t>$66,400</a:t>
                      </a:r>
                    </a:p>
                  </a:txBody>
                  <a:tcPr>
                    <a:solidFill>
                      <a:srgbClr val="FFFFFF"/>
                    </a:solidFill>
                  </a:tcPr>
                </a:tc>
                <a:tc>
                  <a:txBody>
                    <a:bodyPr/>
                    <a:lstStyle/>
                    <a:p>
                      <a:pPr algn="r">
                        <a:defRPr>
                          <a:latin typeface="Roboto"/>
                        </a:defRPr>
                      </a:pPr>
                      <a:r>
                        <a:rPr sz="1050">
                          <a:solidFill>
                            <a:srgbClr val="25342A"/>
                          </a:solidFill>
                          <a:latin typeface="Roboto"/>
                        </a:rPr>
                        <a:t>22.0%</a:t>
                      </a:r>
                    </a:p>
                  </a:txBody>
                  <a:tcPr>
                    <a:solidFill>
                      <a:srgbClr val="FFFFFF"/>
                    </a:solidFill>
                  </a:tcPr>
                </a:tc>
                <a:tc>
                  <a:txBody>
                    <a:bodyPr/>
                    <a:lstStyle/>
                    <a:p>
                      <a:pPr algn="r">
                        <a:defRPr>
                          <a:latin typeface="Roboto"/>
                        </a:defRPr>
                      </a:pPr>
                      <a:r>
                        <a:rPr sz="1050">
                          <a:solidFill>
                            <a:srgbClr val="25342A"/>
                          </a:solidFill>
                          <a:latin typeface="Roboto"/>
                        </a:rPr>
                        <a:t>$48,232</a:t>
                      </a:r>
                    </a:p>
                  </a:txBody>
                  <a:tcPr>
                    <a:solidFill>
                      <a:srgbClr val="FFFFFF"/>
                    </a:solidFill>
                  </a:tcPr>
                </a:tc>
                <a:tc>
                  <a:txBody>
                    <a:bodyPr/>
                    <a:lstStyle/>
                    <a:p>
                      <a:pPr algn="r">
                        <a:defRPr>
                          <a:latin typeface="Roboto"/>
                        </a:defRPr>
                      </a:pPr>
                      <a:r>
                        <a:rPr sz="1050">
                          <a:solidFill>
                            <a:srgbClr val="25342A"/>
                          </a:solidFill>
                          <a:latin typeface="Roboto"/>
                        </a:rPr>
                        <a:t>59.5%</a:t>
                      </a:r>
                    </a:p>
                  </a:txBody>
                  <a:tcPr>
                    <a:solidFill>
                      <a:srgbClr val="FFFFFF"/>
                    </a:solidFill>
                  </a:tcPr>
                </a:tc>
              </a:tr>
              <a:tr h="329184">
                <a:tc>
                  <a:txBody>
                    <a:bodyPr/>
                    <a:lstStyle/>
                    <a:p>
                      <a:pPr>
                        <a:defRPr>
                          <a:latin typeface="Roboto"/>
                        </a:defRPr>
                      </a:pPr>
                      <a:r>
                        <a:rPr sz="1050">
                          <a:solidFill>
                            <a:srgbClr val="25342A"/>
                          </a:solidFill>
                          <a:latin typeface="Roboto"/>
                        </a:rPr>
                        <a:t>Installations</a:t>
                      </a:r>
                    </a:p>
                  </a:txBody>
                  <a:tcPr>
                    <a:solidFill>
                      <a:srgbClr val="F7FAF7"/>
                    </a:solidFill>
                  </a:tcPr>
                </a:tc>
                <a:tc>
                  <a:txBody>
                    <a:bodyPr/>
                    <a:lstStyle/>
                    <a:p>
                      <a:pPr algn="r">
                        <a:defRPr>
                          <a:latin typeface="Roboto"/>
                        </a:defRPr>
                      </a:pPr>
                      <a:r>
                        <a:rPr sz="1050">
                          <a:solidFill>
                            <a:srgbClr val="25342A"/>
                          </a:solidFill>
                          <a:latin typeface="Roboto"/>
                        </a:rPr>
                        <a:t>$237,200</a:t>
                      </a:r>
                    </a:p>
                  </a:txBody>
                  <a:tcPr>
                    <a:solidFill>
                      <a:srgbClr val="F7FAF7"/>
                    </a:solidFill>
                  </a:tcPr>
                </a:tc>
                <a:tc>
                  <a:txBody>
                    <a:bodyPr/>
                    <a:lstStyle/>
                    <a:p>
                      <a:pPr algn="r">
                        <a:defRPr>
                          <a:latin typeface="Roboto"/>
                        </a:defRPr>
                      </a:pPr>
                      <a:r>
                        <a:rPr sz="1050">
                          <a:solidFill>
                            <a:srgbClr val="25342A"/>
                          </a:solidFill>
                          <a:latin typeface="Roboto"/>
                        </a:rPr>
                        <a:t>$222,000</a:t>
                      </a:r>
                    </a:p>
                  </a:txBody>
                  <a:tcPr>
                    <a:solidFill>
                      <a:srgbClr val="F7FAF7"/>
                    </a:solidFill>
                  </a:tcPr>
                </a:tc>
                <a:tc>
                  <a:txBody>
                    <a:bodyPr/>
                    <a:lstStyle/>
                    <a:p>
                      <a:pPr algn="r">
                        <a:defRPr>
                          <a:latin typeface="Roboto"/>
                        </a:defRPr>
                      </a:pPr>
                      <a:r>
                        <a:rPr sz="1050">
                          <a:solidFill>
                            <a:srgbClr val="25342A"/>
                          </a:solidFill>
                          <a:latin typeface="Roboto"/>
                        </a:rPr>
                        <a:t>6.8%</a:t>
                      </a:r>
                    </a:p>
                  </a:txBody>
                  <a:tcPr>
                    <a:solidFill>
                      <a:srgbClr val="F7FAF7"/>
                    </a:solidFill>
                  </a:tcPr>
                </a:tc>
                <a:tc>
                  <a:txBody>
                    <a:bodyPr/>
                    <a:lstStyle/>
                    <a:p>
                      <a:pPr algn="r">
                        <a:defRPr>
                          <a:latin typeface="Roboto"/>
                        </a:defRPr>
                      </a:pPr>
                      <a:r>
                        <a:rPr sz="1050">
                          <a:solidFill>
                            <a:srgbClr val="25342A"/>
                          </a:solidFill>
                          <a:latin typeface="Roboto"/>
                        </a:rPr>
                        <a:t>$72,960</a:t>
                      </a:r>
                    </a:p>
                  </a:txBody>
                  <a:tcPr>
                    <a:solidFill>
                      <a:srgbClr val="F7FAF7"/>
                    </a:solidFill>
                  </a:tcPr>
                </a:tc>
                <a:tc>
                  <a:txBody>
                    <a:bodyPr/>
                    <a:lstStyle/>
                    <a:p>
                      <a:pPr algn="r">
                        <a:defRPr>
                          <a:latin typeface="Roboto"/>
                        </a:defRPr>
                      </a:pPr>
                      <a:r>
                        <a:rPr sz="1050">
                          <a:solidFill>
                            <a:srgbClr val="25342A"/>
                          </a:solidFill>
                          <a:latin typeface="Roboto"/>
                        </a:rPr>
                        <a:t>30.8%</a:t>
                      </a:r>
                    </a:p>
                  </a:txBody>
                  <a:tcPr>
                    <a:solidFill>
                      <a:srgbClr val="F7FAF7"/>
                    </a:solidFill>
                  </a:tcPr>
                </a:tc>
              </a:tr>
              <a:tr h="329184">
                <a:tc>
                  <a:txBody>
                    <a:bodyPr/>
                    <a:lstStyle/>
                    <a:p>
                      <a:pPr>
                        <a:defRPr>
                          <a:latin typeface="Roboto"/>
                        </a:defRPr>
                      </a:pPr>
                      <a:r>
                        <a:rPr sz="1050">
                          <a:solidFill>
                            <a:srgbClr val="25342A"/>
                          </a:solidFill>
                          <a:latin typeface="Roboto"/>
                        </a:rPr>
                        <a:t>Call-outs and repairs</a:t>
                      </a:r>
                    </a:p>
                  </a:txBody>
                  <a:tcPr>
                    <a:solidFill>
                      <a:srgbClr val="FFFFFF"/>
                    </a:solidFill>
                  </a:tcPr>
                </a:tc>
                <a:tc>
                  <a:txBody>
                    <a:bodyPr/>
                    <a:lstStyle/>
                    <a:p>
                      <a:pPr algn="r">
                        <a:defRPr>
                          <a:latin typeface="Roboto"/>
                        </a:defRPr>
                      </a:pPr>
                      <a:r>
                        <a:rPr sz="1050">
                          <a:solidFill>
                            <a:srgbClr val="25342A"/>
                          </a:solidFill>
                          <a:latin typeface="Roboto"/>
                        </a:rPr>
                        <a:t>$54,052</a:t>
                      </a:r>
                    </a:p>
                  </a:txBody>
                  <a:tcPr>
                    <a:solidFill>
                      <a:srgbClr val="FFFFFF"/>
                    </a:solidFill>
                  </a:tcPr>
                </a:tc>
                <a:tc>
                  <a:txBody>
                    <a:bodyPr/>
                    <a:lstStyle/>
                    <a:p>
                      <a:pPr algn="r">
                        <a:defRPr>
                          <a:latin typeface="Roboto"/>
                        </a:defRPr>
                      </a:pPr>
                      <a:r>
                        <a:rPr sz="1050">
                          <a:solidFill>
                            <a:srgbClr val="25342A"/>
                          </a:solidFill>
                          <a:latin typeface="Roboto"/>
                        </a:rPr>
                        <a:t>$37,524</a:t>
                      </a:r>
                    </a:p>
                  </a:txBody>
                  <a:tcPr>
                    <a:solidFill>
                      <a:srgbClr val="FFFFFF"/>
                    </a:solidFill>
                  </a:tcPr>
                </a:tc>
                <a:tc>
                  <a:txBody>
                    <a:bodyPr/>
                    <a:lstStyle/>
                    <a:p>
                      <a:pPr algn="r">
                        <a:defRPr>
                          <a:latin typeface="Roboto"/>
                        </a:defRPr>
                      </a:pPr>
                      <a:r>
                        <a:rPr sz="1050">
                          <a:solidFill>
                            <a:srgbClr val="25342A"/>
                          </a:solidFill>
                          <a:latin typeface="Roboto"/>
                        </a:rPr>
                        <a:t>44.0%</a:t>
                      </a:r>
                    </a:p>
                  </a:txBody>
                  <a:tcPr>
                    <a:solidFill>
                      <a:srgbClr val="FFFFFF"/>
                    </a:solidFill>
                  </a:tcPr>
                </a:tc>
                <a:tc>
                  <a:txBody>
                    <a:bodyPr/>
                    <a:lstStyle/>
                    <a:p>
                      <a:pPr algn="r">
                        <a:defRPr>
                          <a:latin typeface="Roboto"/>
                        </a:defRPr>
                      </a:pPr>
                      <a:r>
                        <a:rPr sz="1050">
                          <a:solidFill>
                            <a:srgbClr val="25342A"/>
                          </a:solidFill>
                          <a:latin typeface="Roboto"/>
                        </a:rPr>
                        <a:t>$23,566</a:t>
                      </a:r>
                    </a:p>
                  </a:txBody>
                  <a:tcPr>
                    <a:solidFill>
                      <a:srgbClr val="FFFFFF"/>
                    </a:solidFill>
                  </a:tcPr>
                </a:tc>
                <a:tc>
                  <a:txBody>
                    <a:bodyPr/>
                    <a:lstStyle/>
                    <a:p>
                      <a:pPr algn="r">
                        <a:defRPr>
                          <a:latin typeface="Roboto"/>
                        </a:defRPr>
                      </a:pPr>
                      <a:r>
                        <a:rPr sz="1050">
                          <a:solidFill>
                            <a:srgbClr val="25342A"/>
                          </a:solidFill>
                          <a:latin typeface="Roboto"/>
                        </a:rPr>
                        <a:t>43.6%</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$372,252</a:t>
                      </a:r>
                    </a:p>
                  </a:txBody>
                  <a:tcPr>
                    <a:solidFill>
                      <a:srgbClr val="F7FAF7"/>
                    </a:solidFill>
                  </a:tcPr>
                </a:tc>
                <a:tc>
                  <a:txBody>
                    <a:bodyPr/>
                    <a:lstStyle/>
                    <a:p>
                      <a:pPr algn="r">
                        <a:defRPr>
                          <a:latin typeface="Roboto"/>
                        </a:defRPr>
                      </a:pPr>
                      <a:r>
                        <a:rPr sz="1050" b="1">
                          <a:solidFill>
                            <a:srgbClr val="25342A"/>
                          </a:solidFill>
                          <a:latin typeface="Roboto"/>
                        </a:rPr>
                        <a:t>$325,924</a:t>
                      </a:r>
                    </a:p>
                  </a:txBody>
                  <a:tcPr>
                    <a:solidFill>
                      <a:srgbClr val="F7FAF7"/>
                    </a:solidFill>
                  </a:tcPr>
                </a:tc>
                <a:tc>
                  <a:txBody>
                    <a:bodyPr/>
                    <a:lstStyle/>
                    <a:p>
                      <a:pPr algn="r">
                        <a:defRPr>
                          <a:latin typeface="Roboto"/>
                        </a:defRPr>
                      </a:pPr>
                      <a:r>
                        <a:rPr sz="1050" b="1">
                          <a:solidFill>
                            <a:srgbClr val="25342A"/>
                          </a:solidFill>
                          <a:latin typeface="Roboto"/>
                        </a:rPr>
                        <a:t>14.2%</a:t>
                      </a:r>
                    </a:p>
                  </a:txBody>
                  <a:tcPr>
                    <a:solidFill>
                      <a:srgbClr val="F7FAF7"/>
                    </a:solidFill>
                  </a:tcPr>
                </a:tc>
                <a:tc>
                  <a:txBody>
                    <a:bodyPr/>
                    <a:lstStyle/>
                    <a:p>
                      <a:pPr algn="r">
                        <a:defRPr>
                          <a:latin typeface="Roboto"/>
                        </a:defRPr>
                      </a:pPr>
                      <a:r>
                        <a:rPr sz="1050" b="1">
                          <a:solidFill>
                            <a:srgbClr val="25342A"/>
                          </a:solidFill>
                          <a:latin typeface="Roboto"/>
                        </a:rPr>
                        <a:t>$144,758</a:t>
                      </a:r>
                    </a:p>
                  </a:txBody>
                  <a:tcPr>
                    <a:solidFill>
                      <a:srgbClr val="F7FAF7"/>
                    </a:solidFill>
                  </a:tcPr>
                </a:tc>
                <a:tc>
                  <a:txBody>
                    <a:bodyPr/>
                    <a:lstStyle/>
                    <a:p>
                      <a:pPr algn="r">
                        <a:defRPr>
                          <a:latin typeface="Roboto"/>
                        </a:defRPr>
                      </a:pPr>
                      <a:r>
                        <a:rPr sz="1050" b="1">
                          <a:solidFill>
                            <a:srgbClr val="25342A"/>
                          </a:solidFill>
                          <a:latin typeface="Roboto"/>
                        </a:rPr>
                        <a:t>38.9%</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August's client work made $68,020 gross margin (59.3%). Consultant time not charged to client work took $6,780 and overheads $53,650, leaving $7,590 profit before tax (6.6% of revenue). To cover overheads, client work needs a 52.7%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August 2026</a:t>
                      </a:r>
                    </a:p>
                  </a:txBody>
                  <a:tcPr>
                    <a:solidFill>
                      <a:srgbClr val="2F7A5D"/>
                    </a:solidFill>
                  </a:tcPr>
                </a:tc>
              </a:tr>
              <a:tr h="329184">
                <a:tc>
                  <a:txBody>
                    <a:bodyPr/>
                    <a:lstStyle/>
                    <a:p>
                      <a:pPr>
                        <a:defRPr>
                          <a:latin typeface="Roboto"/>
                        </a:defRPr>
                      </a:pPr>
                      <a:r>
                        <a:rPr sz="1050">
                          <a:solidFill>
                            <a:srgbClr val="25342A"/>
                          </a:solidFill>
                          <a:latin typeface="Roboto"/>
                        </a:rPr>
                        <a:t>Gross margin on client work</a:t>
                      </a:r>
                    </a:p>
                  </a:txBody>
                  <a:tcPr>
                    <a:solidFill>
                      <a:srgbClr val="FFFFFF"/>
                    </a:solidFill>
                  </a:tcPr>
                </a:tc>
                <a:tc>
                  <a:txBody>
                    <a:bodyPr/>
                    <a:lstStyle/>
                    <a:p>
                      <a:pPr algn="r">
                        <a:defRPr>
                          <a:latin typeface="Roboto"/>
                        </a:defRPr>
                      </a:pPr>
                      <a:r>
                        <a:rPr sz="1050">
                          <a:solidFill>
                            <a:srgbClr val="25342A"/>
                          </a:solidFill>
                          <a:latin typeface="Roboto"/>
                        </a:rPr>
                        <a:t>$68,020</a:t>
                      </a:r>
                    </a:p>
                  </a:txBody>
                  <a:tcPr>
                    <a:solidFill>
                      <a:srgbClr val="FFFFFF"/>
                    </a:solidFill>
                  </a:tcPr>
                </a:tc>
              </a:tr>
              <a:tr h="329184">
                <a:tc>
                  <a:txBody>
                    <a:bodyPr/>
                    <a:lstStyle/>
                    <a:p>
                      <a:pPr>
                        <a:defRPr>
                          <a:latin typeface="Roboto"/>
                        </a:defRPr>
                      </a:pPr>
                      <a:r>
                        <a:rPr sz="1050">
                          <a:solidFill>
                            <a:srgbClr val="25342A"/>
                          </a:solidFill>
                          <a:latin typeface="Roboto"/>
                        </a:rPr>
                        <a:t>Consultant wages and on-costs</a:t>
                      </a:r>
                    </a:p>
                  </a:txBody>
                  <a:tcPr>
                    <a:solidFill>
                      <a:srgbClr val="F7FAF7"/>
                    </a:solidFill>
                  </a:tcPr>
                </a:tc>
                <a:tc>
                  <a:txBody>
                    <a:bodyPr/>
                    <a:lstStyle/>
                    <a:p>
                      <a:pPr algn="r">
                        <a:defRPr>
                          <a:latin typeface="Roboto"/>
                        </a:defRPr>
                      </a:pPr>
                      <a:r>
                        <a:rPr sz="1050">
                          <a:solidFill>
                            <a:srgbClr val="25342A"/>
                          </a:solidFill>
                          <a:latin typeface="Roboto"/>
                        </a:rPr>
                        <a:t>$46,500</a:t>
                      </a:r>
                    </a:p>
                  </a:txBody>
                  <a:tcPr>
                    <a:solidFill>
                      <a:srgbClr val="F7FAF7"/>
                    </a:solidFill>
                  </a:tcPr>
                </a:tc>
              </a:tr>
              <a:tr h="329184">
                <a:tc>
                  <a:txBody>
                    <a:bodyPr/>
                    <a:lstStyle/>
                    <a:p>
                      <a:pPr>
                        <a:defRPr>
                          <a:latin typeface="Roboto"/>
                        </a:defRPr>
                      </a:pPr>
                      <a:r>
                        <a:rPr sz="1050">
                          <a:solidFill>
                            <a:srgbClr val="25342A"/>
                          </a:solidFill>
                          <a:latin typeface="Roboto"/>
                        </a:rPr>
                        <a:t>Consultant time charged to client work (at cost)</a:t>
                      </a:r>
                    </a:p>
                  </a:txBody>
                  <a:tcPr>
                    <a:solidFill>
                      <a:srgbClr val="FFFFFF"/>
                    </a:solidFill>
                  </a:tcPr>
                </a:tc>
                <a:tc>
                  <a:txBody>
                    <a:bodyPr/>
                    <a:lstStyle/>
                    <a:p>
                      <a:pPr algn="r">
                        <a:defRPr>
                          <a:latin typeface="Roboto"/>
                        </a:defRPr>
                      </a:pPr>
                      <a:r>
                        <a:rPr sz="1050">
                          <a:solidFill>
                            <a:srgbClr val="25342A"/>
                          </a:solidFill>
                          <a:latin typeface="Roboto"/>
                        </a:rPr>
                        <a:t>$39,720</a:t>
                      </a:r>
                    </a:p>
                  </a:txBody>
                  <a:tcPr>
                    <a:solidFill>
                      <a:srgbClr val="FFFFFF"/>
                    </a:solidFill>
                  </a:tcPr>
                </a:tc>
              </a:tr>
              <a:tr h="329184">
                <a:tc>
                  <a:txBody>
                    <a:bodyPr/>
                    <a:lstStyle/>
                    <a:p>
                      <a:pPr>
                        <a:defRPr>
                          <a:latin typeface="Roboto"/>
                        </a:defRPr>
                      </a:pPr>
                      <a:r>
                        <a:rPr sz="1050">
                          <a:solidFill>
                            <a:srgbClr val="25342A"/>
                          </a:solidFill>
                          <a:latin typeface="Roboto"/>
                        </a:rPr>
                        <a:t>Consultant time not charged to client work</a:t>
                      </a:r>
                    </a:p>
                  </a:txBody>
                  <a:tcPr>
                    <a:solidFill>
                      <a:srgbClr val="F7FAF7"/>
                    </a:solidFill>
                  </a:tcPr>
                </a:tc>
                <a:tc>
                  <a:txBody>
                    <a:bodyPr/>
                    <a:lstStyle/>
                    <a:p>
                      <a:pPr algn="r">
                        <a:defRPr>
                          <a:latin typeface="Roboto"/>
                        </a:defRPr>
                      </a:pPr>
                      <a:r>
                        <a:rPr sz="1050">
                          <a:solidFill>
                            <a:srgbClr val="25342A"/>
                          </a:solidFill>
                          <a:latin typeface="Roboto"/>
                        </a:rPr>
                        <a:t>$6,780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$61,240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$53,650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$7,590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$114,640</a:t>
                      </a:r>
                    </a:p>
                  </a:txBody>
                  <a:tcPr>
                    <a:solidFill>
                      <a:srgbClr val="F7FAF7"/>
                    </a:solidFill>
                  </a:tcPr>
                </a:tc>
              </a:tr>
              <a:tr h="329184">
                <a:tc>
                  <a:txBody>
                    <a:bodyPr/>
                    <a:lstStyle/>
                    <a:p>
                      <a:pPr>
                        <a:defRPr>
                          <a:latin typeface="Roboto"/>
                        </a:defRPr>
                      </a:pPr>
                      <a:r>
                        <a:rPr sz="1050">
                          <a:solidFill>
                            <a:srgbClr val="25342A"/>
                          </a:solidFill>
                          <a:latin typeface="Roboto"/>
                        </a:rPr>
                        <a:t>Gross margin on client work, %</a:t>
                      </a:r>
                    </a:p>
                  </a:txBody>
                  <a:tcPr>
                    <a:solidFill>
                      <a:srgbClr val="FFFFFF"/>
                    </a:solidFill>
                  </a:tcPr>
                </a:tc>
                <a:tc>
                  <a:txBody>
                    <a:bodyPr/>
                    <a:lstStyle/>
                    <a:p>
                      <a:pPr algn="r">
                        <a:defRPr>
                          <a:latin typeface="Roboto"/>
                        </a:defRPr>
                      </a:pPr>
                      <a:r>
                        <a:rPr sz="1050">
                          <a:solidFill>
                            <a:srgbClr val="25342A"/>
                          </a:solidFill>
                          <a:latin typeface="Roboto"/>
                        </a:rPr>
                        <a:t>59.3%</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6.6%</a:t>
                      </a:r>
                    </a:p>
                  </a:txBody>
                  <a:tcPr>
                    <a:solidFill>
                      <a:srgbClr val="F7FAF7"/>
                    </a:solidFill>
                  </a:tcPr>
                </a:tc>
              </a:tr>
              <a:tr h="329184">
                <a:tc>
                  <a:txBody>
                    <a:bodyPr/>
                    <a:lstStyle/>
                    <a:p>
                      <a:pPr>
                        <a:defRPr>
                          <a:latin typeface="Roboto"/>
                        </a:defRPr>
                      </a:pPr>
                      <a:r>
                        <a:rPr sz="1050">
                          <a:solidFill>
                            <a:srgbClr val="25342A"/>
                          </a:solidFill>
                          <a:latin typeface="Roboto"/>
                        </a:rPr>
                        <a:t>Gross margin client work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52.7%</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August against August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86.5%</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$114,640 against $61,475</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59.3%</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$235,395 against $147,795</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59.9%</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$141,095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59.3% up on the same period last year, year to date ($235,395 against $147,795). Training makes the highest gross margin (68.4%); Projects the lowest (58.9%). The business needs 52.7%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68.4% gross margin, the most profitable work you do. Projects: 58.9% gross margin, the thinnest, still above the 52.7%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August against August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95.3%</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$75,740 against $38,775</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49.8%</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$155,195 against $103,595</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58.9%</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$91,435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brought in $155,195 this financial year to date, 49.8% on the same period last year (slower than the business as a whole, 59.3%), at a 58.9% gross margin (below the 59.9%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58.9% gross margin, 6.2 points clear of the 52.7%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August against August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99.4%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$32,500 against $16,300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99.4%</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$65,000 against $32,600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60.4%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$39,260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brought in $65,000 this financial year to date, 99.4% on the same period last year (faster than the business as a whole, 59.3%), at a 60.4% gross margin (above the 59.9%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60.4% gross margin, 7.7 points clear of the 52.7%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August against August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0.0%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$6,400 against $6,400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31.0%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$15,200 against $11,600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68.4%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$10,400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brought in $15,200 this financial year to date, 31.0% on the same period last year (slower than the business as a whole, 59.3%), at a 68.4% gross margin (above the 59.9%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68.4% gross margin, 15.7 points clear of the 52.7%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type of work: financial year to date (Jul to Aug 2026)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Projects</a:t>
                      </a:r>
                    </a:p>
                  </a:txBody>
                  <a:tcPr>
                    <a:solidFill>
                      <a:srgbClr val="FFFFFF"/>
                    </a:solidFill>
                  </a:tcPr>
                </a:tc>
                <a:tc>
                  <a:txBody>
                    <a:bodyPr/>
                    <a:lstStyle/>
                    <a:p>
                      <a:pPr algn="r">
                        <a:defRPr>
                          <a:latin typeface="Roboto"/>
                        </a:defRPr>
                      </a:pPr>
                      <a:r>
                        <a:rPr sz="1050">
                          <a:solidFill>
                            <a:srgbClr val="25342A"/>
                          </a:solidFill>
                          <a:latin typeface="Roboto"/>
                        </a:rPr>
                        <a:t>$155,195</a:t>
                      </a:r>
                    </a:p>
                  </a:txBody>
                  <a:tcPr>
                    <a:solidFill>
                      <a:srgbClr val="FFFFFF"/>
                    </a:solidFill>
                  </a:tcPr>
                </a:tc>
                <a:tc>
                  <a:txBody>
                    <a:bodyPr/>
                    <a:lstStyle/>
                    <a:p>
                      <a:pPr algn="r">
                        <a:defRPr>
                          <a:latin typeface="Roboto"/>
                        </a:defRPr>
                      </a:pPr>
                      <a:r>
                        <a:rPr sz="1050">
                          <a:solidFill>
                            <a:srgbClr val="25342A"/>
                          </a:solidFill>
                          <a:latin typeface="Roboto"/>
                        </a:rPr>
                        <a:t>$103,595</a:t>
                      </a:r>
                    </a:p>
                  </a:txBody>
                  <a:tcPr>
                    <a:solidFill>
                      <a:srgbClr val="FFFFFF"/>
                    </a:solidFill>
                  </a:tcPr>
                </a:tc>
                <a:tc>
                  <a:txBody>
                    <a:bodyPr/>
                    <a:lstStyle/>
                    <a:p>
                      <a:pPr algn="r">
                        <a:defRPr>
                          <a:latin typeface="Roboto"/>
                        </a:defRPr>
                      </a:pPr>
                      <a:r>
                        <a:rPr sz="1050">
                          <a:solidFill>
                            <a:srgbClr val="25342A"/>
                          </a:solidFill>
                          <a:latin typeface="Roboto"/>
                        </a:rPr>
                        <a:t>49.8%</a:t>
                      </a:r>
                    </a:p>
                  </a:txBody>
                  <a:tcPr>
                    <a:solidFill>
                      <a:srgbClr val="FFFFFF"/>
                    </a:solidFill>
                  </a:tcPr>
                </a:tc>
                <a:tc>
                  <a:txBody>
                    <a:bodyPr/>
                    <a:lstStyle/>
                    <a:p>
                      <a:pPr algn="r">
                        <a:defRPr>
                          <a:latin typeface="Roboto"/>
                        </a:defRPr>
                      </a:pPr>
                      <a:r>
                        <a:rPr sz="1050">
                          <a:solidFill>
                            <a:srgbClr val="25342A"/>
                          </a:solidFill>
                          <a:latin typeface="Roboto"/>
                        </a:rPr>
                        <a:t>$91,435</a:t>
                      </a:r>
                    </a:p>
                  </a:txBody>
                  <a:tcPr>
                    <a:solidFill>
                      <a:srgbClr val="FFFFFF"/>
                    </a:solidFill>
                  </a:tcPr>
                </a:tc>
                <a:tc>
                  <a:txBody>
                    <a:bodyPr/>
                    <a:lstStyle/>
                    <a:p>
                      <a:pPr algn="r">
                        <a:defRPr>
                          <a:latin typeface="Roboto"/>
                        </a:defRPr>
                      </a:pPr>
                      <a:r>
                        <a:rPr sz="1050">
                          <a:solidFill>
                            <a:srgbClr val="25342A"/>
                          </a:solidFill>
                          <a:latin typeface="Roboto"/>
                        </a:rPr>
                        <a:t>58.9%</a:t>
                      </a:r>
                    </a:p>
                  </a:txBody>
                  <a:tcPr>
                    <a:solidFill>
                      <a:srgbClr val="FFFFFF"/>
                    </a:solidFill>
                  </a:tcPr>
                </a:tc>
              </a:tr>
              <a:tr h="329184">
                <a:tc>
                  <a:txBody>
                    <a:bodyPr/>
                    <a:lstStyle/>
                    <a:p>
                      <a:pPr>
                        <a:defRPr>
                          <a:latin typeface="Roboto"/>
                        </a:defRPr>
                      </a:pPr>
                      <a:r>
                        <a:rPr sz="1050">
                          <a:solidFill>
                            <a:srgbClr val="25342A"/>
                          </a:solidFill>
                          <a:latin typeface="Roboto"/>
                        </a:rPr>
                        <a:t>Retainers</a:t>
                      </a:r>
                    </a:p>
                  </a:txBody>
                  <a:tcPr>
                    <a:solidFill>
                      <a:srgbClr val="F7FAF7"/>
                    </a:solidFill>
                  </a:tcPr>
                </a:tc>
                <a:tc>
                  <a:txBody>
                    <a:bodyPr/>
                    <a:lstStyle/>
                    <a:p>
                      <a:pPr algn="r">
                        <a:defRPr>
                          <a:latin typeface="Roboto"/>
                        </a:defRPr>
                      </a:pPr>
                      <a:r>
                        <a:rPr sz="1050">
                          <a:solidFill>
                            <a:srgbClr val="25342A"/>
                          </a:solidFill>
                          <a:latin typeface="Roboto"/>
                        </a:rPr>
                        <a:t>$65,000</a:t>
                      </a:r>
                    </a:p>
                  </a:txBody>
                  <a:tcPr>
                    <a:solidFill>
                      <a:srgbClr val="F7FAF7"/>
                    </a:solidFill>
                  </a:tcPr>
                </a:tc>
                <a:tc>
                  <a:txBody>
                    <a:bodyPr/>
                    <a:lstStyle/>
                    <a:p>
                      <a:pPr algn="r">
                        <a:defRPr>
                          <a:latin typeface="Roboto"/>
                        </a:defRPr>
                      </a:pPr>
                      <a:r>
                        <a:rPr sz="1050">
                          <a:solidFill>
                            <a:srgbClr val="25342A"/>
                          </a:solidFill>
                          <a:latin typeface="Roboto"/>
                        </a:rPr>
                        <a:t>$32,600</a:t>
                      </a:r>
                    </a:p>
                  </a:txBody>
                  <a:tcPr>
                    <a:solidFill>
                      <a:srgbClr val="F7FAF7"/>
                    </a:solidFill>
                  </a:tcPr>
                </a:tc>
                <a:tc>
                  <a:txBody>
                    <a:bodyPr/>
                    <a:lstStyle/>
                    <a:p>
                      <a:pPr algn="r">
                        <a:defRPr>
                          <a:latin typeface="Roboto"/>
                        </a:defRPr>
                      </a:pPr>
                      <a:r>
                        <a:rPr sz="1050">
                          <a:solidFill>
                            <a:srgbClr val="25342A"/>
                          </a:solidFill>
                          <a:latin typeface="Roboto"/>
                        </a:rPr>
                        <a:t>99.4%</a:t>
                      </a:r>
                    </a:p>
                  </a:txBody>
                  <a:tcPr>
                    <a:solidFill>
                      <a:srgbClr val="F7FAF7"/>
                    </a:solidFill>
                  </a:tcPr>
                </a:tc>
                <a:tc>
                  <a:txBody>
                    <a:bodyPr/>
                    <a:lstStyle/>
                    <a:p>
                      <a:pPr algn="r">
                        <a:defRPr>
                          <a:latin typeface="Roboto"/>
                        </a:defRPr>
                      </a:pPr>
                      <a:r>
                        <a:rPr sz="1050">
                          <a:solidFill>
                            <a:srgbClr val="25342A"/>
                          </a:solidFill>
                          <a:latin typeface="Roboto"/>
                        </a:rPr>
                        <a:t>$39,260</a:t>
                      </a:r>
                    </a:p>
                  </a:txBody>
                  <a:tcPr>
                    <a:solidFill>
                      <a:srgbClr val="F7FAF7"/>
                    </a:solidFill>
                  </a:tcPr>
                </a:tc>
                <a:tc>
                  <a:txBody>
                    <a:bodyPr/>
                    <a:lstStyle/>
                    <a:p>
                      <a:pPr algn="r">
                        <a:defRPr>
                          <a:latin typeface="Roboto"/>
                        </a:defRPr>
                      </a:pPr>
                      <a:r>
                        <a:rPr sz="1050">
                          <a:solidFill>
                            <a:srgbClr val="25342A"/>
                          </a:solidFill>
                          <a:latin typeface="Roboto"/>
                        </a:rPr>
                        <a:t>60.4%</a:t>
                      </a:r>
                    </a:p>
                  </a:txBody>
                  <a:tcPr>
                    <a:solidFill>
                      <a:srgbClr val="F7FAF7"/>
                    </a:solidFill>
                  </a:tcPr>
                </a:tc>
              </a:tr>
              <a:tr h="329184">
                <a:tc>
                  <a:txBody>
                    <a:bodyPr/>
                    <a:lstStyle/>
                    <a:p>
                      <a:pPr>
                        <a:defRPr>
                          <a:latin typeface="Roboto"/>
                        </a:defRPr>
                      </a:pPr>
                      <a:r>
                        <a:rPr sz="1050">
                          <a:solidFill>
                            <a:srgbClr val="25342A"/>
                          </a:solidFill>
                          <a:latin typeface="Roboto"/>
                        </a:rPr>
                        <a:t>Training</a:t>
                      </a:r>
                    </a:p>
                  </a:txBody>
                  <a:tcPr>
                    <a:solidFill>
                      <a:srgbClr val="FFFFFF"/>
                    </a:solidFill>
                  </a:tcPr>
                </a:tc>
                <a:tc>
                  <a:txBody>
                    <a:bodyPr/>
                    <a:lstStyle/>
                    <a:p>
                      <a:pPr algn="r">
                        <a:defRPr>
                          <a:latin typeface="Roboto"/>
                        </a:defRPr>
                      </a:pPr>
                      <a:r>
                        <a:rPr sz="1050">
                          <a:solidFill>
                            <a:srgbClr val="25342A"/>
                          </a:solidFill>
                          <a:latin typeface="Roboto"/>
                        </a:rPr>
                        <a:t>$15,200</a:t>
                      </a:r>
                    </a:p>
                  </a:txBody>
                  <a:tcPr>
                    <a:solidFill>
                      <a:srgbClr val="FFFFFF"/>
                    </a:solidFill>
                  </a:tcPr>
                </a:tc>
                <a:tc>
                  <a:txBody>
                    <a:bodyPr/>
                    <a:lstStyle/>
                    <a:p>
                      <a:pPr algn="r">
                        <a:defRPr>
                          <a:latin typeface="Roboto"/>
                        </a:defRPr>
                      </a:pPr>
                      <a:r>
                        <a:rPr sz="1050">
                          <a:solidFill>
                            <a:srgbClr val="25342A"/>
                          </a:solidFill>
                          <a:latin typeface="Roboto"/>
                        </a:rPr>
                        <a:t>$11,600</a:t>
                      </a:r>
                    </a:p>
                  </a:txBody>
                  <a:tcPr>
                    <a:solidFill>
                      <a:srgbClr val="FFFFFF"/>
                    </a:solidFill>
                  </a:tcPr>
                </a:tc>
                <a:tc>
                  <a:txBody>
                    <a:bodyPr/>
                    <a:lstStyle/>
                    <a:p>
                      <a:pPr algn="r">
                        <a:defRPr>
                          <a:latin typeface="Roboto"/>
                        </a:defRPr>
                      </a:pPr>
                      <a:r>
                        <a:rPr sz="1050">
                          <a:solidFill>
                            <a:srgbClr val="25342A"/>
                          </a:solidFill>
                          <a:latin typeface="Roboto"/>
                        </a:rPr>
                        <a:t>31.0%</a:t>
                      </a:r>
                    </a:p>
                  </a:txBody>
                  <a:tcPr>
                    <a:solidFill>
                      <a:srgbClr val="FFFFFF"/>
                    </a:solidFill>
                  </a:tcPr>
                </a:tc>
                <a:tc>
                  <a:txBody>
                    <a:bodyPr/>
                    <a:lstStyle/>
                    <a:p>
                      <a:pPr algn="r">
                        <a:defRPr>
                          <a:latin typeface="Roboto"/>
                        </a:defRPr>
                      </a:pPr>
                      <a:r>
                        <a:rPr sz="1050">
                          <a:solidFill>
                            <a:srgbClr val="25342A"/>
                          </a:solidFill>
                          <a:latin typeface="Roboto"/>
                        </a:rPr>
                        <a:t>$10,400</a:t>
                      </a:r>
                    </a:p>
                  </a:txBody>
                  <a:tcPr>
                    <a:solidFill>
                      <a:srgbClr val="FFFFFF"/>
                    </a:solidFill>
                  </a:tcPr>
                </a:tc>
                <a:tc>
                  <a:txBody>
                    <a:bodyPr/>
                    <a:lstStyle/>
                    <a:p>
                      <a:pPr algn="r">
                        <a:defRPr>
                          <a:latin typeface="Roboto"/>
                        </a:defRPr>
                      </a:pPr>
                      <a:r>
                        <a:rPr sz="1050">
                          <a:solidFill>
                            <a:srgbClr val="25342A"/>
                          </a:solidFill>
                          <a:latin typeface="Roboto"/>
                        </a:rPr>
                        <a:t>68.4%</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$235,395</a:t>
                      </a:r>
                    </a:p>
                  </a:txBody>
                  <a:tcPr>
                    <a:solidFill>
                      <a:srgbClr val="F7FAF7"/>
                    </a:solidFill>
                  </a:tcPr>
                </a:tc>
                <a:tc>
                  <a:txBody>
                    <a:bodyPr/>
                    <a:lstStyle/>
                    <a:p>
                      <a:pPr algn="r">
                        <a:defRPr>
                          <a:latin typeface="Roboto"/>
                        </a:defRPr>
                      </a:pPr>
                      <a:r>
                        <a:rPr sz="1050" b="1">
                          <a:solidFill>
                            <a:srgbClr val="25342A"/>
                          </a:solidFill>
                          <a:latin typeface="Roboto"/>
                        </a:rPr>
                        <a:t>$147,795</a:t>
                      </a:r>
                    </a:p>
                  </a:txBody>
                  <a:tcPr>
                    <a:solidFill>
                      <a:srgbClr val="F7FAF7"/>
                    </a:solidFill>
                  </a:tcPr>
                </a:tc>
                <a:tc>
                  <a:txBody>
                    <a:bodyPr/>
                    <a:lstStyle/>
                    <a:p>
                      <a:pPr algn="r">
                        <a:defRPr>
                          <a:latin typeface="Roboto"/>
                        </a:defRPr>
                      </a:pPr>
                      <a:r>
                        <a:rPr sz="1050" b="1">
                          <a:solidFill>
                            <a:srgbClr val="25342A"/>
                          </a:solidFill>
                          <a:latin typeface="Roboto"/>
                        </a:rPr>
                        <a:t>59.3%</a:t>
                      </a:r>
                    </a:p>
                  </a:txBody>
                  <a:tcPr>
                    <a:solidFill>
                      <a:srgbClr val="F7FAF7"/>
                    </a:solidFill>
                  </a:tcPr>
                </a:tc>
                <a:tc>
                  <a:txBody>
                    <a:bodyPr/>
                    <a:lstStyle/>
                    <a:p>
                      <a:pPr algn="r">
                        <a:defRPr>
                          <a:latin typeface="Roboto"/>
                        </a:defRPr>
                      </a:pPr>
                      <a:r>
                        <a:rPr sz="1050" b="1">
                          <a:solidFill>
                            <a:srgbClr val="25342A"/>
                          </a:solidFill>
                          <a:latin typeface="Roboto"/>
                        </a:rPr>
                        <a:t>$141,095</a:t>
                      </a:r>
                    </a:p>
                  </a:txBody>
                  <a:tcPr>
                    <a:solidFill>
                      <a:srgbClr val="F7FAF7"/>
                    </a:solidFill>
                  </a:tcPr>
                </a:tc>
                <a:tc>
                  <a:txBody>
                    <a:bodyPr/>
                    <a:lstStyle/>
                    <a:p>
                      <a:pPr algn="r">
                        <a:defRPr>
                          <a:latin typeface="Roboto"/>
                        </a:defRPr>
                      </a:pPr>
                      <a:r>
                        <a:rPr sz="1050" b="1">
                          <a:solidFill>
                            <a:srgbClr val="25342A"/>
                          </a:solidFill>
                          <a:latin typeface="Roboto"/>
                        </a:rPr>
                        <a:t>59.9%</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