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33.6</c:v>
                </c:pt>
                <c:pt idx="1">
                  <c:v>43.7</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36880</c:v>
                </c:pt>
                <c:pt idx="1">
                  <c:v>12641</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Wynnum house solar</c:v>
                </c:pt>
                <c:pt idx="1">
                  <c:v>Rocklea factory switchboard</c:v>
                </c:pt>
                <c:pt idx="2">
                  <c:v>Newstead gym air-con</c:v>
                </c:pt>
                <c:pt idx="3">
                  <c:v>Valley office cabling</c:v>
                </c:pt>
                <c:pt idx="4">
                  <c:v>Ashgrove hall LED lighting</c:v>
                </c:pt>
              </c:strCache>
            </c:strRef>
          </c:cat>
          <c:val>
            <c:numRef>
              <c:f>Sheet1!$B$2:$B$6</c:f>
              <c:numCache>
                <c:formatCode>0.0"%";[Red](0.0"%")</c:formatCode>
                <c:ptCount val="5"/>
                <c:pt idx="0">
                  <c:v>28.3</c:v>
                </c:pt>
                <c:pt idx="1">
                  <c:v>30.8</c:v>
                </c:pt>
                <c:pt idx="2">
                  <c:v>35.2</c:v>
                </c:pt>
                <c:pt idx="3">
                  <c:v>38.3</c:v>
                </c:pt>
                <c:pt idx="4">
                  <c:v>39.6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Wynnum house solar</c:v>
                </c:pt>
                <c:pt idx="1">
                  <c:v>Rocklea factory switchboard</c:v>
                </c:pt>
                <c:pt idx="2">
                  <c:v>Newstead gym air-con</c:v>
                </c:pt>
                <c:pt idx="3">
                  <c:v>Valley office cabling</c:v>
                </c:pt>
                <c:pt idx="4">
                  <c:v>Ashgrove hall LED lighting</c:v>
                </c:pt>
              </c:strCache>
            </c:strRef>
          </c:cat>
          <c:val>
            <c:numRef>
              <c:f>Sheet1!$B$2:$B$6</c:f>
              <c:numCache>
                <c:formatCode>$#,##0;[Red]($#,##0);"-"</c:formatCode>
                <c:ptCount val="5"/>
                <c:pt idx="0">
                  <c:v>5552</c:v>
                </c:pt>
                <c:pt idx="1">
                  <c:v>11844</c:v>
                </c:pt>
                <c:pt idx="2">
                  <c:v>5908</c:v>
                </c:pt>
                <c:pt idx="3">
                  <c:v>5136</c:v>
                </c:pt>
                <c:pt idx="4">
                  <c:v>8440</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(7)</c:v>
                </c:pt>
                <c:pt idx="2">
                  <c:v>2-hour call-outs (14)</c:v>
                </c:pt>
                <c:pt idx="3">
                  <c:v>3-hour call-outs (15)</c:v>
                </c:pt>
                <c:pt idx="4">
                  <c:v>2.5-hour call-outs (7)</c:v>
                </c:pt>
                <c:pt idx="5">
                  <c:v>4-hour call-outs (7)</c:v>
                </c:pt>
              </c:strCache>
            </c:strRef>
          </c:cat>
          <c:val>
            <c:numRef>
              <c:f>Sheet1!$B$2:$B$7</c:f>
              <c:numCache>
                <c:formatCode>0.0"%";[Red](0.0"%")</c:formatCode>
                <c:ptCount val="6"/>
                <c:pt idx="0">
                  <c:v>38.8</c:v>
                </c:pt>
                <c:pt idx="1">
                  <c:v>40.6</c:v>
                </c:pt>
                <c:pt idx="2">
                  <c:v>43.8</c:v>
                </c:pt>
                <c:pt idx="3">
                  <c:v>44.1</c:v>
                </c:pt>
                <c:pt idx="4">
                  <c:v>45.0</c:v>
                </c:pt>
                <c:pt idx="5">
                  <c:v>45.8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(7)</c:v>
                </c:pt>
                <c:pt idx="2">
                  <c:v>2-hour call-outs (14)</c:v>
                </c:pt>
                <c:pt idx="3">
                  <c:v>3-hour call-outs (15)</c:v>
                </c:pt>
                <c:pt idx="4">
                  <c:v>2.5-hour call-outs (7)</c:v>
                </c:pt>
                <c:pt idx="5">
                  <c:v>4-hour call-outs (7)</c:v>
                </c:pt>
              </c:strCache>
            </c:strRef>
          </c:cat>
          <c:val>
            <c:numRef>
              <c:f>Sheet1!$B$2:$B$7</c:f>
              <c:numCache>
                <c:formatCode>$#,##0;[Red]($#,##0);"-"</c:formatCode>
                <c:ptCount val="6"/>
                <c:pt idx="0">
                  <c:v>859</c:v>
                </c:pt>
                <c:pt idx="1">
                  <c:v>1067</c:v>
                </c:pt>
                <c:pt idx="2">
                  <c:v>2576</c:v>
                </c:pt>
                <c:pt idx="3">
                  <c:v>4110</c:v>
                </c:pt>
                <c:pt idx="4">
                  <c:v>1570</c:v>
                </c:pt>
                <c:pt idx="5">
                  <c:v>2459</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0.0"%";[Red](0.0"%")</c:formatCode>
                <c:ptCount val="23"/>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pt idx="22">
                  <c:v>41.1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$#,##0;[Red]($#,##0);"-"</c:formatCode>
                <c:ptCount val="23"/>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pt idx="21">
                  <c:v>71121</c:v>
                </c:pt>
                <c:pt idx="22">
                  <c:v>73637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August 2026. Every job's gross margin: revenue less materials, subcontractors and technician time at $68 an hour (fully loaded: wages and all on-costs).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July 2026: Locked. July 2026 is locked (closed 4 Aug 2026). These numbers won't change.</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August's jobs made $73,637 gross margin (41.1%). Technician time not charged to jobs took $10,060 and overheads $59,500, leaving $4,077 profit before tax (2.3% of revenue). To cover overheads, jobs need a 38.9%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August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$73,637</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$44,540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$10,060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$63,577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$59,500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$4,077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$179,007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41.1%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2.3%</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38.9%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August · All jobs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41.1%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July · All jobs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36.8%</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38.9%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(August)</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August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38.9%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August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38.9%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August maintenance contracts made a 59.5% job gross margin, installations made a 33.6% job gross margin, call-outs and repairs made a 43.7% job gross margin (technician time at $68 an hour, wages and all on-costs). Jobs need 38.9%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33.6% gross margin, 1.4 points under the 35.0% target: about $1,480 on $109,600 of revenue in August. It's below the 38.9% needed to cover overheads, too. Maintenance contracts: 59.5% gross margin, 24.5 points over the 35.0% target ($9,941 ahead on $40,500 in August).</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August · Maintenance contracts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July · Maintenance contracts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38.9%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(August)</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August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38.9%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August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38.9%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thinnest, Kangaroo Point townhouses: 58.2% gross margin, 23.3 points over the 35.0% target ($558 ahead on $2,400 in August). All maintenance contracts: 59.5% gross margin, 24.5 points over the 35.0% target ($9,941 ahead on $40,500 in August).</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August · Installations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33.6%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July · Installations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28.3%</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38.9%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(August)</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August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38.9%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August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38.9%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2 of the 5 installation jobs invoiced in August made less than the 35.0% job gross margin target. The Wynnum house solar made a 28.3% job gross margin: 36.0 h of technician time ($2,448) and $2,200 of subcontractors on a $19,600 job. Jobs need 38.9%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2 installations under the 35.0% target, worth about $2,939 between them on $58,100 of revenue. The biggest gap, Rocklea factory switchboard: 30.8% gross margin, 4.2 points under the 35.0% target: about $1,631 on $38,500 of revenue in August. It's below the 38.9%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August · Call-outs and repairs</a:t>
            </a:r>
          </a:p>
        </p:txBody>
      </p:sp>
      <p:sp>
        <p:nvSpPr>
          <p:cNvPr id="7" name="TextBox 6"/>
          <p:cNvSpPr txBox="1"/>
          <p:nvPr/>
        </p:nvSpPr>
        <p:spPr>
          <a:xfrm>
            <a:off x="640080"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8" name="TextBox 7"/>
          <p:cNvSpPr txBox="1"/>
          <p:nvPr/>
        </p:nvSpPr>
        <p:spPr>
          <a:xfrm>
            <a:off x="640080"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2767523"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2950403"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July · Call-outs and repairs</a:t>
            </a:r>
          </a:p>
        </p:txBody>
      </p:sp>
      <p:sp>
        <p:nvSpPr>
          <p:cNvPr id="11" name="TextBox 10"/>
          <p:cNvSpPr txBox="1"/>
          <p:nvPr/>
        </p:nvSpPr>
        <p:spPr>
          <a:xfrm>
            <a:off x="2950403"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43.4%</a:t>
            </a:r>
          </a:p>
        </p:txBody>
      </p:sp>
      <p:sp>
        <p:nvSpPr>
          <p:cNvPr id="12" name="TextBox 11"/>
          <p:cNvSpPr txBox="1"/>
          <p:nvPr/>
        </p:nvSpPr>
        <p:spPr>
          <a:xfrm>
            <a:off x="2950403"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5077846"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5260726"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5260726"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38.9%</a:t>
            </a:r>
          </a:p>
        </p:txBody>
      </p:sp>
      <p:sp>
        <p:nvSpPr>
          <p:cNvPr id="16" name="TextBox 15"/>
          <p:cNvSpPr txBox="1"/>
          <p:nvPr/>
        </p:nvSpPr>
        <p:spPr>
          <a:xfrm>
            <a:off x="5260726"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(August)</a:t>
            </a:r>
          </a:p>
        </p:txBody>
      </p:sp>
      <p:sp>
        <p:nvSpPr>
          <p:cNvPr id="17" name="Rectangle 16"/>
          <p:cNvSpPr/>
          <p:nvPr/>
        </p:nvSpPr>
        <p:spPr>
          <a:xfrm>
            <a:off x="7388169"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8" name="TextBox 17"/>
          <p:cNvSpPr txBox="1"/>
          <p:nvPr/>
        </p:nvSpPr>
        <p:spPr>
          <a:xfrm>
            <a:off x="7571049"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August</a:t>
            </a:r>
          </a:p>
        </p:txBody>
      </p:sp>
      <p:sp>
        <p:nvSpPr>
          <p:cNvPr id="19" name="TextBox 18"/>
          <p:cNvSpPr txBox="1"/>
          <p:nvPr/>
        </p:nvSpPr>
        <p:spPr>
          <a:xfrm>
            <a:off x="7571049"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$19,872</a:t>
            </a:r>
          </a:p>
        </p:txBody>
      </p:sp>
      <p:sp>
        <p:nvSpPr>
          <p:cNvPr id="20" name="TextBox 19"/>
          <p:cNvSpPr txBox="1"/>
          <p:nvPr/>
        </p:nvSpPr>
        <p:spPr>
          <a:xfrm>
            <a:off x="7571049"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68.7% of call-out revenue</a:t>
            </a:r>
          </a:p>
        </p:txBody>
      </p:sp>
      <p:sp>
        <p:nvSpPr>
          <p:cNvPr id="21" name="Rectangle 20"/>
          <p:cNvSpPr/>
          <p:nvPr/>
        </p:nvSpPr>
        <p:spPr>
          <a:xfrm>
            <a:off x="9698492"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2" name="TextBox 21"/>
          <p:cNvSpPr txBox="1"/>
          <p:nvPr/>
        </p:nvSpPr>
        <p:spPr>
          <a:xfrm>
            <a:off x="9881372"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Materials charged, August</a:t>
            </a:r>
          </a:p>
        </p:txBody>
      </p:sp>
      <p:sp>
        <p:nvSpPr>
          <p:cNvPr id="23" name="TextBox 22"/>
          <p:cNvSpPr txBox="1"/>
          <p:nvPr/>
        </p:nvSpPr>
        <p:spPr>
          <a:xfrm>
            <a:off x="9881372"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$9,035</a:t>
            </a:r>
          </a:p>
        </p:txBody>
      </p:sp>
      <p:sp>
        <p:nvSpPr>
          <p:cNvPr id="24" name="TextBox 23"/>
          <p:cNvSpPr txBox="1"/>
          <p:nvPr/>
        </p:nvSpPr>
        <p:spPr>
          <a:xfrm>
            <a:off x="9881372"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$6,950 at cost, plus 30%</a:t>
            </a:r>
          </a:p>
        </p:txBody>
      </p:sp>
      <p:sp>
        <p:nvSpPr>
          <p:cNvPr id="25" name="TextBox 24"/>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26" name="TextBox 25"/>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27" name="TextBox 26"/>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August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38.9%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August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38.9%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58 call-outs in August billed $19,872 of technician time and $9,035 of materials ($6,950 at cost plus 30%), and made a 43.7% job gross margin between them. Gross margins run from 38.8% to 45.8%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call-outs: 43.7% gross margin, 8.7 points over the 35.0% target ($2,524 ahead on $28,907 in August).</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