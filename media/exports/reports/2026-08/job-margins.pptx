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33.6</c:v>
                </c:pt>
                <c:pt idx="1">
                  <c:v>43.7</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36880</c:v>
                </c:pt>
                <c:pt idx="1">
                  <c:v>12641</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0.0"%";[Red](0.0"%")</c:formatCode>
                <c:ptCount val="5"/>
                <c:pt idx="0">
                  <c:v>28.3</c:v>
                </c:pt>
                <c:pt idx="1">
                  <c:v>30.8</c:v>
                </c:pt>
                <c:pt idx="2">
                  <c:v>35.2</c:v>
                </c:pt>
                <c:pt idx="3">
                  <c:v>38.3</c:v>
                </c:pt>
                <c:pt idx="4">
                  <c:v>39.6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$#,##0;[Red]($#,##0);"-"</c:formatCode>
                <c:ptCount val="5"/>
                <c:pt idx="0">
                  <c:v>5552</c:v>
                </c:pt>
                <c:pt idx="1">
                  <c:v>11844</c:v>
                </c:pt>
                <c:pt idx="2">
                  <c:v>5908</c:v>
                </c:pt>
                <c:pt idx="3">
                  <c:v>5136</c:v>
                </c:pt>
                <c:pt idx="4">
                  <c:v>8440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0.0"%";[Red](0.0"%")</c:formatCode>
                <c:ptCount val="6"/>
                <c:pt idx="0">
                  <c:v>38.8</c:v>
                </c:pt>
                <c:pt idx="1">
                  <c:v>40.6</c:v>
                </c:pt>
                <c:pt idx="2">
                  <c:v>43.8</c:v>
                </c:pt>
                <c:pt idx="3">
                  <c:v>44.1</c:v>
                </c:pt>
                <c:pt idx="4">
                  <c:v>45.0</c:v>
                </c:pt>
                <c:pt idx="5">
                  <c:v>45.8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$#,##0;[Red]($#,##0);"-"</c:formatCode>
                <c:ptCount val="6"/>
                <c:pt idx="0">
                  <c:v>859</c:v>
                </c:pt>
                <c:pt idx="1">
                  <c:v>1067</c:v>
                </c:pt>
                <c:pt idx="2">
                  <c:v>2576</c:v>
                </c:pt>
                <c:pt idx="3">
                  <c:v>4110</c:v>
                </c:pt>
                <c:pt idx="4">
                  <c:v>1570</c:v>
                </c:pt>
                <c:pt idx="5">
                  <c:v>2459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August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July 2026: Locked. July 2026 is locked (closed 4 Aug 2026). These numbers won't change.</a:t>
            </a:r>
          </a:p>
          <a:p>
            <a:r>
              <a:rPr sz="1100" b="0">
                <a:solidFill>
                  <a:srgbClr val="5F6F63"/>
                </a:solidFill>
                <a:latin typeface="Arial"/>
              </a:rPr>
              <a:t>August 2026: Locked. August 2026 is locked (closed 2 Sep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August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$73,637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$44,540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$10,060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$63,577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$59,500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$4,077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$179,007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41.1%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2.3%</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41.1%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36.8%</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August maintenance contracts made a 59.5% job gross margin, installations made a 33.6% job gross margin, call-outs and repairs made a 43.7% job gross margin (technician time at $68 an hour, wages and all on-costs). Jobs need 38.9%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33.6%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19.4 points clear of the 38.9%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33.6%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28.3%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2 of the 5 installation jobs invoiced in August made less than the 35.0% job gross margin target. The Wynnum house solar made a 28.3% job gross margin: 36.0 h of technician time ($2,448) and $2,200 of subcontractors on a $19,600 job. Jobs need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38.9% overheads need: Valley office cabling (38.3%), Newstead gym air-con (35.2%), Rocklea factory switchboard (30.8%), Wynnum house solar (28.3%). Most profitable: Ashgrove hall LED lighting (39.6%).</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August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July 43.4%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August</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$19,872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68.7%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August</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$9,035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$6,950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58 call-outs in August billed $19,872 of technician time and $9,035 of materials ($6,950 at cost plus 30%), and made a 43.7% job gross margin between them. Gross margins run from 38.8% to 45.8%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43.7% gross margin, 4.9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