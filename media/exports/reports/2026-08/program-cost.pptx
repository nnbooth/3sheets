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dPt>
            <c:idx val="0"/>
            <c:spPr>
              <a:solidFill>
                <a:srgbClr val="0E9F6E"/>
              </a:solidFill>
            </c:spPr>
          </c:dPt>
          <c:dPt>
            <c:idx val="1"/>
            <c:spPr>
              <a:solidFill>
                <a:srgbClr val="0E9F6E"/>
              </a:solidFill>
            </c:spPr>
          </c:dPt>
          <c:dPt>
            <c:idx val="2"/>
            <c:spPr>
              <a:solidFill>
                <a:srgbClr val="0E9F6E"/>
              </a:solidFill>
            </c:spPr>
          </c:dPt>
          <c:dPt>
            <c:idx val="3"/>
            <c:spPr>
              <a:solidFill>
                <a:srgbClr val="0E9F6E"/>
              </a:solidFill>
            </c:spPr>
          </c:dPt>
          <c:dPt>
            <c:idx val="4"/>
            <c:spPr>
              <a:solidFill>
                <a:srgbClr val="0E9F6E"/>
              </a:solidFill>
            </c:spPr>
          </c:dPt>
          <c:dPt>
            <c:idx val="5"/>
            <c:spPr>
              <a:solidFill>
                <a:srgbClr val="0E9F6E"/>
              </a:solidFill>
            </c:spPr>
          </c:dPt>
          <c:cat>
            <c:strRef>
              <c:f>Sheet1!$A$2:$A$7</c:f>
              <c:strCache>
                <c:ptCount val="6"/>
                <c:pt idx="0">
                  <c:v>Volunteer coordinator</c:v>
                </c:pt>
                <c:pt idx="1">
                  <c:v>Community meals</c:v>
                </c:pt>
                <c:pt idx="2">
                  <c:v>Digital literacy</c:v>
                </c:pt>
                <c:pt idx="3">
                  <c:v>Mental health first aid</c:v>
                </c:pt>
                <c:pt idx="4">
                  <c:v>Youth outreach</c:v>
                </c:pt>
                <c:pt idx="5">
                  <c:v>Housing support</c:v>
                </c:pt>
              </c:strCache>
            </c:strRef>
          </c:cat>
          <c:val>
            <c:numRef>
              <c:f>Sheet1!$B$2:$B$7</c:f>
              <c:numCache>
                <c:formatCode>$#,##0;[Red]($#,##0);"-"</c:formatCode>
                <c:ptCount val="6"/>
                <c:pt idx="0">
                  <c:v>5271</c:v>
                </c:pt>
                <c:pt idx="1">
                  <c:v>7204</c:v>
                </c:pt>
                <c:pt idx="2">
                  <c:v>9137</c:v>
                </c:pt>
                <c:pt idx="3">
                  <c:v>16517</c:v>
                </c:pt>
                <c:pt idx="4">
                  <c:v>37778</c:v>
                </c:pt>
                <c:pt idx="5">
                  <c:v>53592</c:v>
                </c:pt>
              </c:numCache>
            </c:numRef>
          </c:val>
        </c:ser>
        <c:dLbls>
          <c:numFmt formatCode="$#,##0;[Red]($#,##0);&quot;-&quot;" sourceLinked="0"/>
          <c:txPr>
            <a:bodyPr/>
            <a:lstStyle/>
            <a:p>
              <a:pPr>
                <a:defRPr sz="11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dPt>
            <c:idx val="0"/>
            <c:spPr>
              <a:solidFill>
                <a:srgbClr val="0E9F6E"/>
              </a:solidFill>
            </c:spPr>
          </c:dPt>
          <c:dPt>
            <c:idx val="1"/>
            <c:spPr>
              <a:solidFill>
                <a:srgbClr val="0E9F6E"/>
              </a:solidFill>
            </c:spPr>
          </c:dPt>
          <c:dPt>
            <c:idx val="2"/>
            <c:spPr>
              <a:solidFill>
                <a:srgbClr val="0E9F6E"/>
              </a:solidFill>
            </c:spPr>
          </c:dPt>
          <c:dPt>
            <c:idx val="3"/>
            <c:spPr>
              <a:solidFill>
                <a:srgbClr val="0E9F6E"/>
              </a:solidFill>
            </c:spPr>
          </c:dPt>
          <c:dPt>
            <c:idx val="4"/>
            <c:spPr>
              <a:solidFill>
                <a:srgbClr val="0E9F6E"/>
              </a:solidFill>
            </c:spPr>
          </c:dPt>
          <c:dPt>
            <c:idx val="5"/>
            <c:spPr>
              <a:solidFill>
                <a:srgbClr val="0E9F6E"/>
              </a:solidFill>
            </c:spPr>
          </c:dPt>
          <c:cat>
            <c:strRef>
              <c:f>Sheet1!$A$2:$A$7</c:f>
              <c:strCache>
                <c:ptCount val="6"/>
                <c:pt idx="0">
                  <c:v>Volunteer coordinator</c:v>
                </c:pt>
                <c:pt idx="1">
                  <c:v>Community meals</c:v>
                </c:pt>
                <c:pt idx="2">
                  <c:v>Digital literacy</c:v>
                </c:pt>
                <c:pt idx="3">
                  <c:v>Mental health first aid</c:v>
                </c:pt>
                <c:pt idx="4">
                  <c:v>Youth outreach</c:v>
                </c:pt>
                <c:pt idx="5">
                  <c:v>Housing support</c:v>
                </c:pt>
              </c:strCache>
            </c:strRef>
          </c:cat>
          <c:val>
            <c:numRef>
              <c:f>Sheet1!$B$2:$B$7</c:f>
              <c:numCache>
                <c:formatCode>0.0"%";[Red](0.0"%")</c:formatCode>
                <c:ptCount val="6"/>
                <c:pt idx="0">
                  <c:v>4.1</c:v>
                </c:pt>
                <c:pt idx="1">
                  <c:v>5.6</c:v>
                </c:pt>
                <c:pt idx="2">
                  <c:v>7.1</c:v>
                </c:pt>
                <c:pt idx="3">
                  <c:v>12.8</c:v>
                </c:pt>
                <c:pt idx="4">
                  <c:v>29.2</c:v>
                </c:pt>
                <c:pt idx="5">
                  <c:v>41.4</c:v>
                </c:pt>
              </c:numCache>
            </c:numRef>
          </c:val>
        </c:ser>
        <c:dLbls>
          <c:numFmt formatCode="0.0&quot;%&quot;;[Red](0.0&quot;%&quot;)" sourceLinked="0"/>
          <c:txPr>
            <a:bodyPr/>
            <a:lstStyle/>
            <a:p>
              <a:pPr>
                <a:defRPr sz="11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0"/>
    <c:plotArea>
      <c:layout/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Sheet1!$A$2:$A$24</c:f>
              <c:strCache>
                <c:ptCount val="23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  <c:pt idx="17">
                  <c:v>Mar 26</c:v>
                </c:pt>
                <c:pt idx="18">
                  <c:v>Apr 26</c:v>
                </c:pt>
                <c:pt idx="19">
                  <c:v>May 26</c:v>
                </c:pt>
                <c:pt idx="20">
                  <c:v>Jun 26</c:v>
                </c:pt>
                <c:pt idx="21">
                  <c:v>Jul 26</c:v>
                </c:pt>
                <c:pt idx="22">
                  <c:v>Aug 26</c:v>
                </c:pt>
              </c:strCache>
            </c:strRef>
          </c:cat>
          <c:val>
            <c:numRef>
              <c:f>Sheet1!$B$2:$B$24</c:f>
              <c:numCache>
                <c:formatCode>$#,##0;[Red]($#,##0);"-"</c:formatCode>
                <c:ptCount val="23"/>
                <c:pt idx="0">
                  <c:v>26600</c:v>
                </c:pt>
                <c:pt idx="1">
                  <c:v>31800</c:v>
                </c:pt>
                <c:pt idx="2">
                  <c:v>29700</c:v>
                </c:pt>
                <c:pt idx="3">
                  <c:v>62700</c:v>
                </c:pt>
                <c:pt idx="4">
                  <c:v>61700</c:v>
                </c:pt>
                <c:pt idx="5">
                  <c:v>54500</c:v>
                </c:pt>
                <c:pt idx="6">
                  <c:v>61500</c:v>
                </c:pt>
                <c:pt idx="7">
                  <c:v>61700</c:v>
                </c:pt>
                <c:pt idx="8">
                  <c:v>52200</c:v>
                </c:pt>
                <c:pt idx="9">
                  <c:v>59063</c:v>
                </c:pt>
                <c:pt idx="10">
                  <c:v>61544</c:v>
                </c:pt>
                <c:pt idx="11">
                  <c:v>62137</c:v>
                </c:pt>
                <c:pt idx="12">
                  <c:v>69185</c:v>
                </c:pt>
                <c:pt idx="13">
                  <c:v>70164</c:v>
                </c:pt>
                <c:pt idx="14">
                  <c:v>68793</c:v>
                </c:pt>
                <c:pt idx="15">
                  <c:v>59785</c:v>
                </c:pt>
                <c:pt idx="16">
                  <c:v>55759</c:v>
                </c:pt>
                <c:pt idx="17">
                  <c:v>53806</c:v>
                </c:pt>
                <c:pt idx="18">
                  <c:v>66729</c:v>
                </c:pt>
                <c:pt idx="19">
                  <c:v>72245</c:v>
                </c:pt>
                <c:pt idx="20">
                  <c:v>70872</c:v>
                </c:pt>
                <c:pt idx="21">
                  <c:v>72618</c:v>
                </c:pt>
                <c:pt idx="22">
                  <c:v>73700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noMultiLvlLbl val="0"/>
      </c:catAx>
      <c:valAx>
        <c:axId val="-2100718248"/>
        <c:scaling>
          <c:orientation val="minMax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</c:valAx>
    </c:plotArea>
    <c:plotVisOnly val="1"/>
    <c:dispBlanksAs val="zero"/>
    <c:showDLblsOverMax val="0"/>
  </c:chart>
  <c:txPr>
    <a:bodyPr/>
    <a:lstStyle/>
    <a:p>
      <a:pPr>
        <a:defRPr sz="1800"/>
      </a:pPr>
      <a:endParaRPr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548640"/>
            <a:ext cx="640080" cy="640080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600" b="1">
                <a:solidFill>
                  <a:srgbClr val="FFFFFF"/>
                </a:solidFill>
              </a:rPr>
              <a:t>4th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34440" y="658368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25342A"/>
                </a:solidFill>
                <a:latin typeface="Arial"/>
              </a:rPr>
              <a:t>The 4th Sheet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554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8A7A52"/>
                </a:solidFill>
                <a:latin typeface="Arial"/>
              </a:rPr>
              <a:t>SAMPLE DATA · invented figures for demonstration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01168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25342A"/>
                </a:solidFill>
                <a:latin typeface="Arial"/>
              </a:rPr>
              <a:t>What does each program really cost?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5468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5F6F63"/>
                </a:solidFill>
                <a:latin typeface="Arial"/>
              </a:rPr>
              <a:t>Sample Community Services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0332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25342A"/>
                </a:solidFill>
                <a:latin typeface="Arial"/>
              </a:rPr>
              <a:t>Period: August 2026. Each program's full cost: what its grant pays for, plus its fair share of the costs no single grant covers (untied program costs and administration, shared by grant spending). Pick a program and every chart and note follows it.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93776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5F6F63"/>
                </a:solidFill>
                <a:latin typeface="Arial"/>
              </a:rPr>
              <a:t>How final is this data?</a:t>
            </a:r>
          </a:p>
          <a:p>
            <a:r>
              <a:rPr sz="1100" b="0">
                <a:solidFill>
                  <a:srgbClr val="5F6F63"/>
                </a:solidFill>
                <a:latin typeface="Arial"/>
              </a:rPr>
              <a:t>July 2026: Locked. July 2026 is locked (closed 4 Aug 2026). These numbers won't change.</a:t>
            </a:r>
          </a:p>
          <a:p>
            <a:r>
              <a:rPr sz="1100" b="0">
                <a:solidFill>
                  <a:srgbClr val="5F6F63"/>
                </a:solidFill>
                <a:latin typeface="Arial"/>
              </a:rPr>
              <a:t>August 2026: Locked. August 2026 is locked (closed 2 Sep 2026). These numbers won't change.</a:t>
            </a:r>
          </a:p>
          <a:p>
            <a:r>
              <a:rPr sz="1100" b="0">
                <a:solidFill>
                  <a:srgbClr val="5F6F63"/>
                </a:solidFill>
                <a:latin typeface="Arial"/>
              </a:rPr>
              <a:t>October 2026: Incomplete. October 2026 is still in progress: figures to 6 Oct only.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F6F63"/>
                </a:solidFill>
                <a:latin typeface="Arial"/>
              </a:rPr>
              <a:t>program-cost.pptx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5F6F63"/>
                </a:solidFill>
                <a:latin typeface="Arial"/>
              </a:rPr>
              <a:t>Data retrieved 2pm, Tue 6 Oct 2026 · Sample data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F6F63"/>
                </a:solidFill>
                <a:latin typeface="Arial"/>
              </a:rPr>
              <a:t>Slide 1 of 11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F6F63"/>
                </a:solidFill>
                <a:latin typeface="Arial"/>
              </a:rPr>
              <a:t>Sample Community Services Ltd · What does each program really cost?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25342A"/>
                </a:solidFill>
                <a:latin typeface="Arial"/>
              </a:rPr>
              <a:t>Full cost of each program, August 2026 · $ · Program: All programs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457200" y="1188720"/>
          <a:ext cx="11247120" cy="50292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F6F63"/>
                </a:solidFill>
                <a:latin typeface="Arial"/>
              </a:rPr>
              <a:t>program-cost.pptx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5F6F63"/>
                </a:solidFill>
                <a:latin typeface="Arial"/>
              </a:rPr>
              <a:t>Data retrieved 2pm, Tue 6 Oct 2026 · Sample data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F6F63"/>
                </a:solidFill>
                <a:latin typeface="Arial"/>
              </a:rPr>
              <a:t>Slide 2 of 11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F6F63"/>
                </a:solidFill>
                <a:latin typeface="Arial"/>
              </a:rPr>
              <a:t>Sample Community Services Ltd · What does each program really cost?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25342A"/>
                </a:solidFill>
                <a:latin typeface="Arial"/>
              </a:rPr>
              <a:t>Full cost of each program, August 2026 · % of total · Program: All programs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457200" y="1188720"/>
          <a:ext cx="11247120" cy="50292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F6F63"/>
                </a:solidFill>
                <a:latin typeface="Arial"/>
              </a:rPr>
              <a:t>program-cost.pptx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5F6F63"/>
                </a:solidFill>
                <a:latin typeface="Arial"/>
              </a:rPr>
              <a:t>Data retrieved 2pm, Tue 6 Oct 2026 · Sample data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F6F63"/>
                </a:solidFill>
                <a:latin typeface="Arial"/>
              </a:rPr>
              <a:t>Slide 3 of 11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F6F63"/>
                </a:solidFill>
                <a:latin typeface="Arial"/>
              </a:rPr>
              <a:t>Sample Community Services Ltd · What does each program really cost?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25342A"/>
                </a:solidFill>
                <a:latin typeface="Arial"/>
              </a:rPr>
              <a:t>What it shows · Program: All programs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554480"/>
            <a:ext cx="5501487" cy="438912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5F6F63"/>
                </a:solidFill>
                <a:latin typeface="Arial"/>
              </a:rPr>
              <a:t>WHAT IT SHOWS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25342A"/>
                </a:solidFill>
                <a:latin typeface="Arial"/>
              </a:rPr>
              <a:t>Housing support is the biggest program: $53,592 in August once its share of untied program costs and administration is added to $30,500 of grant spending. Shared costs add 75.7% on top of grant spending across all programs.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33007" y="1554480"/>
            <a:ext cx="5501487" cy="438912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61607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5F6F63"/>
                </a:solidFill>
                <a:latin typeface="Arial"/>
              </a:rPr>
              <a:t>WHAT YOU'D DO ABOUT 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61607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25342A"/>
                </a:solidFill>
                <a:latin typeface="Arial"/>
              </a:rPr>
              <a:t>The full cost (not just the grant line) is the number for renewal applications, where the funder lets you recover a share of overheads. Pick a program above to see it on its own.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F6F63"/>
                </a:solidFill>
                <a:latin typeface="Arial"/>
              </a:rPr>
              <a:t>program-cost.pptx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5F6F63"/>
                </a:solidFill>
                <a:latin typeface="Arial"/>
              </a:rPr>
              <a:t>Data retrieved 2pm, Tue 6 Oct 2026 · Sample data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F6F63"/>
                </a:solidFill>
                <a:latin typeface="Arial"/>
              </a:rPr>
              <a:t>Slide 4 of 11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F6F63"/>
                </a:solidFill>
                <a:latin typeface="Arial"/>
              </a:rPr>
              <a:t>Sample Community Services Ltd · What does each program really cost?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25342A"/>
                </a:solidFill>
                <a:latin typeface="Arial"/>
              </a:rPr>
              <a:t>What it shows · Program: Housing support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554480"/>
            <a:ext cx="5501487" cy="438912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5F6F63"/>
                </a:solidFill>
                <a:latin typeface="Arial"/>
              </a:rPr>
              <a:t>WHAT IT SHOWS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25342A"/>
                </a:solidFill>
                <a:latin typeface="Arial"/>
              </a:rPr>
              <a:t>Housing support cost $53,592 in full in August: $30,500 paid by the State Housing Program grant, and $23,092 of shared costs no grant covers. It has spent 94.4% of its budget to date, with $133,500 left and 4 months to go.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33007" y="1554480"/>
            <a:ext cx="5501487" cy="438912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61607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5F6F63"/>
                </a:solidFill>
                <a:latin typeface="Arial"/>
              </a:rPr>
              <a:t>WHAT YOU'D DO ABOUT 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61607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25342A"/>
                </a:solidFill>
                <a:latin typeface="Arial"/>
              </a:rPr>
              <a:t>The full cost is $53,592 a month; $23,092 of it is shared cost the grant doesn't pay for. Worth asking for as much of it as the funder allows at renewal.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F6F63"/>
                </a:solidFill>
                <a:latin typeface="Arial"/>
              </a:rPr>
              <a:t>program-cost.pptx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5F6F63"/>
                </a:solidFill>
                <a:latin typeface="Arial"/>
              </a:rPr>
              <a:t>Data retrieved 2pm, Tue 6 Oct 2026 · Sample data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F6F63"/>
                </a:solidFill>
                <a:latin typeface="Arial"/>
              </a:rPr>
              <a:t>Slide 5 of 11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F6F63"/>
                </a:solidFill>
                <a:latin typeface="Arial"/>
              </a:rPr>
              <a:t>Sample Community Services Ltd · What does each program really cost?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25342A"/>
                </a:solidFill>
                <a:latin typeface="Arial"/>
              </a:rPr>
              <a:t>What it shows · Program: Youth outreach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554480"/>
            <a:ext cx="5501487" cy="438912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5F6F63"/>
                </a:solidFill>
                <a:latin typeface="Arial"/>
              </a:rPr>
              <a:t>WHAT IT SHOWS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25342A"/>
                </a:solidFill>
                <a:latin typeface="Arial"/>
              </a:rPr>
              <a:t>Youth outreach cost $37,778 in full in August: $21,500 paid by the State Department of Families grant, and $16,278 of shared costs no grant covers. It has spent 101.2% of its budget to date, with $196,500 left and 10 months to go.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33007" y="1554480"/>
            <a:ext cx="5501487" cy="438912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61607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5F6F63"/>
                </a:solidFill>
                <a:latin typeface="Arial"/>
              </a:rPr>
              <a:t>WHAT YOU'D DO ABOUT 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61607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25342A"/>
                </a:solidFill>
                <a:latin typeface="Arial"/>
              </a:rPr>
              <a:t>The full cost is $37,778 a month; $16,278 of it is shared cost the grant doesn't pay for. Worth asking for as much of it as the funder allows at renewal.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F6F63"/>
                </a:solidFill>
                <a:latin typeface="Arial"/>
              </a:rPr>
              <a:t>program-cost.pptx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5F6F63"/>
                </a:solidFill>
                <a:latin typeface="Arial"/>
              </a:rPr>
              <a:t>Data retrieved 2pm, Tue 6 Oct 2026 · Sample data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F6F63"/>
                </a:solidFill>
                <a:latin typeface="Arial"/>
              </a:rPr>
              <a:t>Slide 6 of 11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F6F63"/>
                </a:solidFill>
                <a:latin typeface="Arial"/>
              </a:rPr>
              <a:t>Sample Community Services Ltd · What does each program really cost?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25342A"/>
                </a:solidFill>
                <a:latin typeface="Arial"/>
              </a:rPr>
              <a:t>What it shows · Program: Mental health first aid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554480"/>
            <a:ext cx="5501487" cy="438912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5F6F63"/>
                </a:solidFill>
                <a:latin typeface="Arial"/>
              </a:rPr>
              <a:t>WHAT IT SHOWS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25342A"/>
                </a:solidFill>
                <a:latin typeface="Arial"/>
              </a:rPr>
              <a:t>Mental health first aid cost $16,517 in full in August: $9,400 paid by the Federal health program grant, and $7,117 of shared costs no grant covers. It has spent 92.8% of its budget to date, with $73,600 left and 7 months to go.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33007" y="1554480"/>
            <a:ext cx="5501487" cy="438912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61607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5F6F63"/>
                </a:solidFill>
                <a:latin typeface="Arial"/>
              </a:rPr>
              <a:t>WHAT YOU'D DO ABOUT 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61607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25342A"/>
                </a:solidFill>
                <a:latin typeface="Arial"/>
              </a:rPr>
              <a:t>The full cost is $16,517 a month; $7,117 of it is shared cost the grant doesn't pay for. Worth asking for as much of it as the funder allows at renewal.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F6F63"/>
                </a:solidFill>
                <a:latin typeface="Arial"/>
              </a:rPr>
              <a:t>program-cost.pptx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5F6F63"/>
                </a:solidFill>
                <a:latin typeface="Arial"/>
              </a:rPr>
              <a:t>Data retrieved 2pm, Tue 6 Oct 2026 · Sample data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F6F63"/>
                </a:solidFill>
                <a:latin typeface="Arial"/>
              </a:rPr>
              <a:t>Slide 7 of 11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F6F63"/>
                </a:solidFill>
                <a:latin typeface="Arial"/>
              </a:rPr>
              <a:t>Sample Community Services Ltd · What does each program really cost?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25342A"/>
                </a:solidFill>
                <a:latin typeface="Arial"/>
              </a:rPr>
              <a:t>What it shows · Program: Digital literacy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554480"/>
            <a:ext cx="5501487" cy="438912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5F6F63"/>
                </a:solidFill>
                <a:latin typeface="Arial"/>
              </a:rPr>
              <a:t>WHAT IT SHOWS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25342A"/>
                </a:solidFill>
                <a:latin typeface="Arial"/>
              </a:rPr>
              <a:t>Digital literacy cost $9,137 in full in August: $5,200 paid by the Philanthropic foundation grant, and $3,937 of shared costs no grant covers. It has spent 99.5% of its budget to date, with $35,300 left and 7 months to go.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33007" y="1554480"/>
            <a:ext cx="5501487" cy="438912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61607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5F6F63"/>
                </a:solidFill>
                <a:latin typeface="Arial"/>
              </a:rPr>
              <a:t>WHAT YOU'D DO ABOUT 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61607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25342A"/>
                </a:solidFill>
                <a:latin typeface="Arial"/>
              </a:rPr>
              <a:t>The full cost is $9,137 a month; $3,937 of it is shared cost the grant doesn't pay for. Worth asking for as much of it as the funder allows at renewal.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F6F63"/>
                </a:solidFill>
                <a:latin typeface="Arial"/>
              </a:rPr>
              <a:t>program-cost.pptx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5F6F63"/>
                </a:solidFill>
                <a:latin typeface="Arial"/>
              </a:rPr>
              <a:t>Data retrieved 2pm, Tue 6 Oct 2026 · Sample data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F6F63"/>
                </a:solidFill>
                <a:latin typeface="Arial"/>
              </a:rPr>
              <a:t>Slide 8 of 11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F6F63"/>
                </a:solidFill>
                <a:latin typeface="Arial"/>
              </a:rPr>
              <a:t>Sample Community Services Ltd · What does each program really cost?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25342A"/>
                </a:solidFill>
                <a:latin typeface="Arial"/>
              </a:rPr>
              <a:t>What it shows · Program: Community meals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554480"/>
            <a:ext cx="5501487" cy="438912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5F6F63"/>
                </a:solidFill>
                <a:latin typeface="Arial"/>
              </a:rPr>
              <a:t>WHAT IT SHOWS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25342A"/>
                </a:solidFill>
                <a:latin typeface="Arial"/>
              </a:rPr>
              <a:t>Community meals cost $7,204 in full in August: $4,100 paid by the Local council community grant grant, and $3,104 of shared costs no grant covers. It has spent 96.2% of its budget to date, with $40,300 left and 10 months to go.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33007" y="1554480"/>
            <a:ext cx="5501487" cy="438912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61607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5F6F63"/>
                </a:solidFill>
                <a:latin typeface="Arial"/>
              </a:rPr>
              <a:t>WHAT YOU'D DO ABOUT 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61607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25342A"/>
                </a:solidFill>
                <a:latin typeface="Arial"/>
              </a:rPr>
              <a:t>The full cost is $7,204 a month; $3,104 of it is shared cost the grant doesn't pay for. Worth asking for as much of it as the funder allows at renewal.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F6F63"/>
                </a:solidFill>
                <a:latin typeface="Arial"/>
              </a:rPr>
              <a:t>program-cost.pptx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5F6F63"/>
                </a:solidFill>
                <a:latin typeface="Arial"/>
              </a:rPr>
              <a:t>Data retrieved 2pm, Tue 6 Oct 2026 · Sample data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F6F63"/>
                </a:solidFill>
                <a:latin typeface="Arial"/>
              </a:rPr>
              <a:t>Slide 9 of 11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F6F63"/>
                </a:solidFill>
                <a:latin typeface="Arial"/>
              </a:rPr>
              <a:t>Sample Community Services Ltd · What does each program really cost?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25342A"/>
                </a:solidFill>
                <a:latin typeface="Arial"/>
              </a:rPr>
              <a:t>What it shows · Program: Volunteer coordinator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554480"/>
            <a:ext cx="5501487" cy="438912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5F6F63"/>
                </a:solidFill>
                <a:latin typeface="Arial"/>
              </a:rPr>
              <a:t>WHAT IT SHOWS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25342A"/>
                </a:solidFill>
                <a:latin typeface="Arial"/>
              </a:rPr>
              <a:t>Volunteer coordinator cost $5,271 in full in August: $3,000 paid by the State volunteering grant grant, and $2,271 of shared costs no grant covers. It has spent 100.0% of its budget to date, with $18,000 left and 6 months to go.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33007" y="1554480"/>
            <a:ext cx="5501487" cy="438912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61607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5F6F63"/>
                </a:solidFill>
                <a:latin typeface="Arial"/>
              </a:rPr>
              <a:t>WHAT YOU'D DO ABOUT 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61607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25342A"/>
                </a:solidFill>
                <a:latin typeface="Arial"/>
              </a:rPr>
              <a:t>The full cost is $5,271 a month; $2,271 of it is shared cost the grant doesn't pay for. Worth asking for as much of it as the funder allows at renewal.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F6F63"/>
                </a:solidFill>
                <a:latin typeface="Arial"/>
              </a:rPr>
              <a:t>program-cost.pptx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5F6F63"/>
                </a:solidFill>
                <a:latin typeface="Arial"/>
              </a:rPr>
              <a:t>Data retrieved 2pm, Tue 6 Oct 2026 · Sample data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F6F63"/>
                </a:solidFill>
                <a:latin typeface="Arial"/>
              </a:rPr>
              <a:t>Slide 10 of 11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F6F63"/>
                </a:solidFill>
                <a:latin typeface="Arial"/>
              </a:rPr>
              <a:t>Sample Community Services Ltd · What does each program really cost?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25342A"/>
                </a:solidFill>
                <a:latin typeface="Arial"/>
              </a:rPr>
              <a:t>Grant spending, by month · Spend $ · Every program at once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601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F6F63"/>
                </a:solidFill>
                <a:latin typeface="Arial"/>
              </a:rPr>
              <a:t>Grant spending only (the program's direct cost). All programs includes grants that have finished.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463040"/>
          <a:ext cx="11247120" cy="47548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F6F63"/>
                </a:solidFill>
                <a:latin typeface="Arial"/>
              </a:rPr>
              <a:t>program-cost.pptx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5F6F63"/>
                </a:solidFill>
                <a:latin typeface="Arial"/>
              </a:rPr>
              <a:t>Data retrieved 2pm, Tue 6 Oct 2026 · Sample data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F6F63"/>
                </a:solidFill>
                <a:latin typeface="Arial"/>
              </a:rPr>
              <a:t>Slide 11 of 11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