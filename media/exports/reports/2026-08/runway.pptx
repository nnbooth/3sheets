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Cash at bank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Sheet1!$A$2:$A$32</c:f>
              <c:strCache>
                <c:ptCount val="31"/>
                <c:pt idx="0">
                  <c:v>1 Aug</c:v>
                </c:pt>
                <c:pt idx="1">
                  <c:v>2 Aug</c:v>
                </c:pt>
                <c:pt idx="2">
                  <c:v>3 Aug</c:v>
                </c:pt>
                <c:pt idx="3">
                  <c:v>4 Aug</c:v>
                </c:pt>
                <c:pt idx="4">
                  <c:v>5 Aug</c:v>
                </c:pt>
                <c:pt idx="5">
                  <c:v>6 Aug</c:v>
                </c:pt>
                <c:pt idx="6">
                  <c:v>7 Aug</c:v>
                </c:pt>
                <c:pt idx="7">
                  <c:v>8 Aug</c:v>
                </c:pt>
                <c:pt idx="8">
                  <c:v>9 Aug</c:v>
                </c:pt>
                <c:pt idx="9">
                  <c:v>10 Aug</c:v>
                </c:pt>
                <c:pt idx="10">
                  <c:v>11 Aug</c:v>
                </c:pt>
                <c:pt idx="11">
                  <c:v>12 Aug</c:v>
                </c:pt>
                <c:pt idx="12">
                  <c:v>13 Aug</c:v>
                </c:pt>
                <c:pt idx="13">
                  <c:v>14 Aug</c:v>
                </c:pt>
                <c:pt idx="14">
                  <c:v>15 Aug</c:v>
                </c:pt>
                <c:pt idx="15">
                  <c:v>16 Aug</c:v>
                </c:pt>
                <c:pt idx="16">
                  <c:v>17 Aug</c:v>
                </c:pt>
                <c:pt idx="17">
                  <c:v>18 Aug</c:v>
                </c:pt>
                <c:pt idx="18">
                  <c:v>19 Aug</c:v>
                </c:pt>
                <c:pt idx="19">
                  <c:v>20 Aug</c:v>
                </c:pt>
                <c:pt idx="20">
                  <c:v>21 Aug</c:v>
                </c:pt>
                <c:pt idx="21">
                  <c:v>22 Aug</c:v>
                </c:pt>
                <c:pt idx="22">
                  <c:v>23 Aug</c:v>
                </c:pt>
                <c:pt idx="23">
                  <c:v>24 Aug</c:v>
                </c:pt>
                <c:pt idx="24">
                  <c:v>25 Aug</c:v>
                </c:pt>
                <c:pt idx="25">
                  <c:v>26 Aug</c:v>
                </c:pt>
                <c:pt idx="26">
                  <c:v>27 Aug</c:v>
                </c:pt>
                <c:pt idx="27">
                  <c:v>28 Aug</c:v>
                </c:pt>
                <c:pt idx="28">
                  <c:v>29 Aug</c:v>
                </c:pt>
                <c:pt idx="29">
                  <c:v>30 Aug</c:v>
                </c:pt>
                <c:pt idx="30">
                  <c:v>31 Aug</c:v>
                </c:pt>
              </c:strCache>
            </c:strRef>
          </c:cat>
          <c:val>
            <c:numRef>
              <c:f>Sheet1!$B$2:$B$32</c:f>
              <c:numCache>
                <c:formatCode>$#,##0;[Red]($#,##0);"-"</c:formatCode>
                <c:ptCount val="31"/>
                <c:pt idx="0">
                  <c:v>610000</c:v>
                </c:pt>
                <c:pt idx="1">
                  <c:v>610000</c:v>
                </c:pt>
                <c:pt idx="2">
                  <c:v>612356</c:v>
                </c:pt>
                <c:pt idx="3">
                  <c:v>614712</c:v>
                </c:pt>
                <c:pt idx="4">
                  <c:v>617068</c:v>
                </c:pt>
                <c:pt idx="5">
                  <c:v>582091</c:v>
                </c:pt>
                <c:pt idx="6">
                  <c:v>584447</c:v>
                </c:pt>
                <c:pt idx="7">
                  <c:v>584447</c:v>
                </c:pt>
                <c:pt idx="8">
                  <c:v>584447</c:v>
                </c:pt>
                <c:pt idx="9">
                  <c:v>586803</c:v>
                </c:pt>
                <c:pt idx="10">
                  <c:v>589159</c:v>
                </c:pt>
                <c:pt idx="11">
                  <c:v>589159</c:v>
                </c:pt>
                <c:pt idx="12">
                  <c:v>591515</c:v>
                </c:pt>
                <c:pt idx="13">
                  <c:v>593871</c:v>
                </c:pt>
                <c:pt idx="14">
                  <c:v>593871</c:v>
                </c:pt>
                <c:pt idx="15">
                  <c:v>593871</c:v>
                </c:pt>
                <c:pt idx="16">
                  <c:v>577977</c:v>
                </c:pt>
                <c:pt idx="17">
                  <c:v>580332</c:v>
                </c:pt>
                <c:pt idx="18">
                  <c:v>582687</c:v>
                </c:pt>
                <c:pt idx="19">
                  <c:v>547709</c:v>
                </c:pt>
                <c:pt idx="20">
                  <c:v>550064</c:v>
                </c:pt>
                <c:pt idx="21">
                  <c:v>550064</c:v>
                </c:pt>
                <c:pt idx="22">
                  <c:v>550064</c:v>
                </c:pt>
                <c:pt idx="23">
                  <c:v>552419</c:v>
                </c:pt>
                <c:pt idx="24">
                  <c:v>554774</c:v>
                </c:pt>
                <c:pt idx="25">
                  <c:v>557129</c:v>
                </c:pt>
                <c:pt idx="26">
                  <c:v>559484</c:v>
                </c:pt>
                <c:pt idx="27">
                  <c:v>561839</c:v>
                </c:pt>
                <c:pt idx="28">
                  <c:v>561839</c:v>
                </c:pt>
                <c:pt idx="29">
                  <c:v>561839</c:v>
                </c:pt>
                <c:pt idx="30">
                  <c:v>547394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4"/>
        <c:noMultiLvlLbl val="0"/>
      </c:catAx>
      <c:valAx>
        <c:axId val="-2100718248"/>
        <c:scaling>
          <c:orientation val="minMax"/>
          <c:max val="80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months of runway do we have?. Sample Community Services Ltd. Period: August 2026. In short: 1.9 months of spending in unrestricted cash, against a 3.0 months reserves target. How long the organisation could keep going on its own money: cash at bank, less unspent grant money (which belongs to the funders' programs) and GST and PAYG owed to the ATO, divided by a month's spending.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months of runway do we have?. Runway now: 1.9 months; Target: 3.0 months; Gap: $149,802; Runway in July: 2.1 months. Unrestricted cash ($273,798, after setting aside unspent grant money) would cover 1.9 months of spending at August's rate of spending, short of the 3.0 months target by $149,802. A reserves plan is the usual next step: how much of each month's surplus goes to reserves, and by when the gap is closed.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months of runway do we have?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August 2026. In short: 1.9 months of spending in unrestricted cash, against a 3.0 months reserves target. How long the organisation could keep going on its own money: cash at bank, less unspent grant money (which belongs to the funders' programs) and GST and PAYG owed to the ATO, divided by a month's spending.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runway.pptx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many months of runway do we have?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months of runway do we have?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Cash at bank, every day (1 Aug to 31 Aug)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Runway 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1.9 months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3.0 months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Target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3.0 months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reserves target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$149,802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to reach the target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Runway in July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2.1 months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at July's rate of spending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23" name="Connector 22"/>
          <p:cNvCxnSpPr/>
          <p:nvPr/>
        </p:nvCxnSpPr>
        <p:spPr>
          <a:xfrm>
            <a:off x="1697702" y="2988989"/>
            <a:ext cx="9698474" cy="0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909776" y="2714669"/>
            <a:ext cx="548640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Reserves target $697,196: 3.0 months of spending + unspent grant money + what's owed to the ATO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Unrestricted cash ($273,798, after setting aside unspent grant money) would cover 1.9 months of spending at August's rate of spending, short of the 3.0 months target by $149,802.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 reserves plan is the usual next step: how much of each month's surplus goes to reserves, and by when the gap is closed.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runway.pptx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