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>
        <c:manualLayout>
          <c:layoutTarget val="inner"/>
          <c:xMode val="edge"/>
          <c:yMode val="edge"/>
          <c:x val="0.3"/>
          <c:y val="0.03"/>
          <c:w val="0.58"/>
          <c:h val="0.88"/>
        </c:manualLayout>
      </c:layout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Cost to raise a dollar</c:v>
                </c:pt>
              </c:strCache>
            </c:strRef>
          </c:tx>
          <c:dPt>
            <c:idx val="0"/>
            <c:spPr>
              <a:solidFill>
                <a:srgbClr val="0E9F6E"/>
              </a:solidFill>
            </c:spPr>
          </c:dPt>
          <c:dPt>
            <c:idx val="1"/>
            <c:spPr>
              <a:solidFill>
                <a:srgbClr val="0E9F6E"/>
              </a:solidFill>
            </c:spPr>
          </c:dPt>
          <c:cat>
            <c:strRef>
              <c:f>Sheet1!$A$2:$A$3</c:f>
              <c:strCache>
                <c:ptCount val="2"/>
                <c:pt idx="0">
                  <c:v>Grants</c:v>
                </c:pt>
                <c:pt idx="1">
                  <c:v>Donations</c:v>
                </c:pt>
              </c:strCache>
            </c:strRef>
          </c:cat>
          <c:val>
            <c:numRef>
              <c:f>Sheet1!$B$2:$B$3</c:f>
              <c:numCache>
                <c:formatCode>0"¢";[Red](0"¢")</c:formatCode>
                <c:ptCount val="2"/>
                <c:pt idx="0">
                  <c:v>10</c:v>
                </c:pt>
                <c:pt idx="1">
                  <c:v>12</c:v>
                </c:pt>
              </c:numCache>
            </c:numRef>
          </c:val>
        </c:ser>
        <c:dLbls>
          <c:numFmt formatCode="0&quot;¢&quot;;[Red](0&quot;¢&quot;)" sourceLinked="0"/>
          <c:txPr>
            <a:bodyPr/>
            <a:lstStyle/>
            <a:p>
              <a:pPr>
                <a:defRPr sz="10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3.799999999999999"/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>
          <a:latin typeface="Roboto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Cents per $1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Sheet1!$A$2:$A$24</c:f>
              <c:strCache>
                <c:ptCount val="23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  <c:pt idx="13">
                  <c:v>Nov 25</c:v>
                </c:pt>
                <c:pt idx="14">
                  <c:v>Dec 25</c:v>
                </c:pt>
                <c:pt idx="15">
                  <c:v>Jan 26</c:v>
                </c:pt>
                <c:pt idx="16">
                  <c:v>Feb 26</c:v>
                </c:pt>
                <c:pt idx="17">
                  <c:v>Mar 26</c:v>
                </c:pt>
                <c:pt idx="18">
                  <c:v>Apr 26</c:v>
                </c:pt>
                <c:pt idx="19">
                  <c:v>May 26</c:v>
                </c:pt>
                <c:pt idx="20">
                  <c:v>Jun 26</c:v>
                </c:pt>
                <c:pt idx="21">
                  <c:v>Jul 26</c:v>
                </c:pt>
                <c:pt idx="22">
                  <c:v>Aug 26</c:v>
                </c:pt>
              </c:strCache>
            </c:strRef>
          </c:cat>
          <c:val>
            <c:numRef>
              <c:f>Sheet1!$B$2:$B$24</c:f>
              <c:numCache>
                <c:formatCode>0"¢";[Red](0"¢")</c:formatCode>
                <c:ptCount val="23"/>
                <c:pt idx="0">
                  <c:v>24</c:v>
                </c:pt>
                <c:pt idx="1">
                  <c:v>20</c:v>
                </c:pt>
                <c:pt idx="2">
                  <c:v>22</c:v>
                </c:pt>
                <c:pt idx="3">
                  <c:v>10</c:v>
                </c:pt>
                <c:pt idx="4">
                  <c:v>11</c:v>
                </c:pt>
                <c:pt idx="5">
                  <c:v>12</c:v>
                </c:pt>
                <c:pt idx="6">
                  <c:v>11</c:v>
                </c:pt>
                <c:pt idx="7">
                  <c:v>11</c:v>
                </c:pt>
                <c:pt idx="8">
                  <c:v>12</c:v>
                </c:pt>
                <c:pt idx="9">
                  <c:v>12</c:v>
                </c:pt>
                <c:pt idx="10">
                  <c:v>12</c:v>
                </c:pt>
                <c:pt idx="11">
                  <c:v>11</c:v>
                </c:pt>
                <c:pt idx="12">
                  <c:v>10</c:v>
                </c:pt>
                <c:pt idx="13">
                  <c:v>10</c:v>
                </c:pt>
                <c:pt idx="14">
                  <c:v>10</c:v>
                </c:pt>
                <c:pt idx="15">
                  <c:v>12</c:v>
                </c:pt>
                <c:pt idx="16">
                  <c:v>13</c:v>
                </c:pt>
                <c:pt idx="17">
                  <c:v>13</c:v>
                </c:pt>
                <c:pt idx="18">
                  <c:v>11</c:v>
                </c:pt>
                <c:pt idx="19">
                  <c:v>10</c:v>
                </c:pt>
                <c:pt idx="20">
                  <c:v>10</c:v>
                </c:pt>
                <c:pt idx="21">
                  <c:v>10</c:v>
                </c:pt>
                <c:pt idx="22">
                  <c:v>10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3"/>
        <c:noMultiLvlLbl val="0"/>
      </c:catAx>
      <c:valAx>
        <c:axId val="-2100718248"/>
        <c:scaling>
          <c:orientation val="minMax"/>
          <c:max val="25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0&quot;¢&quot;;[Red](0&quot;¢&quot;)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5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Cents per $1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Sheet1!$A$2:$A$24</c:f>
              <c:strCache>
                <c:ptCount val="23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  <c:pt idx="13">
                  <c:v>Nov 25</c:v>
                </c:pt>
                <c:pt idx="14">
                  <c:v>Dec 25</c:v>
                </c:pt>
                <c:pt idx="15">
                  <c:v>Jan 26</c:v>
                </c:pt>
                <c:pt idx="16">
                  <c:v>Feb 26</c:v>
                </c:pt>
                <c:pt idx="17">
                  <c:v>Mar 26</c:v>
                </c:pt>
                <c:pt idx="18">
                  <c:v>Apr 26</c:v>
                </c:pt>
                <c:pt idx="19">
                  <c:v>May 26</c:v>
                </c:pt>
                <c:pt idx="20">
                  <c:v>Jun 26</c:v>
                </c:pt>
                <c:pt idx="21">
                  <c:v>Jul 26</c:v>
                </c:pt>
                <c:pt idx="22">
                  <c:v>Aug 26</c:v>
                </c:pt>
              </c:strCache>
            </c:strRef>
          </c:cat>
          <c:val>
            <c:numRef>
              <c:f>Sheet1!$B$2:$B$24</c:f>
              <c:numCache>
                <c:formatCode>0"¢";[Red](0"¢")</c:formatCode>
                <c:ptCount val="23"/>
                <c:pt idx="0">
                  <c:v>14</c:v>
                </c:pt>
                <c:pt idx="1">
                  <c:v>18</c:v>
                </c:pt>
                <c:pt idx="2">
                  <c:v>18</c:v>
                </c:pt>
                <c:pt idx="3">
                  <c:v>18</c:v>
                </c:pt>
                <c:pt idx="4">
                  <c:v>14</c:v>
                </c:pt>
                <c:pt idx="5">
                  <c:v>14</c:v>
                </c:pt>
                <c:pt idx="6">
                  <c:v>14</c:v>
                </c:pt>
                <c:pt idx="7">
                  <c:v>14</c:v>
                </c:pt>
                <c:pt idx="8">
                  <c:v>14</c:v>
                </c:pt>
                <c:pt idx="9">
                  <c:v>16</c:v>
                </c:pt>
                <c:pt idx="10">
                  <c:v>14</c:v>
                </c:pt>
                <c:pt idx="11">
                  <c:v>14</c:v>
                </c:pt>
                <c:pt idx="12">
                  <c:v>14</c:v>
                </c:pt>
                <c:pt idx="13">
                  <c:v>17</c:v>
                </c:pt>
                <c:pt idx="14">
                  <c:v>17</c:v>
                </c:pt>
                <c:pt idx="15">
                  <c:v>17</c:v>
                </c:pt>
                <c:pt idx="16">
                  <c:v>13</c:v>
                </c:pt>
                <c:pt idx="17">
                  <c:v>13</c:v>
                </c:pt>
                <c:pt idx="18">
                  <c:v>13</c:v>
                </c:pt>
                <c:pt idx="19">
                  <c:v>13</c:v>
                </c:pt>
                <c:pt idx="20">
                  <c:v>14</c:v>
                </c:pt>
                <c:pt idx="21">
                  <c:v>15</c:v>
                </c:pt>
                <c:pt idx="22">
                  <c:v>12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3"/>
        <c:noMultiLvlLbl val="0"/>
      </c:catAx>
      <c:valAx>
        <c:axId val="-2100718248"/>
        <c:scaling>
          <c:orientation val="minMax"/>
          <c:max val="2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0&quot;¢&quot;;[Red](0&quot;¢&quot;)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5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Cents per $1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Sheet1!$A$2:$A$4</c:f>
              <c:strCache>
                <c:ptCount val="3"/>
                <c:pt idx="0">
                  <c:v>Dec 24</c:v>
                </c:pt>
                <c:pt idx="1">
                  <c:v>Sep 25</c:v>
                </c:pt>
                <c:pt idx="2">
                  <c:v>Dec 25</c:v>
                </c:pt>
              </c:strCache>
            </c:strRef>
          </c:cat>
          <c:val>
            <c:numRef>
              <c:f>Sheet1!$B$2:$B$4</c:f>
              <c:numCache>
                <c:formatCode>0"¢";[Red](0"¢")</c:formatCode>
                <c:ptCount val="3"/>
                <c:pt idx="0">
                  <c:v>42</c:v>
                </c:pt>
                <c:pt idx="1">
                  <c:v>41</c:v>
                </c:pt>
                <c:pt idx="2">
                  <c:v>42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1"/>
        <c:noMultiLvlLbl val="0"/>
      </c:catAx>
      <c:valAx>
        <c:axId val="-2100718248"/>
        <c:scaling>
          <c:orientation val="minMax"/>
          <c:max val="5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0&quot;¢&quot;;[Red](0&quot;¢&quot;)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10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What does it cost to raise a dollar?. Sample Community Services Ltd. Period: August 2026. What fundraising costs (grant writing, donor campaigns, events) for every dollar it brings in. Pick a source and every number, chart and note follows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All fundraising. August · all fundraising: 13¢; Year to date (Jul to Aug 2026): 12¢. August cost 13¢ to raise each dollar, against 11¢ in July. This financial year to date it has cost 12¢ a dollar, against 12¢ in the same period last year. The year-to-date figure is steadier than single months: events make some months jump. Pick a source above to see which one moves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Grants. August · Grants: 10¢; Year to date (Jul to Aug 2026): 10¢. Grants cost 10¢ to raise each dollar this financial year to date ($14,200 of grant writing and reporting for $146,318), against 12¢ in the same period last year. Usually the cheapest money to raise, as long as the time that goes into applications and acquittals is protected.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Donations. August · Donations: 12¢; Year to date (Jul to Aug 2026): 13¢. Donations cost 13¢ to raise each dollar this financial year to date ($4,400 of donor campaigns for $32,700), against 15¢ in the same period last year. Steady and cheap, and untied: the money that builds reserves.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Fundraising events. August · Fundraising events: –; Year to date (Jul to Aug 2026): –. Fundraising events cost – to raise each dollar this financial year to date ($2,400 of event costs for $0). Usually the dearest money to raise: events are worth counting for what else they bring too (new donors, profile).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Relationship Id="rId3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Relationship Id="rId3" Type="http://schemas.openxmlformats.org/officeDocument/2006/relationships/chart" Target="../charts/char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Relationship Id="rId3" Type="http://schemas.openxmlformats.org/officeDocument/2006/relationships/chart" Target="../charts/char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Relationship Id="rId3" Type="http://schemas.openxmlformats.org/officeDocument/2006/relationships/chart" Target="../charts/chart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965960"/>
            <a:ext cx="11277295" cy="1097280"/>
          </a:xfrm>
        </p:spPr>
        <p:txBody>
          <a:bodyPr wrap="square"/>
          <a:lstStyle/>
          <a:p>
            <a:pPr algn="l">
              <a:defRPr>
                <a:latin typeface="Roboto"/>
              </a:defRPr>
            </a:pPr>
            <a:r>
              <a:rPr sz="3400" b="1">
                <a:solidFill>
                  <a:srgbClr val="25342A"/>
                </a:solidFill>
                <a:latin typeface="Roboto"/>
              </a:rPr>
              <a:t>What does it cost to raise a dollar?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548640"/>
            <a:ext cx="640080" cy="640080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>
                <a:latin typeface="Roboto"/>
              </a:defRPr>
            </a:pPr>
            <a:r>
              <a:rPr sz="1600" b="1">
                <a:solidFill>
                  <a:srgbClr val="FFFFFF"/>
                </a:solidFill>
                <a:latin typeface="Roboto"/>
              </a:rPr>
              <a:t>4th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658368"/>
            <a:ext cx="54864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800" b="1">
                <a:solidFill>
                  <a:srgbClr val="25342A"/>
                </a:solidFill>
                <a:latin typeface="Roboto"/>
              </a:rPr>
              <a:t>The Fourth Sheet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1">
                <a:solidFill>
                  <a:srgbClr val="8A7A52"/>
                </a:solidFill>
                <a:latin typeface="Roboto"/>
              </a:rPr>
              <a:t>SAMPLE DATA · invented figures for demonstration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154680"/>
            <a:ext cx="11277295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600" b="0">
                <a:solidFill>
                  <a:srgbClr val="5F6F63"/>
                </a:solidFill>
                <a:latin typeface="Roboto"/>
              </a:rPr>
              <a:t>Sample Community Services Ltd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703320"/>
            <a:ext cx="11277295" cy="5359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400" b="0">
                <a:solidFill>
                  <a:srgbClr val="25342A"/>
                </a:solidFill>
                <a:latin typeface="Roboto"/>
              </a:rPr>
              <a:t>Period: August 2026. What fundraising costs (grant writing, donor campaigns, events) for every dollar it brings in. Pick a source and every number, chart and note follows it.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330700"/>
            <a:ext cx="11277295" cy="1097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How final is this data?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July 2026: Locked. July 2026 is locked (closed 4 Aug 2026). These numbers won't change.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August 2026: Locked. August 2026 is locked (closed 2 Sep 2026). These numbers won't change.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October 2026: Incomplete. October 2026 is still in progress: figures to 6 Oct only.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cost-to-raise.pptx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8 Oct 2026, 9:35am · Sample data · Made with Python (python-pptx)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1 of 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All fundraising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What does it cost to raise a dollar?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Cost to raise a dollar, by source, August 2026 (cents)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78636"/>
            <a:ext cx="5524347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94360" y="1351788"/>
            <a:ext cx="5250027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August · all fundraising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17548"/>
            <a:ext cx="5250027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13¢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83308"/>
            <a:ext cx="5250027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July 11¢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0147" y="1278636"/>
            <a:ext cx="5524347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6347307" y="1351788"/>
            <a:ext cx="5250027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Year to date (Jul to Aug 2026)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47307" y="1717548"/>
            <a:ext cx="5250027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12¢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47307" y="2083308"/>
            <a:ext cx="5250027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same period last year: 12¢</a:t>
            </a:r>
          </a:p>
        </p:txBody>
      </p:sp>
      <p:graphicFrame>
        <p:nvGraphicFramePr>
          <p:cNvPr id="14" name="Chart 13"/>
          <p:cNvGraphicFramePr>
            <a:graphicFrameLocks noGrp="1"/>
          </p:cNvGraphicFramePr>
          <p:nvPr/>
        </p:nvGraphicFramePr>
        <p:xfrm>
          <a:off x="457200" y="2604516"/>
          <a:ext cx="11277295" cy="1499616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5" name="Rectangle 14"/>
          <p:cNvSpPr/>
          <p:nvPr/>
        </p:nvSpPr>
        <p:spPr>
          <a:xfrm>
            <a:off x="457200" y="4195572"/>
            <a:ext cx="5501487" cy="109728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6" name="TextBox 15"/>
          <p:cNvSpPr txBox="1"/>
          <p:nvPr/>
        </p:nvSpPr>
        <p:spPr>
          <a:xfrm>
            <a:off x="594360" y="4250436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4524756"/>
            <a:ext cx="5227167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August cost 13¢ to raise each dollar, against 11¢ in July. This financial year to date it has cost 12¢ a dollar, against 12¢ in the same period last year.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33007" y="4195572"/>
            <a:ext cx="5501487" cy="109728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9" name="TextBox 18"/>
          <p:cNvSpPr txBox="1"/>
          <p:nvPr/>
        </p:nvSpPr>
        <p:spPr>
          <a:xfrm>
            <a:off x="6370167" y="4250436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70167" y="4524756"/>
            <a:ext cx="5227167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The year-to-date figure is steadier than single months: events make some months jump. Pick a source above to see which one moves it.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cost-to-raise.pptx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8 Oct 2026, 9:35am · Sample data · Made with Python (python-pptx)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2 of 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Grants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What does it cost to raise a dollar?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Cost to raise a dollar, by month (cents) · Grants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78636"/>
            <a:ext cx="5524347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94360" y="1351788"/>
            <a:ext cx="5250027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August · Grants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17548"/>
            <a:ext cx="5250027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10¢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83308"/>
            <a:ext cx="5250027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July 10¢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0147" y="1278636"/>
            <a:ext cx="5524347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6347307" y="1351788"/>
            <a:ext cx="5250027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Year to date (Jul to Aug 2026)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47307" y="1717548"/>
            <a:ext cx="5250027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10¢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47307" y="2083308"/>
            <a:ext cx="5250027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same period last year: 12¢</a:t>
            </a:r>
          </a:p>
        </p:txBody>
      </p:sp>
      <p:graphicFrame>
        <p:nvGraphicFramePr>
          <p:cNvPr id="14" name="Chart 13"/>
          <p:cNvGraphicFramePr>
            <a:graphicFrameLocks noGrp="1"/>
          </p:cNvGraphicFramePr>
          <p:nvPr/>
        </p:nvGraphicFramePr>
        <p:xfrm>
          <a:off x="457200" y="2604516"/>
          <a:ext cx="11277295" cy="251612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5" name="Rectangle 14"/>
          <p:cNvSpPr/>
          <p:nvPr/>
        </p:nvSpPr>
        <p:spPr>
          <a:xfrm>
            <a:off x="457200" y="5212080"/>
            <a:ext cx="5501487" cy="109728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6" name="TextBox 15"/>
          <p:cNvSpPr txBox="1"/>
          <p:nvPr/>
        </p:nvSpPr>
        <p:spPr>
          <a:xfrm>
            <a:off x="594360" y="526694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5541264"/>
            <a:ext cx="5227167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Grants cost 10¢ to raise each dollar this financial year to date ($14,200 of grant writing and reporting for $146,318), against 12¢ in the same period last year.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33007" y="5212080"/>
            <a:ext cx="5501487" cy="109728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9" name="TextBox 18"/>
          <p:cNvSpPr txBox="1"/>
          <p:nvPr/>
        </p:nvSpPr>
        <p:spPr>
          <a:xfrm>
            <a:off x="6370167" y="526694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70167" y="5541264"/>
            <a:ext cx="5227167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Usually the cheapest money to raise, as long as the time that goes into applications and acquittals is protected.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cost-to-raise.pptx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8 Oct 2026, 9:35am · Sample data · Made with Python (python-pptx)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3 of 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Donations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What does it cost to raise a dollar?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Cost to raise a dollar, by month (cents) · Donations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78636"/>
            <a:ext cx="5524347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94360" y="1351788"/>
            <a:ext cx="5250027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August · Donations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17548"/>
            <a:ext cx="5250027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12¢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83308"/>
            <a:ext cx="5250027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July 15¢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0147" y="1278636"/>
            <a:ext cx="5524347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6347307" y="1351788"/>
            <a:ext cx="5250027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Year to date (Jul to Aug 2026)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47307" y="1717548"/>
            <a:ext cx="5250027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13¢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47307" y="2083308"/>
            <a:ext cx="5250027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same period last year: 15¢</a:t>
            </a:r>
          </a:p>
        </p:txBody>
      </p:sp>
      <p:graphicFrame>
        <p:nvGraphicFramePr>
          <p:cNvPr id="14" name="Chart 13"/>
          <p:cNvGraphicFramePr>
            <a:graphicFrameLocks noGrp="1"/>
          </p:cNvGraphicFramePr>
          <p:nvPr/>
        </p:nvGraphicFramePr>
        <p:xfrm>
          <a:off x="457200" y="2604516"/>
          <a:ext cx="11277295" cy="251612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5" name="Rectangle 14"/>
          <p:cNvSpPr/>
          <p:nvPr/>
        </p:nvSpPr>
        <p:spPr>
          <a:xfrm>
            <a:off x="457200" y="5212080"/>
            <a:ext cx="5501487" cy="109728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6" name="TextBox 15"/>
          <p:cNvSpPr txBox="1"/>
          <p:nvPr/>
        </p:nvSpPr>
        <p:spPr>
          <a:xfrm>
            <a:off x="594360" y="526694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5541264"/>
            <a:ext cx="5227167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Donations cost 13¢ to raise each dollar this financial year to date ($4,400 of donor campaigns for $32,700), against 15¢ in the same period last year.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33007" y="5212080"/>
            <a:ext cx="5501487" cy="109728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9" name="TextBox 18"/>
          <p:cNvSpPr txBox="1"/>
          <p:nvPr/>
        </p:nvSpPr>
        <p:spPr>
          <a:xfrm>
            <a:off x="6370167" y="526694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70167" y="5541264"/>
            <a:ext cx="5227167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Steady and cheap, and untied: the money that builds reserves.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cost-to-raise.pptx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8 Oct 2026, 9:35am · Sample data · Made with Python (python-pptx)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4 of 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Fundraising events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What does it cost to raise a dollar?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Cost to raise a dollar, by month (cents) · Fundraising events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78636"/>
            <a:ext cx="5524347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94360" y="1351788"/>
            <a:ext cx="5250027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August · Fundraising events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17548"/>
            <a:ext cx="5250027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83308"/>
            <a:ext cx="5250027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July none raised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0147" y="1278636"/>
            <a:ext cx="5524347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6347307" y="1351788"/>
            <a:ext cx="5250027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Year to date (Jul to Aug 2026)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47307" y="1717548"/>
            <a:ext cx="5250027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47307" y="2083308"/>
            <a:ext cx="5250027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same period last year: –</a:t>
            </a:r>
          </a:p>
        </p:txBody>
      </p:sp>
      <p:graphicFrame>
        <p:nvGraphicFramePr>
          <p:cNvPr id="14" name="Chart 13"/>
          <p:cNvGraphicFramePr>
            <a:graphicFrameLocks noGrp="1"/>
          </p:cNvGraphicFramePr>
          <p:nvPr/>
        </p:nvGraphicFramePr>
        <p:xfrm>
          <a:off x="457200" y="2604516"/>
          <a:ext cx="11277295" cy="271424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5" name="Rectangle 14"/>
          <p:cNvSpPr/>
          <p:nvPr/>
        </p:nvSpPr>
        <p:spPr>
          <a:xfrm>
            <a:off x="457200" y="5410200"/>
            <a:ext cx="5501487" cy="89916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6" name="TextBox 15"/>
          <p:cNvSpPr txBox="1"/>
          <p:nvPr/>
        </p:nvSpPr>
        <p:spPr>
          <a:xfrm>
            <a:off x="594360" y="546506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5739384"/>
            <a:ext cx="5227167" cy="533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Fundraising events cost – to raise each dollar this financial year to date ($2,400 of event costs for $0).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33007" y="5410200"/>
            <a:ext cx="5501487" cy="89916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9" name="TextBox 18"/>
          <p:cNvSpPr txBox="1"/>
          <p:nvPr/>
        </p:nvSpPr>
        <p:spPr>
          <a:xfrm>
            <a:off x="6370167" y="546506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70167" y="5739384"/>
            <a:ext cx="5227167" cy="533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Usually the dearest money to raise: events are worth counting for what else they bring too (new donors, profile).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cost-to-raise.pptx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8 Oct 2026, 9:35am · Sample data · Made with Python (python-pptx)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5 of 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25342A"/>
      </a:dk2>
      <a:lt2>
        <a:srgbClr val="F4F7F2"/>
      </a:lt2>
      <a:accent1>
        <a:srgbClr val="2F7A5D"/>
      </a:accent1>
      <a:accent2>
        <a:srgbClr val="0E9F6E"/>
      </a:accent2>
      <a:accent3>
        <a:srgbClr val="7D8790"/>
      </a:accent3>
      <a:accent4>
        <a:srgbClr val="8A6D3B"/>
      </a:accent4>
      <a:accent5>
        <a:srgbClr val="B42318"/>
      </a:accent5>
      <a:accent6>
        <a:srgbClr val="8E9CAB"/>
      </a:accent6>
      <a:hlink>
        <a:srgbClr val="0000FF"/>
      </a:hlink>
      <a:folHlink>
        <a:srgbClr val="800080"/>
      </a:folHlink>
    </a:clrScheme>
    <a:fontScheme name="Office">
      <a:maj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