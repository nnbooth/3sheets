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Sheet1!$A$2:$A$18</c:f>
              <c:strCache>
                <c:ptCount val="17"/>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strCache>
            </c:strRef>
          </c:cat>
          <c:val>
            <c:numRef>
              <c:f>Sheet1!$B$2:$B$18</c:f>
              <c:numCache>
                <c:formatCode>$#,##0;[Red]($#,##0);"-"</c:formatCode>
                <c:ptCount val="17"/>
                <c:pt idx="0">
                  <c:v>171009</c:v>
                </c:pt>
                <c:pt idx="1">
                  <c:v>179474</c:v>
                </c:pt>
                <c:pt idx="2">
                  <c:v>143156</c:v>
                </c:pt>
                <c:pt idx="3">
                  <c:v>140909</c:v>
                </c:pt>
                <c:pt idx="4">
                  <c:v>160943</c:v>
                </c:pt>
                <c:pt idx="5">
                  <c:v>135082</c:v>
                </c:pt>
                <c:pt idx="6">
                  <c:v>124705</c:v>
                </c:pt>
                <c:pt idx="7">
                  <c:v>129816</c:v>
                </c:pt>
                <c:pt idx="8">
                  <c:v>164113</c:v>
                </c:pt>
                <c:pt idx="9">
                  <c:v>186760</c:v>
                </c:pt>
                <c:pt idx="10">
                  <c:v>139164</c:v>
                </c:pt>
                <c:pt idx="11">
                  <c:v>128255</c:v>
                </c:pt>
                <c:pt idx="12">
                  <c:v>128898</c:v>
                </c:pt>
                <c:pt idx="13">
                  <c:v>174786</c:v>
                </c:pt>
                <c:pt idx="14">
                  <c:v>135079</c:v>
                </c:pt>
                <c:pt idx="15">
                  <c:v>164780</c:v>
                </c:pt>
                <c:pt idx="16">
                  <c:v>196372</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Sheet1!$A$2:$A$18</c:f>
              <c:strCache>
                <c:ptCount val="17"/>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strCache>
            </c:strRef>
          </c:cat>
          <c:val>
            <c:numRef>
              <c:f>Sheet1!$B$2:$B$18</c:f>
              <c:numCache>
                <c:formatCode>0.0"%";[Red](0.0"%")</c:formatCode>
                <c:ptCount val="17"/>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pt idx="16">
                  <c:v>38.6</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Sheet1!$A$2:$A$18</c:f>
              <c:strCache>
                <c:ptCount val="17"/>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strCache>
            </c:strRef>
          </c:cat>
          <c:val>
            <c:numRef>
              <c:f>Sheet1!$B$2:$B$18</c:f>
              <c:numCache>
                <c:formatCode>$#,##0;[Red]($#,##0);"-"</c:formatCode>
                <c:ptCount val="17"/>
                <c:pt idx="0">
                  <c:v>94520</c:v>
                </c:pt>
                <c:pt idx="1">
                  <c:v>108140</c:v>
                </c:pt>
                <c:pt idx="2">
                  <c:v>114895</c:v>
                </c:pt>
                <c:pt idx="3">
                  <c:v>88250</c:v>
                </c:pt>
                <c:pt idx="4">
                  <c:v>111010</c:v>
                </c:pt>
                <c:pt idx="5">
                  <c:v>77175</c:v>
                </c:pt>
                <c:pt idx="6">
                  <c:v>63970</c:v>
                </c:pt>
                <c:pt idx="7">
                  <c:v>95555</c:v>
                </c:pt>
                <c:pt idx="8">
                  <c:v>90220</c:v>
                </c:pt>
                <c:pt idx="9">
                  <c:v>86320</c:v>
                </c:pt>
                <c:pt idx="10">
                  <c:v>61475</c:v>
                </c:pt>
                <c:pt idx="11">
                  <c:v>59535</c:v>
                </c:pt>
                <c:pt idx="12">
                  <c:v>71260</c:v>
                </c:pt>
                <c:pt idx="13">
                  <c:v>83940</c:v>
                </c:pt>
                <c:pt idx="14">
                  <c:v>69420</c:v>
                </c:pt>
                <c:pt idx="15">
                  <c:v>92370</c:v>
                </c:pt>
                <c:pt idx="16">
                  <c:v>100055</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Sheet1!$A$2:$A$18</c:f>
              <c:strCache>
                <c:ptCount val="17"/>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strCache>
            </c:strRef>
          </c:cat>
          <c:val>
            <c:numRef>
              <c:f>Sheet1!$B$2:$B$18</c:f>
              <c:numCache>
                <c:formatCode>0.0"%";[Red](0.0"%")</c:formatCode>
                <c:ptCount val="17"/>
                <c:pt idx="0">
                  <c:v>62.6</c:v>
                </c:pt>
                <c:pt idx="1">
                  <c:v>63.0</c:v>
                </c:pt>
                <c:pt idx="2">
                  <c:v>62.6</c:v>
                </c:pt>
                <c:pt idx="3">
                  <c:v>62.3</c:v>
                </c:pt>
                <c:pt idx="4">
                  <c:v>61.4</c:v>
                </c:pt>
                <c:pt idx="5">
                  <c:v>58.6</c:v>
                </c:pt>
                <c:pt idx="6">
                  <c:v>60.1</c:v>
                </c:pt>
                <c:pt idx="7">
                  <c:v>62.2</c:v>
                </c:pt>
                <c:pt idx="8">
                  <c:v>60.8</c:v>
                </c:pt>
                <c:pt idx="9">
                  <c:v>62.0</c:v>
                </c:pt>
                <c:pt idx="10">
                  <c:v>65.3</c:v>
                </c:pt>
                <c:pt idx="11">
                  <c:v>65.9</c:v>
                </c:pt>
                <c:pt idx="12">
                  <c:v>64.2</c:v>
                </c:pt>
                <c:pt idx="13">
                  <c:v>62.9</c:v>
                </c:pt>
                <c:pt idx="14">
                  <c:v>64.7</c:v>
                </c:pt>
                <c:pt idx="15">
                  <c:v>64.8</c:v>
                </c:pt>
                <c:pt idx="16">
                  <c:v>63.4</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1600" b="1">
                <a:solidFill>
                  <a:srgbClr val="FFFFFF"/>
                </a:solidFill>
              </a:rPr>
              <a:t>4th</a:t>
            </a:r>
          </a:p>
        </p:txBody>
      </p:sp>
      <p:sp>
        <p:nvSpPr>
          <p:cNvPr id="3" name="TextBox 2"/>
          <p:cNvSpPr txBox="1"/>
          <p:nvPr/>
        </p:nvSpPr>
        <p:spPr>
          <a:xfrm>
            <a:off x="1234440" y="658368"/>
            <a:ext cx="5486400" cy="457200"/>
          </a:xfrm>
          <a:prstGeom prst="rect">
            <a:avLst/>
          </a:prstGeom>
          <a:noFill/>
        </p:spPr>
        <p:txBody>
          <a:bodyPr wrap="square">
            <a:spAutoFit/>
          </a:bodyPr>
          <a:lstStyle/>
          <a:p>
            <a:r>
              <a:rPr sz="1800" b="1">
                <a:solidFill>
                  <a:srgbClr val="25342A"/>
                </a:solidFill>
                <a:latin typeface="Arial"/>
              </a:rPr>
              <a:t>The 4th Sheet</a:t>
            </a:r>
          </a:p>
        </p:txBody>
      </p:sp>
      <p:sp>
        <p:nvSpPr>
          <p:cNvPr id="4" name="TextBox 3"/>
          <p:cNvSpPr txBox="1"/>
          <p:nvPr/>
        </p:nvSpPr>
        <p:spPr>
          <a:xfrm>
            <a:off x="457200" y="1554480"/>
            <a:ext cx="10972800" cy="365760"/>
          </a:xfrm>
          <a:prstGeom prst="rect">
            <a:avLst/>
          </a:prstGeom>
          <a:noFill/>
        </p:spPr>
        <p:txBody>
          <a:bodyPr wrap="square">
            <a:spAutoFit/>
          </a:bodyPr>
          <a:lstStyle/>
          <a:p>
            <a:r>
              <a:rPr sz="1100" b="1">
                <a:solidFill>
                  <a:srgbClr val="8A7A52"/>
                </a:solidFill>
                <a:latin typeface="Arial"/>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r>
              <a:rPr sz="3400" b="1">
                <a:solidFill>
                  <a:srgbClr val="25342A"/>
                </a:solidFill>
                <a:latin typeface="Arial"/>
              </a:rPr>
              <a:t>Which products and services are growing?</a:t>
            </a:r>
          </a:p>
        </p:txBody>
      </p:sp>
      <p:sp>
        <p:nvSpPr>
          <p:cNvPr id="6" name="TextBox 5"/>
          <p:cNvSpPr txBox="1"/>
          <p:nvPr/>
        </p:nvSpPr>
        <p:spPr>
          <a:xfrm>
            <a:off x="457200" y="3154680"/>
            <a:ext cx="11247120" cy="457200"/>
          </a:xfrm>
          <a:prstGeom prst="rect">
            <a:avLst/>
          </a:prstGeom>
          <a:noFill/>
        </p:spPr>
        <p:txBody>
          <a:bodyPr wrap="square">
            <a:spAutoFit/>
          </a:bodyPr>
          <a:lstStyle/>
          <a:p>
            <a:r>
              <a:rPr sz="1600" b="0">
                <a:solidFill>
                  <a:srgbClr val="5F6F63"/>
                </a:solidFill>
                <a:latin typeface="Arial"/>
              </a:rPr>
              <a:t>SME sample businesses</a:t>
            </a:r>
          </a:p>
        </p:txBody>
      </p:sp>
      <p:sp>
        <p:nvSpPr>
          <p:cNvPr id="7" name="TextBox 6"/>
          <p:cNvSpPr txBox="1"/>
          <p:nvPr/>
        </p:nvSpPr>
        <p:spPr>
          <a:xfrm>
            <a:off x="457200" y="3703320"/>
            <a:ext cx="11247120" cy="1097280"/>
          </a:xfrm>
          <a:prstGeom prst="rect">
            <a:avLst/>
          </a:prstGeom>
          <a:noFill/>
        </p:spPr>
        <p:txBody>
          <a:bodyPr wrap="square">
            <a:spAutoFit/>
          </a:bodyPr>
          <a:lstStyle/>
          <a:p>
            <a:r>
              <a:rPr sz="1400" b="0">
                <a:solidFill>
                  <a:srgbClr val="25342A"/>
                </a:solidFill>
                <a:latin typeface="Arial"/>
              </a:rPr>
              <a:t>Period: February 2026. Revenue, gross margin and growth (year on year) by product or service line over 24 months. Pick a line and every number, chart and note follows it.</a:t>
            </a:r>
          </a:p>
        </p:txBody>
      </p:sp>
      <p:sp>
        <p:nvSpPr>
          <p:cNvPr id="8" name="TextBox 7"/>
          <p:cNvSpPr txBox="1"/>
          <p:nvPr/>
        </p:nvSpPr>
        <p:spPr>
          <a:xfrm>
            <a:off x="457200" y="4937760"/>
            <a:ext cx="11247120" cy="1097280"/>
          </a:xfrm>
          <a:prstGeom prst="rect">
            <a:avLst/>
          </a:prstGeom>
          <a:noFill/>
        </p:spPr>
        <p:txBody>
          <a:bodyPr wrap="square">
            <a:spAutoFit/>
          </a:bodyPr>
          <a:lstStyle/>
          <a:p>
            <a:r>
              <a:rPr sz="1100" b="0">
                <a:solidFill>
                  <a:srgbClr val="5F6F63"/>
                </a:solidFill>
                <a:latin typeface="Arial"/>
              </a:rPr>
              <a:t>How final is this data?</a:t>
            </a:r>
          </a:p>
          <a:p>
            <a:r>
              <a:rPr sz="1100" b="0">
                <a:solidFill>
                  <a:srgbClr val="5F6F63"/>
                </a:solidFill>
                <a:latin typeface="Arial"/>
              </a:rPr>
              <a:t>January 2026: Locked. January 2026 is locked (closed 3 Feb 2026). These numbers won't change.</a:t>
            </a:r>
          </a:p>
          <a:p>
            <a:r>
              <a:rPr sz="1100" b="0">
                <a:solidFill>
                  <a:srgbClr val="5F6F63"/>
                </a:solidFill>
                <a:latin typeface="Arial"/>
              </a:rPr>
              <a:t>February 2026: Locked. February 2026 is locked (closed 3 Mar 2026). These numbers won't change.</a:t>
            </a:r>
          </a:p>
          <a:p>
            <a:r>
              <a:rPr sz="1100" b="0">
                <a:solidFill>
                  <a:srgbClr val="5F6F63"/>
                </a:solidFill>
                <a:latin typeface="Arial"/>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 of 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10820095" cy="365760"/>
          </a:xfrm>
          <a:prstGeom prst="rect">
            <a:avLst/>
          </a:prstGeom>
          <a:noFill/>
        </p:spPr>
        <p:txBody>
          <a:bodyPr wrap="square">
            <a:spAutoFit/>
          </a:bodyPr>
          <a:lstStyle/>
          <a:p>
            <a:r>
              <a:rPr sz="1100" b="1">
                <a:solidFill>
                  <a:srgbClr val="5F6F63"/>
                </a:solidFill>
                <a:latin typeface="Arial"/>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r>
              <a:rPr sz="1600" b="0">
                <a:solidFill>
                  <a:srgbClr val="25342A"/>
                </a:solidFill>
                <a:latin typeface="Arial"/>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 of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From gross margin to profit · Trades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February's jobs made $75,710 gross margin (38.6%). Technician time not charged to jobs took ($4,832) and overheads $59,320, leaving $21,222 profit before tax (10.8% of revenue). To cover overheads, jobs need a 27.7%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txBody>
                  <a:tcPr>
                    <a:solidFill>
                      <a:srgbClr val="2F7A5D"/>
                    </a:solidFill>
                  </a:tcPr>
                </a:tc>
                <a:tc>
                  <a:txBody>
                    <a:bodyPr/>
                    <a:lstStyle/>
                    <a:p>
                      <a:pPr algn="r"/>
                      <a:r>
                        <a:rPr sz="1100" b="1">
                          <a:solidFill>
                            <a:srgbClr val="FFFFFF"/>
                          </a:solidFill>
                        </a:rPr>
                        <a:t>February 2026</a:t>
                      </a:r>
                    </a:p>
                  </a:txBody>
                  <a:tcPr>
                    <a:solidFill>
                      <a:srgbClr val="2F7A5D"/>
                    </a:solidFill>
                  </a:tcPr>
                </a:tc>
              </a:tr>
              <a:tr h="329184">
                <a:tc>
                  <a:txBody>
                    <a:bodyPr/>
                    <a:lstStyle/>
                    <a:p>
                      <a:r>
                        <a:rPr sz="1050">
                          <a:solidFill>
                            <a:srgbClr val="25342A"/>
                          </a:solidFill>
                        </a:rPr>
                        <a:t>Gross margin on jobs</a:t>
                      </a:r>
                    </a:p>
                  </a:txBody>
                  <a:tcPr>
                    <a:solidFill>
                      <a:srgbClr val="FFFFFF"/>
                    </a:solidFill>
                  </a:tcPr>
                </a:tc>
                <a:tc>
                  <a:txBody>
                    <a:bodyPr/>
                    <a:lstStyle/>
                    <a:p>
                      <a:pPr algn="r"/>
                      <a:r>
                        <a:rPr sz="1050">
                          <a:solidFill>
                            <a:srgbClr val="25342A"/>
                          </a:solidFill>
                        </a:rPr>
                        <a:t>$75,710</a:t>
                      </a:r>
                    </a:p>
                  </a:txBody>
                  <a:tcPr>
                    <a:solidFill>
                      <a:srgbClr val="FFFFFF"/>
                    </a:solidFill>
                  </a:tcPr>
                </a:tc>
              </a:tr>
              <a:tr h="329184">
                <a:tc>
                  <a:txBody>
                    <a:bodyPr/>
                    <a:lstStyle/>
                    <a:p>
                      <a:r>
                        <a:rPr sz="1050">
                          <a:solidFill>
                            <a:srgbClr val="25342A"/>
                          </a:solidFill>
                        </a:rPr>
                        <a:t>Technician wages and on-costs</a:t>
                      </a:r>
                    </a:p>
                  </a:txBody>
                  <a:tcPr>
                    <a:solidFill>
                      <a:srgbClr val="F7FAF7"/>
                    </a:solidFill>
                  </a:tcPr>
                </a:tc>
                <a:tc>
                  <a:txBody>
                    <a:bodyPr/>
                    <a:lstStyle/>
                    <a:p>
                      <a:pPr algn="r"/>
                      <a:r>
                        <a:rPr sz="1050">
                          <a:solidFill>
                            <a:srgbClr val="25342A"/>
                          </a:solidFill>
                        </a:rPr>
                        <a:t>$54,600</a:t>
                      </a:r>
                    </a:p>
                  </a:txBody>
                  <a:tcPr>
                    <a:solidFill>
                      <a:srgbClr val="F7FAF7"/>
                    </a:solidFill>
                  </a:tcPr>
                </a:tc>
              </a:tr>
              <a:tr h="329184">
                <a:tc>
                  <a:txBody>
                    <a:bodyPr/>
                    <a:lstStyle/>
                    <a:p>
                      <a:r>
                        <a:rPr sz="1050">
                          <a:solidFill>
                            <a:srgbClr val="25342A"/>
                          </a:solidFill>
                        </a:rPr>
                        <a:t>Technician time charged to jobs (at cost)</a:t>
                      </a:r>
                    </a:p>
                  </a:txBody>
                  <a:tcPr>
                    <a:solidFill>
                      <a:srgbClr val="FFFFFF"/>
                    </a:solidFill>
                  </a:tcPr>
                </a:tc>
                <a:tc>
                  <a:txBody>
                    <a:bodyPr/>
                    <a:lstStyle/>
                    <a:p>
                      <a:pPr algn="r"/>
                      <a:r>
                        <a:rPr sz="1050">
                          <a:solidFill>
                            <a:srgbClr val="25342A"/>
                          </a:solidFill>
                        </a:rPr>
                        <a:t>$59,432</a:t>
                      </a:r>
                    </a:p>
                  </a:txBody>
                  <a:tcPr>
                    <a:solidFill>
                      <a:srgbClr val="FFFFFF"/>
                    </a:solidFill>
                  </a:tcPr>
                </a:tc>
              </a:tr>
              <a:tr h="329184">
                <a:tc>
                  <a:txBody>
                    <a:bodyPr/>
                    <a:lstStyle/>
                    <a:p>
                      <a:r>
                        <a:rPr sz="1050">
                          <a:solidFill>
                            <a:srgbClr val="25342A"/>
                          </a:solidFill>
                        </a:rPr>
                        <a:t>Technician time not charged to jobs</a:t>
                      </a:r>
                    </a:p>
                  </a:txBody>
                  <a:tcPr>
                    <a:solidFill>
                      <a:srgbClr val="F7FAF7"/>
                    </a:solidFill>
                  </a:tcPr>
                </a:tc>
                <a:tc>
                  <a:txBody>
                    <a:bodyPr/>
                    <a:lstStyle/>
                    <a:p>
                      <a:pPr algn="r"/>
                      <a:r>
                        <a:rPr sz="1050">
                          <a:solidFill>
                            <a:srgbClr val="B42318"/>
                          </a:solidFill>
                        </a:rPr>
                        <a:t>($4,832)</a:t>
                      </a:r>
                    </a:p>
                  </a:txBody>
                  <a:tcPr>
                    <a:solidFill>
                      <a:srgbClr val="F7FAF7"/>
                    </a:solidFill>
                  </a:tcPr>
                </a:tc>
              </a:tr>
              <a:tr h="329184">
                <a:tc>
                  <a:txBody>
                    <a:bodyPr/>
                    <a:lstStyle/>
                    <a:p>
                      <a:r>
                        <a:rPr sz="1050">
                          <a:solidFill>
                            <a:srgbClr val="25342A"/>
                          </a:solidFill>
                        </a:rPr>
                        <a:t>Gross profit (the P&amp;L)</a:t>
                      </a:r>
                    </a:p>
                  </a:txBody>
                  <a:tcPr>
                    <a:solidFill>
                      <a:srgbClr val="FFFFFF"/>
                    </a:solidFill>
                  </a:tcPr>
                </a:tc>
                <a:tc>
                  <a:txBody>
                    <a:bodyPr/>
                    <a:lstStyle/>
                    <a:p>
                      <a:pPr algn="r"/>
                      <a:r>
                        <a:rPr sz="1050">
                          <a:solidFill>
                            <a:srgbClr val="25342A"/>
                          </a:solidFill>
                        </a:rPr>
                        <a:t>$80,542</a:t>
                      </a:r>
                    </a:p>
                  </a:txBody>
                  <a:tcPr>
                    <a:solidFill>
                      <a:srgbClr val="FFFFFF"/>
                    </a:solidFill>
                  </a:tcPr>
                </a:tc>
              </a:tr>
              <a:tr h="329184">
                <a:tc>
                  <a:txBody>
                    <a:bodyPr/>
                    <a:lstStyle/>
                    <a:p>
                      <a:r>
                        <a:rPr sz="1050">
                          <a:solidFill>
                            <a:srgbClr val="25342A"/>
                          </a:solidFill>
                        </a:rPr>
                        <a:t>Overheads (operating expenses, depreciation, interest)</a:t>
                      </a:r>
                    </a:p>
                  </a:txBody>
                  <a:tcPr>
                    <a:solidFill>
                      <a:srgbClr val="F7FAF7"/>
                    </a:solidFill>
                  </a:tcPr>
                </a:tc>
                <a:tc>
                  <a:txBody>
                    <a:bodyPr/>
                    <a:lstStyle/>
                    <a:p>
                      <a:pPr algn="r"/>
                      <a:r>
                        <a:rPr sz="1050">
                          <a:solidFill>
                            <a:srgbClr val="25342A"/>
                          </a:solidFill>
                        </a:rPr>
                        <a:t>$59,320</a:t>
                      </a:r>
                    </a:p>
                  </a:txBody>
                  <a:tcPr>
                    <a:solidFill>
                      <a:srgbClr val="F7FAF7"/>
                    </a:solidFill>
                  </a:tcPr>
                </a:tc>
              </a:tr>
              <a:tr h="329184">
                <a:tc>
                  <a:txBody>
                    <a:bodyPr/>
                    <a:lstStyle/>
                    <a:p>
                      <a:r>
                        <a:rPr sz="1050">
                          <a:solidFill>
                            <a:srgbClr val="25342A"/>
                          </a:solidFill>
                        </a:rPr>
                        <a:t>Profit before tax (the P&amp;L)</a:t>
                      </a:r>
                    </a:p>
                  </a:txBody>
                  <a:tcPr>
                    <a:solidFill>
                      <a:srgbClr val="FFFFFF"/>
                    </a:solidFill>
                  </a:tcPr>
                </a:tc>
                <a:tc>
                  <a:txBody>
                    <a:bodyPr/>
                    <a:lstStyle/>
                    <a:p>
                      <a:pPr algn="r"/>
                      <a:r>
                        <a:rPr sz="1050">
                          <a:solidFill>
                            <a:srgbClr val="25342A"/>
                          </a:solidFill>
                        </a:rPr>
                        <a:t>$21,222</a:t>
                      </a:r>
                    </a:p>
                  </a:txBody>
                  <a:tcPr>
                    <a:solidFill>
                      <a:srgbClr val="FFFFFF"/>
                    </a:solidFill>
                  </a:tcPr>
                </a:tc>
              </a:tr>
              <a:tr h="329184">
                <a:tc>
                  <a:txBody>
                    <a:bodyPr/>
                    <a:lstStyle/>
                    <a:p>
                      <a:r>
                        <a:rPr sz="1050">
                          <a:solidFill>
                            <a:srgbClr val="25342A"/>
                          </a:solidFill>
                        </a:rPr>
                        <a:t>Revenue</a:t>
                      </a:r>
                    </a:p>
                  </a:txBody>
                  <a:tcPr>
                    <a:solidFill>
                      <a:srgbClr val="F7FAF7"/>
                    </a:solidFill>
                  </a:tcPr>
                </a:tc>
                <a:tc>
                  <a:txBody>
                    <a:bodyPr/>
                    <a:lstStyle/>
                    <a:p>
                      <a:pPr algn="r"/>
                      <a:r>
                        <a:rPr sz="1050">
                          <a:solidFill>
                            <a:srgbClr val="25342A"/>
                          </a:solidFill>
                        </a:rPr>
                        <a:t>$196,372</a:t>
                      </a:r>
                    </a:p>
                  </a:txBody>
                  <a:tcPr>
                    <a:solidFill>
                      <a:srgbClr val="F7FAF7"/>
                    </a:solidFill>
                  </a:tcPr>
                </a:tc>
              </a:tr>
              <a:tr h="329184">
                <a:tc>
                  <a:txBody>
                    <a:bodyPr/>
                    <a:lstStyle/>
                    <a:p>
                      <a:r>
                        <a:rPr sz="1050">
                          <a:solidFill>
                            <a:srgbClr val="25342A"/>
                          </a:solidFill>
                        </a:rPr>
                        <a:t>Gross margin on jobs, %</a:t>
                      </a:r>
                    </a:p>
                  </a:txBody>
                  <a:tcPr>
                    <a:solidFill>
                      <a:srgbClr val="FFFFFF"/>
                    </a:solidFill>
                  </a:tcPr>
                </a:tc>
                <a:tc>
                  <a:txBody>
                    <a:bodyPr/>
                    <a:lstStyle/>
                    <a:p>
                      <a:pPr algn="r"/>
                      <a:r>
                        <a:rPr sz="1050">
                          <a:solidFill>
                            <a:srgbClr val="25342A"/>
                          </a:solidFill>
                        </a:rPr>
                        <a:t>38.6%</a:t>
                      </a:r>
                    </a:p>
                  </a:txBody>
                  <a:tcPr>
                    <a:solidFill>
                      <a:srgbClr val="FFFFFF"/>
                    </a:solidFill>
                  </a:tcPr>
                </a:tc>
              </a:tr>
              <a:tr h="329184">
                <a:tc>
                  <a:txBody>
                    <a:bodyPr/>
                    <a:lstStyle/>
                    <a:p>
                      <a:r>
                        <a:rPr sz="1050">
                          <a:solidFill>
                            <a:srgbClr val="25342A"/>
                          </a:solidFill>
                        </a:rPr>
                        <a:t>Profit before tax, % of revenue</a:t>
                      </a:r>
                    </a:p>
                  </a:txBody>
                  <a:tcPr>
                    <a:solidFill>
                      <a:srgbClr val="F7FAF7"/>
                    </a:solidFill>
                  </a:tcPr>
                </a:tc>
                <a:tc>
                  <a:txBody>
                    <a:bodyPr/>
                    <a:lstStyle/>
                    <a:p>
                      <a:pPr algn="r"/>
                      <a:r>
                        <a:rPr sz="1050">
                          <a:solidFill>
                            <a:srgbClr val="25342A"/>
                          </a:solidFill>
                        </a:rPr>
                        <a:t>10.8%</a:t>
                      </a:r>
                    </a:p>
                  </a:txBody>
                  <a:tcPr>
                    <a:solidFill>
                      <a:srgbClr val="F7FAF7"/>
                    </a:solidFill>
                  </a:tcPr>
                </a:tc>
              </a:tr>
              <a:tr h="329184">
                <a:tc>
                  <a:txBody>
                    <a:bodyPr/>
                    <a:lstStyle/>
                    <a:p>
                      <a:r>
                        <a:rPr sz="1050">
                          <a:solidFill>
                            <a:srgbClr val="25342A"/>
                          </a:solidFill>
                        </a:rPr>
                        <a:t>Gross margin jobs need just to cover overheads and time not charged</a:t>
                      </a:r>
                    </a:p>
                  </a:txBody>
                  <a:tcPr>
                    <a:solidFill>
                      <a:srgbClr val="FFFFFF"/>
                    </a:solidFill>
                  </a:tcPr>
                </a:tc>
                <a:tc>
                  <a:txBody>
                    <a:bodyPr/>
                    <a:lstStyle/>
                    <a:p>
                      <a:pPr algn="r"/>
                      <a:r>
                        <a:rPr sz="1050">
                          <a:solidFill>
                            <a:srgbClr val="25342A"/>
                          </a:solidFill>
                        </a:rPr>
                        <a:t>27.7%</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3 of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Trades · Line: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February against February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22.0%</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$196,372 against $160,943</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Feb 2026)</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$1,254,094</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37.3%</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$468,184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4 of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Trades · Line: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Revenue is $1,254,094 this financial year to date (Jul to Feb 2026). Maintenance contracts make the highest gross margin (59.5%); Installations the lowest (27.7%). The business needs 27.7%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Maintenance contracts: 59.5% gross margin, the most profitable work you do. Installations: 27.7% gross margin, below the 27.7%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5 of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Trades · Line: Maintenance contracts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February against February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34.3%</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$37,500 against $27,930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Feb 2026)</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$280,300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59.5%</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$166,740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6 of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Trades · Line: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Maintenance contracts brought in $280,300 this financial year to date, at a 59.5% gross margin (above the 37.3%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Maintenance contracts: 59.5% gross margin, 31.7 points clear of the 27.7%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7 of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Trades · Line: Installations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February against February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22.0%</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$129,300 against $106,000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Feb 2026)</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$777,700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27.7%</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$215,768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8 of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Trades · Line: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Installations brought in $777,700 this financial year to date, at a 27.7% gross margin (below the 37.3%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Installations: 27.7% gross margin, below the 27.7% needed to cover overheads.</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9 of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Trades · Line: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February against February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9.5%</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$29,572 against $27,013</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Feb 2026)</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$196,094</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43.7%</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$85,676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10 of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Trades · Line: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Call-outs and repairs brought in $196,094 this financial year to date, at a 43.7% gross margin (above the 37.3%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Call-outs and repairs: 43.7% gross margin, 15.9 points clear of the 27.7%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11 of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Revenue, gross margin and growth by line, by month · Revenue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12 of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Revenue, gross margin and growth by line, by month · Gross margin % · Trades · Every line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13 of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By line: financial year to date (Jul to Feb 2026) against the same period last year · Trades · Every line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txBody>
                  <a:tcPr>
                    <a:solidFill>
                      <a:srgbClr val="2F7A5D"/>
                    </a:solidFill>
                  </a:tcPr>
                </a:tc>
                <a:tc>
                  <a:txBody>
                    <a:bodyPr/>
                    <a:lstStyle/>
                    <a:p>
                      <a:pPr algn="r"/>
                      <a:r>
                        <a:rPr sz="1100" b="1">
                          <a:solidFill>
                            <a:srgbClr val="FFFFFF"/>
                          </a:solidFill>
                        </a:rPr>
                        <a:t>Year to date</a:t>
                      </a:r>
                    </a:p>
                  </a:txBody>
                  <a:tcPr>
                    <a:solidFill>
                      <a:srgbClr val="2F7A5D"/>
                    </a:solidFill>
                  </a:tcPr>
                </a:tc>
                <a:tc>
                  <a:txBody>
                    <a:bodyPr/>
                    <a:lstStyle/>
                    <a:p>
                      <a:pPr algn="r"/>
                      <a:r>
                        <a:rPr sz="1100" b="1">
                          <a:solidFill>
                            <a:srgbClr val="FFFFFF"/>
                          </a:solidFill>
                        </a:rPr>
                        <a:t>Same period last year</a:t>
                      </a:r>
                    </a:p>
                  </a:txBody>
                  <a:tcPr>
                    <a:solidFill>
                      <a:srgbClr val="2F7A5D"/>
                    </a:solidFill>
                  </a:tcPr>
                </a:tc>
                <a:tc>
                  <a:txBody>
                    <a:bodyPr/>
                    <a:lstStyle/>
                    <a:p>
                      <a:pPr algn="r"/>
                      <a:r>
                        <a:rPr sz="1100" b="1">
                          <a:solidFill>
                            <a:srgbClr val="FFFFFF"/>
                          </a:solidFill>
                        </a:rPr>
                        <a:t>Growth</a:t>
                      </a:r>
                    </a:p>
                  </a:txBody>
                  <a:tcPr>
                    <a:solidFill>
                      <a:srgbClr val="2F7A5D"/>
                    </a:solidFill>
                  </a:tcPr>
                </a:tc>
                <a:tc>
                  <a:txBody>
                    <a:bodyPr/>
                    <a:lstStyle/>
                    <a:p>
                      <a:pPr algn="r"/>
                      <a:r>
                        <a:rPr sz="1100" b="1">
                          <a:solidFill>
                            <a:srgbClr val="FFFFFF"/>
                          </a:solidFill>
                        </a:rPr>
                        <a:t>Gross margin $</a:t>
                      </a:r>
                    </a:p>
                  </a:txBody>
                  <a:tcPr>
                    <a:solidFill>
                      <a:srgbClr val="2F7A5D"/>
                    </a:solidFill>
                  </a:tcPr>
                </a:tc>
                <a:tc>
                  <a:txBody>
                    <a:bodyPr/>
                    <a:lstStyle/>
                    <a:p>
                      <a:pPr algn="r"/>
                      <a:r>
                        <a:rPr sz="1100" b="1">
                          <a:solidFill>
                            <a:srgbClr val="FFFFFF"/>
                          </a:solidFill>
                        </a:rPr>
                        <a:t>Gross margin %</a:t>
                      </a:r>
                    </a:p>
                  </a:txBody>
                  <a:tcPr>
                    <a:solidFill>
                      <a:srgbClr val="2F7A5D"/>
                    </a:solidFill>
                  </a:tcPr>
                </a:tc>
              </a:tr>
              <a:tr h="329184">
                <a:tc>
                  <a:txBody>
                    <a:bodyPr/>
                    <a:lstStyle/>
                    <a:p>
                      <a:r>
                        <a:rPr sz="1050">
                          <a:solidFill>
                            <a:srgbClr val="25342A"/>
                          </a:solidFill>
                        </a:rPr>
                        <a:t>Maintenance contracts</a:t>
                      </a:r>
                    </a:p>
                  </a:txBody>
                  <a:tcPr>
                    <a:solidFill>
                      <a:srgbClr val="FFFFFF"/>
                    </a:solidFill>
                  </a:tcPr>
                </a:tc>
                <a:tc>
                  <a:txBody>
                    <a:bodyPr/>
                    <a:lstStyle/>
                    <a:p>
                      <a:pPr algn="r"/>
                      <a:r>
                        <a:rPr sz="1050">
                          <a:solidFill>
                            <a:srgbClr val="25342A"/>
                          </a:solidFill>
                        </a:rPr>
                        <a:t>$280,300</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$166,740</a:t>
                      </a:r>
                    </a:p>
                  </a:txBody>
                  <a:tcPr>
                    <a:solidFill>
                      <a:srgbClr val="FFFFFF"/>
                    </a:solidFill>
                  </a:tcPr>
                </a:tc>
                <a:tc>
                  <a:txBody>
                    <a:bodyPr/>
                    <a:lstStyle/>
                    <a:p>
                      <a:pPr algn="r"/>
                      <a:r>
                        <a:rPr sz="1050">
                          <a:solidFill>
                            <a:srgbClr val="25342A"/>
                          </a:solidFill>
                        </a:rPr>
                        <a:t>59.5%</a:t>
                      </a:r>
                    </a:p>
                  </a:txBody>
                  <a:tcPr>
                    <a:solidFill>
                      <a:srgbClr val="FFFFFF"/>
                    </a:solidFill>
                  </a:tcPr>
                </a:tc>
              </a:tr>
              <a:tr h="329184">
                <a:tc>
                  <a:txBody>
                    <a:bodyPr/>
                    <a:lstStyle/>
                    <a:p>
                      <a:r>
                        <a:rPr sz="1050">
                          <a:solidFill>
                            <a:srgbClr val="25342A"/>
                          </a:solidFill>
                        </a:rPr>
                        <a:t>Installations</a:t>
                      </a:r>
                    </a:p>
                  </a:txBody>
                  <a:tcPr>
                    <a:solidFill>
                      <a:srgbClr val="F7FAF7"/>
                    </a:solidFill>
                  </a:tcPr>
                </a:tc>
                <a:tc>
                  <a:txBody>
                    <a:bodyPr/>
                    <a:lstStyle/>
                    <a:p>
                      <a:pPr algn="r"/>
                      <a:r>
                        <a:rPr sz="1050">
                          <a:solidFill>
                            <a:srgbClr val="25342A"/>
                          </a:solidFill>
                        </a:rPr>
                        <a:t>$777,700</a:t>
                      </a:r>
                    </a:p>
                  </a:txBody>
                  <a:tcPr>
                    <a:solidFill>
                      <a:srgbClr val="F7FAF7"/>
                    </a:solidFill>
                  </a:tcPr>
                </a:tc>
                <a:tc>
                  <a:txBody>
                    <a:bodyPr/>
                    <a:lstStyle/>
                    <a:p>
                      <a:pPr algn="r"/>
                      <a:r>
                        <a:rPr sz="1050">
                          <a:solidFill>
                            <a:srgbClr val="25342A"/>
                          </a:solidFill>
                        </a:rPr>
                        <a:t>–</a:t>
                      </a:r>
                    </a:p>
                  </a:txBody>
                  <a:tcPr>
                    <a:solidFill>
                      <a:srgbClr val="F7FAF7"/>
                    </a:solidFill>
                  </a:tcPr>
                </a:tc>
                <a:tc>
                  <a:txBody>
                    <a:bodyPr/>
                    <a:lstStyle/>
                    <a:p>
                      <a:pPr algn="r"/>
                      <a:r>
                        <a:rPr sz="1050">
                          <a:solidFill>
                            <a:srgbClr val="25342A"/>
                          </a:solidFill>
                        </a:rPr>
                        <a:t>–</a:t>
                      </a:r>
                    </a:p>
                  </a:txBody>
                  <a:tcPr>
                    <a:solidFill>
                      <a:srgbClr val="F7FAF7"/>
                    </a:solidFill>
                  </a:tcPr>
                </a:tc>
                <a:tc>
                  <a:txBody>
                    <a:bodyPr/>
                    <a:lstStyle/>
                    <a:p>
                      <a:pPr algn="r"/>
                      <a:r>
                        <a:rPr sz="1050">
                          <a:solidFill>
                            <a:srgbClr val="25342A"/>
                          </a:solidFill>
                        </a:rPr>
                        <a:t>$215,768</a:t>
                      </a:r>
                    </a:p>
                  </a:txBody>
                  <a:tcPr>
                    <a:solidFill>
                      <a:srgbClr val="F7FAF7"/>
                    </a:solidFill>
                  </a:tcPr>
                </a:tc>
                <a:tc>
                  <a:txBody>
                    <a:bodyPr/>
                    <a:lstStyle/>
                    <a:p>
                      <a:pPr algn="r"/>
                      <a:r>
                        <a:rPr sz="1050">
                          <a:solidFill>
                            <a:srgbClr val="25342A"/>
                          </a:solidFill>
                        </a:rPr>
                        <a:t>27.7%</a:t>
                      </a:r>
                    </a:p>
                  </a:txBody>
                  <a:tcPr>
                    <a:solidFill>
                      <a:srgbClr val="F7FAF7"/>
                    </a:solidFill>
                  </a:tcPr>
                </a:tc>
              </a:tr>
              <a:tr h="329184">
                <a:tc>
                  <a:txBody>
                    <a:bodyPr/>
                    <a:lstStyle/>
                    <a:p>
                      <a:r>
                        <a:rPr sz="1050">
                          <a:solidFill>
                            <a:srgbClr val="25342A"/>
                          </a:solidFill>
                        </a:rPr>
                        <a:t>Call-outs and repairs</a:t>
                      </a:r>
                    </a:p>
                  </a:txBody>
                  <a:tcPr>
                    <a:solidFill>
                      <a:srgbClr val="FFFFFF"/>
                    </a:solidFill>
                  </a:tcPr>
                </a:tc>
                <a:tc>
                  <a:txBody>
                    <a:bodyPr/>
                    <a:lstStyle/>
                    <a:p>
                      <a:pPr algn="r"/>
                      <a:r>
                        <a:rPr sz="1050">
                          <a:solidFill>
                            <a:srgbClr val="25342A"/>
                          </a:solidFill>
                        </a:rPr>
                        <a:t>$196,094</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$85,676</a:t>
                      </a:r>
                    </a:p>
                  </a:txBody>
                  <a:tcPr>
                    <a:solidFill>
                      <a:srgbClr val="FFFFFF"/>
                    </a:solidFill>
                  </a:tcPr>
                </a:tc>
                <a:tc>
                  <a:txBody>
                    <a:bodyPr/>
                    <a:lstStyle/>
                    <a:p>
                      <a:pPr algn="r"/>
                      <a:r>
                        <a:rPr sz="1050">
                          <a:solidFill>
                            <a:srgbClr val="25342A"/>
                          </a:solidFill>
                        </a:rPr>
                        <a:t>43.7%</a:t>
                      </a:r>
                    </a:p>
                  </a:txBody>
                  <a:tcPr>
                    <a:solidFill>
                      <a:srgbClr val="FFFFFF"/>
                    </a:solidFill>
                  </a:tcPr>
                </a:tc>
              </a:tr>
              <a:tr h="329184">
                <a:tc>
                  <a:txBody>
                    <a:bodyPr/>
                    <a:lstStyle/>
                    <a:p>
                      <a:r>
                        <a:rPr sz="1050" b="1">
                          <a:solidFill>
                            <a:srgbClr val="25342A"/>
                          </a:solidFill>
                        </a:rPr>
                        <a:t>Total</a:t>
                      </a:r>
                    </a:p>
                  </a:txBody>
                  <a:tcPr>
                    <a:solidFill>
                      <a:srgbClr val="F7FAF7"/>
                    </a:solidFill>
                  </a:tcPr>
                </a:tc>
                <a:tc>
                  <a:txBody>
                    <a:bodyPr/>
                    <a:lstStyle/>
                    <a:p>
                      <a:pPr algn="r"/>
                      <a:r>
                        <a:rPr sz="1050" b="1">
                          <a:solidFill>
                            <a:srgbClr val="25342A"/>
                          </a:solidFill>
                        </a:rPr>
                        <a:t>$1,254,094</a:t>
                      </a:r>
                    </a:p>
                  </a:txBody>
                  <a:tcPr>
                    <a:solidFill>
                      <a:srgbClr val="F7FAF7"/>
                    </a:solidFill>
                  </a:tcPr>
                </a:tc>
                <a:tc>
                  <a:txBody>
                    <a:bodyPr/>
                    <a:lstStyle/>
                    <a:p>
                      <a:pPr algn="r"/>
                      <a:r>
                        <a:rPr sz="1050" b="1">
                          <a:solidFill>
                            <a:srgbClr val="25342A"/>
                          </a:solidFill>
                        </a:rPr>
                        <a:t>–</a:t>
                      </a:r>
                    </a:p>
                  </a:txBody>
                  <a:tcPr>
                    <a:solidFill>
                      <a:srgbClr val="F7FAF7"/>
                    </a:solidFill>
                  </a:tcPr>
                </a:tc>
                <a:tc>
                  <a:txBody>
                    <a:bodyPr/>
                    <a:lstStyle/>
                    <a:p>
                      <a:pPr algn="r"/>
                      <a:r>
                        <a:rPr sz="1050" b="1">
                          <a:solidFill>
                            <a:srgbClr val="25342A"/>
                          </a:solidFill>
                        </a:rPr>
                        <a:t>–</a:t>
                      </a:r>
                    </a:p>
                  </a:txBody>
                  <a:tcPr>
                    <a:solidFill>
                      <a:srgbClr val="F7FAF7"/>
                    </a:solidFill>
                  </a:tcPr>
                </a:tc>
                <a:tc>
                  <a:txBody>
                    <a:bodyPr/>
                    <a:lstStyle/>
                    <a:p>
                      <a:pPr algn="r"/>
                      <a:r>
                        <a:rPr sz="1050" b="1">
                          <a:solidFill>
                            <a:srgbClr val="25342A"/>
                          </a:solidFill>
                        </a:rPr>
                        <a:t>$468,184</a:t>
                      </a:r>
                    </a:p>
                  </a:txBody>
                  <a:tcPr>
                    <a:solidFill>
                      <a:srgbClr val="F7FAF7"/>
                    </a:solidFill>
                  </a:tcPr>
                </a:tc>
                <a:tc>
                  <a:txBody>
                    <a:bodyPr/>
                    <a:lstStyle/>
                    <a:p>
                      <a:pPr algn="r"/>
                      <a:r>
                        <a:rPr sz="1050" b="1">
                          <a:solidFill>
                            <a:srgbClr val="25342A"/>
                          </a:solidFill>
                        </a:rPr>
                        <a:t>37.3%</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14 of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10820095" cy="365760"/>
          </a:xfrm>
          <a:prstGeom prst="rect">
            <a:avLst/>
          </a:prstGeom>
          <a:noFill/>
        </p:spPr>
        <p:txBody>
          <a:bodyPr wrap="square">
            <a:spAutoFit/>
          </a:bodyPr>
          <a:lstStyle/>
          <a:p>
            <a:r>
              <a:rPr sz="1100" b="1">
                <a:solidFill>
                  <a:srgbClr val="5F6F63"/>
                </a:solidFill>
                <a:latin typeface="Arial"/>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r>
              <a:rPr sz="1600" b="0">
                <a:solidFill>
                  <a:srgbClr val="25342A"/>
                </a:solidFill>
                <a:latin typeface="Arial"/>
              </a:rPr>
              <a:t>Gross margin is not profit. Gross margin = revenue less contractors and consultant time charged to the work at $60 an hour (wages and all on-costs). Not included: consultant time not charged to clients, and overheads (management and admin wages, marketing, rent, IT, insurance, travel,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15 of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From gross margin to profit · Services</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February's client work made $63,475 gross margin (63.4%). Consultant time not charged to client work took $5,270 and overheads $51,460, leaving $6,745 profit before tax (6.7% of revenue). To cover overheads, client work needs a 56.7%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txBody>
                  <a:tcPr>
                    <a:solidFill>
                      <a:srgbClr val="2F7A5D"/>
                    </a:solidFill>
                  </a:tcPr>
                </a:tc>
                <a:tc>
                  <a:txBody>
                    <a:bodyPr/>
                    <a:lstStyle/>
                    <a:p>
                      <a:pPr algn="r"/>
                      <a:r>
                        <a:rPr sz="1100" b="1">
                          <a:solidFill>
                            <a:srgbClr val="FFFFFF"/>
                          </a:solidFill>
                        </a:rPr>
                        <a:t>February 2026</a:t>
                      </a:r>
                    </a:p>
                  </a:txBody>
                  <a:tcPr>
                    <a:solidFill>
                      <a:srgbClr val="2F7A5D"/>
                    </a:solidFill>
                  </a:tcPr>
                </a:tc>
              </a:tr>
              <a:tr h="329184">
                <a:tc>
                  <a:txBody>
                    <a:bodyPr/>
                    <a:lstStyle/>
                    <a:p>
                      <a:r>
                        <a:rPr sz="1050">
                          <a:solidFill>
                            <a:srgbClr val="25342A"/>
                          </a:solidFill>
                        </a:rPr>
                        <a:t>Gross margin on client work</a:t>
                      </a:r>
                    </a:p>
                  </a:txBody>
                  <a:tcPr>
                    <a:solidFill>
                      <a:srgbClr val="FFFFFF"/>
                    </a:solidFill>
                  </a:tcPr>
                </a:tc>
                <a:tc>
                  <a:txBody>
                    <a:bodyPr/>
                    <a:lstStyle/>
                    <a:p>
                      <a:pPr algn="r"/>
                      <a:r>
                        <a:rPr sz="1050">
                          <a:solidFill>
                            <a:srgbClr val="25342A"/>
                          </a:solidFill>
                        </a:rPr>
                        <a:t>$63,475</a:t>
                      </a:r>
                    </a:p>
                  </a:txBody>
                  <a:tcPr>
                    <a:solidFill>
                      <a:srgbClr val="FFFFFF"/>
                    </a:solidFill>
                  </a:tcPr>
                </a:tc>
              </a:tr>
              <a:tr h="329184">
                <a:tc>
                  <a:txBody>
                    <a:bodyPr/>
                    <a:lstStyle/>
                    <a:p>
                      <a:r>
                        <a:rPr sz="1050">
                          <a:solidFill>
                            <a:srgbClr val="25342A"/>
                          </a:solidFill>
                        </a:rPr>
                        <a:t>Consultant wages and on-costs</a:t>
                      </a:r>
                    </a:p>
                  </a:txBody>
                  <a:tcPr>
                    <a:solidFill>
                      <a:srgbClr val="F7FAF7"/>
                    </a:solidFill>
                  </a:tcPr>
                </a:tc>
                <a:tc>
                  <a:txBody>
                    <a:bodyPr/>
                    <a:lstStyle/>
                    <a:p>
                      <a:pPr algn="r"/>
                      <a:r>
                        <a:rPr sz="1050">
                          <a:solidFill>
                            <a:srgbClr val="25342A"/>
                          </a:solidFill>
                        </a:rPr>
                        <a:t>$38,750</a:t>
                      </a:r>
                    </a:p>
                  </a:txBody>
                  <a:tcPr>
                    <a:solidFill>
                      <a:srgbClr val="F7FAF7"/>
                    </a:solidFill>
                  </a:tcPr>
                </a:tc>
              </a:tr>
              <a:tr h="329184">
                <a:tc>
                  <a:txBody>
                    <a:bodyPr/>
                    <a:lstStyle/>
                    <a:p>
                      <a:r>
                        <a:rPr sz="1050">
                          <a:solidFill>
                            <a:srgbClr val="25342A"/>
                          </a:solidFill>
                        </a:rPr>
                        <a:t>Consultant time charged to client work (at cost)</a:t>
                      </a:r>
                    </a:p>
                  </a:txBody>
                  <a:tcPr>
                    <a:solidFill>
                      <a:srgbClr val="FFFFFF"/>
                    </a:solidFill>
                  </a:tcPr>
                </a:tc>
                <a:tc>
                  <a:txBody>
                    <a:bodyPr/>
                    <a:lstStyle/>
                    <a:p>
                      <a:pPr algn="r"/>
                      <a:r>
                        <a:rPr sz="1050">
                          <a:solidFill>
                            <a:srgbClr val="25342A"/>
                          </a:solidFill>
                        </a:rPr>
                        <a:t>$33,480</a:t>
                      </a:r>
                    </a:p>
                  </a:txBody>
                  <a:tcPr>
                    <a:solidFill>
                      <a:srgbClr val="FFFFFF"/>
                    </a:solidFill>
                  </a:tcPr>
                </a:tc>
              </a:tr>
              <a:tr h="329184">
                <a:tc>
                  <a:txBody>
                    <a:bodyPr/>
                    <a:lstStyle/>
                    <a:p>
                      <a:r>
                        <a:rPr sz="1050">
                          <a:solidFill>
                            <a:srgbClr val="25342A"/>
                          </a:solidFill>
                        </a:rPr>
                        <a:t>Consultant time not charged to client work</a:t>
                      </a:r>
                    </a:p>
                  </a:txBody>
                  <a:tcPr>
                    <a:solidFill>
                      <a:srgbClr val="F7FAF7"/>
                    </a:solidFill>
                  </a:tcPr>
                </a:tc>
                <a:tc>
                  <a:txBody>
                    <a:bodyPr/>
                    <a:lstStyle/>
                    <a:p>
                      <a:pPr algn="r"/>
                      <a:r>
                        <a:rPr sz="1050">
                          <a:solidFill>
                            <a:srgbClr val="25342A"/>
                          </a:solidFill>
                        </a:rPr>
                        <a:t>$5,270</a:t>
                      </a:r>
                    </a:p>
                  </a:txBody>
                  <a:tcPr>
                    <a:solidFill>
                      <a:srgbClr val="F7FAF7"/>
                    </a:solidFill>
                  </a:tcPr>
                </a:tc>
              </a:tr>
              <a:tr h="329184">
                <a:tc>
                  <a:txBody>
                    <a:bodyPr/>
                    <a:lstStyle/>
                    <a:p>
                      <a:r>
                        <a:rPr sz="1050">
                          <a:solidFill>
                            <a:srgbClr val="25342A"/>
                          </a:solidFill>
                        </a:rPr>
                        <a:t>Gross profit (the P&amp;L)</a:t>
                      </a:r>
                    </a:p>
                  </a:txBody>
                  <a:tcPr>
                    <a:solidFill>
                      <a:srgbClr val="FFFFFF"/>
                    </a:solidFill>
                  </a:tcPr>
                </a:tc>
                <a:tc>
                  <a:txBody>
                    <a:bodyPr/>
                    <a:lstStyle/>
                    <a:p>
                      <a:pPr algn="r"/>
                      <a:r>
                        <a:rPr sz="1050">
                          <a:solidFill>
                            <a:srgbClr val="25342A"/>
                          </a:solidFill>
                        </a:rPr>
                        <a:t>$58,205</a:t>
                      </a:r>
                    </a:p>
                  </a:txBody>
                  <a:tcPr>
                    <a:solidFill>
                      <a:srgbClr val="FFFFFF"/>
                    </a:solidFill>
                  </a:tcPr>
                </a:tc>
              </a:tr>
              <a:tr h="329184">
                <a:tc>
                  <a:txBody>
                    <a:bodyPr/>
                    <a:lstStyle/>
                    <a:p>
                      <a:r>
                        <a:rPr sz="1050">
                          <a:solidFill>
                            <a:srgbClr val="25342A"/>
                          </a:solidFill>
                        </a:rPr>
                        <a:t>Overheads (operating expenses, depreciation, interest)</a:t>
                      </a:r>
                    </a:p>
                  </a:txBody>
                  <a:tcPr>
                    <a:solidFill>
                      <a:srgbClr val="F7FAF7"/>
                    </a:solidFill>
                  </a:tcPr>
                </a:tc>
                <a:tc>
                  <a:txBody>
                    <a:bodyPr/>
                    <a:lstStyle/>
                    <a:p>
                      <a:pPr algn="r"/>
                      <a:r>
                        <a:rPr sz="1050">
                          <a:solidFill>
                            <a:srgbClr val="25342A"/>
                          </a:solidFill>
                        </a:rPr>
                        <a:t>$51,460</a:t>
                      </a:r>
                    </a:p>
                  </a:txBody>
                  <a:tcPr>
                    <a:solidFill>
                      <a:srgbClr val="F7FAF7"/>
                    </a:solidFill>
                  </a:tcPr>
                </a:tc>
              </a:tr>
              <a:tr h="329184">
                <a:tc>
                  <a:txBody>
                    <a:bodyPr/>
                    <a:lstStyle/>
                    <a:p>
                      <a:r>
                        <a:rPr sz="1050">
                          <a:solidFill>
                            <a:srgbClr val="25342A"/>
                          </a:solidFill>
                        </a:rPr>
                        <a:t>Profit before tax (the P&amp;L)</a:t>
                      </a:r>
                    </a:p>
                  </a:txBody>
                  <a:tcPr>
                    <a:solidFill>
                      <a:srgbClr val="FFFFFF"/>
                    </a:solidFill>
                  </a:tcPr>
                </a:tc>
                <a:tc>
                  <a:txBody>
                    <a:bodyPr/>
                    <a:lstStyle/>
                    <a:p>
                      <a:pPr algn="r"/>
                      <a:r>
                        <a:rPr sz="1050">
                          <a:solidFill>
                            <a:srgbClr val="25342A"/>
                          </a:solidFill>
                        </a:rPr>
                        <a:t>$6,745</a:t>
                      </a:r>
                    </a:p>
                  </a:txBody>
                  <a:tcPr>
                    <a:solidFill>
                      <a:srgbClr val="FFFFFF"/>
                    </a:solidFill>
                  </a:tcPr>
                </a:tc>
              </a:tr>
              <a:tr h="329184">
                <a:tc>
                  <a:txBody>
                    <a:bodyPr/>
                    <a:lstStyle/>
                    <a:p>
                      <a:r>
                        <a:rPr sz="1050">
                          <a:solidFill>
                            <a:srgbClr val="25342A"/>
                          </a:solidFill>
                        </a:rPr>
                        <a:t>Revenue</a:t>
                      </a:r>
                    </a:p>
                  </a:txBody>
                  <a:tcPr>
                    <a:solidFill>
                      <a:srgbClr val="F7FAF7"/>
                    </a:solidFill>
                  </a:tcPr>
                </a:tc>
                <a:tc>
                  <a:txBody>
                    <a:bodyPr/>
                    <a:lstStyle/>
                    <a:p>
                      <a:pPr algn="r"/>
                      <a:r>
                        <a:rPr sz="1050">
                          <a:solidFill>
                            <a:srgbClr val="25342A"/>
                          </a:solidFill>
                        </a:rPr>
                        <a:t>$100,055</a:t>
                      </a:r>
                    </a:p>
                  </a:txBody>
                  <a:tcPr>
                    <a:solidFill>
                      <a:srgbClr val="F7FAF7"/>
                    </a:solidFill>
                  </a:tcPr>
                </a:tc>
              </a:tr>
              <a:tr h="329184">
                <a:tc>
                  <a:txBody>
                    <a:bodyPr/>
                    <a:lstStyle/>
                    <a:p>
                      <a:r>
                        <a:rPr sz="1050">
                          <a:solidFill>
                            <a:srgbClr val="25342A"/>
                          </a:solidFill>
                        </a:rPr>
                        <a:t>Gross margin on client work, %</a:t>
                      </a:r>
                    </a:p>
                  </a:txBody>
                  <a:tcPr>
                    <a:solidFill>
                      <a:srgbClr val="FFFFFF"/>
                    </a:solidFill>
                  </a:tcPr>
                </a:tc>
                <a:tc>
                  <a:txBody>
                    <a:bodyPr/>
                    <a:lstStyle/>
                    <a:p>
                      <a:pPr algn="r"/>
                      <a:r>
                        <a:rPr sz="1050">
                          <a:solidFill>
                            <a:srgbClr val="25342A"/>
                          </a:solidFill>
                        </a:rPr>
                        <a:t>63.4%</a:t>
                      </a:r>
                    </a:p>
                  </a:txBody>
                  <a:tcPr>
                    <a:solidFill>
                      <a:srgbClr val="FFFFFF"/>
                    </a:solidFill>
                  </a:tcPr>
                </a:tc>
              </a:tr>
              <a:tr h="329184">
                <a:tc>
                  <a:txBody>
                    <a:bodyPr/>
                    <a:lstStyle/>
                    <a:p>
                      <a:r>
                        <a:rPr sz="1050">
                          <a:solidFill>
                            <a:srgbClr val="25342A"/>
                          </a:solidFill>
                        </a:rPr>
                        <a:t>Profit before tax, % of revenue</a:t>
                      </a:r>
                    </a:p>
                  </a:txBody>
                  <a:tcPr>
                    <a:solidFill>
                      <a:srgbClr val="F7FAF7"/>
                    </a:solidFill>
                  </a:tcPr>
                </a:tc>
                <a:tc>
                  <a:txBody>
                    <a:bodyPr/>
                    <a:lstStyle/>
                    <a:p>
                      <a:pPr algn="r"/>
                      <a:r>
                        <a:rPr sz="1050">
                          <a:solidFill>
                            <a:srgbClr val="25342A"/>
                          </a:solidFill>
                        </a:rPr>
                        <a:t>6.7%</a:t>
                      </a:r>
                    </a:p>
                  </a:txBody>
                  <a:tcPr>
                    <a:solidFill>
                      <a:srgbClr val="F7FAF7"/>
                    </a:solidFill>
                  </a:tcPr>
                </a:tc>
              </a:tr>
              <a:tr h="329184">
                <a:tc>
                  <a:txBody>
                    <a:bodyPr/>
                    <a:lstStyle/>
                    <a:p>
                      <a:r>
                        <a:rPr sz="1050">
                          <a:solidFill>
                            <a:srgbClr val="25342A"/>
                          </a:solidFill>
                        </a:rPr>
                        <a:t>Gross margin client work need just to cover overheads and time not charged</a:t>
                      </a:r>
                    </a:p>
                  </a:txBody>
                  <a:tcPr>
                    <a:solidFill>
                      <a:srgbClr val="FFFFFF"/>
                    </a:solidFill>
                  </a:tcPr>
                </a:tc>
                <a:tc>
                  <a:txBody>
                    <a:bodyPr/>
                    <a:lstStyle/>
                    <a:p>
                      <a:pPr algn="r"/>
                      <a:r>
                        <a:rPr sz="1050">
                          <a:solidFill>
                            <a:srgbClr val="25342A"/>
                          </a:solidFill>
                        </a:rPr>
                        <a:t>56.7%</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16 of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Services · Type of work: All</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February against February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B42318"/>
                </a:solidFill>
                <a:latin typeface="Arial"/>
              </a:rPr>
              <a:t>(9.9%)</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$100,055 against $111,010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Feb 2026)</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$624,375</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64.0%</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$399,615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17 of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Services · Type of work: All</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Revenue is $624,375 this financial year to date (Jul to Feb 2026). Training makes the highest gross margin (74.8%); Projects the lowest (61.6%). The business needs 56.7%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Training: 74.8% gross margin, the most profitable work you do. Projects: 61.6% gross margin, the thinnest, still above the 56.7%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18 of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Services · Type of work: Projects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February against February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B42318"/>
                </a:solidFill>
                <a:latin typeface="Arial"/>
              </a:rPr>
              <a:t>(25.4%)</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$62,955 against $84,410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Feb 2026)</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$386,975</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61.6%</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$238,235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19 of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Services · Type of work: Projects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Projects brought in $386,975 this financial year to date, at a 61.6% gross margin (below the 64.0%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Projects: 61.6% gross margin, 4.9 points clear of the 56.7%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20 of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Services · Type of work: Retainers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February against February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2F7A5D"/>
                </a:solidFill>
                <a:latin typeface="Arial"/>
              </a:rPr>
              <a:t>88.7%</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$28,300 against $15,000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Feb 2026)</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$178,400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65.7%</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$117,260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21 of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Services · Type of work: Retainers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Retainers brought in $178,400 this financial year to date, at a 65.7% gross margin (above the 64.0%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Retainers: 65.7% gross margin, 9.0 points clear of the 56.7%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22 of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Headline numbers · Services · Type of work: Training</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3210458" cy="457200"/>
          </a:xfrm>
          <a:prstGeom prst="rect">
            <a:avLst/>
          </a:prstGeom>
          <a:noFill/>
        </p:spPr>
        <p:txBody>
          <a:bodyPr wrap="square">
            <a:spAutoFit/>
          </a:bodyPr>
          <a:lstStyle/>
          <a:p>
            <a:r>
              <a:rPr sz="1200" b="0">
                <a:solidFill>
                  <a:srgbClr val="5F6F63"/>
                </a:solidFill>
                <a:latin typeface="Arial"/>
              </a:rPr>
              <a:t>February against February last year</a:t>
            </a:r>
          </a:p>
        </p:txBody>
      </p:sp>
      <p:sp>
        <p:nvSpPr>
          <p:cNvPr id="7" name="TextBox 6"/>
          <p:cNvSpPr txBox="1"/>
          <p:nvPr/>
        </p:nvSpPr>
        <p:spPr>
          <a:xfrm>
            <a:off x="640080" y="2240280"/>
            <a:ext cx="3210458" cy="731520"/>
          </a:xfrm>
          <a:prstGeom prst="rect">
            <a:avLst/>
          </a:prstGeom>
          <a:noFill/>
        </p:spPr>
        <p:txBody>
          <a:bodyPr wrap="square">
            <a:spAutoFit/>
          </a:bodyPr>
          <a:lstStyle/>
          <a:p>
            <a:r>
              <a:rPr sz="3000" b="1">
                <a:solidFill>
                  <a:srgbClr val="B42318"/>
                </a:solidFill>
                <a:latin typeface="Arial"/>
              </a:rPr>
              <a:t>(24.1%)</a:t>
            </a:r>
          </a:p>
        </p:txBody>
      </p:sp>
      <p:sp>
        <p:nvSpPr>
          <p:cNvPr id="8" name="TextBox 7"/>
          <p:cNvSpPr txBox="1"/>
          <p:nvPr/>
        </p:nvSpPr>
        <p:spPr>
          <a:xfrm>
            <a:off x="640080" y="3017520"/>
            <a:ext cx="3210458" cy="548640"/>
          </a:xfrm>
          <a:prstGeom prst="rect">
            <a:avLst/>
          </a:prstGeom>
          <a:noFill/>
        </p:spPr>
        <p:txBody>
          <a:bodyPr wrap="square">
            <a:spAutoFit/>
          </a:bodyPr>
          <a:lstStyle/>
          <a:p>
            <a:r>
              <a:rPr sz="1100" b="0">
                <a:solidFill>
                  <a:srgbClr val="5F6F63"/>
                </a:solidFill>
                <a:latin typeface="Arial"/>
              </a:rPr>
              <a:t>$8,800 against $11,600</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0618" y="1783080"/>
            <a:ext cx="3210458" cy="457200"/>
          </a:xfrm>
          <a:prstGeom prst="rect">
            <a:avLst/>
          </a:prstGeom>
          <a:noFill/>
        </p:spPr>
        <p:txBody>
          <a:bodyPr wrap="square">
            <a:spAutoFit/>
          </a:bodyPr>
          <a:lstStyle/>
          <a:p>
            <a:r>
              <a:rPr sz="1200" b="0">
                <a:solidFill>
                  <a:srgbClr val="5F6F63"/>
                </a:solidFill>
                <a:latin typeface="Arial"/>
              </a:rPr>
              <a:t>Year to date (Jul to Feb 2026)</a:t>
            </a:r>
          </a:p>
        </p:txBody>
      </p:sp>
      <p:sp>
        <p:nvSpPr>
          <p:cNvPr id="11" name="TextBox 10"/>
          <p:cNvSpPr txBox="1"/>
          <p:nvPr/>
        </p:nvSpPr>
        <p:spPr>
          <a:xfrm>
            <a:off x="4490618" y="2240280"/>
            <a:ext cx="3210458" cy="731520"/>
          </a:xfrm>
          <a:prstGeom prst="rect">
            <a:avLst/>
          </a:prstGeom>
          <a:noFill/>
        </p:spPr>
        <p:txBody>
          <a:bodyPr wrap="square">
            <a:spAutoFit/>
          </a:bodyPr>
          <a:lstStyle/>
          <a:p>
            <a:r>
              <a:rPr sz="3000" b="1">
                <a:solidFill>
                  <a:srgbClr val="2F7A5D"/>
                </a:solidFill>
                <a:latin typeface="Arial"/>
              </a:rPr>
              <a:t>$59,000</a:t>
            </a:r>
          </a:p>
        </p:txBody>
      </p:sp>
      <p:sp>
        <p:nvSpPr>
          <p:cNvPr id="12" name="TextBox 11"/>
          <p:cNvSpPr txBox="1"/>
          <p:nvPr/>
        </p:nvSpPr>
        <p:spPr>
          <a:xfrm>
            <a:off x="4490618" y="3017520"/>
            <a:ext cx="3210458" cy="548640"/>
          </a:xfrm>
          <a:prstGeom prst="rect">
            <a:avLst/>
          </a:prstGeom>
          <a:noFill/>
        </p:spPr>
        <p:txBody>
          <a:bodyPr wrap="square">
            <a:spAutoFit/>
          </a:bodyPr>
          <a:lstStyle/>
          <a:p>
            <a:r>
              <a:rPr sz="1100" b="0">
                <a:solidFill>
                  <a:srgbClr val="5F6F63"/>
                </a:solidFill>
                <a:latin typeface="Arial"/>
              </a:rPr>
              <a:t>same period last year: not in the data</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1156" y="1783080"/>
            <a:ext cx="3210458" cy="457200"/>
          </a:xfrm>
          <a:prstGeom prst="rect">
            <a:avLst/>
          </a:prstGeom>
          <a:noFill/>
        </p:spPr>
        <p:txBody>
          <a:bodyPr wrap="square">
            <a:spAutoFit/>
          </a:bodyPr>
          <a:lstStyle/>
          <a:p>
            <a:r>
              <a:rPr sz="1200" b="0">
                <a:solidFill>
                  <a:srgbClr val="5F6F63"/>
                </a:solidFill>
                <a:latin typeface="Arial"/>
              </a:rPr>
              <a:t>Gross margin, year to date</a:t>
            </a:r>
          </a:p>
        </p:txBody>
      </p:sp>
      <p:sp>
        <p:nvSpPr>
          <p:cNvPr id="15" name="TextBox 14"/>
          <p:cNvSpPr txBox="1"/>
          <p:nvPr/>
        </p:nvSpPr>
        <p:spPr>
          <a:xfrm>
            <a:off x="8341156" y="2240280"/>
            <a:ext cx="3210458" cy="731520"/>
          </a:xfrm>
          <a:prstGeom prst="rect">
            <a:avLst/>
          </a:prstGeom>
          <a:noFill/>
        </p:spPr>
        <p:txBody>
          <a:bodyPr wrap="square">
            <a:spAutoFit/>
          </a:bodyPr>
          <a:lstStyle/>
          <a:p>
            <a:r>
              <a:rPr sz="3000" b="1">
                <a:solidFill>
                  <a:srgbClr val="2F7A5D"/>
                </a:solidFill>
                <a:latin typeface="Arial"/>
              </a:rPr>
              <a:t>74.8%</a:t>
            </a:r>
          </a:p>
        </p:txBody>
      </p:sp>
      <p:sp>
        <p:nvSpPr>
          <p:cNvPr id="16" name="TextBox 15"/>
          <p:cNvSpPr txBox="1"/>
          <p:nvPr/>
        </p:nvSpPr>
        <p:spPr>
          <a:xfrm>
            <a:off x="8341156" y="3017520"/>
            <a:ext cx="3210458" cy="548640"/>
          </a:xfrm>
          <a:prstGeom prst="rect">
            <a:avLst/>
          </a:prstGeom>
          <a:noFill/>
        </p:spPr>
        <p:txBody>
          <a:bodyPr wrap="square">
            <a:spAutoFit/>
          </a:bodyPr>
          <a:lstStyle/>
          <a:p>
            <a:r>
              <a:rPr sz="1100" b="0">
                <a:solidFill>
                  <a:srgbClr val="5F6F63"/>
                </a:solidFill>
                <a:latin typeface="Arial"/>
              </a:rPr>
              <a:t>$44,120 before overheads</a:t>
            </a:r>
          </a:p>
        </p:txBody>
      </p:sp>
      <p:sp>
        <p:nvSpPr>
          <p:cNvPr id="17" name="TextBox 1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23 of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What it shows · Services · Type of work: Training</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5044287" cy="365760"/>
          </a:xfrm>
          <a:prstGeom prst="rect">
            <a:avLst/>
          </a:prstGeom>
          <a:noFill/>
        </p:spPr>
        <p:txBody>
          <a:bodyPr wrap="square">
            <a:spAutoFit/>
          </a:bodyPr>
          <a:lstStyle/>
          <a:p>
            <a:r>
              <a:rPr sz="1100" b="1">
                <a:solidFill>
                  <a:srgbClr val="5F6F63"/>
                </a:solidFill>
                <a:latin typeface="Arial"/>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r>
              <a:rPr sz="1600" b="0">
                <a:solidFill>
                  <a:srgbClr val="25342A"/>
                </a:solidFill>
                <a:latin typeface="Arial"/>
              </a:rPr>
              <a:t>Training brought in $59,000 this financial year to date, at a 74.8% gross margin (above the 64.0% overall).</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1607" y="1691640"/>
            <a:ext cx="5044287" cy="365760"/>
          </a:xfrm>
          <a:prstGeom prst="rect">
            <a:avLst/>
          </a:prstGeom>
          <a:noFill/>
        </p:spPr>
        <p:txBody>
          <a:bodyPr wrap="square">
            <a:spAutoFit/>
          </a:bodyPr>
          <a:lstStyle/>
          <a:p>
            <a:r>
              <a:rPr sz="1100" b="1">
                <a:solidFill>
                  <a:srgbClr val="5F6F63"/>
                </a:solidFill>
                <a:latin typeface="Arial"/>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r>
              <a:rPr sz="1600" b="0">
                <a:solidFill>
                  <a:srgbClr val="25342A"/>
                </a:solidFill>
                <a:latin typeface="Arial"/>
              </a:rPr>
              <a:t>Training: 74.8% gross margin, 18.1 points clear of the 56.7%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24 of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Revenue, gross margin and growth by type of work, by month · Revenue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25 of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Revenue, gross margin and growth by type of work, by month · Gross margin % · Services · Every type of work at once</a:t>
            </a:r>
          </a:p>
        </p:txBody>
      </p:sp>
      <p:sp>
        <p:nvSpPr>
          <p:cNvPr id="5" name="TextBox 4"/>
          <p:cNvSpPr txBox="1"/>
          <p:nvPr/>
        </p:nvSpPr>
        <p:spPr>
          <a:xfrm>
            <a:off x="457200" y="960120"/>
            <a:ext cx="11247120" cy="457200"/>
          </a:xfrm>
          <a:prstGeom prst="rect">
            <a:avLst/>
          </a:prstGeom>
          <a:noFill/>
        </p:spPr>
        <p:txBody>
          <a:bodyPr wrap="square">
            <a:spAutoFit/>
          </a:bodyPr>
          <a:lstStyle/>
          <a:p>
            <a:r>
              <a:rPr sz="1200" b="0">
                <a:solidFill>
                  <a:srgbClr val="5F6F63"/>
                </a:solidFill>
                <a:latin typeface="Arial"/>
              </a:rPr>
              <a:t>Gross margin = revenue less direct cost (materials, subcontractors and time at cost for trades; contractors and consultant time for services), before overheads. Growth is year on year: each month against the same month a year earlier.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26 of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7315200" cy="274320"/>
          </a:xfrm>
          <a:prstGeom prst="rect">
            <a:avLst/>
          </a:prstGeom>
          <a:noFill/>
        </p:spPr>
        <p:txBody>
          <a:bodyPr wrap="square">
            <a:spAutoFit/>
          </a:bodyPr>
          <a:lstStyle/>
          <a:p>
            <a:r>
              <a:rPr sz="1000" b="0">
                <a:solidFill>
                  <a:srgbClr val="5F6F63"/>
                </a:solidFill>
                <a:latin typeface="Arial"/>
              </a:rPr>
              <a:t>SME sample businesses · Which products and services are growing?</a:t>
            </a:r>
          </a:p>
        </p:txBody>
      </p:sp>
      <p:sp>
        <p:nvSpPr>
          <p:cNvPr id="4" name="TextBox 3"/>
          <p:cNvSpPr txBox="1"/>
          <p:nvPr/>
        </p:nvSpPr>
        <p:spPr>
          <a:xfrm>
            <a:off x="457200" y="411480"/>
            <a:ext cx="11247120" cy="548640"/>
          </a:xfrm>
          <a:prstGeom prst="rect">
            <a:avLst/>
          </a:prstGeom>
          <a:noFill/>
        </p:spPr>
        <p:txBody>
          <a:bodyPr wrap="square">
            <a:spAutoFit/>
          </a:bodyPr>
          <a:lstStyle/>
          <a:p>
            <a:r>
              <a:rPr sz="2400" b="1">
                <a:solidFill>
                  <a:srgbClr val="25342A"/>
                </a:solidFill>
                <a:latin typeface="Arial"/>
              </a:rPr>
              <a:t>By type of work: financial year to date (Jul to Feb 2026) against the same period last year · Services · Every type of work at once</a:t>
            </a:r>
          </a:p>
        </p:txBody>
      </p:sp>
      <p:graphicFrame>
        <p:nvGraphicFramePr>
          <p:cNvPr id="5" name="Table 4"/>
          <p:cNvGraphicFramePr>
            <a:graphicFrameLocks noGrp="1"/>
          </p:cNvGraphicFramePr>
          <p:nvPr/>
        </p:nvGraphicFramePr>
        <p:xfrm>
          <a:off x="457200" y="1188720"/>
          <a:ext cx="11247120" cy="164592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329184">
                <a:tc>
                  <a:txBody>
                    <a:bodyPr/>
                    <a:lstStyle/>
                    <a:p/>
                  </a:txBody>
                  <a:tcPr>
                    <a:solidFill>
                      <a:srgbClr val="2F7A5D"/>
                    </a:solidFill>
                  </a:tcPr>
                </a:tc>
                <a:tc>
                  <a:txBody>
                    <a:bodyPr/>
                    <a:lstStyle/>
                    <a:p>
                      <a:pPr algn="r"/>
                      <a:r>
                        <a:rPr sz="1100" b="1">
                          <a:solidFill>
                            <a:srgbClr val="FFFFFF"/>
                          </a:solidFill>
                        </a:rPr>
                        <a:t>Year to date</a:t>
                      </a:r>
                    </a:p>
                  </a:txBody>
                  <a:tcPr>
                    <a:solidFill>
                      <a:srgbClr val="2F7A5D"/>
                    </a:solidFill>
                  </a:tcPr>
                </a:tc>
                <a:tc>
                  <a:txBody>
                    <a:bodyPr/>
                    <a:lstStyle/>
                    <a:p>
                      <a:pPr algn="r"/>
                      <a:r>
                        <a:rPr sz="1100" b="1">
                          <a:solidFill>
                            <a:srgbClr val="FFFFFF"/>
                          </a:solidFill>
                        </a:rPr>
                        <a:t>Same period last year</a:t>
                      </a:r>
                    </a:p>
                  </a:txBody>
                  <a:tcPr>
                    <a:solidFill>
                      <a:srgbClr val="2F7A5D"/>
                    </a:solidFill>
                  </a:tcPr>
                </a:tc>
                <a:tc>
                  <a:txBody>
                    <a:bodyPr/>
                    <a:lstStyle/>
                    <a:p>
                      <a:pPr algn="r"/>
                      <a:r>
                        <a:rPr sz="1100" b="1">
                          <a:solidFill>
                            <a:srgbClr val="FFFFFF"/>
                          </a:solidFill>
                        </a:rPr>
                        <a:t>Growth</a:t>
                      </a:r>
                    </a:p>
                  </a:txBody>
                  <a:tcPr>
                    <a:solidFill>
                      <a:srgbClr val="2F7A5D"/>
                    </a:solidFill>
                  </a:tcPr>
                </a:tc>
                <a:tc>
                  <a:txBody>
                    <a:bodyPr/>
                    <a:lstStyle/>
                    <a:p>
                      <a:pPr algn="r"/>
                      <a:r>
                        <a:rPr sz="1100" b="1">
                          <a:solidFill>
                            <a:srgbClr val="FFFFFF"/>
                          </a:solidFill>
                        </a:rPr>
                        <a:t>Gross margin $</a:t>
                      </a:r>
                    </a:p>
                  </a:txBody>
                  <a:tcPr>
                    <a:solidFill>
                      <a:srgbClr val="2F7A5D"/>
                    </a:solidFill>
                  </a:tcPr>
                </a:tc>
                <a:tc>
                  <a:txBody>
                    <a:bodyPr/>
                    <a:lstStyle/>
                    <a:p>
                      <a:pPr algn="r"/>
                      <a:r>
                        <a:rPr sz="1100" b="1">
                          <a:solidFill>
                            <a:srgbClr val="FFFFFF"/>
                          </a:solidFill>
                        </a:rPr>
                        <a:t>Gross margin %</a:t>
                      </a:r>
                    </a:p>
                  </a:txBody>
                  <a:tcPr>
                    <a:solidFill>
                      <a:srgbClr val="2F7A5D"/>
                    </a:solidFill>
                  </a:tcPr>
                </a:tc>
              </a:tr>
              <a:tr h="329184">
                <a:tc>
                  <a:txBody>
                    <a:bodyPr/>
                    <a:lstStyle/>
                    <a:p>
                      <a:r>
                        <a:rPr sz="1050">
                          <a:solidFill>
                            <a:srgbClr val="25342A"/>
                          </a:solidFill>
                        </a:rPr>
                        <a:t>Projects</a:t>
                      </a:r>
                    </a:p>
                  </a:txBody>
                  <a:tcPr>
                    <a:solidFill>
                      <a:srgbClr val="FFFFFF"/>
                    </a:solidFill>
                  </a:tcPr>
                </a:tc>
                <a:tc>
                  <a:txBody>
                    <a:bodyPr/>
                    <a:lstStyle/>
                    <a:p>
                      <a:pPr algn="r"/>
                      <a:r>
                        <a:rPr sz="1050">
                          <a:solidFill>
                            <a:srgbClr val="25342A"/>
                          </a:solidFill>
                        </a:rPr>
                        <a:t>$386,975</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$238,235</a:t>
                      </a:r>
                    </a:p>
                  </a:txBody>
                  <a:tcPr>
                    <a:solidFill>
                      <a:srgbClr val="FFFFFF"/>
                    </a:solidFill>
                  </a:tcPr>
                </a:tc>
                <a:tc>
                  <a:txBody>
                    <a:bodyPr/>
                    <a:lstStyle/>
                    <a:p>
                      <a:pPr algn="r"/>
                      <a:r>
                        <a:rPr sz="1050">
                          <a:solidFill>
                            <a:srgbClr val="25342A"/>
                          </a:solidFill>
                        </a:rPr>
                        <a:t>61.6%</a:t>
                      </a:r>
                    </a:p>
                  </a:txBody>
                  <a:tcPr>
                    <a:solidFill>
                      <a:srgbClr val="FFFFFF"/>
                    </a:solidFill>
                  </a:tcPr>
                </a:tc>
              </a:tr>
              <a:tr h="329184">
                <a:tc>
                  <a:txBody>
                    <a:bodyPr/>
                    <a:lstStyle/>
                    <a:p>
                      <a:r>
                        <a:rPr sz="1050">
                          <a:solidFill>
                            <a:srgbClr val="25342A"/>
                          </a:solidFill>
                        </a:rPr>
                        <a:t>Retainers</a:t>
                      </a:r>
                    </a:p>
                  </a:txBody>
                  <a:tcPr>
                    <a:solidFill>
                      <a:srgbClr val="F7FAF7"/>
                    </a:solidFill>
                  </a:tcPr>
                </a:tc>
                <a:tc>
                  <a:txBody>
                    <a:bodyPr/>
                    <a:lstStyle/>
                    <a:p>
                      <a:pPr algn="r"/>
                      <a:r>
                        <a:rPr sz="1050">
                          <a:solidFill>
                            <a:srgbClr val="25342A"/>
                          </a:solidFill>
                        </a:rPr>
                        <a:t>$178,400</a:t>
                      </a:r>
                    </a:p>
                  </a:txBody>
                  <a:tcPr>
                    <a:solidFill>
                      <a:srgbClr val="F7FAF7"/>
                    </a:solidFill>
                  </a:tcPr>
                </a:tc>
                <a:tc>
                  <a:txBody>
                    <a:bodyPr/>
                    <a:lstStyle/>
                    <a:p>
                      <a:pPr algn="r"/>
                      <a:r>
                        <a:rPr sz="1050">
                          <a:solidFill>
                            <a:srgbClr val="25342A"/>
                          </a:solidFill>
                        </a:rPr>
                        <a:t>–</a:t>
                      </a:r>
                    </a:p>
                  </a:txBody>
                  <a:tcPr>
                    <a:solidFill>
                      <a:srgbClr val="F7FAF7"/>
                    </a:solidFill>
                  </a:tcPr>
                </a:tc>
                <a:tc>
                  <a:txBody>
                    <a:bodyPr/>
                    <a:lstStyle/>
                    <a:p>
                      <a:pPr algn="r"/>
                      <a:r>
                        <a:rPr sz="1050">
                          <a:solidFill>
                            <a:srgbClr val="25342A"/>
                          </a:solidFill>
                        </a:rPr>
                        <a:t>–</a:t>
                      </a:r>
                    </a:p>
                  </a:txBody>
                  <a:tcPr>
                    <a:solidFill>
                      <a:srgbClr val="F7FAF7"/>
                    </a:solidFill>
                  </a:tcPr>
                </a:tc>
                <a:tc>
                  <a:txBody>
                    <a:bodyPr/>
                    <a:lstStyle/>
                    <a:p>
                      <a:pPr algn="r"/>
                      <a:r>
                        <a:rPr sz="1050">
                          <a:solidFill>
                            <a:srgbClr val="25342A"/>
                          </a:solidFill>
                        </a:rPr>
                        <a:t>$117,260</a:t>
                      </a:r>
                    </a:p>
                  </a:txBody>
                  <a:tcPr>
                    <a:solidFill>
                      <a:srgbClr val="F7FAF7"/>
                    </a:solidFill>
                  </a:tcPr>
                </a:tc>
                <a:tc>
                  <a:txBody>
                    <a:bodyPr/>
                    <a:lstStyle/>
                    <a:p>
                      <a:pPr algn="r"/>
                      <a:r>
                        <a:rPr sz="1050">
                          <a:solidFill>
                            <a:srgbClr val="25342A"/>
                          </a:solidFill>
                        </a:rPr>
                        <a:t>65.7%</a:t>
                      </a:r>
                    </a:p>
                  </a:txBody>
                  <a:tcPr>
                    <a:solidFill>
                      <a:srgbClr val="F7FAF7"/>
                    </a:solidFill>
                  </a:tcPr>
                </a:tc>
              </a:tr>
              <a:tr h="329184">
                <a:tc>
                  <a:txBody>
                    <a:bodyPr/>
                    <a:lstStyle/>
                    <a:p>
                      <a:r>
                        <a:rPr sz="1050">
                          <a:solidFill>
                            <a:srgbClr val="25342A"/>
                          </a:solidFill>
                        </a:rPr>
                        <a:t>Training</a:t>
                      </a:r>
                    </a:p>
                  </a:txBody>
                  <a:tcPr>
                    <a:solidFill>
                      <a:srgbClr val="FFFFFF"/>
                    </a:solidFill>
                  </a:tcPr>
                </a:tc>
                <a:tc>
                  <a:txBody>
                    <a:bodyPr/>
                    <a:lstStyle/>
                    <a:p>
                      <a:pPr algn="r"/>
                      <a:r>
                        <a:rPr sz="1050">
                          <a:solidFill>
                            <a:srgbClr val="25342A"/>
                          </a:solidFill>
                        </a:rPr>
                        <a:t>$59,000</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a:t>
                      </a:r>
                    </a:p>
                  </a:txBody>
                  <a:tcPr>
                    <a:solidFill>
                      <a:srgbClr val="FFFFFF"/>
                    </a:solidFill>
                  </a:tcPr>
                </a:tc>
                <a:tc>
                  <a:txBody>
                    <a:bodyPr/>
                    <a:lstStyle/>
                    <a:p>
                      <a:pPr algn="r"/>
                      <a:r>
                        <a:rPr sz="1050">
                          <a:solidFill>
                            <a:srgbClr val="25342A"/>
                          </a:solidFill>
                        </a:rPr>
                        <a:t>$44,120</a:t>
                      </a:r>
                    </a:p>
                  </a:txBody>
                  <a:tcPr>
                    <a:solidFill>
                      <a:srgbClr val="FFFFFF"/>
                    </a:solidFill>
                  </a:tcPr>
                </a:tc>
                <a:tc>
                  <a:txBody>
                    <a:bodyPr/>
                    <a:lstStyle/>
                    <a:p>
                      <a:pPr algn="r"/>
                      <a:r>
                        <a:rPr sz="1050">
                          <a:solidFill>
                            <a:srgbClr val="25342A"/>
                          </a:solidFill>
                        </a:rPr>
                        <a:t>74.8%</a:t>
                      </a:r>
                    </a:p>
                  </a:txBody>
                  <a:tcPr>
                    <a:solidFill>
                      <a:srgbClr val="FFFFFF"/>
                    </a:solidFill>
                  </a:tcPr>
                </a:tc>
              </a:tr>
              <a:tr h="329184">
                <a:tc>
                  <a:txBody>
                    <a:bodyPr/>
                    <a:lstStyle/>
                    <a:p>
                      <a:r>
                        <a:rPr sz="1050" b="1">
                          <a:solidFill>
                            <a:srgbClr val="25342A"/>
                          </a:solidFill>
                        </a:rPr>
                        <a:t>Total</a:t>
                      </a:r>
                    </a:p>
                  </a:txBody>
                  <a:tcPr>
                    <a:solidFill>
                      <a:srgbClr val="F7FAF7"/>
                    </a:solidFill>
                  </a:tcPr>
                </a:tc>
                <a:tc>
                  <a:txBody>
                    <a:bodyPr/>
                    <a:lstStyle/>
                    <a:p>
                      <a:pPr algn="r"/>
                      <a:r>
                        <a:rPr sz="1050" b="1">
                          <a:solidFill>
                            <a:srgbClr val="25342A"/>
                          </a:solidFill>
                        </a:rPr>
                        <a:t>$624,375</a:t>
                      </a:r>
                    </a:p>
                  </a:txBody>
                  <a:tcPr>
                    <a:solidFill>
                      <a:srgbClr val="F7FAF7"/>
                    </a:solidFill>
                  </a:tcPr>
                </a:tc>
                <a:tc>
                  <a:txBody>
                    <a:bodyPr/>
                    <a:lstStyle/>
                    <a:p>
                      <a:pPr algn="r"/>
                      <a:r>
                        <a:rPr sz="1050" b="1">
                          <a:solidFill>
                            <a:srgbClr val="25342A"/>
                          </a:solidFill>
                        </a:rPr>
                        <a:t>–</a:t>
                      </a:r>
                    </a:p>
                  </a:txBody>
                  <a:tcPr>
                    <a:solidFill>
                      <a:srgbClr val="F7FAF7"/>
                    </a:solidFill>
                  </a:tcPr>
                </a:tc>
                <a:tc>
                  <a:txBody>
                    <a:bodyPr/>
                    <a:lstStyle/>
                    <a:p>
                      <a:pPr algn="r"/>
                      <a:r>
                        <a:rPr sz="1050" b="1">
                          <a:solidFill>
                            <a:srgbClr val="25342A"/>
                          </a:solidFill>
                        </a:rPr>
                        <a:t>–</a:t>
                      </a:r>
                    </a:p>
                  </a:txBody>
                  <a:tcPr>
                    <a:solidFill>
                      <a:srgbClr val="F7FAF7"/>
                    </a:solidFill>
                  </a:tcPr>
                </a:tc>
                <a:tc>
                  <a:txBody>
                    <a:bodyPr/>
                    <a:lstStyle/>
                    <a:p>
                      <a:pPr algn="r"/>
                      <a:r>
                        <a:rPr sz="1050" b="1">
                          <a:solidFill>
                            <a:srgbClr val="25342A"/>
                          </a:solidFill>
                        </a:rPr>
                        <a:t>$399,615</a:t>
                      </a:r>
                    </a:p>
                  </a:txBody>
                  <a:tcPr>
                    <a:solidFill>
                      <a:srgbClr val="F7FAF7"/>
                    </a:solidFill>
                  </a:tcPr>
                </a:tc>
                <a:tc>
                  <a:txBody>
                    <a:bodyPr/>
                    <a:lstStyle/>
                    <a:p>
                      <a:pPr algn="r"/>
                      <a:r>
                        <a:rPr sz="1050" b="1">
                          <a:solidFill>
                            <a:srgbClr val="25342A"/>
                          </a:solidFill>
                        </a:rPr>
                        <a:t>64.0%</a:t>
                      </a:r>
                    </a:p>
                  </a:txBody>
                  <a:tcPr>
                    <a:solidFill>
                      <a:srgbClr val="F7FAF7"/>
                    </a:solidFill>
                  </a:tcPr>
                </a:tc>
              </a:tr>
            </a:tbl>
          </a:graphicData>
        </a:graphic>
      </p:graphicFrame>
      <p:sp>
        <p:nvSpPr>
          <p:cNvPr id="6" name="TextBox 5"/>
          <p:cNvSpPr txBox="1"/>
          <p:nvPr/>
        </p:nvSpPr>
        <p:spPr>
          <a:xfrm>
            <a:off x="457200" y="6492240"/>
            <a:ext cx="3657600" cy="274320"/>
          </a:xfrm>
          <a:prstGeom prst="rect">
            <a:avLst/>
          </a:prstGeom>
          <a:noFill/>
        </p:spPr>
        <p:txBody>
          <a:bodyPr wrap="square">
            <a:spAutoFit/>
          </a:bodyPr>
          <a:lstStyle/>
          <a:p>
            <a:r>
              <a:rPr sz="900" b="0">
                <a:solidFill>
                  <a:srgbClr val="5F6F63"/>
                </a:solidFill>
                <a:latin typeface="Arial"/>
              </a:rPr>
              <a:t>growth.pptx</a:t>
            </a:r>
          </a:p>
        </p:txBody>
      </p:sp>
      <p:sp>
        <p:nvSpPr>
          <p:cNvPr id="7" name="TextBox 6"/>
          <p:cNvSpPr txBox="1"/>
          <p:nvPr/>
        </p:nvSpPr>
        <p:spPr>
          <a:xfrm>
            <a:off x="4297680" y="6492240"/>
            <a:ext cx="3657600" cy="274320"/>
          </a:xfrm>
          <a:prstGeom prst="rect">
            <a:avLst/>
          </a:prstGeom>
          <a:noFill/>
        </p:spPr>
        <p:txBody>
          <a:bodyPr wrap="square">
            <a:spAutoFit/>
          </a:bodyPr>
          <a:lstStyle/>
          <a:p>
            <a:pPr algn="ctr"/>
            <a:r>
              <a:rPr sz="900" b="0">
                <a:solidFill>
                  <a:srgbClr val="5F6F63"/>
                </a:solidFill>
                <a:latin typeface="Arial"/>
              </a:rPr>
              <a:t>Data retrieved 2pm, Tue 6 Oct 2026 · Sample data</a:t>
            </a:r>
          </a:p>
        </p:txBody>
      </p:sp>
      <p:sp>
        <p:nvSpPr>
          <p:cNvPr id="8" name="TextBox 7"/>
          <p:cNvSpPr txBox="1"/>
          <p:nvPr/>
        </p:nvSpPr>
        <p:spPr>
          <a:xfrm>
            <a:off x="8503920" y="6492240"/>
            <a:ext cx="3200400" cy="274320"/>
          </a:xfrm>
          <a:prstGeom prst="rect">
            <a:avLst/>
          </a:prstGeom>
          <a:noFill/>
        </p:spPr>
        <p:txBody>
          <a:bodyPr wrap="square">
            <a:spAutoFit/>
          </a:bodyPr>
          <a:lstStyle/>
          <a:p>
            <a:pPr algn="r"/>
            <a:r>
              <a:rPr sz="900" b="0">
                <a:solidFill>
                  <a:srgbClr val="5F6F63"/>
                </a:solidFill>
                <a:latin typeface="Arial"/>
              </a:rPr>
              <a:t>Slide 27 of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