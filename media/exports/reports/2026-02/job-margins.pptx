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0.0"%";[Red](0.0"%")</c:formatCode>
                <c:ptCount val="3"/>
                <c:pt idx="0">
                  <c:v>31.2</c:v>
                </c:pt>
                <c:pt idx="1">
                  <c:v>43.8</c:v>
                </c:pt>
                <c:pt idx="2">
                  <c:v>59.6</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0E9F6E"/>
              </a:solidFill>
            </c:spPr>
          </c:dPt>
          <c:dPt>
            <c:idx val="2"/>
            <c:spPr>
              <a:solidFill>
                <a:srgbClr val="0E9F6E"/>
              </a:solidFill>
            </c:spPr>
          </c:dPt>
          <c:cat>
            <c:strRef>
              <c:f>Sheet1!$A$2:$A$4</c:f>
              <c:strCache>
                <c:ptCount val="3"/>
                <c:pt idx="0">
                  <c:v>Installations</c:v>
                </c:pt>
                <c:pt idx="1">
                  <c:v>Call-outs and repairs</c:v>
                </c:pt>
                <c:pt idx="2">
                  <c:v>Maintenance contracts</c:v>
                </c:pt>
              </c:strCache>
            </c:strRef>
          </c:cat>
          <c:val>
            <c:numRef>
              <c:f>Sheet1!$B$2:$B$4</c:f>
              <c:numCache>
                <c:formatCode>$#,##0;[Red]($#,##0);"-"</c:formatCode>
                <c:ptCount val="3"/>
                <c:pt idx="0">
                  <c:v>40404</c:v>
                </c:pt>
                <c:pt idx="1">
                  <c:v>12964</c:v>
                </c:pt>
                <c:pt idx="2">
                  <c:v>22342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cat>
            <c:strRef>
              <c:f>Sheet1!$A$2:$A$14</c:f>
              <c:strCache>
                <c:ptCount val="13"/>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pt idx="12">
                  <c:v>Carindale vet clinic</c:v>
                </c:pt>
              </c:strCache>
            </c:strRef>
          </c:cat>
          <c:val>
            <c:numRef>
              <c:f>Sheet1!$B$2:$B$14</c:f>
              <c:numCache>
                <c:formatCode>0.0"%";[Red](0.0"%")</c:formatCode>
                <c:ptCount val="13"/>
                <c:pt idx="0">
                  <c:v>58.2</c:v>
                </c:pt>
                <c:pt idx="1">
                  <c:v>58.8</c:v>
                </c:pt>
                <c:pt idx="2">
                  <c:v>58.8</c:v>
                </c:pt>
                <c:pt idx="3">
                  <c:v>59.0</c:v>
                </c:pt>
                <c:pt idx="4">
                  <c:v>59.0</c:v>
                </c:pt>
                <c:pt idx="5">
                  <c:v>59.4</c:v>
                </c:pt>
                <c:pt idx="6">
                  <c:v>59.9</c:v>
                </c:pt>
                <c:pt idx="7">
                  <c:v>59.9</c:v>
                </c:pt>
                <c:pt idx="8">
                  <c:v>59.9</c:v>
                </c:pt>
                <c:pt idx="9">
                  <c:v>60.0</c:v>
                </c:pt>
                <c:pt idx="10">
                  <c:v>60.0</c:v>
                </c:pt>
                <c:pt idx="11">
                  <c:v>61.1</c:v>
                </c:pt>
                <c:pt idx="12">
                  <c:v>62.2</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dPt>
            <c:idx val="6"/>
            <c:spPr>
              <a:solidFill>
                <a:srgbClr val="0E9F6E"/>
              </a:solidFill>
            </c:spPr>
          </c:dPt>
          <c:dPt>
            <c:idx val="7"/>
            <c:spPr>
              <a:solidFill>
                <a:srgbClr val="0E9F6E"/>
              </a:solidFill>
            </c:spPr>
          </c:dPt>
          <c:dPt>
            <c:idx val="8"/>
            <c:spPr>
              <a:solidFill>
                <a:srgbClr val="0E9F6E"/>
              </a:solidFill>
            </c:spPr>
          </c:dPt>
          <c:dPt>
            <c:idx val="9"/>
            <c:spPr>
              <a:solidFill>
                <a:srgbClr val="0E9F6E"/>
              </a:solidFill>
            </c:spPr>
          </c:dPt>
          <c:dPt>
            <c:idx val="10"/>
            <c:spPr>
              <a:solidFill>
                <a:srgbClr val="0E9F6E"/>
              </a:solidFill>
            </c:spPr>
          </c:dPt>
          <c:dPt>
            <c:idx val="11"/>
            <c:spPr>
              <a:solidFill>
                <a:srgbClr val="0E9F6E"/>
              </a:solidFill>
            </c:spPr>
          </c:dPt>
          <c:dPt>
            <c:idx val="12"/>
            <c:spPr>
              <a:solidFill>
                <a:srgbClr val="0E9F6E"/>
              </a:solidFill>
            </c:spPr>
          </c:dPt>
          <c:cat>
            <c:strRef>
              <c:f>Sheet1!$A$2:$A$14</c:f>
              <c:strCache>
                <c:ptCount val="13"/>
                <c:pt idx="0">
                  <c:v>Kangaroo Point townhouses</c:v>
                </c:pt>
                <c:pt idx="1">
                  <c:v>West End brewery</c:v>
                </c:pt>
                <c:pt idx="2">
                  <c:v>Rocklea factory</c:v>
                </c:pt>
                <c:pt idx="3">
                  <c:v>Milton office tower</c:v>
                </c:pt>
                <c:pt idx="4">
                  <c:v>Bulimba school</c:v>
                </c:pt>
                <c:pt idx="5">
                  <c:v>Chermside retail centre</c:v>
                </c:pt>
                <c:pt idx="6">
                  <c:v>Fortitude Valley hotel</c:v>
                </c:pt>
                <c:pt idx="7">
                  <c:v>Riverside Apartments (strata)</c:v>
                </c:pt>
                <c:pt idx="8">
                  <c:v>Newstead gym</c:v>
                </c:pt>
                <c:pt idx="9">
                  <c:v>Southbank cafe group</c:v>
                </c:pt>
                <c:pt idx="10">
                  <c:v>Ashgrove aged care</c:v>
                </c:pt>
                <c:pt idx="11">
                  <c:v>Wynnum medical centre</c:v>
                </c:pt>
                <c:pt idx="12">
                  <c:v>Carindale vet clinic</c:v>
                </c:pt>
              </c:strCache>
            </c:strRef>
          </c:cat>
          <c:val>
            <c:numRef>
              <c:f>Sheet1!$B$2:$B$14</c:f>
              <c:numCache>
                <c:formatCode>$#,##0;[Red]($#,##0);"-"</c:formatCode>
                <c:ptCount val="13"/>
                <c:pt idx="0">
                  <c:v>1398</c:v>
                </c:pt>
                <c:pt idx="1">
                  <c:v>1530</c:v>
                </c:pt>
                <c:pt idx="2">
                  <c:v>2294</c:v>
                </c:pt>
                <c:pt idx="3">
                  <c:v>2478</c:v>
                </c:pt>
                <c:pt idx="4">
                  <c:v>1652</c:v>
                </c:pt>
                <c:pt idx="5">
                  <c:v>2436</c:v>
                </c:pt>
                <c:pt idx="6">
                  <c:v>2038</c:v>
                </c:pt>
                <c:pt idx="7">
                  <c:v>1916</c:v>
                </c:pt>
                <c:pt idx="8">
                  <c:v>958</c:v>
                </c:pt>
                <c:pt idx="9">
                  <c:v>1080</c:v>
                </c:pt>
                <c:pt idx="10">
                  <c:v>2160</c:v>
                </c:pt>
                <c:pt idx="11">
                  <c:v>1344</c:v>
                </c:pt>
                <c:pt idx="12">
                  <c:v>1058</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0E9F6E"/>
              </a:solidFill>
            </c:spPr>
          </c:dPt>
          <c:cat>
            <c:strRef>
              <c:f>Sheet1!$A$2:$A$5</c:f>
              <c:strCache>
                <c:ptCount val="4"/>
                <c:pt idx="0">
                  <c:v>Salisbury gym air-con install</c:v>
                </c:pt>
                <c:pt idx="1">
                  <c:v>Kedron shop switchboard upgrade</c:v>
                </c:pt>
                <c:pt idx="2">
                  <c:v>Taringa clinic LED lighting</c:v>
                </c:pt>
                <c:pt idx="3">
                  <c:v>Taringa warehouse EV chargers</c:v>
                </c:pt>
              </c:strCache>
            </c:strRef>
          </c:cat>
          <c:val>
            <c:numRef>
              <c:f>Sheet1!$B$2:$B$5</c:f>
              <c:numCache>
                <c:formatCode>0.0"%";[Red](0.0"%")</c:formatCode>
                <c:ptCount val="4"/>
                <c:pt idx="0">
                  <c:v>22.9</c:v>
                </c:pt>
                <c:pt idx="1">
                  <c:v>24.1</c:v>
                </c:pt>
                <c:pt idx="2">
                  <c:v>32.9</c:v>
                </c:pt>
                <c:pt idx="3">
                  <c:v>40.5</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A7B0B8"/>
              </a:solidFill>
            </c:spPr>
          </c:dPt>
          <c:dPt>
            <c:idx val="1"/>
            <c:spPr>
              <a:solidFill>
                <a:srgbClr val="A7B0B8"/>
              </a:solidFill>
            </c:spPr>
          </c:dPt>
          <c:dPt>
            <c:idx val="2"/>
            <c:spPr>
              <a:solidFill>
                <a:srgbClr val="A7B0B8"/>
              </a:solidFill>
            </c:spPr>
          </c:dPt>
          <c:dPt>
            <c:idx val="3"/>
            <c:spPr>
              <a:solidFill>
                <a:srgbClr val="0E9F6E"/>
              </a:solidFill>
            </c:spPr>
          </c:dPt>
          <c:cat>
            <c:strRef>
              <c:f>Sheet1!$A$2:$A$5</c:f>
              <c:strCache>
                <c:ptCount val="4"/>
                <c:pt idx="0">
                  <c:v>Salisbury gym air-con install</c:v>
                </c:pt>
                <c:pt idx="1">
                  <c:v>Kedron shop switchboard upgrade</c:v>
                </c:pt>
                <c:pt idx="2">
                  <c:v>Taringa clinic LED lighting</c:v>
                </c:pt>
                <c:pt idx="3">
                  <c:v>Taringa warehouse EV chargers</c:v>
                </c:pt>
              </c:strCache>
            </c:strRef>
          </c:cat>
          <c:val>
            <c:numRef>
              <c:f>Sheet1!$B$2:$B$5</c:f>
              <c:numCache>
                <c:formatCode>$#,##0;[Red]($#,##0);"-"</c:formatCode>
                <c:ptCount val="4"/>
                <c:pt idx="0">
                  <c:v>4138</c:v>
                </c:pt>
                <c:pt idx="1">
                  <c:v>8714</c:v>
                </c:pt>
                <c:pt idx="2">
                  <c:v>12260</c:v>
                </c:pt>
                <c:pt idx="3">
                  <c:v>15292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(6)</c:v>
                </c:pt>
                <c:pt idx="1">
                  <c:v>1.5-hour call-outs (6)</c:v>
                </c:pt>
                <c:pt idx="2">
                  <c:v>2-hour call-outs (15)</c:v>
                </c:pt>
                <c:pt idx="3">
                  <c:v>2.5-hour call-outs (4)</c:v>
                </c:pt>
                <c:pt idx="4">
                  <c:v>3-hour call-outs (18)</c:v>
                </c:pt>
                <c:pt idx="5">
                  <c:v>4-hour call-outs (8)</c:v>
                </c:pt>
              </c:strCache>
            </c:strRef>
          </c:cat>
          <c:val>
            <c:numRef>
              <c:f>Sheet1!$B$2:$B$7</c:f>
              <c:numCache>
                <c:formatCode>0.0"%";[Red](0.0"%")</c:formatCode>
                <c:ptCount val="6"/>
                <c:pt idx="0">
                  <c:v>37.0</c:v>
                </c:pt>
                <c:pt idx="1">
                  <c:v>38.4</c:v>
                </c:pt>
                <c:pt idx="2">
                  <c:v>41.3</c:v>
                </c:pt>
                <c:pt idx="3">
                  <c:v>44.3</c:v>
                </c:pt>
                <c:pt idx="4">
                  <c:v>45.9</c:v>
                </c:pt>
                <c:pt idx="5">
                  <c:v>47.8</c:v>
                </c:pt>
              </c:numCache>
            </c:numRef>
          </c:val>
        </c:ser>
        <c:dLbls>
          <c:numFmt formatCode="0.0&quot;%&quot;;[Red](0.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Value</c:v>
                </c:pt>
              </c:strCache>
            </c:strRef>
          </c:tx>
          <c:dPt>
            <c:idx val="0"/>
            <c:spPr>
              <a:solidFill>
                <a:srgbClr val="0E9F6E"/>
              </a:solidFill>
            </c:spPr>
          </c:dPt>
          <c:dPt>
            <c:idx val="1"/>
            <c:spPr>
              <a:solidFill>
                <a:srgbClr val="0E9F6E"/>
              </a:solidFill>
            </c:spPr>
          </c:dPt>
          <c:dPt>
            <c:idx val="2"/>
            <c:spPr>
              <a:solidFill>
                <a:srgbClr val="0E9F6E"/>
              </a:solidFill>
            </c:spPr>
          </c:dPt>
          <c:dPt>
            <c:idx val="3"/>
            <c:spPr>
              <a:solidFill>
                <a:srgbClr val="0E9F6E"/>
              </a:solidFill>
            </c:spPr>
          </c:dPt>
          <c:dPt>
            <c:idx val="4"/>
            <c:spPr>
              <a:solidFill>
                <a:srgbClr val="0E9F6E"/>
              </a:solidFill>
            </c:spPr>
          </c:dPt>
          <c:dPt>
            <c:idx val="5"/>
            <c:spPr>
              <a:solidFill>
                <a:srgbClr val="0E9F6E"/>
              </a:solidFill>
            </c:spPr>
          </c:dPt>
          <c:cat>
            <c:strRef>
              <c:f>Sheet1!$A$2:$A$7</c:f>
              <c:strCache>
                <c:ptCount val="6"/>
                <c:pt idx="0">
                  <c:v>1-hour call-outs (6)</c:v>
                </c:pt>
                <c:pt idx="1">
                  <c:v>1.5-hour call-outs (6)</c:v>
                </c:pt>
                <c:pt idx="2">
                  <c:v>2-hour call-outs (15)</c:v>
                </c:pt>
                <c:pt idx="3">
                  <c:v>2.5-hour call-outs (4)</c:v>
                </c:pt>
                <c:pt idx="4">
                  <c:v>3-hour call-outs (18)</c:v>
                </c:pt>
                <c:pt idx="5">
                  <c:v>4-hour call-outs (8)</c:v>
                </c:pt>
              </c:strCache>
            </c:strRef>
          </c:cat>
          <c:val>
            <c:numRef>
              <c:f>Sheet1!$B$2:$B$7</c:f>
              <c:numCache>
                <c:formatCode>$#,##0;[Red]($#,##0);"-"</c:formatCode>
                <c:ptCount val="6"/>
                <c:pt idx="0">
                  <c:v>693</c:v>
                </c:pt>
                <c:pt idx="1">
                  <c:v>982</c:v>
                </c:pt>
                <c:pt idx="2">
                  <c:v>2964</c:v>
                </c:pt>
                <c:pt idx="3">
                  <c:v>908</c:v>
                </c:pt>
                <c:pt idx="4">
                  <c:v>4725</c:v>
                </c:pt>
                <c:pt idx="5">
                  <c:v>2692</c:v>
                </c:pt>
              </c:numCache>
            </c:numRef>
          </c:val>
        </c:ser>
        <c:dLbls>
          <c:numFmt formatCode="$#,##0;[Red]($#,##0);&quot;-&quot;"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l"/>
        <c:majorTickMark val="out"/>
        <c:minorTickMark val="none"/>
        <c:tickLblPos val="nextTo"/>
        <c:spPr>
          <a:ln>
            <a:noFill/>
          </a:ln>
        </c:spPr>
        <c:txPr>
          <a:bodyPr/>
          <a:lstStyle/>
          <a:p>
            <a:pPr>
              <a:defRPr sz="1200"/>
            </a:pPr>
          </a:p>
        </c:txPr>
        <c:crossAx val="-2113994440"/>
        <c:crosses val="autoZero"/>
        <c:auto val="1"/>
        <c:lblAlgn val="ctr"/>
        <c:lblOffset val="100"/>
        <c:noMultiLvlLbl val="0"/>
      </c:catAx>
      <c:valAx>
        <c:axId val="-2113994440"/>
        <c:scaling/>
        <c:delete/>
        <c:axPos val="b"/>
        <c:majorTickMark val="out"/>
        <c:minorTickMark val="none"/>
        <c:tickLblPos val="nextTo"/>
        <c:crossAx val="-2068027336"/>
        <c:crosses val="autoZero"/>
      </c:valAx>
    </c:plotArea>
    <c:dispBlanksAs val="gap"/>
  </c:chart>
  <c:txPr>
    <a:bodyPr/>
    <a:lstStyle/>
    <a:p>
      <a:pPr>
        <a:defRPr sz="1800">
          <a:latin typeface="Roboto"/>
        </a:defRPr>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0.0"%";[Red](0.0"%")</c:formatCode>
                <c:ptCount val="17"/>
                <c:pt idx="0">
                  <c:v>33.1</c:v>
                </c:pt>
                <c:pt idx="1">
                  <c:v>37.0</c:v>
                </c:pt>
                <c:pt idx="2">
                  <c:v>40.4</c:v>
                </c:pt>
                <c:pt idx="3">
                  <c:v>42.7</c:v>
                </c:pt>
                <c:pt idx="4">
                  <c:v>36.4</c:v>
                </c:pt>
                <c:pt idx="5">
                  <c:v>36.5</c:v>
                </c:pt>
                <c:pt idx="6">
                  <c:v>38.4</c:v>
                </c:pt>
                <c:pt idx="7">
                  <c:v>35.5</c:v>
                </c:pt>
                <c:pt idx="8">
                  <c:v>40.5</c:v>
                </c:pt>
                <c:pt idx="9">
                  <c:v>35.6</c:v>
                </c:pt>
                <c:pt idx="10">
                  <c:v>43.8</c:v>
                </c:pt>
                <c:pt idx="11">
                  <c:v>37.6</c:v>
                </c:pt>
                <c:pt idx="12">
                  <c:v>38.4</c:v>
                </c:pt>
                <c:pt idx="13">
                  <c:v>33.7</c:v>
                </c:pt>
                <c:pt idx="14">
                  <c:v>37.4</c:v>
                </c:pt>
                <c:pt idx="15">
                  <c:v>35.3</c:v>
                </c:pt>
                <c:pt idx="16">
                  <c:v>38.6</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0&quot;%&quot;;[Red](0.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0"/>
  <c:chart>
    <c:autoTitleDeleted val="0"/>
    <c:plotArea>
      <c:layout/>
      <c:areaChart>
        <c:grouping val="standard"/>
        <c:varyColors val="0"/>
        <c:ser>
          <c:idx val="0"/>
          <c:order val="0"/>
          <c:tx>
            <c:strRef>
              <c:f>Sheet1!$B$1</c:f>
              <c:strCache>
                <c:ptCount val="1"/>
                <c:pt idx="0">
                  <c:v>Value</c:v>
                </c:pt>
              </c:strCache>
            </c:strRef>
          </c:tx>
          <c:spPr>
            <a:solidFill>
              <a:srgbClr val="0E9F6E">
                <a:alpha val="25000"/>
              </a:srgbClr>
            </a:solidFill>
            <a:ln w="31750">
              <a:solidFill>
                <a:srgbClr val="0E9F6E"/>
              </a:solidFill>
            </a:ln>
          </c:spPr>
          <c:cat>
            <c:strRef>
              <c:f>Sheet1!$A$2:$A$18</c:f>
              <c:strCache>
                <c:ptCount val="17"/>
                <c:pt idx="0">
                  <c:v>Oct 24</c:v>
                </c:pt>
                <c:pt idx="1">
                  <c:v>Nov 24</c:v>
                </c:pt>
                <c:pt idx="2">
                  <c:v>Dec 24</c:v>
                </c:pt>
                <c:pt idx="3">
                  <c:v>Jan 25</c:v>
                </c:pt>
                <c:pt idx="4">
                  <c:v>Feb 25</c:v>
                </c:pt>
                <c:pt idx="5">
                  <c:v>Mar 25</c:v>
                </c:pt>
                <c:pt idx="6">
                  <c:v>Apr 25</c:v>
                </c:pt>
                <c:pt idx="7">
                  <c:v>May 25</c:v>
                </c:pt>
                <c:pt idx="8">
                  <c:v>Jun 25</c:v>
                </c:pt>
                <c:pt idx="9">
                  <c:v>Jul 25</c:v>
                </c:pt>
                <c:pt idx="10">
                  <c:v>Aug 25</c:v>
                </c:pt>
                <c:pt idx="11">
                  <c:v>Sep 25</c:v>
                </c:pt>
                <c:pt idx="12">
                  <c:v>Oct 25</c:v>
                </c:pt>
                <c:pt idx="13">
                  <c:v>Nov 25</c:v>
                </c:pt>
                <c:pt idx="14">
                  <c:v>Dec 25</c:v>
                </c:pt>
                <c:pt idx="15">
                  <c:v>Jan 26</c:v>
                </c:pt>
                <c:pt idx="16">
                  <c:v>Feb 26</c:v>
                </c:pt>
              </c:strCache>
            </c:strRef>
          </c:cat>
          <c:val>
            <c:numRef>
              <c:f>Sheet1!$B$2:$B$18</c:f>
              <c:numCache>
                <c:formatCode>$#,##0;[Red]($#,##0);"-"</c:formatCode>
                <c:ptCount val="17"/>
                <c:pt idx="0">
                  <c:v>56675</c:v>
                </c:pt>
                <c:pt idx="1">
                  <c:v>66458</c:v>
                </c:pt>
                <c:pt idx="2">
                  <c:v>57840</c:v>
                </c:pt>
                <c:pt idx="3">
                  <c:v>60167</c:v>
                </c:pt>
                <c:pt idx="4">
                  <c:v>58595</c:v>
                </c:pt>
                <c:pt idx="5">
                  <c:v>49330</c:v>
                </c:pt>
                <c:pt idx="6">
                  <c:v>47897</c:v>
                </c:pt>
                <c:pt idx="7">
                  <c:v>46116</c:v>
                </c:pt>
                <c:pt idx="8">
                  <c:v>66529</c:v>
                </c:pt>
                <c:pt idx="9">
                  <c:v>66434</c:v>
                </c:pt>
                <c:pt idx="10">
                  <c:v>60906</c:v>
                </c:pt>
                <c:pt idx="11">
                  <c:v>48201</c:v>
                </c:pt>
                <c:pt idx="12">
                  <c:v>49446</c:v>
                </c:pt>
                <c:pt idx="13">
                  <c:v>58844</c:v>
                </c:pt>
                <c:pt idx="14">
                  <c:v>50453</c:v>
                </c:pt>
                <c:pt idx="15">
                  <c:v>58190</c:v>
                </c:pt>
                <c:pt idx="16">
                  <c:v>75710</c:v>
                </c:pt>
              </c:numCache>
            </c:numRef>
          </c:val>
        </c:ser>
        <c:dLbls>
          <c:showLegendKey val="0"/>
          <c:showVal val="0"/>
          <c:showCatName val="0"/>
          <c:showSerName val="0"/>
          <c:showPercent val="0"/>
          <c:showBubbleSize val="0"/>
        </c:dLbls>
        <c:axId val="-2101159928"/>
        <c:axId val="-2100718248"/>
      </c:areaChart>
      <c:catAx>
        <c:axId val="-2101159928"/>
        <c:scaling>
          <c:orientation val="minMax"/>
        </c:scaling>
        <c:delete val="0"/>
        <c:axPos val="b"/>
        <c:numFmt formatCode="General" sourceLinked="1"/>
        <c:majorTickMark val="out"/>
        <c:minorTickMark val="none"/>
        <c:tickLblPos val="nextTo"/>
        <c:txPr>
          <a:bodyPr/>
          <a:lstStyle/>
          <a:p>
            <a:pPr>
              <a:defRPr sz="1000"/>
            </a:pPr>
          </a:p>
        </c:txPr>
        <c:crossAx val="-2100718248"/>
        <c:crosses val="autoZero"/>
        <c:auto val="1"/>
        <c:lblAlgn val="ctr"/>
        <c:lblOffset val="100"/>
        <c:noMultiLvlLbl val="0"/>
      </c:catAx>
      <c:valAx>
        <c:axId val="-2100718248"/>
        <c:scaling>
          <c:orientation val="minMax"/>
        </c:scaling>
        <c:delete val="0"/>
        <c:axPos val="l"/>
        <c:majorGridlines>
          <c:spPr>
            <a:ln>
              <a:solidFill>
                <a:srgbClr val="E6EAE7"/>
              </a:solidFill>
            </a:ln>
          </c:spPr>
        </c:majorGridlines>
        <c:numFmt formatCode="$#,##0;[Red]($#,##0);&quot;-&quot;" sourceLinked="0"/>
        <c:majorTickMark val="out"/>
        <c:minorTickMark val="none"/>
        <c:tickLblPos val="nextTo"/>
        <c:spPr>
          <a:ln>
            <a:noFill/>
          </a:ln>
        </c:spPr>
        <c:txPr>
          <a:bodyPr/>
          <a:lstStyle/>
          <a:p>
            <a:pPr>
              <a:defRPr sz="1000"/>
            </a:pPr>
          </a:p>
        </c:txPr>
        <c:crossAx val="-2101159928"/>
        <c:crosses val="autoZero"/>
        <c:crossBetween val="midCat"/>
      </c:valAx>
    </c:plotArea>
    <c:plotVisOnly val="1"/>
    <c:dispBlanksAs val="zero"/>
    <c:showDLblsOverMax val="0"/>
  </c:chart>
  <c:txPr>
    <a:bodyPr/>
    <a:lstStyle/>
    <a:p>
      <a:pPr>
        <a:defRPr sz="1800">
          <a:latin typeface="Roboto"/>
        </a:defRPr>
      </a:pPr>
      <a:endParaRPr/>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548640"/>
            <a:ext cx="640080" cy="640080"/>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a:latin typeface="Roboto"/>
              </a:defRPr>
            </a:pPr>
            <a:r>
              <a:rPr sz="1600" b="1">
                <a:solidFill>
                  <a:srgbClr val="FFFFFF"/>
                </a:solidFill>
                <a:latin typeface="Roboto"/>
              </a:rPr>
              <a:t>4th</a:t>
            </a:r>
          </a:p>
        </p:txBody>
      </p:sp>
      <p:sp>
        <p:nvSpPr>
          <p:cNvPr id="3" name="TextBox 2"/>
          <p:cNvSpPr txBox="1"/>
          <p:nvPr/>
        </p:nvSpPr>
        <p:spPr>
          <a:xfrm>
            <a:off x="1234440" y="658368"/>
            <a:ext cx="5486400" cy="457200"/>
          </a:xfrm>
          <a:prstGeom prst="rect">
            <a:avLst/>
          </a:prstGeom>
          <a:noFill/>
        </p:spPr>
        <p:txBody>
          <a:bodyPr wrap="square">
            <a:spAutoFit/>
          </a:bodyPr>
          <a:lstStyle/>
          <a:p>
            <a:pPr>
              <a:defRPr>
                <a:latin typeface="Roboto"/>
              </a:defRPr>
            </a:pPr>
            <a:r>
              <a:rPr sz="1800" b="1">
                <a:solidFill>
                  <a:srgbClr val="25342A"/>
                </a:solidFill>
                <a:latin typeface="Roboto"/>
              </a:rPr>
              <a:t>The Fourth Sheet</a:t>
            </a:r>
          </a:p>
        </p:txBody>
      </p:sp>
      <p:sp>
        <p:nvSpPr>
          <p:cNvPr id="4" name="TextBox 3"/>
          <p:cNvSpPr txBox="1"/>
          <p:nvPr/>
        </p:nvSpPr>
        <p:spPr>
          <a:xfrm>
            <a:off x="457200" y="1554480"/>
            <a:ext cx="10972800" cy="365760"/>
          </a:xfrm>
          <a:prstGeom prst="rect">
            <a:avLst/>
          </a:prstGeom>
          <a:noFill/>
        </p:spPr>
        <p:txBody>
          <a:bodyPr wrap="square">
            <a:spAutoFit/>
          </a:bodyPr>
          <a:lstStyle/>
          <a:p>
            <a:pPr>
              <a:defRPr>
                <a:latin typeface="Roboto"/>
              </a:defRPr>
            </a:pPr>
            <a:r>
              <a:rPr sz="1100" b="1">
                <a:solidFill>
                  <a:srgbClr val="8A7A52"/>
                </a:solidFill>
                <a:latin typeface="Roboto"/>
              </a:rPr>
              <a:t>SAMPLE DATA · invented figures for demonstration</a:t>
            </a:r>
          </a:p>
        </p:txBody>
      </p:sp>
      <p:sp>
        <p:nvSpPr>
          <p:cNvPr id="5" name="TextBox 4"/>
          <p:cNvSpPr txBox="1"/>
          <p:nvPr/>
        </p:nvSpPr>
        <p:spPr>
          <a:xfrm>
            <a:off x="457200" y="2011680"/>
            <a:ext cx="11247120" cy="1097280"/>
          </a:xfrm>
          <a:prstGeom prst="rect">
            <a:avLst/>
          </a:prstGeom>
          <a:noFill/>
        </p:spPr>
        <p:txBody>
          <a:bodyPr wrap="square">
            <a:spAutoFit/>
          </a:bodyPr>
          <a:lstStyle/>
          <a:p>
            <a:pPr>
              <a:defRPr>
                <a:latin typeface="Roboto"/>
              </a:defRPr>
            </a:pPr>
            <a:r>
              <a:rPr sz="3400" b="1">
                <a:solidFill>
                  <a:srgbClr val="25342A"/>
                </a:solidFill>
                <a:latin typeface="Roboto"/>
              </a:rPr>
              <a:t>Which jobs actually make money?</a:t>
            </a:r>
          </a:p>
        </p:txBody>
      </p:sp>
      <p:sp>
        <p:nvSpPr>
          <p:cNvPr id="6" name="TextBox 5"/>
          <p:cNvSpPr txBox="1"/>
          <p:nvPr/>
        </p:nvSpPr>
        <p:spPr>
          <a:xfrm>
            <a:off x="457200" y="3154680"/>
            <a:ext cx="11247120" cy="457200"/>
          </a:xfrm>
          <a:prstGeom prst="rect">
            <a:avLst/>
          </a:prstGeom>
          <a:noFill/>
        </p:spPr>
        <p:txBody>
          <a:bodyPr wrap="square">
            <a:spAutoFit/>
          </a:bodyPr>
          <a:lstStyle/>
          <a:p>
            <a:pPr>
              <a:defRPr>
                <a:latin typeface="Roboto"/>
              </a:defRPr>
            </a:pPr>
            <a:r>
              <a:rPr sz="1600" b="0">
                <a:solidFill>
                  <a:srgbClr val="5F6F63"/>
                </a:solidFill>
                <a:latin typeface="Roboto"/>
              </a:rPr>
              <a:t>Sample Electrical &amp; Air Pty Ltd</a:t>
            </a:r>
          </a:p>
        </p:txBody>
      </p:sp>
      <p:sp>
        <p:nvSpPr>
          <p:cNvPr id="7" name="TextBox 6"/>
          <p:cNvSpPr txBox="1"/>
          <p:nvPr/>
        </p:nvSpPr>
        <p:spPr>
          <a:xfrm>
            <a:off x="457200" y="3703320"/>
            <a:ext cx="11247120" cy="1097280"/>
          </a:xfrm>
          <a:prstGeom prst="rect">
            <a:avLst/>
          </a:prstGeom>
          <a:noFill/>
        </p:spPr>
        <p:txBody>
          <a:bodyPr wrap="square">
            <a:spAutoFit/>
          </a:bodyPr>
          <a:lstStyle/>
          <a:p>
            <a:pPr>
              <a:defRPr>
                <a:latin typeface="Roboto"/>
              </a:defRPr>
            </a:pPr>
            <a:r>
              <a:rPr sz="1400" b="0">
                <a:solidFill>
                  <a:srgbClr val="25342A"/>
                </a:solidFill>
                <a:latin typeface="Roboto"/>
              </a:rPr>
              <a:t>Period: February 2026. Every job's gross margin: revenue less materials, subcontractors and technician time at $68 an hour (fully loaded: wages and all on-costs). Before overheads, so this is not profit. Pick a type of job and every number, chart and note on the page follows it.</a:t>
            </a:r>
          </a:p>
        </p:txBody>
      </p:sp>
      <p:sp>
        <p:nvSpPr>
          <p:cNvPr id="8" name="TextBox 7"/>
          <p:cNvSpPr txBox="1"/>
          <p:nvPr/>
        </p:nvSpPr>
        <p:spPr>
          <a:xfrm>
            <a:off x="457200" y="4937760"/>
            <a:ext cx="11247120" cy="1097280"/>
          </a:xfrm>
          <a:prstGeom prst="rect">
            <a:avLst/>
          </a:prstGeom>
          <a:noFill/>
        </p:spPr>
        <p:txBody>
          <a:bodyPr wrap="square">
            <a:spAutoFit/>
          </a:bodyPr>
          <a:lstStyle/>
          <a:p>
            <a:pPr>
              <a:defRPr>
                <a:latin typeface="Roboto"/>
              </a:defRPr>
            </a:pPr>
            <a:r>
              <a:rPr sz="1100" b="0">
                <a:solidFill>
                  <a:srgbClr val="5F6F63"/>
                </a:solidFill>
                <a:latin typeface="Roboto"/>
              </a:rPr>
              <a:t>How final is this data?</a:t>
            </a:r>
          </a:p>
          <a:p>
            <a:pPr>
              <a:defRPr>
                <a:latin typeface="Roboto"/>
              </a:defRPr>
            </a:pPr>
            <a:r>
              <a:rPr sz="1100" b="0">
                <a:solidFill>
                  <a:srgbClr val="5F6F63"/>
                </a:solidFill>
                <a:latin typeface="Roboto"/>
              </a:rPr>
              <a:t>January 2026: Locked. January 2026 is locked (closed 3 Feb 2026). These numbers won't change.</a:t>
            </a:r>
          </a:p>
          <a:p>
            <a:pPr>
              <a:defRPr>
                <a:latin typeface="Roboto"/>
              </a:defRPr>
            </a:pPr>
            <a:r>
              <a:rPr sz="1100" b="0">
                <a:solidFill>
                  <a:srgbClr val="5F6F63"/>
                </a:solidFill>
                <a:latin typeface="Roboto"/>
              </a:rPr>
              <a:t>February 2026: Locked. February 2026 is locked (closed 3 Mar 2026). These numbers won't change.</a:t>
            </a:r>
          </a:p>
          <a:p>
            <a:pPr>
              <a:defRPr>
                <a:latin typeface="Roboto"/>
              </a:defRPr>
            </a:pPr>
            <a:r>
              <a:rPr sz="1100" b="0">
                <a:solidFill>
                  <a:srgbClr val="5F6F63"/>
                </a:solidFill>
                <a:latin typeface="Roboto"/>
              </a:rPr>
              <a:t>October 2026: Incomplete. October 2026 is still in progress: figures to 6 Oct only.</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 of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Gross margin, not profit</a:t>
            </a:r>
          </a:p>
        </p:txBody>
      </p:sp>
      <p:sp>
        <p:nvSpPr>
          <p:cNvPr id="5" name="Rectangle 4"/>
          <p:cNvSpPr/>
          <p:nvPr/>
        </p:nvSpPr>
        <p:spPr>
          <a:xfrm>
            <a:off x="457200" y="1554480"/>
            <a:ext cx="11277295"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10820095" cy="365760"/>
          </a:xfrm>
          <a:prstGeom prst="rect">
            <a:avLst/>
          </a:prstGeom>
          <a:noFill/>
        </p:spPr>
        <p:txBody>
          <a:bodyPr wrap="square">
            <a:spAutoFit/>
          </a:bodyPr>
          <a:lstStyle/>
          <a:p>
            <a:pPr>
              <a:defRPr>
                <a:latin typeface="Roboto"/>
              </a:defRPr>
            </a:pPr>
            <a:r>
              <a:rPr sz="1100" b="1">
                <a:solidFill>
                  <a:srgbClr val="5F6F63"/>
                </a:solidFill>
                <a:latin typeface="Roboto"/>
              </a:rPr>
              <a:t>GROSS MARGIN, NOT PROFIT</a:t>
            </a:r>
          </a:p>
        </p:txBody>
      </p:sp>
      <p:sp>
        <p:nvSpPr>
          <p:cNvPr id="7" name="TextBox 6"/>
          <p:cNvSpPr txBox="1"/>
          <p:nvPr/>
        </p:nvSpPr>
        <p:spPr>
          <a:xfrm>
            <a:off x="685800" y="2103120"/>
            <a:ext cx="10820095" cy="3749039"/>
          </a:xfrm>
          <a:prstGeom prst="rect">
            <a:avLst/>
          </a:prstGeom>
          <a:noFill/>
        </p:spPr>
        <p:txBody>
          <a:bodyPr wrap="square">
            <a:spAutoFit/>
          </a:bodyPr>
          <a:lstStyle/>
          <a:p>
            <a:pPr>
              <a:defRPr>
                <a:latin typeface="Roboto"/>
              </a:defRPr>
            </a:pPr>
            <a:r>
              <a:rPr sz="1600" b="0">
                <a:solidFill>
                  <a:srgbClr val="25342A"/>
                </a:solidFill>
                <a:latin typeface="Roboto"/>
              </a:rPr>
              <a:t>Gross margin is not profit. Job gross margin = revenue less materials, subcontractors and technician time charged to the job at $68 an hour (wages and all on-costs). Not included: technician time not charged to any job (travel, training, waiting), and overheads (office wages, marketing, vehicles, rent, insurance, IT, depreciation, interest). Profit is what's left after those. Wages always include all on-costs: super, payroll tax, workers' compensation insurance and leave.</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 of 21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From gross margin to profit</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February's jobs made $75,710 gross margin (38.6%). Technician time not charged to jobs took ($4,832) and overheads $59,320, leaving $21,222 profit before tax (10.8% of revenue). To cover overheads, jobs need a 27.7% gross margin on average.</a:t>
            </a:r>
          </a:p>
        </p:txBody>
      </p:sp>
      <p:graphicFrame>
        <p:nvGraphicFramePr>
          <p:cNvPr id="6" name="Table 5"/>
          <p:cNvGraphicFramePr>
            <a:graphicFrameLocks noGrp="1"/>
          </p:cNvGraphicFramePr>
          <p:nvPr/>
        </p:nvGraphicFramePr>
        <p:xfrm>
          <a:off x="457200" y="1463040"/>
          <a:ext cx="11247120" cy="3950208"/>
        </p:xfrm>
        <a:graphic>
          <a:graphicData uri="http://schemas.openxmlformats.org/drawingml/2006/table">
            <a:tbl>
              <a:tblPr firstRow="1" bandRow="1">
                <a:tableStyleId>{5C22544A-7EE6-4342-B048-85BDC9FD1C3A}</a:tableStyleId>
              </a:tblPr>
              <a:tblGrid>
                <a:gridCol w="5623560"/>
                <a:gridCol w="5623560"/>
              </a:tblGrid>
              <a:tr h="329184">
                <a:tc>
                  <a:txBody>
                    <a:bodyPr/>
                    <a:lstStyle/>
                    <a:p>
                      <a:pPr>
                        <a:defRPr>
                          <a:latin typeface="Roboto"/>
                        </a:defRPr>
                      </a:pPr>
                    </a:p>
                  </a:txBody>
                  <a:tcPr>
                    <a:solidFill>
                      <a:srgbClr val="2F7A5D"/>
                    </a:solidFill>
                  </a:tcPr>
                </a:tc>
                <a:tc>
                  <a:txBody>
                    <a:bodyPr/>
                    <a:lstStyle/>
                    <a:p>
                      <a:pPr algn="r">
                        <a:defRPr>
                          <a:latin typeface="Roboto"/>
                        </a:defRPr>
                      </a:pPr>
                      <a:r>
                        <a:rPr sz="1100" b="1">
                          <a:solidFill>
                            <a:srgbClr val="FFFFFF"/>
                          </a:solidFill>
                          <a:latin typeface="Roboto"/>
                        </a:rPr>
                        <a:t>February 2026</a:t>
                      </a:r>
                    </a:p>
                  </a:txBody>
                  <a:tcPr>
                    <a:solidFill>
                      <a:srgbClr val="2F7A5D"/>
                    </a:solidFill>
                  </a:tcPr>
                </a:tc>
              </a:tr>
              <a:tr h="329184">
                <a:tc>
                  <a:txBody>
                    <a:bodyPr/>
                    <a:lstStyle/>
                    <a:p>
                      <a:pPr>
                        <a:defRPr>
                          <a:latin typeface="Roboto"/>
                        </a:defRPr>
                      </a:pPr>
                      <a:r>
                        <a:rPr sz="1050">
                          <a:solidFill>
                            <a:srgbClr val="25342A"/>
                          </a:solidFill>
                          <a:latin typeface="Roboto"/>
                        </a:rPr>
                        <a:t>Gross margin on jobs</a:t>
                      </a:r>
                    </a:p>
                  </a:txBody>
                  <a:tcPr>
                    <a:solidFill>
                      <a:srgbClr val="FFFFFF"/>
                    </a:solidFill>
                  </a:tcPr>
                </a:tc>
                <a:tc>
                  <a:txBody>
                    <a:bodyPr/>
                    <a:lstStyle/>
                    <a:p>
                      <a:pPr algn="r">
                        <a:defRPr>
                          <a:latin typeface="Roboto"/>
                        </a:defRPr>
                      </a:pPr>
                      <a:r>
                        <a:rPr sz="1050">
                          <a:solidFill>
                            <a:srgbClr val="25342A"/>
                          </a:solidFill>
                          <a:latin typeface="Roboto"/>
                        </a:rPr>
                        <a:t>$75,710</a:t>
                      </a:r>
                    </a:p>
                  </a:txBody>
                  <a:tcPr>
                    <a:solidFill>
                      <a:srgbClr val="FFFFFF"/>
                    </a:solidFill>
                  </a:tcPr>
                </a:tc>
              </a:tr>
              <a:tr h="329184">
                <a:tc>
                  <a:txBody>
                    <a:bodyPr/>
                    <a:lstStyle/>
                    <a:p>
                      <a:pPr>
                        <a:defRPr>
                          <a:latin typeface="Roboto"/>
                        </a:defRPr>
                      </a:pPr>
                      <a:r>
                        <a:rPr sz="1050">
                          <a:solidFill>
                            <a:srgbClr val="25342A"/>
                          </a:solidFill>
                          <a:latin typeface="Roboto"/>
                        </a:rPr>
                        <a:t>Technician wages and on-costs</a:t>
                      </a:r>
                    </a:p>
                  </a:txBody>
                  <a:tcPr>
                    <a:solidFill>
                      <a:srgbClr val="F7FAF7"/>
                    </a:solidFill>
                  </a:tcPr>
                </a:tc>
                <a:tc>
                  <a:txBody>
                    <a:bodyPr/>
                    <a:lstStyle/>
                    <a:p>
                      <a:pPr algn="r">
                        <a:defRPr>
                          <a:latin typeface="Roboto"/>
                        </a:defRPr>
                      </a:pPr>
                      <a:r>
                        <a:rPr sz="1050">
                          <a:solidFill>
                            <a:srgbClr val="25342A"/>
                          </a:solidFill>
                          <a:latin typeface="Roboto"/>
                        </a:rPr>
                        <a:t>$54,600</a:t>
                      </a:r>
                    </a:p>
                  </a:txBody>
                  <a:tcPr>
                    <a:solidFill>
                      <a:srgbClr val="F7FAF7"/>
                    </a:solidFill>
                  </a:tcPr>
                </a:tc>
              </a:tr>
              <a:tr h="329184">
                <a:tc>
                  <a:txBody>
                    <a:bodyPr/>
                    <a:lstStyle/>
                    <a:p>
                      <a:pPr>
                        <a:defRPr>
                          <a:latin typeface="Roboto"/>
                        </a:defRPr>
                      </a:pPr>
                      <a:r>
                        <a:rPr sz="1050">
                          <a:solidFill>
                            <a:srgbClr val="25342A"/>
                          </a:solidFill>
                          <a:latin typeface="Roboto"/>
                        </a:rPr>
                        <a:t>Technician time charged to jobs (at cost)</a:t>
                      </a:r>
                    </a:p>
                  </a:txBody>
                  <a:tcPr>
                    <a:solidFill>
                      <a:srgbClr val="FFFFFF"/>
                    </a:solidFill>
                  </a:tcPr>
                </a:tc>
                <a:tc>
                  <a:txBody>
                    <a:bodyPr/>
                    <a:lstStyle/>
                    <a:p>
                      <a:pPr algn="r">
                        <a:defRPr>
                          <a:latin typeface="Roboto"/>
                        </a:defRPr>
                      </a:pPr>
                      <a:r>
                        <a:rPr sz="1050">
                          <a:solidFill>
                            <a:srgbClr val="25342A"/>
                          </a:solidFill>
                          <a:latin typeface="Roboto"/>
                        </a:rPr>
                        <a:t>$59,432</a:t>
                      </a:r>
                    </a:p>
                  </a:txBody>
                  <a:tcPr>
                    <a:solidFill>
                      <a:srgbClr val="FFFFFF"/>
                    </a:solidFill>
                  </a:tcPr>
                </a:tc>
              </a:tr>
              <a:tr h="329184">
                <a:tc>
                  <a:txBody>
                    <a:bodyPr/>
                    <a:lstStyle/>
                    <a:p>
                      <a:pPr>
                        <a:defRPr>
                          <a:latin typeface="Roboto"/>
                        </a:defRPr>
                      </a:pPr>
                      <a:r>
                        <a:rPr sz="1050">
                          <a:solidFill>
                            <a:srgbClr val="25342A"/>
                          </a:solidFill>
                          <a:latin typeface="Roboto"/>
                        </a:rPr>
                        <a:t>Technician time not charged to jobs</a:t>
                      </a:r>
                    </a:p>
                  </a:txBody>
                  <a:tcPr>
                    <a:solidFill>
                      <a:srgbClr val="F7FAF7"/>
                    </a:solidFill>
                  </a:tcPr>
                </a:tc>
                <a:tc>
                  <a:txBody>
                    <a:bodyPr/>
                    <a:lstStyle/>
                    <a:p>
                      <a:pPr algn="r">
                        <a:defRPr>
                          <a:latin typeface="Roboto"/>
                        </a:defRPr>
                      </a:pPr>
                      <a:r>
                        <a:rPr sz="1050">
                          <a:solidFill>
                            <a:srgbClr val="B42318"/>
                          </a:solidFill>
                          <a:latin typeface="Roboto"/>
                        </a:rPr>
                        <a:t>($4,832)</a:t>
                      </a:r>
                    </a:p>
                  </a:txBody>
                  <a:tcPr>
                    <a:solidFill>
                      <a:srgbClr val="F7FAF7"/>
                    </a:solidFill>
                  </a:tcPr>
                </a:tc>
              </a:tr>
              <a:tr h="329184">
                <a:tc>
                  <a:txBody>
                    <a:bodyPr/>
                    <a:lstStyle/>
                    <a:p>
                      <a:pPr>
                        <a:defRPr>
                          <a:latin typeface="Roboto"/>
                        </a:defRPr>
                      </a:pPr>
                      <a:r>
                        <a:rPr sz="1050">
                          <a:solidFill>
                            <a:srgbClr val="25342A"/>
                          </a:solidFill>
                          <a:latin typeface="Roboto"/>
                        </a:rPr>
                        <a:t>Gross profit (the P&amp;L)</a:t>
                      </a:r>
                    </a:p>
                  </a:txBody>
                  <a:tcPr>
                    <a:solidFill>
                      <a:srgbClr val="FFFFFF"/>
                    </a:solidFill>
                  </a:tcPr>
                </a:tc>
                <a:tc>
                  <a:txBody>
                    <a:bodyPr/>
                    <a:lstStyle/>
                    <a:p>
                      <a:pPr algn="r">
                        <a:defRPr>
                          <a:latin typeface="Roboto"/>
                        </a:defRPr>
                      </a:pPr>
                      <a:r>
                        <a:rPr sz="1050">
                          <a:solidFill>
                            <a:srgbClr val="25342A"/>
                          </a:solidFill>
                          <a:latin typeface="Roboto"/>
                        </a:rPr>
                        <a:t>$80,542</a:t>
                      </a:r>
                    </a:p>
                  </a:txBody>
                  <a:tcPr>
                    <a:solidFill>
                      <a:srgbClr val="FFFFFF"/>
                    </a:solidFill>
                  </a:tcPr>
                </a:tc>
              </a:tr>
              <a:tr h="329184">
                <a:tc>
                  <a:txBody>
                    <a:bodyPr/>
                    <a:lstStyle/>
                    <a:p>
                      <a:pPr>
                        <a:defRPr>
                          <a:latin typeface="Roboto"/>
                        </a:defRPr>
                      </a:pPr>
                      <a:r>
                        <a:rPr sz="1050">
                          <a:solidFill>
                            <a:srgbClr val="25342A"/>
                          </a:solidFill>
                          <a:latin typeface="Roboto"/>
                        </a:rPr>
                        <a:t>Overheads (operating expenses, depreciation, interest)</a:t>
                      </a:r>
                    </a:p>
                  </a:txBody>
                  <a:tcPr>
                    <a:solidFill>
                      <a:srgbClr val="F7FAF7"/>
                    </a:solidFill>
                  </a:tcPr>
                </a:tc>
                <a:tc>
                  <a:txBody>
                    <a:bodyPr/>
                    <a:lstStyle/>
                    <a:p>
                      <a:pPr algn="r">
                        <a:defRPr>
                          <a:latin typeface="Roboto"/>
                        </a:defRPr>
                      </a:pPr>
                      <a:r>
                        <a:rPr sz="1050">
                          <a:solidFill>
                            <a:srgbClr val="25342A"/>
                          </a:solidFill>
                          <a:latin typeface="Roboto"/>
                        </a:rPr>
                        <a:t>$59,320</a:t>
                      </a:r>
                    </a:p>
                  </a:txBody>
                  <a:tcPr>
                    <a:solidFill>
                      <a:srgbClr val="F7FAF7"/>
                    </a:solidFill>
                  </a:tcPr>
                </a:tc>
              </a:tr>
              <a:tr h="329184">
                <a:tc>
                  <a:txBody>
                    <a:bodyPr/>
                    <a:lstStyle/>
                    <a:p>
                      <a:pPr>
                        <a:defRPr>
                          <a:latin typeface="Roboto"/>
                        </a:defRPr>
                      </a:pPr>
                      <a:r>
                        <a:rPr sz="1050">
                          <a:solidFill>
                            <a:srgbClr val="25342A"/>
                          </a:solidFill>
                          <a:latin typeface="Roboto"/>
                        </a:rPr>
                        <a:t>Profit before tax (the P&amp;L)</a:t>
                      </a:r>
                    </a:p>
                  </a:txBody>
                  <a:tcPr>
                    <a:solidFill>
                      <a:srgbClr val="FFFFFF"/>
                    </a:solidFill>
                  </a:tcPr>
                </a:tc>
                <a:tc>
                  <a:txBody>
                    <a:bodyPr/>
                    <a:lstStyle/>
                    <a:p>
                      <a:pPr algn="r">
                        <a:defRPr>
                          <a:latin typeface="Roboto"/>
                        </a:defRPr>
                      </a:pPr>
                      <a:r>
                        <a:rPr sz="1050">
                          <a:solidFill>
                            <a:srgbClr val="25342A"/>
                          </a:solidFill>
                          <a:latin typeface="Roboto"/>
                        </a:rPr>
                        <a:t>$21,222</a:t>
                      </a:r>
                    </a:p>
                  </a:txBody>
                  <a:tcPr>
                    <a:solidFill>
                      <a:srgbClr val="FFFFFF"/>
                    </a:solidFill>
                  </a:tcPr>
                </a:tc>
              </a:tr>
              <a:tr h="329184">
                <a:tc>
                  <a:txBody>
                    <a:bodyPr/>
                    <a:lstStyle/>
                    <a:p>
                      <a:pPr>
                        <a:defRPr>
                          <a:latin typeface="Roboto"/>
                        </a:defRPr>
                      </a:pPr>
                      <a:r>
                        <a:rPr sz="1050">
                          <a:solidFill>
                            <a:srgbClr val="25342A"/>
                          </a:solidFill>
                          <a:latin typeface="Roboto"/>
                        </a:rPr>
                        <a:t>Revenue</a:t>
                      </a:r>
                    </a:p>
                  </a:txBody>
                  <a:tcPr>
                    <a:solidFill>
                      <a:srgbClr val="F7FAF7"/>
                    </a:solidFill>
                  </a:tcPr>
                </a:tc>
                <a:tc>
                  <a:txBody>
                    <a:bodyPr/>
                    <a:lstStyle/>
                    <a:p>
                      <a:pPr algn="r">
                        <a:defRPr>
                          <a:latin typeface="Roboto"/>
                        </a:defRPr>
                      </a:pPr>
                      <a:r>
                        <a:rPr sz="1050">
                          <a:solidFill>
                            <a:srgbClr val="25342A"/>
                          </a:solidFill>
                          <a:latin typeface="Roboto"/>
                        </a:rPr>
                        <a:t>$196,372</a:t>
                      </a:r>
                    </a:p>
                  </a:txBody>
                  <a:tcPr>
                    <a:solidFill>
                      <a:srgbClr val="F7FAF7"/>
                    </a:solidFill>
                  </a:tcPr>
                </a:tc>
              </a:tr>
              <a:tr h="329184">
                <a:tc>
                  <a:txBody>
                    <a:bodyPr/>
                    <a:lstStyle/>
                    <a:p>
                      <a:pPr>
                        <a:defRPr>
                          <a:latin typeface="Roboto"/>
                        </a:defRPr>
                      </a:pPr>
                      <a:r>
                        <a:rPr sz="1050">
                          <a:solidFill>
                            <a:srgbClr val="25342A"/>
                          </a:solidFill>
                          <a:latin typeface="Roboto"/>
                        </a:rPr>
                        <a:t>Gross margin on jobs, %</a:t>
                      </a:r>
                    </a:p>
                  </a:txBody>
                  <a:tcPr>
                    <a:solidFill>
                      <a:srgbClr val="FFFFFF"/>
                    </a:solidFill>
                  </a:tcPr>
                </a:tc>
                <a:tc>
                  <a:txBody>
                    <a:bodyPr/>
                    <a:lstStyle/>
                    <a:p>
                      <a:pPr algn="r">
                        <a:defRPr>
                          <a:latin typeface="Roboto"/>
                        </a:defRPr>
                      </a:pPr>
                      <a:r>
                        <a:rPr sz="1050">
                          <a:solidFill>
                            <a:srgbClr val="25342A"/>
                          </a:solidFill>
                          <a:latin typeface="Roboto"/>
                        </a:rPr>
                        <a:t>38.6%</a:t>
                      </a:r>
                    </a:p>
                  </a:txBody>
                  <a:tcPr>
                    <a:solidFill>
                      <a:srgbClr val="FFFFFF"/>
                    </a:solidFill>
                  </a:tcPr>
                </a:tc>
              </a:tr>
              <a:tr h="329184">
                <a:tc>
                  <a:txBody>
                    <a:bodyPr/>
                    <a:lstStyle/>
                    <a:p>
                      <a:pPr>
                        <a:defRPr>
                          <a:latin typeface="Roboto"/>
                        </a:defRPr>
                      </a:pPr>
                      <a:r>
                        <a:rPr sz="1050">
                          <a:solidFill>
                            <a:srgbClr val="25342A"/>
                          </a:solidFill>
                          <a:latin typeface="Roboto"/>
                        </a:rPr>
                        <a:t>Profit before tax, % of revenue</a:t>
                      </a:r>
                    </a:p>
                  </a:txBody>
                  <a:tcPr>
                    <a:solidFill>
                      <a:srgbClr val="F7FAF7"/>
                    </a:solidFill>
                  </a:tcPr>
                </a:tc>
                <a:tc>
                  <a:txBody>
                    <a:bodyPr/>
                    <a:lstStyle/>
                    <a:p>
                      <a:pPr algn="r">
                        <a:defRPr>
                          <a:latin typeface="Roboto"/>
                        </a:defRPr>
                      </a:pPr>
                      <a:r>
                        <a:rPr sz="1050">
                          <a:solidFill>
                            <a:srgbClr val="25342A"/>
                          </a:solidFill>
                          <a:latin typeface="Roboto"/>
                        </a:rPr>
                        <a:t>10.8%</a:t>
                      </a:r>
                    </a:p>
                  </a:txBody>
                  <a:tcPr>
                    <a:solidFill>
                      <a:srgbClr val="F7FAF7"/>
                    </a:solidFill>
                  </a:tcPr>
                </a:tc>
              </a:tr>
              <a:tr h="329184">
                <a:tc>
                  <a:txBody>
                    <a:bodyPr/>
                    <a:lstStyle/>
                    <a:p>
                      <a:pPr>
                        <a:defRPr>
                          <a:latin typeface="Roboto"/>
                        </a:defRPr>
                      </a:pPr>
                      <a:r>
                        <a:rPr sz="1050">
                          <a:solidFill>
                            <a:srgbClr val="25342A"/>
                          </a:solidFill>
                          <a:latin typeface="Roboto"/>
                        </a:rPr>
                        <a:t>Gross margin jobs need just to cover overheads and time not charged</a:t>
                      </a:r>
                    </a:p>
                  </a:txBody>
                  <a:tcPr>
                    <a:solidFill>
                      <a:srgbClr val="FFFFFF"/>
                    </a:solidFill>
                  </a:tcPr>
                </a:tc>
                <a:tc>
                  <a:txBody>
                    <a:bodyPr/>
                    <a:lstStyle/>
                    <a:p>
                      <a:pPr algn="r">
                        <a:defRPr>
                          <a:latin typeface="Roboto"/>
                        </a:defRPr>
                      </a:pPr>
                      <a:r>
                        <a:rPr sz="1050">
                          <a:solidFill>
                            <a:srgbClr val="25342A"/>
                          </a:solidFill>
                          <a:latin typeface="Roboto"/>
                        </a:rPr>
                        <a:t>27.7%</a:t>
                      </a:r>
                    </a:p>
                  </a:txBody>
                  <a:tcPr>
                    <a:solidFill>
                      <a:srgbClr val="FFFFFF"/>
                    </a:solidFill>
                  </a:tcPr>
                </a:tc>
              </a:tr>
            </a:tbl>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3 of 21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All jobs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All jobs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38.6%</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January 35.3%</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4 of 21</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February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5 of 21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type of job, February 2026 · Gross margin $ · Type of job: All jobs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Revenue less materials, subcontractors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6 of 21</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All jobs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In February maintenance contracts made a 59.6% job gross margin, installations made a 31.2% job gross margin, call-outs and repairs made a 43.8% job gross margin (technician time at $68 an hour, wages and all on-costs). Jobs need 27.7%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Maintenance contracts: 59.6% gross margin, the most profitable work you do. Every type of job clears it; installations only just.</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7 of 21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Maintenance contracts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Maintenance contracts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59.6%</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January 59.5%</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8 of 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February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9 of 21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maintenance contract, February 2026 · Gross margin $ · Type of job: Maintenance contracts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The month's fee less materials and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10 of 21</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Maintenance contracts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All 13 contracts made more than the 35.0% job gross margin target. The thinnest was Kangaroo Point townhouses at 58.2% job gross margin: 14.0 h of technician time on a $2,400 monthly fee.</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The Kangaroo Point townhouses contract: 58.2% gross margin, 30.5 points clear of the 27.7% overheads need. Maintenance contracts overall: 59.6% gross margin.</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11 of 21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Installations</a:t>
            </a:r>
          </a:p>
        </p:txBody>
      </p:sp>
      <p:sp>
        <p:nvSpPr>
          <p:cNvPr id="5" name="Rectangle 4"/>
          <p:cNvSpPr/>
          <p:nvPr/>
        </p:nvSpPr>
        <p:spPr>
          <a:xfrm>
            <a:off x="457200" y="1645920"/>
            <a:ext cx="11277295"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10911535"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Installations</a:t>
            </a:r>
          </a:p>
        </p:txBody>
      </p:sp>
      <p:sp>
        <p:nvSpPr>
          <p:cNvPr id="7" name="TextBox 6"/>
          <p:cNvSpPr txBox="1"/>
          <p:nvPr/>
        </p:nvSpPr>
        <p:spPr>
          <a:xfrm>
            <a:off x="640080" y="2240280"/>
            <a:ext cx="10911535" cy="731520"/>
          </a:xfrm>
          <a:prstGeom prst="rect">
            <a:avLst/>
          </a:prstGeom>
          <a:noFill/>
        </p:spPr>
        <p:txBody>
          <a:bodyPr wrap="square">
            <a:spAutoFit/>
          </a:bodyPr>
          <a:lstStyle/>
          <a:p>
            <a:pPr>
              <a:defRPr>
                <a:latin typeface="Roboto"/>
              </a:defRPr>
            </a:pPr>
            <a:r>
              <a:rPr sz="3000" b="1">
                <a:solidFill>
                  <a:srgbClr val="2F7A5D"/>
                </a:solidFill>
                <a:latin typeface="Roboto"/>
              </a:rPr>
              <a:t>31.2%</a:t>
            </a:r>
          </a:p>
        </p:txBody>
      </p:sp>
      <p:sp>
        <p:nvSpPr>
          <p:cNvPr id="8" name="TextBox 7"/>
          <p:cNvSpPr txBox="1"/>
          <p:nvPr/>
        </p:nvSpPr>
        <p:spPr>
          <a:xfrm>
            <a:off x="640080" y="3017520"/>
            <a:ext cx="10911535" cy="548640"/>
          </a:xfrm>
          <a:prstGeom prst="rect">
            <a:avLst/>
          </a:prstGeom>
          <a:noFill/>
        </p:spPr>
        <p:txBody>
          <a:bodyPr wrap="square">
            <a:spAutoFit/>
          </a:bodyPr>
          <a:lstStyle/>
          <a:p>
            <a:pPr>
              <a:defRPr>
                <a:latin typeface="Roboto"/>
              </a:defRPr>
            </a:pPr>
            <a:r>
              <a:rPr sz="1100" b="0">
                <a:solidFill>
                  <a:srgbClr val="5F6F63"/>
                </a:solidFill>
                <a:latin typeface="Roboto"/>
              </a:rPr>
              <a:t>January 23.9%</a:t>
            </a:r>
          </a:p>
        </p:txBody>
      </p:sp>
      <p:sp>
        <p:nvSpPr>
          <p:cNvPr id="9" name="TextBox 8"/>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0" name="TextBox 9"/>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1" name="TextBox 10"/>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12 of 21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February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13 of 21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each installation invoiced in February 2026 · Gross margin $ · Type of job: Installations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Whole job, recognised when invoiced: revenue less materials, subcontractors and technician time at $68/hour. Before overheads: not profit. One 35.0% target for every job for now.</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14 of 21</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Installations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3 of the 4 installation jobs invoiced in February made less than the 35.0% job gross margin target. The Salisbury gym air-con install made a 22.9% job gross margin: 71.5 h of technician time ($4,862) and $1,300 of subcontractors on a $18,100 job. Jobs need 27.7% gross margin just to cover overheads.</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Below the 27.7% overheads need: Kedron shop switchboard upgrade (24.1%), Salisbury gym air-con install (22.9%). Most profitable: Taringa warehouse EV chargers (40.5%).</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15 of 21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Headline numbers · Type of job: Call-outs and repairs</a:t>
            </a:r>
          </a:p>
        </p:txBody>
      </p:sp>
      <p:sp>
        <p:nvSpPr>
          <p:cNvPr id="5" name="Rectangle 4"/>
          <p:cNvSpPr/>
          <p:nvPr/>
        </p:nvSpPr>
        <p:spPr>
          <a:xfrm>
            <a:off x="457200"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40080"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Job gross margin, February · Call-outs and repairs</a:t>
            </a:r>
          </a:p>
        </p:txBody>
      </p:sp>
      <p:sp>
        <p:nvSpPr>
          <p:cNvPr id="7" name="TextBox 6"/>
          <p:cNvSpPr txBox="1"/>
          <p:nvPr/>
        </p:nvSpPr>
        <p:spPr>
          <a:xfrm>
            <a:off x="640080"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43.8%</a:t>
            </a:r>
          </a:p>
        </p:txBody>
      </p:sp>
      <p:sp>
        <p:nvSpPr>
          <p:cNvPr id="8" name="TextBox 7"/>
          <p:cNvSpPr txBox="1"/>
          <p:nvPr/>
        </p:nvSpPr>
        <p:spPr>
          <a:xfrm>
            <a:off x="640080"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January 43.3%</a:t>
            </a:r>
          </a:p>
        </p:txBody>
      </p:sp>
      <p:sp>
        <p:nvSpPr>
          <p:cNvPr id="9" name="Rectangle 8"/>
          <p:cNvSpPr/>
          <p:nvPr/>
        </p:nvSpPr>
        <p:spPr>
          <a:xfrm>
            <a:off x="4307738"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0" name="TextBox 9"/>
          <p:cNvSpPr txBox="1"/>
          <p:nvPr/>
        </p:nvSpPr>
        <p:spPr>
          <a:xfrm>
            <a:off x="4490618"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Technician time charged, February</a:t>
            </a:r>
          </a:p>
        </p:txBody>
      </p:sp>
      <p:sp>
        <p:nvSpPr>
          <p:cNvPr id="11" name="TextBox 10"/>
          <p:cNvSpPr txBox="1"/>
          <p:nvPr/>
        </p:nvSpPr>
        <p:spPr>
          <a:xfrm>
            <a:off x="4490618"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$20,446</a:t>
            </a:r>
          </a:p>
        </p:txBody>
      </p:sp>
      <p:sp>
        <p:nvSpPr>
          <p:cNvPr id="12" name="TextBox 11"/>
          <p:cNvSpPr txBox="1"/>
          <p:nvPr/>
        </p:nvSpPr>
        <p:spPr>
          <a:xfrm>
            <a:off x="4490618"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69.1% of call-out revenue</a:t>
            </a:r>
          </a:p>
        </p:txBody>
      </p:sp>
      <p:sp>
        <p:nvSpPr>
          <p:cNvPr id="13" name="Rectangle 12"/>
          <p:cNvSpPr/>
          <p:nvPr/>
        </p:nvSpPr>
        <p:spPr>
          <a:xfrm>
            <a:off x="8158276" y="1645920"/>
            <a:ext cx="3576218" cy="2011680"/>
          </a:xfrm>
          <a:prstGeom prst="rect">
            <a:avLst/>
          </a:prstGeom>
          <a:solidFill>
            <a:srgbClr val="F7FAF7"/>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14" name="TextBox 13"/>
          <p:cNvSpPr txBox="1"/>
          <p:nvPr/>
        </p:nvSpPr>
        <p:spPr>
          <a:xfrm>
            <a:off x="8341156" y="1783080"/>
            <a:ext cx="3210458" cy="457200"/>
          </a:xfrm>
          <a:prstGeom prst="rect">
            <a:avLst/>
          </a:prstGeom>
          <a:noFill/>
        </p:spPr>
        <p:txBody>
          <a:bodyPr wrap="square">
            <a:spAutoFit/>
          </a:bodyPr>
          <a:lstStyle/>
          <a:p>
            <a:pPr>
              <a:defRPr>
                <a:latin typeface="Roboto"/>
              </a:defRPr>
            </a:pPr>
            <a:r>
              <a:rPr sz="1200" b="0">
                <a:solidFill>
                  <a:srgbClr val="5F6F63"/>
                </a:solidFill>
                <a:latin typeface="Roboto"/>
              </a:rPr>
              <a:t>Materials charged, February</a:t>
            </a:r>
          </a:p>
        </p:txBody>
      </p:sp>
      <p:sp>
        <p:nvSpPr>
          <p:cNvPr id="15" name="TextBox 14"/>
          <p:cNvSpPr txBox="1"/>
          <p:nvPr/>
        </p:nvSpPr>
        <p:spPr>
          <a:xfrm>
            <a:off x="8341156" y="2240280"/>
            <a:ext cx="3210458" cy="731520"/>
          </a:xfrm>
          <a:prstGeom prst="rect">
            <a:avLst/>
          </a:prstGeom>
          <a:noFill/>
        </p:spPr>
        <p:txBody>
          <a:bodyPr wrap="square">
            <a:spAutoFit/>
          </a:bodyPr>
          <a:lstStyle/>
          <a:p>
            <a:pPr>
              <a:defRPr>
                <a:latin typeface="Roboto"/>
              </a:defRPr>
            </a:pPr>
            <a:r>
              <a:rPr sz="3000" b="1">
                <a:solidFill>
                  <a:srgbClr val="2F7A5D"/>
                </a:solidFill>
                <a:latin typeface="Roboto"/>
              </a:rPr>
              <a:t>$9,126</a:t>
            </a:r>
          </a:p>
        </p:txBody>
      </p:sp>
      <p:sp>
        <p:nvSpPr>
          <p:cNvPr id="16" name="TextBox 15"/>
          <p:cNvSpPr txBox="1"/>
          <p:nvPr/>
        </p:nvSpPr>
        <p:spPr>
          <a:xfrm>
            <a:off x="8341156" y="3017520"/>
            <a:ext cx="3210458" cy="548640"/>
          </a:xfrm>
          <a:prstGeom prst="rect">
            <a:avLst/>
          </a:prstGeom>
          <a:noFill/>
        </p:spPr>
        <p:txBody>
          <a:bodyPr wrap="square">
            <a:spAutoFit/>
          </a:bodyPr>
          <a:lstStyle/>
          <a:p>
            <a:pPr>
              <a:defRPr>
                <a:latin typeface="Roboto"/>
              </a:defRPr>
            </a:pPr>
            <a:r>
              <a:rPr sz="1100" b="0">
                <a:solidFill>
                  <a:srgbClr val="5F6F63"/>
                </a:solidFill>
                <a:latin typeface="Roboto"/>
              </a:rPr>
              <a:t>$7,020 at cost, plus 30%</a:t>
            </a:r>
          </a:p>
        </p:txBody>
      </p:sp>
      <p:sp>
        <p:nvSpPr>
          <p:cNvPr id="17" name="TextBox 1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8" name="TextBox 1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9" name="TextBox 1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16 of 21</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February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172200"/>
            <a:ext cx="10972800" cy="274320"/>
          </a:xfrm>
          <a:prstGeom prst="rect">
            <a:avLst/>
          </a:prstGeom>
          <a:noFill/>
        </p:spPr>
        <p:txBody>
          <a:bodyPr wrap="square">
            <a:spAutoFit/>
          </a:bodyPr>
          <a:lstStyle/>
          <a:p>
            <a:pPr>
              <a:defRPr>
                <a:latin typeface="Roboto"/>
              </a:defRPr>
            </a:pPr>
            <a:r>
              <a:rPr sz="1000" b="0">
                <a:solidFill>
                  <a:srgbClr val="5F6F63"/>
                </a:solidFill>
                <a:latin typeface="Roboto"/>
              </a:rPr>
              <a:t>Target 35.0%  ·  grey = below target</a:t>
            </a:r>
          </a:p>
        </p:txBody>
      </p:sp>
      <p:sp>
        <p:nvSpPr>
          <p:cNvPr id="8" name="TextBox 7"/>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9" name="TextBox 8"/>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0" name="TextBox 9"/>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17 of 21</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on call-outs by length, February 2026 · Gross margin $ · Type of job: Call-outs and repairs</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Charged at $145/hour plus materials at cost × 1.3; technician time at $68/hour.</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18 of 21</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What it shows · Type of job: Call-outs and repairs</a:t>
            </a:r>
          </a:p>
        </p:txBody>
      </p:sp>
      <p:sp>
        <p:nvSpPr>
          <p:cNvPr id="5" name="Rectangle 4"/>
          <p:cNvSpPr/>
          <p:nvPr/>
        </p:nvSpPr>
        <p:spPr>
          <a:xfrm>
            <a:off x="457200" y="1554480"/>
            <a:ext cx="5501487" cy="4389120"/>
          </a:xfrm>
          <a:prstGeom prst="rect">
            <a:avLst/>
          </a:prstGeom>
          <a:solidFill>
            <a:srgbClr val="FFFFFF"/>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6" name="TextBox 5"/>
          <p:cNvSpPr txBox="1"/>
          <p:nvPr/>
        </p:nvSpPr>
        <p:spPr>
          <a:xfrm>
            <a:off x="685800"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IT SHOWS</a:t>
            </a:r>
          </a:p>
        </p:txBody>
      </p:sp>
      <p:sp>
        <p:nvSpPr>
          <p:cNvPr id="7" name="TextBox 6"/>
          <p:cNvSpPr txBox="1"/>
          <p:nvPr/>
        </p:nvSpPr>
        <p:spPr>
          <a:xfrm>
            <a:off x="685800"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57 call-outs in February billed $20,446 of technician time and $9,126 of materials ($7,020 at cost plus 30%), and made a 43.8% job gross margin between them. Gross margins run from 37.0% to 47.8% by length: the hourly rate covers technician time comfortably, so the gross margin mostly moves with how much material goes on the van.</a:t>
            </a:r>
          </a:p>
        </p:txBody>
      </p:sp>
      <p:sp>
        <p:nvSpPr>
          <p:cNvPr id="8" name="Rectangle 7"/>
          <p:cNvSpPr/>
          <p:nvPr/>
        </p:nvSpPr>
        <p:spPr>
          <a:xfrm>
            <a:off x="6233007" y="1554480"/>
            <a:ext cx="5501487" cy="4389120"/>
          </a:xfrm>
          <a:prstGeom prst="rect">
            <a:avLst/>
          </a:prstGeom>
          <a:solidFill>
            <a:srgbClr val="EEF5F0"/>
          </a:solidFill>
          <a:ln>
            <a:solidFill>
              <a:srgbClr val="DCE8DC"/>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9" name="TextBox 8"/>
          <p:cNvSpPr txBox="1"/>
          <p:nvPr/>
        </p:nvSpPr>
        <p:spPr>
          <a:xfrm>
            <a:off x="6461607" y="1691640"/>
            <a:ext cx="5044287" cy="365760"/>
          </a:xfrm>
          <a:prstGeom prst="rect">
            <a:avLst/>
          </a:prstGeom>
          <a:noFill/>
        </p:spPr>
        <p:txBody>
          <a:bodyPr wrap="square">
            <a:spAutoFit/>
          </a:bodyPr>
          <a:lstStyle/>
          <a:p>
            <a:pPr>
              <a:defRPr>
                <a:latin typeface="Roboto"/>
              </a:defRPr>
            </a:pPr>
            <a:r>
              <a:rPr sz="1100" b="1">
                <a:solidFill>
                  <a:srgbClr val="5F6F63"/>
                </a:solidFill>
                <a:latin typeface="Roboto"/>
              </a:rPr>
              <a:t>WHAT YOU'D DO ABOUT IT</a:t>
            </a:r>
          </a:p>
        </p:txBody>
      </p:sp>
      <p:sp>
        <p:nvSpPr>
          <p:cNvPr id="10" name="TextBox 9"/>
          <p:cNvSpPr txBox="1"/>
          <p:nvPr/>
        </p:nvSpPr>
        <p:spPr>
          <a:xfrm>
            <a:off x="6461607" y="2103120"/>
            <a:ext cx="5044287" cy="3749039"/>
          </a:xfrm>
          <a:prstGeom prst="rect">
            <a:avLst/>
          </a:prstGeom>
          <a:noFill/>
        </p:spPr>
        <p:txBody>
          <a:bodyPr wrap="square">
            <a:spAutoFit/>
          </a:bodyPr>
          <a:lstStyle/>
          <a:p>
            <a:pPr>
              <a:defRPr>
                <a:latin typeface="Roboto"/>
              </a:defRPr>
            </a:pPr>
            <a:r>
              <a:rPr sz="1600" b="0">
                <a:solidFill>
                  <a:srgbClr val="25342A"/>
                </a:solidFill>
                <a:latin typeface="Roboto"/>
              </a:rPr>
              <a:t>Call-outs: 43.8% gross margin, 16.1 points clear of the 27.7% overheads need.</a:t>
            </a:r>
          </a:p>
        </p:txBody>
      </p:sp>
      <p:sp>
        <p:nvSpPr>
          <p:cNvPr id="11" name="TextBox 10"/>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12" name="TextBox 11"/>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13" name="TextBox 12"/>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19 of 21</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20 of 21</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73152"/>
          </a:xfrm>
          <a:prstGeom prst="rect">
            <a:avLst/>
          </a:prstGeom>
          <a:solidFill>
            <a:srgbClr val="2F7A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a:latin typeface="Roboto"/>
              </a:defRPr>
            </a:pPr>
          </a:p>
        </p:txBody>
      </p:sp>
      <p:sp>
        <p:nvSpPr>
          <p:cNvPr id="3" name="TextBox 2"/>
          <p:cNvSpPr txBox="1"/>
          <p:nvPr/>
        </p:nvSpPr>
        <p:spPr>
          <a:xfrm>
            <a:off x="457200" y="164592"/>
            <a:ext cx="7315200" cy="274320"/>
          </a:xfrm>
          <a:prstGeom prst="rect">
            <a:avLst/>
          </a:prstGeom>
          <a:noFill/>
        </p:spPr>
        <p:txBody>
          <a:bodyPr wrap="square">
            <a:spAutoFit/>
          </a:bodyPr>
          <a:lstStyle/>
          <a:p>
            <a:pPr>
              <a:defRPr>
                <a:latin typeface="Roboto"/>
              </a:defRPr>
            </a:pPr>
            <a:r>
              <a:rPr sz="1000" b="0">
                <a:solidFill>
                  <a:srgbClr val="5F6F63"/>
                </a:solidFill>
                <a:latin typeface="Roboto"/>
              </a:rPr>
              <a:t>Sample Electrical &amp; Air Pty Ltd · Which jobs actually make money?</a:t>
            </a:r>
          </a:p>
        </p:txBody>
      </p:sp>
      <p:sp>
        <p:nvSpPr>
          <p:cNvPr id="4" name="TextBox 3"/>
          <p:cNvSpPr txBox="1"/>
          <p:nvPr/>
        </p:nvSpPr>
        <p:spPr>
          <a:xfrm>
            <a:off x="457200" y="411480"/>
            <a:ext cx="11247120" cy="548640"/>
          </a:xfrm>
          <a:prstGeom prst="rect">
            <a:avLst/>
          </a:prstGeom>
          <a:noFill/>
        </p:spPr>
        <p:txBody>
          <a:bodyPr wrap="square">
            <a:spAutoFit/>
          </a:bodyPr>
          <a:lstStyle/>
          <a:p>
            <a:pPr>
              <a:defRPr>
                <a:latin typeface="Roboto"/>
              </a:defRPr>
            </a:pPr>
            <a:r>
              <a:rPr sz="2400" b="1">
                <a:solidFill>
                  <a:srgbClr val="25342A"/>
                </a:solidFill>
                <a:latin typeface="Roboto"/>
              </a:rPr>
              <a:t>Job gross margin by month · Gross margin $ · Every type of job at once</a:t>
            </a:r>
          </a:p>
        </p:txBody>
      </p:sp>
      <p:sp>
        <p:nvSpPr>
          <p:cNvPr id="5" name="TextBox 4"/>
          <p:cNvSpPr txBox="1"/>
          <p:nvPr/>
        </p:nvSpPr>
        <p:spPr>
          <a:xfrm>
            <a:off x="457200" y="960120"/>
            <a:ext cx="11247120" cy="457200"/>
          </a:xfrm>
          <a:prstGeom prst="rect">
            <a:avLst/>
          </a:prstGeom>
          <a:noFill/>
        </p:spPr>
        <p:txBody>
          <a:bodyPr wrap="square">
            <a:spAutoFit/>
          </a:bodyPr>
          <a:lstStyle/>
          <a:p>
            <a:pPr>
              <a:defRPr>
                <a:latin typeface="Roboto"/>
              </a:defRPr>
            </a:pPr>
            <a:r>
              <a:rPr sz="1200" b="0">
                <a:solidFill>
                  <a:srgbClr val="5F6F63"/>
                </a:solidFill>
                <a:latin typeface="Roboto"/>
              </a:rPr>
              <a:t>Tap a month for its workings.</a:t>
            </a:r>
          </a:p>
        </p:txBody>
      </p:sp>
      <p:graphicFrame>
        <p:nvGraphicFramePr>
          <p:cNvPr id="6" name="Chart 5"/>
          <p:cNvGraphicFramePr>
            <a:graphicFrameLocks noGrp="1"/>
          </p:cNvGraphicFramePr>
          <p:nvPr/>
        </p:nvGraphicFramePr>
        <p:xfrm>
          <a:off x="457200" y="1463040"/>
          <a:ext cx="11247120" cy="4754880"/>
        </p:xfrm>
        <a:graphic>
          <a:graphicData uri="http://schemas.openxmlformats.org/drawingml/2006/chart">
            <c:chart xmlns:c="http://schemas.openxmlformats.org/drawingml/2006/chart" r:id="rId2"/>
          </a:graphicData>
        </a:graphic>
      </p:graphicFrame>
      <p:sp>
        <p:nvSpPr>
          <p:cNvPr id="7" name="TextBox 6"/>
          <p:cNvSpPr txBox="1"/>
          <p:nvPr/>
        </p:nvSpPr>
        <p:spPr>
          <a:xfrm>
            <a:off x="457200" y="6492240"/>
            <a:ext cx="3657600" cy="274320"/>
          </a:xfrm>
          <a:prstGeom prst="rect">
            <a:avLst/>
          </a:prstGeom>
          <a:noFill/>
        </p:spPr>
        <p:txBody>
          <a:bodyPr wrap="square">
            <a:spAutoFit/>
          </a:bodyPr>
          <a:lstStyle/>
          <a:p>
            <a:pPr>
              <a:defRPr>
                <a:latin typeface="Roboto"/>
              </a:defRPr>
            </a:pPr>
            <a:r>
              <a:rPr sz="900" b="0">
                <a:solidFill>
                  <a:srgbClr val="5F6F63"/>
                </a:solidFill>
                <a:latin typeface="Roboto"/>
              </a:rPr>
              <a:t>job-margins.pptx</a:t>
            </a:r>
          </a:p>
        </p:txBody>
      </p:sp>
      <p:sp>
        <p:nvSpPr>
          <p:cNvPr id="8" name="TextBox 7"/>
          <p:cNvSpPr txBox="1"/>
          <p:nvPr/>
        </p:nvSpPr>
        <p:spPr>
          <a:xfrm>
            <a:off x="4297680" y="6492240"/>
            <a:ext cx="3657600" cy="274320"/>
          </a:xfrm>
          <a:prstGeom prst="rect">
            <a:avLst/>
          </a:prstGeom>
          <a:noFill/>
        </p:spPr>
        <p:txBody>
          <a:bodyPr wrap="square">
            <a:spAutoFit/>
          </a:bodyPr>
          <a:lstStyle/>
          <a:p>
            <a:pPr algn="ctr">
              <a:defRPr>
                <a:latin typeface="Roboto"/>
              </a:defRPr>
            </a:pPr>
            <a:r>
              <a:rPr sz="900" b="0">
                <a:solidFill>
                  <a:srgbClr val="5F6F63"/>
                </a:solidFill>
                <a:latin typeface="Roboto"/>
              </a:rPr>
              <a:t>Data retrieved 2pm, Tue 6 Oct 2026 · Sample data</a:t>
            </a:r>
          </a:p>
        </p:txBody>
      </p:sp>
      <p:sp>
        <p:nvSpPr>
          <p:cNvPr id="9" name="TextBox 8"/>
          <p:cNvSpPr txBox="1"/>
          <p:nvPr/>
        </p:nvSpPr>
        <p:spPr>
          <a:xfrm>
            <a:off x="8503920" y="6492240"/>
            <a:ext cx="3200400" cy="274320"/>
          </a:xfrm>
          <a:prstGeom prst="rect">
            <a:avLst/>
          </a:prstGeom>
          <a:noFill/>
        </p:spPr>
        <p:txBody>
          <a:bodyPr wrap="square">
            <a:spAutoFit/>
          </a:bodyPr>
          <a:lstStyle/>
          <a:p>
            <a:pPr algn="r">
              <a:defRPr>
                <a:latin typeface="Roboto"/>
              </a:defRPr>
            </a:pPr>
            <a:r>
              <a:rPr sz="900" b="0">
                <a:solidFill>
                  <a:srgbClr val="5F6F63"/>
                </a:solidFill>
                <a:latin typeface="Roboto"/>
              </a:rPr>
              <a:t>Slide 21 of 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