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31.2</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40404</c:v>
                </c:pt>
                <c:pt idx="1">
                  <c:v>12964</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0.0"%";[Red](0.0"%")</c:formatCode>
                <c:ptCount val="4"/>
                <c:pt idx="0">
                  <c:v>22.9</c:v>
                </c:pt>
                <c:pt idx="1">
                  <c:v>24.1</c:v>
                </c:pt>
                <c:pt idx="2">
                  <c:v>32.9</c:v>
                </c:pt>
                <c:pt idx="3">
                  <c:v>40.5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0E9F6E"/>
              </a:solidFill>
            </c:spPr>
          </c:dPt>
          <c:cat>
            <c:strRef>
              <c:f>Sheet1!$A$2:$A$5</c:f>
              <c:strCache>
                <c:ptCount val="4"/>
                <c:pt idx="0">
                  <c:v>Salisbury gym air-con install</c:v>
                </c:pt>
                <c:pt idx="1">
                  <c:v>Kedron shop switchboard upgrade</c:v>
                </c:pt>
                <c:pt idx="2">
                  <c:v>Taringa clinic LED lighting</c:v>
                </c:pt>
                <c:pt idx="3">
                  <c:v>Taringa warehouse EV chargers</c:v>
                </c:pt>
              </c:strCache>
            </c:strRef>
          </c:cat>
          <c:val>
            <c:numRef>
              <c:f>Sheet1!$B$2:$B$5</c:f>
              <c:numCache>
                <c:formatCode>$#,##0;[Red]($#,##0);"-"</c:formatCode>
                <c:ptCount val="4"/>
                <c:pt idx="0">
                  <c:v>4138</c:v>
                </c:pt>
                <c:pt idx="1">
                  <c:v>8714</c:v>
                </c:pt>
                <c:pt idx="2">
                  <c:v>12260</c:v>
                </c:pt>
                <c:pt idx="3">
                  <c:v>15292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0.0"%";[Red](0.0"%")</c:formatCode>
                <c:ptCount val="6"/>
                <c:pt idx="0">
                  <c:v>37.0</c:v>
                </c:pt>
                <c:pt idx="1">
                  <c:v>38.4</c:v>
                </c:pt>
                <c:pt idx="2">
                  <c:v>41.3</c:v>
                </c:pt>
                <c:pt idx="3">
                  <c:v>44.3</c:v>
                </c:pt>
                <c:pt idx="4">
                  <c:v>45.9</c:v>
                </c:pt>
                <c:pt idx="5">
                  <c:v>47.8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(6)</c:v>
                </c:pt>
                <c:pt idx="2">
                  <c:v>2-hour call-outs (15)</c:v>
                </c:pt>
                <c:pt idx="3">
                  <c:v>2.5-hour call-outs (4)</c:v>
                </c:pt>
                <c:pt idx="4">
                  <c:v>3-hour call-outs (18)</c:v>
                </c:pt>
                <c:pt idx="5">
                  <c:v>4-hour call-outs (8)</c:v>
                </c:pt>
              </c:strCache>
            </c:strRef>
          </c:cat>
          <c:val>
            <c:numRef>
              <c:f>Sheet1!$B$2:$B$7</c:f>
              <c:numCache>
                <c:formatCode>$#,##0;[Red]($#,##0);"-"</c:formatCode>
                <c:ptCount val="6"/>
                <c:pt idx="0">
                  <c:v>693</c:v>
                </c:pt>
                <c:pt idx="1">
                  <c:v>982</c:v>
                </c:pt>
                <c:pt idx="2">
                  <c:v>2964</c:v>
                </c:pt>
                <c:pt idx="3">
                  <c:v>908</c:v>
                </c:pt>
                <c:pt idx="4">
                  <c:v>4725</c:v>
                </c:pt>
                <c:pt idx="5">
                  <c:v>2692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0.0"%";[Red](0.0"%")</c:formatCode>
                <c:ptCount val="17"/>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Sheet1!$A$2:$A$18</c:f>
              <c:strCache>
                <c:ptCount val="17"/>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strCache>
            </c:strRef>
          </c:cat>
          <c:val>
            <c:numRef>
              <c:f>Sheet1!$B$2:$B$18</c:f>
              <c:numCache>
                <c:formatCode>$#,##0;[Red]($#,##0);"-"</c:formatCode>
                <c:ptCount val="17"/>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February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January 2026: Locked. January 2026 is locked (closed 3 Feb 2026). These numbers won't change.</a:t>
            </a:r>
          </a:p>
          <a:p>
            <a:pPr>
              <a:defRPr>
                <a:latin typeface="Roboto"/>
              </a:defRPr>
            </a:pPr>
            <a:r>
              <a:rPr sz="1100" b="0">
                <a:solidFill>
                  <a:srgbClr val="5F6F63"/>
                </a:solidFill>
                <a:latin typeface="Roboto"/>
              </a:rPr>
              <a:t>February 2026: Locked. February 2026 is locked (closed 3 Mar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February's jobs made $75,710 gross margin (38.6%). Technician time not charged to jobs took ($4,832) and overheads $59,320, leaving $21,222 profit before tax (10.8% of revenue). To cover overheads, jobs need a 27.7%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February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$75,710</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$59,432</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($4,832)</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$80,542</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$59,320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$21,222</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$196,372</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38.6%</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10.8%</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27.7%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38.6%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January 35.3%</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February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February maintenance contracts made a 59.6% job gross margin, installations made a 31.2% job gross margin, call-outs and repairs made a 43.8% job gross margin (technician time at $68 an hour, wages and all on-costs). Jobs need 27.7%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59.6% gross margin, the most profitable work you do. Every type of job clears it; installations only just.</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January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February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30.5 points clear of the 27.7% overheads need. Maintenance contracts overall: 59.6%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31.2%</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January 23.9%</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February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3 of the 4 installation jobs invoiced in February made less than the 35.0% job gross margin target. The Salisbury gym air-con install made a 22.9% job gross margin: 71.5 h of technician time ($4,862) and $1,300 of subcontractors on a $18,100 job. Jobs need 27.7%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27.7% overheads need: Kedron shop switchboard upgrade (24.1%), Salisbury gym air-con install (22.9%). Most profitable: Taringa warehouse EV chargers (40.5%).</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February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January 43.3%</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February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$20,446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69.1%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February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$9,126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$7,020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February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57 call-outs in February billed $20,446 of technician time and $9,126 of materials ($7,020 at cost plus 30%), and made a 43.8% job gross margin between them. Gross margins run from 37.0% to 47.8%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43.8% gross margin, 16.1 points clear of the 27.7%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