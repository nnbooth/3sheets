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cat>
            <c:strRef>
              <c:f>Sheet1!$A$2:$A$3</c:f>
              <c:strCache>
                <c:ptCount val="2"/>
                <c:pt idx="0">
                  <c:v>Grants</c:v>
                </c:pt>
                <c:pt idx="1">
                  <c:v>Donations</c:v>
                </c:pt>
              </c:strCache>
            </c:strRef>
          </c:cat>
          <c:val>
            <c:numRef>
              <c:f>Sheet1!$B$2:$B$3</c:f>
              <c:numCache>
                <c:formatCode>0"¢";[Red](0"¢")</c:formatCode>
                <c:ptCount val="2"/>
                <c:pt idx="0">
                  <c:v>10</c:v>
                </c:pt>
                <c:pt idx="1">
                  <c:v>14</c:v>
                </c:pt>
              </c:numCache>
            </c:numRef>
          </c:val>
        </c:ser>
        <c:dLbls>
          <c:numFmt formatCode="0&quot;¢&quot;;[Red](0&quot;¢&quot;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Sheet1!$A$2:$A$22</c:f>
              <c:strCache>
                <c:ptCount val="21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</c:strCache>
            </c:strRef>
          </c:cat>
          <c:val>
            <c:numRef>
              <c:f>Sheet1!$B$2:$B$22</c:f>
              <c:numCache>
                <c:formatCode>$#,##0;[Red]($#,##0);"-"</c:formatCode>
                <c:ptCount val="21"/>
                <c:pt idx="0">
                  <c:v>41900</c:v>
                </c:pt>
                <c:pt idx="1">
                  <c:v>49500</c:v>
                </c:pt>
                <c:pt idx="2">
                  <c:v>60600</c:v>
                </c:pt>
                <c:pt idx="3">
                  <c:v>75100</c:v>
                </c:pt>
                <c:pt idx="4">
                  <c:v>77300</c:v>
                </c:pt>
                <c:pt idx="5">
                  <c:v>70200</c:v>
                </c:pt>
                <c:pt idx="6">
                  <c:v>77200</c:v>
                </c:pt>
                <c:pt idx="7">
                  <c:v>77500</c:v>
                </c:pt>
                <c:pt idx="8">
                  <c:v>90300</c:v>
                </c:pt>
                <c:pt idx="9">
                  <c:v>72563</c:v>
                </c:pt>
                <c:pt idx="10">
                  <c:v>77544</c:v>
                </c:pt>
                <c:pt idx="11">
                  <c:v>115037</c:v>
                </c:pt>
                <c:pt idx="12">
                  <c:v>85385</c:v>
                </c:pt>
                <c:pt idx="13">
                  <c:v>88864</c:v>
                </c:pt>
                <c:pt idx="14">
                  <c:v>101093</c:v>
                </c:pt>
                <c:pt idx="15">
                  <c:v>72885</c:v>
                </c:pt>
                <c:pt idx="16">
                  <c:v>72159</c:v>
                </c:pt>
                <c:pt idx="17">
                  <c:v>70306</c:v>
                </c:pt>
                <c:pt idx="18">
                  <c:v>83329</c:v>
                </c:pt>
                <c:pt idx="19">
                  <c:v>88845</c:v>
                </c:pt>
                <c:pt idx="20">
                  <c:v>110972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Sheet1!$A$2:$A$22</c:f>
              <c:strCache>
                <c:ptCount val="21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</c:strCache>
            </c:strRef>
          </c:cat>
          <c:val>
            <c:numRef>
              <c:f>Sheet1!$B$2:$B$22</c:f>
              <c:numCache>
                <c:formatCode>$#,##0;[Red]($#,##0);"-"</c:formatCode>
                <c:ptCount val="21"/>
                <c:pt idx="0">
                  <c:v>33200</c:v>
                </c:pt>
                <c:pt idx="1">
                  <c:v>39900</c:v>
                </c:pt>
                <c:pt idx="2">
                  <c:v>47100</c:v>
                </c:pt>
                <c:pt idx="3">
                  <c:v>66400</c:v>
                </c:pt>
                <c:pt idx="4">
                  <c:v>68600</c:v>
                </c:pt>
                <c:pt idx="5">
                  <c:v>61500</c:v>
                </c:pt>
                <c:pt idx="6">
                  <c:v>68500</c:v>
                </c:pt>
                <c:pt idx="7">
                  <c:v>68800</c:v>
                </c:pt>
                <c:pt idx="8">
                  <c:v>78300</c:v>
                </c:pt>
                <c:pt idx="9">
                  <c:v>63263</c:v>
                </c:pt>
                <c:pt idx="10">
                  <c:v>68244</c:v>
                </c:pt>
                <c:pt idx="11">
                  <c:v>90537</c:v>
                </c:pt>
                <c:pt idx="12">
                  <c:v>76085</c:v>
                </c:pt>
                <c:pt idx="13">
                  <c:v>78664</c:v>
                </c:pt>
                <c:pt idx="14">
                  <c:v>86993</c:v>
                </c:pt>
                <c:pt idx="15">
                  <c:v>63585</c:v>
                </c:pt>
                <c:pt idx="16">
                  <c:v>62859</c:v>
                </c:pt>
                <c:pt idx="17">
                  <c:v>61006</c:v>
                </c:pt>
                <c:pt idx="18">
                  <c:v>74029</c:v>
                </c:pt>
                <c:pt idx="19">
                  <c:v>79545</c:v>
                </c:pt>
                <c:pt idx="20">
                  <c:v>98372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Which funding is worth chasing?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June 2026. Each source of money compared on what it raises and what it costs to raise. Pick a source and every chart, table row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9377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May 2026: Locked. May 2026 is locked (closed 2 Jun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June 2026: Locked. June 2026 is locked (closed 2 Jul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Cost to raise a dollar, by source, June 2026 (cents) · Source: All sources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188720"/>
          <a:ext cx="11247120" cy="5029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Source: All sources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In June it cost: Grants 10¢, donations 14¢ to raise each dollar.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Cheapest to raise in June: grants (10¢ a dollar). Dearest: donations (14¢). Events are worth counting for what else they bring too (new donors, profile).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Source: Grants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Grants: $770,082 raised this financial year to date (74.1% of everything raised), $85,200 to raise it, so $684,882 left for programs: 11¢ per dollar.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Most of the money, and usually the cheapest to raise, starting with grants that renew.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Source: Donations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Donations: $225,900 raised this financial year to date (21.7% of everything raised), $32,800 to raise it, so $193,100 left for programs: 15¢ per dollar.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Cheap and flexible (untied): the money that builds reserves.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Source: Fundraising events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Fundraising events: $43,000 raised this financial year to date (4.1% of everything raised), $17,800 to raise it, so $25,200 left for programs: 41¢ per dollar.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The dearest per dollar: worth measuring the new donors each event brings in too.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Headline numbers · Every source at once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3576218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32104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Cheapest to raise: Grants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321045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10¢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321045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per $1 raised in June</a:t>
            </a:r>
          </a:p>
        </p:txBody>
      </p:sp>
      <p:sp>
        <p:nvSpPr>
          <p:cNvPr id="9" name="Rectangle 8"/>
          <p:cNvSpPr/>
          <p:nvPr/>
        </p:nvSpPr>
        <p:spPr>
          <a:xfrm>
            <a:off x="4307738" y="1645920"/>
            <a:ext cx="3576218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490618" y="1783080"/>
            <a:ext cx="32104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Dearest to raise: Donations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0618" y="2240280"/>
            <a:ext cx="321045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14¢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3017520"/>
            <a:ext cx="321045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per $1 raised in June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58276" y="1645920"/>
            <a:ext cx="3576218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341156" y="1783080"/>
            <a:ext cx="32104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Raised, year to date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41156" y="2240280"/>
            <a:ext cx="321045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$1,038,982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41156" y="3017520"/>
            <a:ext cx="321045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Jul to Jun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Financial year to date (Jul to Jun 2026), by source · Every source at once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124712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Raised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Cost of raising it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Left after costs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Cost per $1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Grants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$770,082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$85,200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$684,882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11¢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Donations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$225,900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$32,800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$193,100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15¢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Fundraising events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$43,000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$17,800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$25,200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41¢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8 of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Raised and left after costs, by month · Raised $ · Every source at once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471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9 of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Raised and left after costs, by month · Left after costs $ · Every source at once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471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10 of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