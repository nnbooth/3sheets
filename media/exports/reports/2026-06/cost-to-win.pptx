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0"/>
    <c:plotArea>
      <c:layout/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Value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Sheet1!$A$2:$A$22</c:f>
              <c:strCache>
                <c:ptCount val="21"/>
                <c:pt idx="0">
                  <c:v>Oct 24</c:v>
                </c:pt>
                <c:pt idx="1">
                  <c:v>Nov 24</c:v>
                </c:pt>
                <c:pt idx="2">
                  <c:v>Dec 24</c:v>
                </c:pt>
                <c:pt idx="3">
                  <c:v>Jan 25</c:v>
                </c:pt>
                <c:pt idx="4">
                  <c:v>Feb 25</c:v>
                </c:pt>
                <c:pt idx="5">
                  <c:v>Mar 25</c:v>
                </c:pt>
                <c:pt idx="6">
                  <c:v>Apr 25</c:v>
                </c:pt>
                <c:pt idx="7">
                  <c:v>May 25</c:v>
                </c:pt>
                <c:pt idx="8">
                  <c:v>Jun 25</c:v>
                </c:pt>
                <c:pt idx="9">
                  <c:v>Jul 25</c:v>
                </c:pt>
                <c:pt idx="10">
                  <c:v>Aug 25</c:v>
                </c:pt>
                <c:pt idx="11">
                  <c:v>Sep 25</c:v>
                </c:pt>
                <c:pt idx="12">
                  <c:v>Oct 25</c:v>
                </c:pt>
                <c:pt idx="13">
                  <c:v>Nov 25</c:v>
                </c:pt>
                <c:pt idx="14">
                  <c:v>Dec 25</c:v>
                </c:pt>
                <c:pt idx="15">
                  <c:v>Jan 26</c:v>
                </c:pt>
                <c:pt idx="16">
                  <c:v>Feb 26</c:v>
                </c:pt>
                <c:pt idx="17">
                  <c:v>Mar 26</c:v>
                </c:pt>
                <c:pt idx="18">
                  <c:v>Apr 26</c:v>
                </c:pt>
                <c:pt idx="19">
                  <c:v>May 26</c:v>
                </c:pt>
                <c:pt idx="20">
                  <c:v>Jun 26</c:v>
                </c:pt>
              </c:strCache>
            </c:strRef>
          </c:cat>
          <c:val>
            <c:numRef>
              <c:f>Sheet1!$B$2:$B$22</c:f>
              <c:numCache>
                <c:formatCode>$#,##0;[Red]($#,##0);"-"</c:formatCode>
                <c:ptCount val="21"/>
                <c:pt idx="0">
                  <c:v>253</c:v>
                </c:pt>
                <c:pt idx="1">
                  <c:v>255</c:v>
                </c:pt>
                <c:pt idx="2">
                  <c:v>211</c:v>
                </c:pt>
                <c:pt idx="3">
                  <c:v>200</c:v>
                </c:pt>
                <c:pt idx="4">
                  <c:v>246</c:v>
                </c:pt>
                <c:pt idx="5">
                  <c:v>247</c:v>
                </c:pt>
                <c:pt idx="6">
                  <c:v>280</c:v>
                </c:pt>
                <c:pt idx="7">
                  <c:v>271</c:v>
                </c:pt>
                <c:pt idx="8">
                  <c:v>263</c:v>
                </c:pt>
                <c:pt idx="9">
                  <c:v>300</c:v>
                </c:pt>
                <c:pt idx="10">
                  <c:v>233</c:v>
                </c:pt>
                <c:pt idx="11">
                  <c:v>269</c:v>
                </c:pt>
                <c:pt idx="12">
                  <c:v>261</c:v>
                </c:pt>
                <c:pt idx="13">
                  <c:v>227</c:v>
                </c:pt>
                <c:pt idx="14">
                  <c:v>173</c:v>
                </c:pt>
                <c:pt idx="15">
                  <c:v>182</c:v>
                </c:pt>
                <c:pt idx="16">
                  <c:v>221</c:v>
                </c:pt>
                <c:pt idx="17">
                  <c:v>227</c:v>
                </c:pt>
                <c:pt idx="18">
                  <c:v>240</c:v>
                </c:pt>
                <c:pt idx="19">
                  <c:v>233</c:v>
                </c:pt>
                <c:pt idx="20">
                  <c:v>215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noMultiLvlLbl val="0"/>
      </c:catAx>
      <c:valAx>
        <c:axId val="-2100718248"/>
        <c:scaling>
          <c:orientation val="minMax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$#,##0;[Red]($#,##0);&quot;-&quot;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</c:valAx>
    </c:plotArea>
    <c:plotVisOnly val="1"/>
    <c:dispBlanksAs val="zero"/>
    <c:showDLblsOverMax val="0"/>
  </c:chart>
  <c:txPr>
    <a:bodyPr/>
    <a:lstStyle/>
    <a:p>
      <a:pPr>
        <a:defRPr sz="1800"/>
      </a:pPr>
      <a:endParaRPr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0"/>
    <c:plotArea>
      <c:layout/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Value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Sheet1!$A$2:$A$22</c:f>
              <c:strCache>
                <c:ptCount val="21"/>
                <c:pt idx="0">
                  <c:v>Oct 24</c:v>
                </c:pt>
                <c:pt idx="1">
                  <c:v>Nov 24</c:v>
                </c:pt>
                <c:pt idx="2">
                  <c:v>Dec 24</c:v>
                </c:pt>
                <c:pt idx="3">
                  <c:v>Jan 25</c:v>
                </c:pt>
                <c:pt idx="4">
                  <c:v>Feb 25</c:v>
                </c:pt>
                <c:pt idx="5">
                  <c:v>Mar 25</c:v>
                </c:pt>
                <c:pt idx="6">
                  <c:v>Apr 25</c:v>
                </c:pt>
                <c:pt idx="7">
                  <c:v>May 25</c:v>
                </c:pt>
                <c:pt idx="8">
                  <c:v>Jun 25</c:v>
                </c:pt>
                <c:pt idx="9">
                  <c:v>Jul 25</c:v>
                </c:pt>
                <c:pt idx="10">
                  <c:v>Aug 25</c:v>
                </c:pt>
                <c:pt idx="11">
                  <c:v>Sep 25</c:v>
                </c:pt>
                <c:pt idx="12">
                  <c:v>Oct 25</c:v>
                </c:pt>
                <c:pt idx="13">
                  <c:v>Nov 25</c:v>
                </c:pt>
                <c:pt idx="14">
                  <c:v>Dec 25</c:v>
                </c:pt>
                <c:pt idx="15">
                  <c:v>Jan 26</c:v>
                </c:pt>
                <c:pt idx="16">
                  <c:v>Feb 26</c:v>
                </c:pt>
                <c:pt idx="17">
                  <c:v>Mar 26</c:v>
                </c:pt>
                <c:pt idx="18">
                  <c:v>Apr 26</c:v>
                </c:pt>
                <c:pt idx="19">
                  <c:v>May 26</c:v>
                </c:pt>
                <c:pt idx="20">
                  <c:v>Jun 26</c:v>
                </c:pt>
              </c:strCache>
            </c:strRef>
          </c:cat>
          <c:val>
            <c:numRef>
              <c:f>Sheet1!$B$2:$B$22</c:f>
              <c:numCache>
                <c:formatCode>#,##0;[Red](#,##0)</c:formatCode>
                <c:ptCount val="21"/>
                <c:pt idx="0">
                  <c:v>34</c:v>
                </c:pt>
                <c:pt idx="1">
                  <c:v>33</c:v>
                </c:pt>
                <c:pt idx="2">
                  <c:v>37</c:v>
                </c:pt>
                <c:pt idx="3">
                  <c:v>40</c:v>
                </c:pt>
                <c:pt idx="4">
                  <c:v>35</c:v>
                </c:pt>
                <c:pt idx="5">
                  <c:v>34</c:v>
                </c:pt>
                <c:pt idx="6">
                  <c:v>30</c:v>
                </c:pt>
                <c:pt idx="7">
                  <c:v>31</c:v>
                </c:pt>
                <c:pt idx="8">
                  <c:v>32</c:v>
                </c:pt>
                <c:pt idx="9">
                  <c:v>28</c:v>
                </c:pt>
                <c:pt idx="10">
                  <c:v>36</c:v>
                </c:pt>
                <c:pt idx="11">
                  <c:v>32</c:v>
                </c:pt>
                <c:pt idx="12">
                  <c:v>33</c:v>
                </c:pt>
                <c:pt idx="13">
                  <c:v>37</c:v>
                </c:pt>
                <c:pt idx="14">
                  <c:v>45</c:v>
                </c:pt>
                <c:pt idx="15">
                  <c:v>44</c:v>
                </c:pt>
                <c:pt idx="16">
                  <c:v>39</c:v>
                </c:pt>
                <c:pt idx="17">
                  <c:v>37</c:v>
                </c:pt>
                <c:pt idx="18">
                  <c:v>35</c:v>
                </c:pt>
                <c:pt idx="19">
                  <c:v>36</c:v>
                </c:pt>
                <c:pt idx="20">
                  <c:v>39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noMultiLvlLbl val="0"/>
      </c:catAx>
      <c:valAx>
        <c:axId val="-2100718248"/>
        <c:scaling>
          <c:orientation val="minMax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#,##0;[Red](#,##0)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</c:valAx>
    </c:plotArea>
    <c:plotVisOnly val="1"/>
    <c:dispBlanksAs val="zero"/>
    <c:showDLblsOverMax val="0"/>
  </c:chart>
  <c:txPr>
    <a:bodyPr/>
    <a:lstStyle/>
    <a:p>
      <a:pPr>
        <a:defRPr sz="1800"/>
      </a:pPr>
      <a:endParaRPr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548640"/>
            <a:ext cx="640080" cy="640080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600" b="1">
                <a:solidFill>
                  <a:srgbClr val="FFFFFF"/>
                </a:solidFill>
              </a:rPr>
              <a:t>4th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34440" y="658368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>
                <a:solidFill>
                  <a:srgbClr val="25342A"/>
                </a:solidFill>
                <a:latin typeface="Arial"/>
              </a:rPr>
              <a:t>The 4th Sheet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5544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8A7A52"/>
                </a:solidFill>
                <a:latin typeface="Arial"/>
              </a:rPr>
              <a:t>SAMPLE DATA · invented figures for demonstration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011680"/>
            <a:ext cx="112471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25342A"/>
                </a:solidFill>
                <a:latin typeface="Arial"/>
              </a:rPr>
              <a:t>What does it cost to win a customer?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15468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5F6F63"/>
                </a:solidFill>
                <a:latin typeface="Arial"/>
              </a:rPr>
              <a:t>Sample Electrical &amp; Air Pty Ltd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703320"/>
            <a:ext cx="112471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25342A"/>
                </a:solidFill>
                <a:latin typeface="Arial"/>
              </a:rPr>
              <a:t>Period: June 2026. Marketing spend divided by the customers it actually brought in (a customer's first ever job), month by month.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937760"/>
            <a:ext cx="112471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5F6F63"/>
                </a:solidFill>
                <a:latin typeface="Arial"/>
              </a:rPr>
              <a:t>How final is this data?</a:t>
            </a:r>
          </a:p>
          <a:p>
            <a:r>
              <a:rPr sz="1100" b="0">
                <a:solidFill>
                  <a:srgbClr val="5F6F63"/>
                </a:solidFill>
                <a:latin typeface="Arial"/>
              </a:rPr>
              <a:t>May 2026: Locked. May 2026 is locked (closed 2 Jun 2026). These numbers won't change.</a:t>
            </a:r>
          </a:p>
          <a:p>
            <a:r>
              <a:rPr sz="1100" b="0">
                <a:solidFill>
                  <a:srgbClr val="5F6F63"/>
                </a:solidFill>
                <a:latin typeface="Arial"/>
              </a:rPr>
              <a:t>June 2026: Locked. June 2026 is locked (closed 2 Jul 2026). These numbers won't change.</a:t>
            </a:r>
          </a:p>
          <a:p>
            <a:r>
              <a:rPr sz="1100" b="0">
                <a:solidFill>
                  <a:srgbClr val="5F6F63"/>
                </a:solidFill>
                <a:latin typeface="Arial"/>
              </a:rPr>
              <a:t>October 2026: Incomplete. October 2026 is still in progress: figures to 6 Oct only.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5F6F63"/>
                </a:solidFill>
                <a:latin typeface="Arial"/>
              </a:rPr>
              <a:t>cost-to-win.pptx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5F6F63"/>
                </a:solidFill>
                <a:latin typeface="Arial"/>
              </a:rPr>
              <a:t>Data retrieved 2pm, Tue 6 Oct 2026 · Sample data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5F6F63"/>
                </a:solidFill>
                <a:latin typeface="Arial"/>
              </a:rPr>
              <a:t>Slide 1 of 5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5F6F63"/>
                </a:solidFill>
                <a:latin typeface="Arial"/>
              </a:rPr>
              <a:t>Sample Electrical &amp; Air Pty Ltd · What does it cost to win a customer?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25342A"/>
                </a:solidFill>
                <a:latin typeface="Arial"/>
              </a:rPr>
              <a:t>Headline numbers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645920"/>
            <a:ext cx="3576218" cy="201168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783080"/>
            <a:ext cx="321045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5F6F63"/>
                </a:solidFill>
                <a:latin typeface="Arial"/>
              </a:rPr>
              <a:t>June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240280"/>
            <a:ext cx="3210458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2F7A5D"/>
                </a:solidFill>
                <a:latin typeface="Arial"/>
              </a:rPr>
              <a:t>$215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017520"/>
            <a:ext cx="321045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5F6F63"/>
                </a:solidFill>
                <a:latin typeface="Arial"/>
              </a:rPr>
              <a:t>May $233</a:t>
            </a:r>
          </a:p>
        </p:txBody>
      </p:sp>
      <p:sp>
        <p:nvSpPr>
          <p:cNvPr id="9" name="Rectangle 8"/>
          <p:cNvSpPr/>
          <p:nvPr/>
        </p:nvSpPr>
        <p:spPr>
          <a:xfrm>
            <a:off x="4307738" y="1645920"/>
            <a:ext cx="3576218" cy="201168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490618" y="1783080"/>
            <a:ext cx="321045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5F6F63"/>
                </a:solidFill>
                <a:latin typeface="Arial"/>
              </a:rPr>
              <a:t>June last year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90618" y="2240280"/>
            <a:ext cx="3210458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2F7A5D"/>
                </a:solidFill>
                <a:latin typeface="Arial"/>
              </a:rPr>
              <a:t>$263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90618" y="3017520"/>
            <a:ext cx="321045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5F6F63"/>
                </a:solidFill>
                <a:latin typeface="Arial"/>
              </a:rPr>
              <a:t>32 new customers from $8,400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158276" y="1645920"/>
            <a:ext cx="3576218" cy="201168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341156" y="1783080"/>
            <a:ext cx="321045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5F6F63"/>
                </a:solidFill>
                <a:latin typeface="Arial"/>
              </a:rPr>
              <a:t>Year to date (Jul to Jun 2026)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41156" y="2240280"/>
            <a:ext cx="3210458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2F7A5D"/>
                </a:solidFill>
                <a:latin typeface="Arial"/>
              </a:rPr>
              <a:t>$228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41156" y="3017520"/>
            <a:ext cx="321045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5F6F63"/>
                </a:solidFill>
                <a:latin typeface="Arial"/>
              </a:rPr>
              <a:t>same period last year: not in the data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5F6F63"/>
                </a:solidFill>
                <a:latin typeface="Arial"/>
              </a:rPr>
              <a:t>cost-to-win.pptx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5F6F63"/>
                </a:solidFill>
                <a:latin typeface="Arial"/>
              </a:rPr>
              <a:t>Data retrieved 2pm, Tue 6 Oct 2026 · Sample data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5F6F63"/>
                </a:solidFill>
                <a:latin typeface="Arial"/>
              </a:rPr>
              <a:t>Slide 2 of 5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5F6F63"/>
                </a:solidFill>
                <a:latin typeface="Arial"/>
              </a:rPr>
              <a:t>Sample Electrical &amp; Air Pty Ltd · What does it cost to win a customer?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25342A"/>
                </a:solidFill>
                <a:latin typeface="Arial"/>
              </a:rPr>
              <a:t>Cost to win a customer, by month · $ per new customer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6012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5F6F63"/>
                </a:solidFill>
                <a:latin typeface="Arial"/>
              </a:rPr>
              <a:t>Customers are counted in the month of their first job.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463040"/>
          <a:ext cx="11247120" cy="47548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5F6F63"/>
                </a:solidFill>
                <a:latin typeface="Arial"/>
              </a:rPr>
              <a:t>cost-to-win.pptx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5F6F63"/>
                </a:solidFill>
                <a:latin typeface="Arial"/>
              </a:rPr>
              <a:t>Data retrieved 2pm, Tue 6 Oct 2026 · Sample data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5F6F63"/>
                </a:solidFill>
                <a:latin typeface="Arial"/>
              </a:rPr>
              <a:t>Slide 3 of 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5F6F63"/>
                </a:solidFill>
                <a:latin typeface="Arial"/>
              </a:rPr>
              <a:t>Sample Electrical &amp; Air Pty Ltd · What does it cost to win a customer?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25342A"/>
                </a:solidFill>
                <a:latin typeface="Arial"/>
              </a:rPr>
              <a:t>Cost to win a customer, by month · New customers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6012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5F6F63"/>
                </a:solidFill>
                <a:latin typeface="Arial"/>
              </a:rPr>
              <a:t>Customers are counted in the month of their first job.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463040"/>
          <a:ext cx="11247120" cy="47548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5F6F63"/>
                </a:solidFill>
                <a:latin typeface="Arial"/>
              </a:rPr>
              <a:t>cost-to-win.pptx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5F6F63"/>
                </a:solidFill>
                <a:latin typeface="Arial"/>
              </a:rPr>
              <a:t>Data retrieved 2pm, Tue 6 Oct 2026 · Sample data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5F6F63"/>
                </a:solidFill>
                <a:latin typeface="Arial"/>
              </a:rPr>
              <a:t>Slide 4 of 5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5F6F63"/>
                </a:solidFill>
                <a:latin typeface="Arial"/>
              </a:rPr>
              <a:t>Sample Electrical &amp; Air Pty Ltd · What does it cost to win a customer?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25342A"/>
                </a:solidFill>
                <a:latin typeface="Arial"/>
              </a:rPr>
              <a:t>What it shows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554480"/>
            <a:ext cx="5501487" cy="438912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691640"/>
            <a:ext cx="504428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5F6F63"/>
                </a:solidFill>
                <a:latin typeface="Arial"/>
              </a:rPr>
              <a:t>WHAT IT SHOWS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103120"/>
            <a:ext cx="5044287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25342A"/>
                </a:solidFill>
                <a:latin typeface="Arial"/>
              </a:rPr>
              <a:t>39 new customers came from $8,400 of marketing in June, against 36 from $8,400 in May: $215 each, down from $233.</a:t>
            </a:r>
          </a:p>
        </p:txBody>
      </p:sp>
      <p:sp>
        <p:nvSpPr>
          <p:cNvPr id="8" name="Rectangle 7"/>
          <p:cNvSpPr/>
          <p:nvPr/>
        </p:nvSpPr>
        <p:spPr>
          <a:xfrm>
            <a:off x="6233007" y="1554480"/>
            <a:ext cx="5501487" cy="438912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61607" y="1691640"/>
            <a:ext cx="504428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5F6F63"/>
                </a:solidFill>
                <a:latin typeface="Arial"/>
              </a:rPr>
              <a:t>WHAT YOU'D DO ABOUT 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61607" y="2103120"/>
            <a:ext cx="5044287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25342A"/>
                </a:solidFill>
                <a:latin typeface="Arial"/>
              </a:rPr>
              <a:t>A lower cost per customer with steady spend usually means the marketing mix is working. Recording where each new customer came from shows the cost per channel.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5F6F63"/>
                </a:solidFill>
                <a:latin typeface="Arial"/>
              </a:rPr>
              <a:t>cost-to-win.pptx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5F6F63"/>
                </a:solidFill>
                <a:latin typeface="Arial"/>
              </a:rPr>
              <a:t>Data retrieved 2pm, Tue 6 Oct 2026 · Sample data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5F6F63"/>
                </a:solidFill>
                <a:latin typeface="Arial"/>
              </a:rPr>
              <a:t>Slide 5 of 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