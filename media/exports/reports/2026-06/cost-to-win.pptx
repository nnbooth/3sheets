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0"/>
  <c:chart>
    <c:autoTitleDeleted val="1"/>
    <c:plotArea>
      <c:layout>
        <c:manualLayout>
          <c:layoutTarget val="inner"/>
          <c:xMode val="edge"/>
          <c:yMode val="edge"/>
          <c:x val="0.11"/>
          <c:y val="0.05"/>
          <c:w val="0.86"/>
          <c:h val="0.8"/>
        </c:manualLayout>
      </c:layout>
      <c:area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$ per new customer</c:v>
                </c:pt>
              </c:strCache>
            </c:strRef>
          </c:tx>
          <c:spPr>
            <a:solidFill>
              <a:srgbClr val="0E9F6E">
                <a:alpha val="25000"/>
              </a:srgbClr>
            </a:solidFill>
            <a:ln w="31750">
              <a:solidFill>
                <a:srgbClr val="0E9F6E"/>
              </a:solidFill>
            </a:ln>
          </c:spPr>
          <c:cat>
            <c:strRef>
              <c:f>Sheet1!$A$2:$A$22</c:f>
              <c:strCache>
                <c:ptCount val="21"/>
                <c:pt idx="0">
                  <c:v>Oct 24</c:v>
                </c:pt>
                <c:pt idx="1">
                  <c:v>Nov 24</c:v>
                </c:pt>
                <c:pt idx="2">
                  <c:v>Dec 24</c:v>
                </c:pt>
                <c:pt idx="3">
                  <c:v>Jan 25</c:v>
                </c:pt>
                <c:pt idx="4">
                  <c:v>Feb 25</c:v>
                </c:pt>
                <c:pt idx="5">
                  <c:v>Mar 25</c:v>
                </c:pt>
                <c:pt idx="6">
                  <c:v>Apr 25</c:v>
                </c:pt>
                <c:pt idx="7">
                  <c:v>May 25</c:v>
                </c:pt>
                <c:pt idx="8">
                  <c:v>Jun 25</c:v>
                </c:pt>
                <c:pt idx="9">
                  <c:v>Jul 25</c:v>
                </c:pt>
                <c:pt idx="10">
                  <c:v>Aug 25</c:v>
                </c:pt>
                <c:pt idx="11">
                  <c:v>Sep 25</c:v>
                </c:pt>
                <c:pt idx="12">
                  <c:v>Oct 25</c:v>
                </c:pt>
                <c:pt idx="13">
                  <c:v>Nov 25</c:v>
                </c:pt>
                <c:pt idx="14">
                  <c:v>Dec 25</c:v>
                </c:pt>
                <c:pt idx="15">
                  <c:v>Jan 26</c:v>
                </c:pt>
                <c:pt idx="16">
                  <c:v>Feb 26</c:v>
                </c:pt>
                <c:pt idx="17">
                  <c:v>Mar 26</c:v>
                </c:pt>
                <c:pt idx="18">
                  <c:v>Apr 26</c:v>
                </c:pt>
                <c:pt idx="19">
                  <c:v>May 26</c:v>
                </c:pt>
                <c:pt idx="20">
                  <c:v>Jun 26</c:v>
                </c:pt>
              </c:strCache>
            </c:strRef>
          </c:cat>
          <c:val>
            <c:numRef>
              <c:f>Sheet1!$B$2:$B$22</c:f>
              <c:numCache>
                <c:formatCode>$#,##0;[Red]($#,##0);"-"</c:formatCode>
                <c:ptCount val="21"/>
                <c:pt idx="0">
                  <c:v>253</c:v>
                </c:pt>
                <c:pt idx="1">
                  <c:v>255</c:v>
                </c:pt>
                <c:pt idx="2">
                  <c:v>211</c:v>
                </c:pt>
                <c:pt idx="3">
                  <c:v>200</c:v>
                </c:pt>
                <c:pt idx="4">
                  <c:v>246</c:v>
                </c:pt>
                <c:pt idx="5">
                  <c:v>247</c:v>
                </c:pt>
                <c:pt idx="6">
                  <c:v>280</c:v>
                </c:pt>
                <c:pt idx="7">
                  <c:v>271</c:v>
                </c:pt>
                <c:pt idx="8">
                  <c:v>263</c:v>
                </c:pt>
                <c:pt idx="9">
                  <c:v>300</c:v>
                </c:pt>
                <c:pt idx="10">
                  <c:v>233</c:v>
                </c:pt>
                <c:pt idx="11">
                  <c:v>269</c:v>
                </c:pt>
                <c:pt idx="12">
                  <c:v>261</c:v>
                </c:pt>
                <c:pt idx="13">
                  <c:v>227</c:v>
                </c:pt>
                <c:pt idx="14">
                  <c:v>173</c:v>
                </c:pt>
                <c:pt idx="15">
                  <c:v>182</c:v>
                </c:pt>
                <c:pt idx="16">
                  <c:v>221</c:v>
                </c:pt>
                <c:pt idx="17">
                  <c:v>227</c:v>
                </c:pt>
                <c:pt idx="18">
                  <c:v>240</c:v>
                </c:pt>
                <c:pt idx="19">
                  <c:v>233</c:v>
                </c:pt>
                <c:pt idx="20">
                  <c:v>215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-2101159928"/>
        <c:axId val="-2100718248"/>
      </c:areaChart>
      <c:catAx>
        <c:axId val="-2101159928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txPr>
          <a:bodyPr/>
          <a:lstStyle/>
          <a:p>
            <a:pPr>
              <a:defRPr sz="1000"/>
            </a:pPr>
          </a:p>
        </c:txPr>
        <c:crossAx val="-2100718248"/>
        <c:crosses val="autoZero"/>
        <c:auto val="1"/>
        <c:lblAlgn val="ctr"/>
        <c:lblOffset val="100"/>
        <c:tickLblSkip val="3"/>
        <c:noMultiLvlLbl val="0"/>
      </c:catAx>
      <c:valAx>
        <c:axId val="-2100718248"/>
        <c:scaling>
          <c:orientation val="minMax"/>
          <c:max val="400.0"/>
          <c:min val="0.0"/>
        </c:scaling>
        <c:delete val="0"/>
        <c:axPos val="l"/>
        <c:majorGridlines>
          <c:spPr>
            <a:ln>
              <a:solidFill>
                <a:srgbClr val="E6EAE7"/>
              </a:solidFill>
            </a:ln>
          </c:spPr>
        </c:majorGridlines>
        <c:numFmt formatCode="$#,##0;[Red]($#,##0);&quot;-&quot;" sourceLinked="0"/>
        <c:majorTickMark val="out"/>
        <c:minorTickMark val="none"/>
        <c:tickLblPos val="nextTo"/>
        <c:spPr>
          <a:ln>
            <a:noFill/>
          </a:ln>
        </c:spPr>
        <c:txPr>
          <a:bodyPr/>
          <a:lstStyle/>
          <a:p>
            <a:pPr>
              <a:defRPr sz="1000"/>
            </a:pPr>
          </a:p>
        </c:txPr>
        <c:crossAx val="-2101159928"/>
        <c:crosses val="autoZero"/>
        <c:crossBetween val="midCat"/>
        <c:majorUnit val="100.0"/>
      </c:valAx>
    </c:plotArea>
    <c:plotVisOnly val="1"/>
    <c:dispBlanksAs val="zero"/>
    <c:showDLblsOverMax val="0"/>
  </c:chart>
  <c:txPr>
    <a:bodyPr/>
    <a:lstStyle/>
    <a:p>
      <a:pPr>
        <a:defRPr sz="1800">
          <a:latin typeface="Roboto"/>
        </a:defRPr>
      </a:pPr>
      <a:endParaRPr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Sample Electrical &amp; Air Pty Ltd. Period: June 2026. In short: $215 per new customer in June: 39 new customers from $8,400 of marketing. Marketing spend divided by the customers it actually brought in (a customer's first ever job), month by month.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What does it cost to win a customer?. June 2026: $215; June last year: $263; Year to date (Jul to Jun 2026): $228. 39 new customers came from $8,400 of marketing in June, against 36 from $8,400 in May: $215 each, down from $233. 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2.xml"/><Relationship Id="rId3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457200" y="1965960"/>
            <a:ext cx="11277295" cy="1097280"/>
          </a:xfrm>
        </p:spPr>
        <p:txBody>
          <a:bodyPr wrap="square"/>
          <a:lstStyle/>
          <a:p>
            <a:pPr algn="l">
              <a:defRPr>
                <a:latin typeface="Roboto"/>
              </a:defRPr>
            </a:pPr>
            <a:r>
              <a:rPr sz="3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548640"/>
            <a:ext cx="640080" cy="640080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>
                <a:latin typeface="Roboto"/>
              </a:defRPr>
            </a:pPr>
            <a:r>
              <a:rPr sz="1600" b="1">
                <a:solidFill>
                  <a:srgbClr val="FFFFFF"/>
                </a:solidFill>
                <a:latin typeface="Roboto"/>
              </a:rPr>
              <a:t>4th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234440" y="658368"/>
            <a:ext cx="5486400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800" b="1">
                <a:solidFill>
                  <a:srgbClr val="25342A"/>
                </a:solidFill>
                <a:latin typeface="Roboto"/>
              </a:rPr>
              <a:t>The Fourth Sheet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54480"/>
            <a:ext cx="10972800" cy="36576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1">
                <a:solidFill>
                  <a:srgbClr val="8A7A52"/>
                </a:solidFill>
                <a:latin typeface="Roboto"/>
              </a:rPr>
              <a:t>SAMPLE DATA · invented figures for demonstration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154680"/>
            <a:ext cx="11277295" cy="45720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600" b="0">
                <a:solidFill>
                  <a:srgbClr val="5F6F63"/>
                </a:solidFill>
                <a:latin typeface="Roboto"/>
              </a:rPr>
              <a:t>Sample Electrical &amp; Air Pty Ltd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3703320"/>
            <a:ext cx="11277295" cy="53594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400" b="0">
                <a:solidFill>
                  <a:srgbClr val="25342A"/>
                </a:solidFill>
                <a:latin typeface="Roboto"/>
              </a:rPr>
              <a:t>Period: June 2026. In short: $215 per new customer in June: 39 new customers from $8,400 of marketing. Marketing spend divided by the customers it actually brought in (a customer's first ever job), month by month.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4330700"/>
            <a:ext cx="11277295" cy="109728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How final is this data?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May 2026: Locked. May 2026 is locked (closed 2 Jun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2026: Locked. June 2026 is locked (closed 2 Jul 2026). These numbers won't change.</a:t>
            </a:r>
          </a:p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October 2026: Incomplete. October 2026 is still in progress: figures to 6 Oct only.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1 of 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384048"/>
            <a:ext cx="11277295" cy="475488"/>
          </a:xfrm>
        </p:spPr>
        <p:txBody>
          <a:bodyPr wrap="square" lIns="45720" rIns="45720" tIns="0" bIns="0" anchor="t"/>
          <a:lstStyle/>
          <a:p>
            <a:pPr algn="l">
              <a:defRPr>
                <a:latin typeface="Roboto"/>
              </a:defRPr>
            </a:pPr>
            <a:r>
              <a:rPr sz="2400" b="1">
                <a:solidFill>
                  <a:srgbClr val="25342A"/>
                </a:solidFill>
                <a:latin typeface="Roboto"/>
              </a:rPr>
              <a:t>What does it cost to win a customer?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2F7A5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4" name="TextBox 3"/>
          <p:cNvSpPr txBox="1"/>
          <p:nvPr/>
        </p:nvSpPr>
        <p:spPr>
          <a:xfrm>
            <a:off x="457200" y="146304"/>
            <a:ext cx="8229600" cy="25603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Sample Electrical &amp; Air Pty Ltd · What does it cost to win a customer?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914400"/>
            <a:ext cx="11277295" cy="263652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5F6F63"/>
                </a:solidFill>
                <a:latin typeface="Roboto"/>
              </a:rPr>
              <a:t>Cost to win a customer, by month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94360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94360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May $233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4292498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1" name="TextBox 10"/>
          <p:cNvSpPr txBox="1"/>
          <p:nvPr/>
        </p:nvSpPr>
        <p:spPr>
          <a:xfrm>
            <a:off x="4429658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June last year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29658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$263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29658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32 new customers from $8,400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27796" y="1278636"/>
            <a:ext cx="3606698" cy="1188720"/>
          </a:xfrm>
          <a:prstGeom prst="rect">
            <a:avLst/>
          </a:prstGeom>
          <a:solidFill>
            <a:srgbClr val="F7FAF7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15" name="TextBox 14"/>
          <p:cNvSpPr txBox="1"/>
          <p:nvPr/>
        </p:nvSpPr>
        <p:spPr>
          <a:xfrm>
            <a:off x="8264956" y="1351788"/>
            <a:ext cx="3332378" cy="384048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100" b="0">
                <a:solidFill>
                  <a:srgbClr val="5F6F63"/>
                </a:solidFill>
                <a:latin typeface="Roboto"/>
              </a:rPr>
              <a:t>Year to date (Jul to Jun 2026)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64956" y="1717548"/>
            <a:ext cx="3332378" cy="5029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2200" b="1">
                <a:solidFill>
                  <a:srgbClr val="2F7A5D"/>
                </a:solidFill>
                <a:latin typeface="Roboto"/>
              </a:rPr>
              <a:t>$228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64956" y="2083308"/>
            <a:ext cx="3332378" cy="329184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0">
                <a:solidFill>
                  <a:srgbClr val="5F6F63"/>
                </a:solidFill>
                <a:latin typeface="Roboto"/>
              </a:rPr>
              <a:t>same period last year: not in the data</a:t>
            </a:r>
          </a:p>
        </p:txBody>
      </p:sp>
      <p:graphicFrame>
        <p:nvGraphicFramePr>
          <p:cNvPr id="18" name="Chart 17"/>
          <p:cNvGraphicFramePr>
            <a:graphicFrameLocks noGrp="1"/>
          </p:cNvGraphicFramePr>
          <p:nvPr/>
        </p:nvGraphicFramePr>
        <p:xfrm>
          <a:off x="457200" y="2604516"/>
          <a:ext cx="11277295" cy="2516124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9" name="Rectangle 18"/>
          <p:cNvSpPr/>
          <p:nvPr/>
        </p:nvSpPr>
        <p:spPr>
          <a:xfrm>
            <a:off x="457200" y="5212080"/>
            <a:ext cx="5501487" cy="1097280"/>
          </a:xfrm>
          <a:prstGeom prst="rect">
            <a:avLst/>
          </a:prstGeom>
          <a:solidFill>
            <a:srgbClr val="FFFFFF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0" name="TextBox 19"/>
          <p:cNvSpPr txBox="1"/>
          <p:nvPr/>
        </p:nvSpPr>
        <p:spPr>
          <a:xfrm>
            <a:off x="594360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IT SHOWS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94360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39 new customers came from $8,400 of marketing in June, against 36 from $8,400 in May: $215 each, down from $233.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233007" y="5212080"/>
            <a:ext cx="5501487" cy="1097280"/>
          </a:xfrm>
          <a:prstGeom prst="rect">
            <a:avLst/>
          </a:prstGeom>
          <a:solidFill>
            <a:srgbClr val="EEF5F0"/>
          </a:solidFill>
          <a:ln>
            <a:solidFill>
              <a:srgbClr val="DCE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>
                <a:latin typeface="Roboto"/>
              </a:defRPr>
            </a:pPr>
          </a:p>
        </p:txBody>
      </p:sp>
      <p:sp>
        <p:nvSpPr>
          <p:cNvPr id="23" name="TextBox 22"/>
          <p:cNvSpPr txBox="1"/>
          <p:nvPr/>
        </p:nvSpPr>
        <p:spPr>
          <a:xfrm>
            <a:off x="6370167" y="5266944"/>
            <a:ext cx="5227167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000" b="1">
                <a:solidFill>
                  <a:srgbClr val="5F6F63"/>
                </a:solidFill>
                <a:latin typeface="Roboto"/>
              </a:rPr>
              <a:t>WHAT YOU'D DO ABOUT IT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70167" y="5541264"/>
            <a:ext cx="5227167" cy="7315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1200" b="0">
                <a:solidFill>
                  <a:srgbClr val="25342A"/>
                </a:solidFill>
                <a:latin typeface="Roboto"/>
              </a:rPr>
              <a:t>A lower cost per customer with steady spend usually means the marketing mix is working. Recording where each new customer came from shows the cost per channel.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57200" y="6492240"/>
            <a:ext cx="292608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cost-to-win.pptx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108960" y="6492240"/>
            <a:ext cx="59436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ct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Data retrieved 2pm, Tue 6 Oct 2026 · Generated 10 Oct 2026, 9:55pm · Sample data · Made with Python (python-pptx)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03920" y="6492240"/>
            <a:ext cx="3200400" cy="274320"/>
          </a:xfrm>
          <a:prstGeom prst="rect">
            <a:avLst/>
          </a:prstGeom>
          <a:noFill/>
        </p:spPr>
        <p:txBody>
          <a:bodyPr wrap="square" lIns="45720" rIns="45720">
            <a:spAutoFit/>
          </a:bodyPr>
          <a:lstStyle/>
          <a:p>
            <a:pPr algn="r">
              <a:defRPr>
                <a:latin typeface="Roboto"/>
              </a:defRPr>
            </a:pPr>
            <a:r>
              <a:rPr sz="900" b="0">
                <a:solidFill>
                  <a:srgbClr val="5F6F63"/>
                </a:solidFill>
                <a:latin typeface="Roboto"/>
              </a:rPr>
              <a:t>Slide 2 of 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25342A"/>
      </a:dk2>
      <a:lt2>
        <a:srgbClr val="F4F7F2"/>
      </a:lt2>
      <a:accent1>
        <a:srgbClr val="2F7A5D"/>
      </a:accent1>
      <a:accent2>
        <a:srgbClr val="0E9F6E"/>
      </a:accent2>
      <a:accent3>
        <a:srgbClr val="7D8790"/>
      </a:accent3>
      <a:accent4>
        <a:srgbClr val="8A6D3B"/>
      </a:accent4>
      <a:accent5>
        <a:srgbClr val="B42318"/>
      </a:accent5>
      <a:accent6>
        <a:srgbClr val="8E9CAB"/>
      </a:accent6>
      <a:hlink>
        <a:srgbClr val="0000FF"/>
      </a:hlink>
      <a:folHlink>
        <a:srgbClr val="800080"/>
      </a:folHlink>
    </a:clrScheme>
    <a:fontScheme name="Office">
      <a:maj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Roboto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