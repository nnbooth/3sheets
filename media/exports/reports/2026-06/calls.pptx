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ayout>
        <c:manualLayout>
          <c:layoutTarget val="inner"/>
          <c:xMode val="edge"/>
          <c:yMode val="edge"/>
          <c:x val="0.3"/>
          <c:y val="0.03"/>
          <c:w val="0.58"/>
          <c:h val="0.88"/>
        </c:manualLayout>
      </c:layout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Calls</c:v>
                </c:pt>
              </c:strCache>
            </c:strRef>
          </c:tx>
          <c:dPt>
            <c:idx val="0"/>
            <c:spPr>
              <a:solidFill>
                <a:srgbClr val="0E9F6E"/>
              </a:solidFill>
            </c:spPr>
          </c:dPt>
          <c:dPt>
            <c:idx val="1"/>
            <c:spPr>
              <a:solidFill>
                <a:srgbClr val="0E9F6E"/>
              </a:solidFill>
            </c:spPr>
          </c:dPt>
          <c:dPt>
            <c:idx val="2"/>
            <c:spPr>
              <a:solidFill>
                <a:srgbClr val="0E9F6E"/>
              </a:solidFill>
            </c:spPr>
          </c:dPt>
          <c:dPt>
            <c:idx val="3"/>
            <c:spPr>
              <a:solidFill>
                <a:srgbClr val="0E9F6E"/>
              </a:solidFill>
            </c:spPr>
          </c:dPt>
          <c:dPt>
            <c:idx val="4"/>
            <c:spPr>
              <a:solidFill>
                <a:srgbClr val="0E9F6E"/>
              </a:solidFill>
            </c:spPr>
          </c:dPt>
          <c:dPt>
            <c:idx val="5"/>
            <c:spPr>
              <a:solidFill>
                <a:srgbClr val="0E9F6E"/>
              </a:solidFill>
            </c:spPr>
          </c:dPt>
          <c:dPt>
            <c:idx val="6"/>
            <c:spPr>
              <a:solidFill>
                <a:srgbClr val="0E9F6E"/>
              </a:solidFill>
            </c:spPr>
          </c:dPt>
          <c:cat>
            <c:strRef>
              <c:f>Sheet1!$A$2:$A$8</c:f>
              <c:strCache>
                <c:ptCount val="7"/>
                <c:pt idx="0">
                  <c:v>After 8pm</c:v>
                </c:pt>
                <c:pt idx="1">
                  <c:v>5 to 8pm</c:v>
                </c:pt>
                <c:pt idx="2">
                  <c:v>2 to 5pm</c:v>
                </c:pt>
                <c:pt idx="3">
                  <c:v>Noon to 2pm</c:v>
                </c:pt>
                <c:pt idx="4">
                  <c:v>10am to noon</c:v>
                </c:pt>
                <c:pt idx="5">
                  <c:v>8:30 to 10am</c:v>
                </c:pt>
                <c:pt idx="6">
                  <c:v>Before 8:30am</c:v>
                </c:pt>
              </c:strCache>
            </c:strRef>
          </c:cat>
          <c:val>
            <c:numRef>
              <c:f>Sheet1!$B$2:$B$8</c:f>
              <c:numCache>
                <c:formatCode>#,##0;[Red](#,##0)</c:formatCode>
                <c:ptCount val="7"/>
                <c:pt idx="0">
                  <c:v>99</c:v>
                </c:pt>
                <c:pt idx="1">
                  <c:v>170</c:v>
                </c:pt>
                <c:pt idx="2">
                  <c:v>161</c:v>
                </c:pt>
                <c:pt idx="3">
                  <c:v>122</c:v>
                </c:pt>
                <c:pt idx="4">
                  <c:v>145</c:v>
                </c:pt>
                <c:pt idx="5">
                  <c:v>120</c:v>
                </c:pt>
                <c:pt idx="6">
                  <c:v>134</c:v>
                </c:pt>
              </c:numCache>
            </c:numRef>
          </c:val>
        </c:ser>
        <c:dLbls>
          <c:numFmt formatCode="#,##0;[Red](#,##0)" sourceLinked="0"/>
          <c:txPr>
            <a:bodyPr/>
            <a:lstStyle/>
            <a:p>
              <a:pPr>
                <a:defRPr sz="10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1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95.49999999999997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>
          <a:latin typeface="Roboto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Calls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Sheet1!$A$2:$A$22</c:f>
              <c:strCache>
                <c:ptCount val="21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  <c:pt idx="13">
                  <c:v>Nov 25</c:v>
                </c:pt>
                <c:pt idx="14">
                  <c:v>Dec 25</c:v>
                </c:pt>
                <c:pt idx="15">
                  <c:v>Jan 26</c:v>
                </c:pt>
                <c:pt idx="16">
                  <c:v>Feb 26</c:v>
                </c:pt>
                <c:pt idx="17">
                  <c:v>Mar 26</c:v>
                </c:pt>
                <c:pt idx="18">
                  <c:v>Apr 26</c:v>
                </c:pt>
                <c:pt idx="19">
                  <c:v>May 26</c:v>
                </c:pt>
                <c:pt idx="20">
                  <c:v>Jun 26</c:v>
                </c:pt>
              </c:strCache>
            </c:strRef>
          </c:cat>
          <c:val>
            <c:numRef>
              <c:f>Sheet1!$B$2:$B$22</c:f>
              <c:numCache>
                <c:formatCode>#,##0;[Red](#,##0)</c:formatCode>
                <c:ptCount val="21"/>
                <c:pt idx="0">
                  <c:v>685</c:v>
                </c:pt>
                <c:pt idx="1">
                  <c:v>633</c:v>
                </c:pt>
                <c:pt idx="2">
                  <c:v>684</c:v>
                </c:pt>
                <c:pt idx="3">
                  <c:v>690</c:v>
                </c:pt>
                <c:pt idx="4">
                  <c:v>664</c:v>
                </c:pt>
                <c:pt idx="5">
                  <c:v>685</c:v>
                </c:pt>
                <c:pt idx="6">
                  <c:v>629</c:v>
                </c:pt>
                <c:pt idx="7">
                  <c:v>724</c:v>
                </c:pt>
                <c:pt idx="8">
                  <c:v>820</c:v>
                </c:pt>
                <c:pt idx="9">
                  <c:v>909</c:v>
                </c:pt>
                <c:pt idx="10">
                  <c:v>826</c:v>
                </c:pt>
                <c:pt idx="11">
                  <c:v>756</c:v>
                </c:pt>
                <c:pt idx="12">
                  <c:v>770</c:v>
                </c:pt>
                <c:pt idx="13">
                  <c:v>746</c:v>
                </c:pt>
                <c:pt idx="14">
                  <c:v>776</c:v>
                </c:pt>
                <c:pt idx="15">
                  <c:v>726</c:v>
                </c:pt>
                <c:pt idx="16">
                  <c:v>678</c:v>
                </c:pt>
                <c:pt idx="17">
                  <c:v>865</c:v>
                </c:pt>
                <c:pt idx="18">
                  <c:v>731</c:v>
                </c:pt>
                <c:pt idx="19">
                  <c:v>757</c:v>
                </c:pt>
                <c:pt idx="20">
                  <c:v>951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3"/>
        <c:noMultiLvlLbl val="0"/>
      </c:catAx>
      <c:valAx>
        <c:axId val="-2100718248"/>
        <c:scaling>
          <c:orientation val="minMax"/>
          <c:max val="100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#,##0;[Red](#,##0)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200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When do calls for help come in, and are we there to answer?. Sample Community Services Ltd. Period: June 2026. In short: 951 calls in June: 77.9% answered while staffed (target 90.0%); 48.7% came outside staffed hours. Every call to the help line: when it came in, whether someone answered, and how long the caller waited. The line is staffed 8:30am to 5pm on working days.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When do calls for help come in, and are we there to answer?. Calls for help, June: 951; Answered while staffed, June: 77.9%; Calls outside staffed hours, June: 48.7%; Median wait when answered, June: 78 sec. 951 calls for help came in during June. While the line was staffed, 77.9% were answered (target 90.0%); 48.7% of all calls came outside staffed hours and went to voicemail. The busiest time was 5 to 8pm (170 calls). 170 calls came between 5 and 8pm, when no-one is on the line. 108 callers hung up waiting while the line was staffed.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Calls for help by month. Tap a month for its workings.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Relationship Id="rId3" Type="http://schemas.openxmlformats.org/officeDocument/2006/relationships/chart" Target="../charts/char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.xml"/><Relationship Id="rId3" Type="http://schemas.openxmlformats.org/officeDocument/2006/relationships/chart" Target="../charts/char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57200" y="1965960"/>
            <a:ext cx="11277295" cy="1097280"/>
          </a:xfrm>
        </p:spPr>
        <p:txBody>
          <a:bodyPr wrap="square"/>
          <a:lstStyle/>
          <a:p>
            <a:pPr algn="l">
              <a:defRPr>
                <a:latin typeface="Roboto"/>
              </a:defRPr>
            </a:pPr>
            <a:r>
              <a:rPr sz="3400" b="1">
                <a:solidFill>
                  <a:srgbClr val="25342A"/>
                </a:solidFill>
                <a:latin typeface="Roboto"/>
              </a:rPr>
              <a:t>When do calls for help come in, and are we there to answer?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548640"/>
            <a:ext cx="640080" cy="640080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>
                <a:latin typeface="Roboto"/>
              </a:defRPr>
            </a:pPr>
            <a:r>
              <a:rPr sz="1600" b="1">
                <a:solidFill>
                  <a:srgbClr val="FFFFFF"/>
                </a:solidFill>
                <a:latin typeface="Roboto"/>
              </a:rPr>
              <a:t>4th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658368"/>
            <a:ext cx="54864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800" b="1">
                <a:solidFill>
                  <a:srgbClr val="25342A"/>
                </a:solidFill>
                <a:latin typeface="Roboto"/>
              </a:rPr>
              <a:t>The Fourth Sheet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109728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8A7A52"/>
                </a:solidFill>
                <a:latin typeface="Roboto"/>
              </a:rPr>
              <a:t>SAMPLE DATA · invented figures for demonstration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154680"/>
            <a:ext cx="11277295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5F6F63"/>
                </a:solidFill>
                <a:latin typeface="Roboto"/>
              </a:rPr>
              <a:t>Sample Community Services Ltd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703320"/>
            <a:ext cx="11277295" cy="75819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400" b="0">
                <a:solidFill>
                  <a:srgbClr val="25342A"/>
                </a:solidFill>
                <a:latin typeface="Roboto"/>
              </a:rPr>
              <a:t>Period: June 2026. In short: 951 calls in June: 77.9% answered while staffed (target 90.0%); 48.7% came outside staffed hours. Every call to the help line: when it came in, whether someone answered, and how long the caller waited. The line is staffed 8:30am to 5pm on working days.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552950"/>
            <a:ext cx="11277295" cy="1097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How final is this data?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May 2026: Locked. May 2026 is locked (closed 2 Jun 2026). These numbers won't change.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June 2026: Locked. June 2026 is locked (closed 2 Jul 2026). These numbers won't change.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October 2026: Incomplete. October 2026 is still in progress: figures to 6 Oct only.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calls.pptx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10 Oct 2026, 9:55pm · Sample data · Made with Python (python-pptx)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1 of 3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When do calls for help come in, and are we there to answer?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When do calls for help come in, and are we there to answer?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When the calls come in, June 2026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78636"/>
            <a:ext cx="2647873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594360" y="1351788"/>
            <a:ext cx="2373553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Calls for help, June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717548"/>
            <a:ext cx="2373553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951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083308"/>
            <a:ext cx="2373553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May 757</a:t>
            </a:r>
          </a:p>
        </p:txBody>
      </p:sp>
      <p:sp>
        <p:nvSpPr>
          <p:cNvPr id="10" name="Rectangle 9"/>
          <p:cNvSpPr/>
          <p:nvPr/>
        </p:nvSpPr>
        <p:spPr>
          <a:xfrm>
            <a:off x="3333673" y="1278636"/>
            <a:ext cx="2647873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3470833" y="1351788"/>
            <a:ext cx="2373553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Answered while staffed, June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70833" y="1717548"/>
            <a:ext cx="2373553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B42318"/>
                </a:solidFill>
                <a:latin typeface="Roboto"/>
              </a:rPr>
              <a:t>77.9%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70833" y="2083308"/>
            <a:ext cx="2373553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target 90.0%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10147" y="1278636"/>
            <a:ext cx="2647873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6347307" y="1351788"/>
            <a:ext cx="2373553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Calls outside staffed hours, June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47307" y="1717548"/>
            <a:ext cx="2373553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48.7%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47307" y="2083308"/>
            <a:ext cx="2373553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463 calls to voicemail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086621" y="1278636"/>
            <a:ext cx="2647873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9" name="TextBox 18"/>
          <p:cNvSpPr txBox="1"/>
          <p:nvPr/>
        </p:nvSpPr>
        <p:spPr>
          <a:xfrm>
            <a:off x="9223781" y="1351788"/>
            <a:ext cx="2373553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Median wait when answered, June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223781" y="1717548"/>
            <a:ext cx="2373553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78 sec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223781" y="2083308"/>
            <a:ext cx="2373553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380 answered calls</a:t>
            </a:r>
          </a:p>
        </p:txBody>
      </p:sp>
      <p:graphicFrame>
        <p:nvGraphicFramePr>
          <p:cNvPr id="22" name="Chart 21"/>
          <p:cNvGraphicFramePr>
            <a:graphicFrameLocks noGrp="1"/>
          </p:cNvGraphicFramePr>
          <p:nvPr/>
        </p:nvGraphicFramePr>
        <p:xfrm>
          <a:off x="457200" y="2604516"/>
          <a:ext cx="11277295" cy="231800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23" name="Rectangle 22"/>
          <p:cNvSpPr/>
          <p:nvPr/>
        </p:nvSpPr>
        <p:spPr>
          <a:xfrm>
            <a:off x="457200" y="5013960"/>
            <a:ext cx="5501487" cy="129540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4" name="TextBox 23"/>
          <p:cNvSpPr txBox="1"/>
          <p:nvPr/>
        </p:nvSpPr>
        <p:spPr>
          <a:xfrm>
            <a:off x="594360" y="506882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4360" y="5343144"/>
            <a:ext cx="5227167" cy="929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951 calls for help came in during June. While the line was staffed, 77.9% were answered (target 90.0%); 48.7% of all calls came outside staffed hours and went to voicemail. The busiest time was 5 to 8pm (170 calls).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233007" y="5013960"/>
            <a:ext cx="5501487" cy="129540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7" name="TextBox 26"/>
          <p:cNvSpPr txBox="1"/>
          <p:nvPr/>
        </p:nvSpPr>
        <p:spPr>
          <a:xfrm>
            <a:off x="6370167" y="506882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70167" y="5343144"/>
            <a:ext cx="5227167" cy="929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170 calls came between 5 and 8pm, when no-one is on the line. 108 callers hung up waiting while the line was staffed.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calls.pptx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10 Oct 2026, 9:55pm · Sample data · Made with Python (python-pptx)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2 of 3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Calls for help by month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When do calls for help come in, and are we there to answer?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Tap a month for its workings.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278636"/>
          <a:ext cx="11277295" cy="480212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calls.pptx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10 Oct 2026, 9:55pm · Sample data · Made with Python (python-pptx)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3 of 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25342A"/>
      </a:dk2>
      <a:lt2>
        <a:srgbClr val="F4F7F2"/>
      </a:lt2>
      <a:accent1>
        <a:srgbClr val="2F7A5D"/>
      </a:accent1>
      <a:accent2>
        <a:srgbClr val="0E9F6E"/>
      </a:accent2>
      <a:accent3>
        <a:srgbClr val="7D8790"/>
      </a:accent3>
      <a:accent4>
        <a:srgbClr val="8A6D3B"/>
      </a:accent4>
      <a:accent5>
        <a:srgbClr val="B42318"/>
      </a:accent5>
      <a:accent6>
        <a:srgbClr val="8E9CAB"/>
      </a:accent6>
      <a:hlink>
        <a:srgbClr val="0000FF"/>
      </a:hlink>
      <a:folHlink>
        <a:srgbClr val="800080"/>
      </a:folHlink>
    </a:clrScheme>
    <a:fontScheme name="Office">
      <a:maj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