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$#,##0;[Red]($#,##0);"-"</c:formatCode>
                <c:ptCount val="21"/>
                <c:pt idx="0">
                  <c:v>94520</c:v>
                </c:pt>
                <c:pt idx="1">
                  <c:v>108140</c:v>
                </c:pt>
                <c:pt idx="2">
                  <c:v>114895</c:v>
                </c:pt>
                <c:pt idx="3">
                  <c:v>88250</c:v>
                </c:pt>
                <c:pt idx="4">
                  <c:v>111010</c:v>
                </c:pt>
                <c:pt idx="5">
                  <c:v>77175</c:v>
                </c:pt>
                <c:pt idx="6">
                  <c:v>63970</c:v>
                </c:pt>
                <c:pt idx="7">
                  <c:v>95555</c:v>
                </c:pt>
                <c:pt idx="8">
                  <c:v>90220</c:v>
                </c:pt>
                <c:pt idx="9">
                  <c:v>86320</c:v>
                </c:pt>
                <c:pt idx="10">
                  <c:v>61475</c:v>
                </c:pt>
                <c:pt idx="11">
                  <c:v>59535</c:v>
                </c:pt>
                <c:pt idx="12">
                  <c:v>71260</c:v>
                </c:pt>
                <c:pt idx="13">
                  <c:v>83940</c:v>
                </c:pt>
                <c:pt idx="14">
                  <c:v>69420</c:v>
                </c:pt>
                <c:pt idx="15">
                  <c:v>92370</c:v>
                </c:pt>
                <c:pt idx="16">
                  <c:v>100055</c:v>
                </c:pt>
                <c:pt idx="17">
                  <c:v>109865</c:v>
                </c:pt>
                <c:pt idx="18">
                  <c:v>80590</c:v>
                </c:pt>
                <c:pt idx="19">
                  <c:v>77090</c:v>
                </c:pt>
                <c:pt idx="20">
                  <c:v>115550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$#,##0;[Red]($#,##0);"-"</c:formatCode>
                <c:ptCount val="21"/>
                <c:pt idx="0">
                  <c:v>70720</c:v>
                </c:pt>
                <c:pt idx="1">
                  <c:v>88540</c:v>
                </c:pt>
                <c:pt idx="2">
                  <c:v>94695</c:v>
                </c:pt>
                <c:pt idx="3">
                  <c:v>66850</c:v>
                </c:pt>
                <c:pt idx="4">
                  <c:v>84410</c:v>
                </c:pt>
                <c:pt idx="5">
                  <c:v>48975</c:v>
                </c:pt>
                <c:pt idx="6">
                  <c:v>37570</c:v>
                </c:pt>
                <c:pt idx="7">
                  <c:v>59755</c:v>
                </c:pt>
                <c:pt idx="8">
                  <c:v>64520</c:v>
                </c:pt>
                <c:pt idx="9">
                  <c:v>64820</c:v>
                </c:pt>
                <c:pt idx="10">
                  <c:v>38775</c:v>
                </c:pt>
                <c:pt idx="11">
                  <c:v>38035</c:v>
                </c:pt>
                <c:pt idx="12">
                  <c:v>45860</c:v>
                </c:pt>
                <c:pt idx="13">
                  <c:v>46840</c:v>
                </c:pt>
                <c:pt idx="14">
                  <c:v>29520</c:v>
                </c:pt>
                <c:pt idx="15">
                  <c:v>60170</c:v>
                </c:pt>
                <c:pt idx="16">
                  <c:v>62955</c:v>
                </c:pt>
                <c:pt idx="17">
                  <c:v>75165</c:v>
                </c:pt>
                <c:pt idx="18">
                  <c:v>47090</c:v>
                </c:pt>
                <c:pt idx="19">
                  <c:v>43590</c:v>
                </c:pt>
                <c:pt idx="20">
                  <c:v>76650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$#,##0;[Red]($#,##0);"-"</c:formatCode>
                <c:ptCount val="21"/>
                <c:pt idx="0">
                  <c:v>15000</c:v>
                </c:pt>
                <c:pt idx="1">
                  <c:v>15000</c:v>
                </c:pt>
                <c:pt idx="2">
                  <c:v>15000</c:v>
                </c:pt>
                <c:pt idx="3">
                  <c:v>15000</c:v>
                </c:pt>
                <c:pt idx="4">
                  <c:v>15000</c:v>
                </c:pt>
                <c:pt idx="5">
                  <c:v>21800</c:v>
                </c:pt>
                <c:pt idx="6">
                  <c:v>21800</c:v>
                </c:pt>
                <c:pt idx="7">
                  <c:v>21800</c:v>
                </c:pt>
                <c:pt idx="8">
                  <c:v>21800</c:v>
                </c:pt>
                <c:pt idx="9">
                  <c:v>16300</c:v>
                </c:pt>
                <c:pt idx="10">
                  <c:v>16300</c:v>
                </c:pt>
                <c:pt idx="11">
                  <c:v>16300</c:v>
                </c:pt>
                <c:pt idx="12">
                  <c:v>16300</c:v>
                </c:pt>
                <c:pt idx="13">
                  <c:v>28300</c:v>
                </c:pt>
                <c:pt idx="14">
                  <c:v>28300</c:v>
                </c:pt>
                <c:pt idx="15">
                  <c:v>28300</c:v>
                </c:pt>
                <c:pt idx="16">
                  <c:v>28300</c:v>
                </c:pt>
                <c:pt idx="17">
                  <c:v>28300</c:v>
                </c:pt>
                <c:pt idx="18">
                  <c:v>28300</c:v>
                </c:pt>
                <c:pt idx="19">
                  <c:v>28300</c:v>
                </c:pt>
                <c:pt idx="20">
                  <c:v>32500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$#,##0;[Red]($#,##0);"-"</c:formatCode>
                <c:ptCount val="21"/>
                <c:pt idx="0">
                  <c:v>8800</c:v>
                </c:pt>
                <c:pt idx="1">
                  <c:v>4600</c:v>
                </c:pt>
                <c:pt idx="2">
                  <c:v>5200</c:v>
                </c:pt>
                <c:pt idx="3">
                  <c:v>6400</c:v>
                </c:pt>
                <c:pt idx="4">
                  <c:v>11600</c:v>
                </c:pt>
                <c:pt idx="5">
                  <c:v>6400</c:v>
                </c:pt>
                <c:pt idx="6">
                  <c:v>4600</c:v>
                </c:pt>
                <c:pt idx="7">
                  <c:v>14000</c:v>
                </c:pt>
                <c:pt idx="8">
                  <c:v>3900</c:v>
                </c:pt>
                <c:pt idx="9">
                  <c:v>5200</c:v>
                </c:pt>
                <c:pt idx="10">
                  <c:v>6400</c:v>
                </c:pt>
                <c:pt idx="11">
                  <c:v>5200</c:v>
                </c:pt>
                <c:pt idx="12">
                  <c:v>9100</c:v>
                </c:pt>
                <c:pt idx="13">
                  <c:v>8800</c:v>
                </c:pt>
                <c:pt idx="14">
                  <c:v>11600</c:v>
                </c:pt>
                <c:pt idx="15">
                  <c:v>3900</c:v>
                </c:pt>
                <c:pt idx="16">
                  <c:v>8800</c:v>
                </c:pt>
                <c:pt idx="17">
                  <c:v>6400</c:v>
                </c:pt>
                <c:pt idx="18">
                  <c:v>5200</c:v>
                </c:pt>
                <c:pt idx="19">
                  <c:v>5200</c:v>
                </c:pt>
                <c:pt idx="20">
                  <c:v>6400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Advisory Pty Ltd. Period: June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All. June against June last year: 28.1%; Year to date (Jul to Jun 2026): $1,007,470; Gross margin, year to date: 63.6%. Revenue is $1,007,470 this financial year to date (Jul to Jun 2026). Training makes the highest gross margin (74.5%); Projects the lowest (61.3%). The business needs 51.0% gross margin just to cover overheads. Projects: 61.3% gross margin, 21.3 points over the 40.0% target ($134,082 ahead on $629,470 this financial year to date). Training: 74.5% gross margin, 34.5 points over the 40.0% target ($28,320 ahead on $82,200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Projects. June against June last year: 18.8%; Year to date (Jul to Jun 2026): $629,470; Gross margin, year to date: 61.3%. Projects brought in $629,470 this financial year to date, at a 61.3% gross margin (below the 63.6% overall). Projects: 61.3% gross margin, 21.3 points over the 40.0% target ($134,082 ahead on $629,470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Retainers. June against June last year: 49.1%; Year to date (Jul to Jun 2026): $295,800; Gross margin, year to date: 65.4%. Retainers brought in $295,800 this financial year to date, at a 65.4% gross margin (above the 63.6% overall). Retainers: 65.4% gross margin, 25.4 points over the 40.0% target ($75,000 ahead on $295,800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Training. June against June last year: 64.1%; Year to date (Jul to Jun 2026): $82,200; Gross margin, year to date: 74.5%. Training brought in $82,200 this financial year to date, at a 74.5% gross margin (above the 63.6% overall). Training: 74.5% gross margin, 34.5 points over the 40.0% target ($28,320 ahead on $82,200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type of work: financial year to date (Jul to Jun 2026) against the same period last year · Services. Same period last year: Not available: the data starts October 2024. From gross margin to profit: June's client work made $69,490 gross margin (60.1%). Consultant time not charged to client work took $6,840 and overheads $52,050, leaving $10,600 profit before tax (9.2% of revenue). To cover overheads, client work needs a 51.0%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Advisory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June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2026: Locked. May 2026 is locked (closed 2 Jun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2026: Locked. June 2026 is locked (closed 2 Jul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against June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28.1%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$115,550 against $90,220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Jun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$1,007,470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$640,390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$1,007,470 this financial year to date (Jul to Jun 2026). Training makes the highest gross margin (74.5%); Projects the lowest (61.3%). The business needs 51.0%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61.3% gross margin, 21.3 points over the 40.0% target ($134,082 ahead on $629,470 this financial year to date). Training: 74.5% gross margin, 34.5 points over the 40.0% target ($28,320 ahead on $82,200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against June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18.8%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$76,650 against $64,520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Jun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$629,470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61.3%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$385,870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 brought in $629,470 this financial year to date, at a 61.3% gross margin (below the 63.6%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61.3% gross margin, 21.3 points over the 40.0% target ($134,082 ahead on $629,470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Retainers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Retainers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against June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49.1%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$32,500 against $21,800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Jun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$295,800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65.4%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$193,320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 brought in $295,800 this financial year to date, at a 65.4% gross margin (above the 63.6%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Retainers: 65.4% gross margin, 25.4 points over the 40.0% target ($75,000 ahead on $295,800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against June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64.1%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$6,400 against $3,900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Jun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$82,200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74.5%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$61,200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 brought in $82,200 this financial year to date, at a 74.5% gross margin (above the 63.6%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Training: 74.5% gross margin, 34.5 points over the 40.0% target ($28,320 ahead on $82,200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type of work: financial year to date (Jul to Jun 2026) against the same period last year ·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June's client work made $69,490 gross margin (60.1%). Consultant time not charged to client work took $6,840 and overheads $52,050, leaving $10,600 profit before tax (9.2% of revenue). To cover overheads, client work needs a 51.0%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$629,470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$385,870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$295,800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$193,320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65.4%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$82,200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$1,007,470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$640,390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63.6%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