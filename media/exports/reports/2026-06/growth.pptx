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June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May 2026: Locked. May 2026 is locked (closed 2 Jun 2026). These numbers won't change.</a:t>
            </a:r>
          </a:p>
          <a:p>
            <a:r>
              <a:rPr sz="1100" b="0">
                <a:solidFill>
                  <a:srgbClr val="5F6F63"/>
                </a:solidFill>
                <a:latin typeface="Arial"/>
              </a:rPr>
              <a:t>June 2026: Locked. June 2026 is locked (closed 2 Jul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June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$66,663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$52,190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$2,410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$64,253</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$4,993</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$173,163</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38.5%</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$173,163 against $164,113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$1,945,707</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$734,953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$1,945,707 this financial year to date (Jul to Jun 2026). Maintenance contracts make the highest gross margin (59.5%); Installations the lowest (28.4%). The business needs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28.4%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27.1%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$31,870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$436,300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$259,656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$436,300 this financial year to date, at a 59.5% gross margin (above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23.9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(8.4%)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$103,200 against $112,700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$1,207,100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$342,830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$1,207,100 this financial year to date, at a 28.4% gross margin (below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28.4%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50.8%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$29,463 against $19,543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$302,307</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$132,467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$302,307 this financial year to date, at a 43.8% gross margin (above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43.8% gross margin, 8.2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Jun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$436,300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$259,656</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$1,207,100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$342,830</a:t>
                      </a:r>
                    </a:p>
                  </a:txBody>
                  <a:tcPr>
                    <a:solidFill>
                      <a:srgbClr val="F7FAF7"/>
                    </a:solidFill>
                  </a:tcPr>
                </a:tc>
                <a:tc>
                  <a:txBody>
                    <a:bodyPr/>
                    <a:lstStyle/>
                    <a:p>
                      <a:pPr algn="r"/>
                      <a:r>
                        <a:rPr sz="1050">
                          <a:solidFill>
                            <a:srgbClr val="25342A"/>
                          </a:solidFill>
                        </a:rPr>
                        <a:t>28.4%</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$302,307</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$132,467</a:t>
                      </a:r>
                    </a:p>
                  </a:txBody>
                  <a:tcPr>
                    <a:solidFill>
                      <a:srgbClr val="FFFFFF"/>
                    </a:solidFill>
                  </a:tcPr>
                </a:tc>
                <a:tc>
                  <a:txBody>
                    <a:bodyPr/>
                    <a:lstStyle/>
                    <a:p>
                      <a:pPr algn="r"/>
                      <a:r>
                        <a:rPr sz="1050">
                          <a:solidFill>
                            <a:srgbClr val="25342A"/>
                          </a:solidFill>
                        </a:rPr>
                        <a:t>43.8%</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$1,945,707</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$734,953</a:t>
                      </a:r>
                    </a:p>
                  </a:txBody>
                  <a:tcPr>
                    <a:solidFill>
                      <a:srgbClr val="F7FAF7"/>
                    </a:solidFill>
                  </a:tcPr>
                </a:tc>
                <a:tc>
                  <a:txBody>
                    <a:bodyPr/>
                    <a:lstStyle/>
                    <a:p>
                      <a:pPr algn="r"/>
                      <a:r>
                        <a:rPr sz="1050" b="1">
                          <a:solidFill>
                            <a:srgbClr val="25342A"/>
                          </a:solidFill>
                        </a:rPr>
                        <a:t>37.8%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June's client work made $69,490 gross margin (60.1%). Consultant time not charged to client work took $6,840 and overheads $52,050, leaving $10,600 profit before tax (9.2% of revenue). To cover overheads, client work needs a 51.0%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June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$69,490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$39,660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$6,840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$62,650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$52,050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$10,600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$115,550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60.1%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9.2%</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51.0%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28.1%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$115,550 against $90,220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$1,007,470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63.6%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$640,390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$1,007,470 this financial year to date (Jul to Jun 2026). Training makes the highest gross margin (74.5%); Projects the lowest (61.3%). The business needs 51.0%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74.5% gross margin, the most profitable work you do. Projects: 61.3% gross margin, the thinnest, still above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18.8%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$76,650 against $64,520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$629,470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$385,870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$629,470 this financial year to date, at a 61.3% gross margin (below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61.3% gross margin, 10.3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49.1%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$32,500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$295,800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65.4%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$193,320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$295,800 this financial year to date, at a 65.4% gross margin (above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65.4% gross margin, 14.4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64.1%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$6,400 against $3,900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$82,200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74.5%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$61,200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$82,200 this financial year to date, at a 74.5% gross margin (above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74.5% gross margin, 23.5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Jun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$629,470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$385,870</a:t>
                      </a:r>
                    </a:p>
                  </a:txBody>
                  <a:tcPr>
                    <a:solidFill>
                      <a:srgbClr val="FFFFFF"/>
                    </a:solidFill>
                  </a:tcPr>
                </a:tc>
                <a:tc>
                  <a:txBody>
                    <a:bodyPr/>
                    <a:lstStyle/>
                    <a:p>
                      <a:pPr algn="r"/>
                      <a:r>
                        <a:rPr sz="1050">
                          <a:solidFill>
                            <a:srgbClr val="25342A"/>
                          </a:solidFill>
                        </a:rPr>
                        <a:t>61.3%</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$295,800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$193,320</a:t>
                      </a:r>
                    </a:p>
                  </a:txBody>
                  <a:tcPr>
                    <a:solidFill>
                      <a:srgbClr val="F7FAF7"/>
                    </a:solidFill>
                  </a:tcPr>
                </a:tc>
                <a:tc>
                  <a:txBody>
                    <a:bodyPr/>
                    <a:lstStyle/>
                    <a:p>
                      <a:pPr algn="r"/>
                      <a:r>
                        <a:rPr sz="1050">
                          <a:solidFill>
                            <a:srgbClr val="25342A"/>
                          </a:solidFill>
                        </a:rPr>
                        <a:t>65.4%</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$82,200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$61,200</a:t>
                      </a:r>
                    </a:p>
                  </a:txBody>
                  <a:tcPr>
                    <a:solidFill>
                      <a:srgbClr val="FFFFFF"/>
                    </a:solidFill>
                  </a:tcPr>
                </a:tc>
                <a:tc>
                  <a:txBody>
                    <a:bodyPr/>
                    <a:lstStyle/>
                    <a:p>
                      <a:pPr algn="r"/>
                      <a:r>
                        <a:rPr sz="1050">
                          <a:solidFill>
                            <a:srgbClr val="25342A"/>
                          </a:solidFill>
                        </a:rPr>
                        <a:t>74.5%</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$1,007,470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$640,390</a:t>
                      </a:r>
                    </a:p>
                  </a:txBody>
                  <a:tcPr>
                    <a:solidFill>
                      <a:srgbClr val="F7FAF7"/>
                    </a:solidFill>
                  </a:tcPr>
                </a:tc>
                <a:tc>
                  <a:txBody>
                    <a:bodyPr/>
                    <a:lstStyle/>
                    <a:p>
                      <a:pPr algn="r"/>
                      <a:r>
                        <a:rPr sz="1050" b="1">
                          <a:solidFill>
                            <a:srgbClr val="25342A"/>
                          </a:solidFill>
                        </a:rPr>
                        <a:t>63.6%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