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areaChart>
        <c:grouping val="standard"/>
        <c:varyColors val="0"/>
        <c:ser>
          <c:idx val="0"/>
          <c:order val="0"/>
          <c:tx>
            <c:strRef>
              <c:f>Sheet1!$B$1</c:f>
              <c:strCache>
                <c:ptCount val="1"/>
                <c:pt idx="0">
                  <c:v>Value</c:v>
                </c:pt>
              </c:strCache>
            </c:strRef>
          </c:tx>
          <c:spPr>
            <a:solidFill>
              <a:srgbClr val="0E9F6E">
                <a:alpha val="25000"/>
              </a:srgbClr>
            </a:solidFill>
            <a:ln w="31750">
              <a:solidFill>
                <a:srgbClr val="0E9F6E"/>
              </a:solidFill>
            </a:ln>
          </c:spPr>
          <c:cat>
            <c:strRef>
              <c:f>Sheet1!$A$2:$A$22</c:f>
              <c:strCache>
                <c:ptCount val="21"/>
                <c:pt idx="0">
                  <c:v>Oct 24</c:v>
                </c:pt>
                <c:pt idx="1">
                  <c:v>Nov 24</c:v>
                </c:pt>
                <c:pt idx="2">
                  <c:v>Dec 24</c:v>
                </c:pt>
                <c:pt idx="3">
                  <c:v>Jan 25</c:v>
                </c:pt>
                <c:pt idx="4">
                  <c:v>Feb 25</c:v>
                </c:pt>
                <c:pt idx="5">
                  <c:v>Mar 25</c:v>
                </c:pt>
                <c:pt idx="6">
                  <c:v>Apr 25</c:v>
                </c:pt>
                <c:pt idx="7">
                  <c:v>May 25</c:v>
                </c:pt>
                <c:pt idx="8">
                  <c:v>Jun 25</c:v>
                </c:pt>
                <c:pt idx="9">
                  <c:v>Jul 25</c:v>
                </c:pt>
                <c:pt idx="10">
                  <c:v>Aug 25</c:v>
                </c:pt>
                <c:pt idx="11">
                  <c:v>Sep 25</c:v>
                </c:pt>
                <c:pt idx="12">
                  <c:v>Oct 25</c:v>
                </c:pt>
                <c:pt idx="13">
                  <c:v>Nov 25</c:v>
                </c:pt>
                <c:pt idx="14">
                  <c:v>Dec 25</c:v>
                </c:pt>
                <c:pt idx="15">
                  <c:v>Jan 26</c:v>
                </c:pt>
                <c:pt idx="16">
                  <c:v>Feb 26</c:v>
                </c:pt>
                <c:pt idx="17">
                  <c:v>Mar 26</c:v>
                </c:pt>
                <c:pt idx="18">
                  <c:v>Apr 26</c:v>
                </c:pt>
                <c:pt idx="19">
                  <c:v>May 26</c:v>
                </c:pt>
                <c:pt idx="20">
                  <c:v>Jun 26</c:v>
                </c:pt>
              </c:strCache>
            </c:strRef>
          </c:cat>
          <c:val>
            <c:numRef>
              <c:f>Sheet1!$B$2:$B$22</c:f>
              <c:numCache>
                <c:formatCode>$#,##0;[Red]($#,##0);"-"</c:formatCode>
                <c:ptCount val="21"/>
                <c:pt idx="0">
                  <c:v>171009</c:v>
                </c:pt>
                <c:pt idx="1">
                  <c:v>179474</c:v>
                </c:pt>
                <c:pt idx="2">
                  <c:v>143156</c:v>
                </c:pt>
                <c:pt idx="3">
                  <c:v>140909</c:v>
                </c:pt>
                <c:pt idx="4">
                  <c:v>160943</c:v>
                </c:pt>
                <c:pt idx="5">
                  <c:v>135082</c:v>
                </c:pt>
                <c:pt idx="6">
                  <c:v>124705</c:v>
                </c:pt>
                <c:pt idx="7">
                  <c:v>129816</c:v>
                </c:pt>
                <c:pt idx="8">
                  <c:v>164113</c:v>
                </c:pt>
                <c:pt idx="9">
                  <c:v>186760</c:v>
                </c:pt>
                <c:pt idx="10">
                  <c:v>139164</c:v>
                </c:pt>
                <c:pt idx="11">
                  <c:v>128255</c:v>
                </c:pt>
                <c:pt idx="12">
                  <c:v>128898</c:v>
                </c:pt>
                <c:pt idx="13">
                  <c:v>174786</c:v>
                </c:pt>
                <c:pt idx="14">
                  <c:v>135079</c:v>
                </c:pt>
                <c:pt idx="15">
                  <c:v>164780</c:v>
                </c:pt>
                <c:pt idx="16">
                  <c:v>196372</c:v>
                </c:pt>
                <c:pt idx="17">
                  <c:v>191500</c:v>
                </c:pt>
                <c:pt idx="18">
                  <c:v>164987</c:v>
                </c:pt>
                <c:pt idx="19">
                  <c:v>161963</c:v>
                </c:pt>
                <c:pt idx="20">
                  <c:v>173163</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txPr>
          <a:bodyPr/>
          <a:lstStyle/>
          <a:p>
            <a:pPr>
              <a:defRPr sz="1000"/>
            </a:pPr>
          </a:p>
        </c:txPr>
        <c:crossAx val="-2100718248"/>
        <c:crosses val="autoZero"/>
        <c:auto val="1"/>
        <c:lblAlgn val="ctr"/>
        <c:lblOffset val="100"/>
        <c:noMultiLvlLbl val="0"/>
      </c:catAx>
      <c:valAx>
        <c:axId val="-2100718248"/>
        <c:scaling>
          <c:orientation val="minMax"/>
        </c:scaling>
        <c:delete val="0"/>
        <c:axPos val="l"/>
        <c:majorGridlines>
          <c:spPr>
            <a:ln>
              <a:solidFill>
                <a:srgbClr val="E6EAE7"/>
              </a:solidFill>
            </a:ln>
          </c:spPr>
        </c:majorGridlines>
        <c:numFmt formatCode="$#,##0;[Red]($#,##0);&quot;-&quot;" sourceLinked="0"/>
        <c:majorTickMark val="out"/>
        <c:minorTickMark val="none"/>
        <c:tickLblPos val="nextTo"/>
        <c:spPr>
          <a:ln>
            <a:noFill/>
          </a:ln>
        </c:spPr>
        <c:txPr>
          <a:bodyPr/>
          <a:lstStyle/>
          <a:p>
            <a:pPr>
              <a:defRPr sz="1000"/>
            </a:pPr>
          </a:p>
        </c:txPr>
        <c:crossAx val="-2101159928"/>
        <c:crosses val="autoZero"/>
        <c:crossBetween val="midCat"/>
      </c:valAx>
    </c:plotArea>
    <c:plotVisOnly val="1"/>
    <c:dispBlanksAs val="zero"/>
    <c:showDLblsOverMax val="0"/>
  </c:chart>
  <c:txPr>
    <a:bodyPr/>
    <a:lstStyle/>
    <a:p>
      <a:pPr>
        <a:defRPr sz="1800">
          <a:latin typeface="Roboto"/>
        </a:defRPr>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areaChart>
        <c:grouping val="standard"/>
        <c:varyColors val="0"/>
        <c:ser>
          <c:idx val="0"/>
          <c:order val="0"/>
          <c:tx>
            <c:strRef>
              <c:f>Sheet1!$B$1</c:f>
              <c:strCache>
                <c:ptCount val="1"/>
                <c:pt idx="0">
                  <c:v>Value</c:v>
                </c:pt>
              </c:strCache>
            </c:strRef>
          </c:tx>
          <c:spPr>
            <a:solidFill>
              <a:srgbClr val="0E9F6E">
                <a:alpha val="25000"/>
              </a:srgbClr>
            </a:solidFill>
            <a:ln w="31750">
              <a:solidFill>
                <a:srgbClr val="0E9F6E"/>
              </a:solidFill>
            </a:ln>
          </c:spPr>
          <c:cat>
            <c:strRef>
              <c:f>Sheet1!$A$2:$A$22</c:f>
              <c:strCache>
                <c:ptCount val="21"/>
                <c:pt idx="0">
                  <c:v>Oct 24</c:v>
                </c:pt>
                <c:pt idx="1">
                  <c:v>Nov 24</c:v>
                </c:pt>
                <c:pt idx="2">
                  <c:v>Dec 24</c:v>
                </c:pt>
                <c:pt idx="3">
                  <c:v>Jan 25</c:v>
                </c:pt>
                <c:pt idx="4">
                  <c:v>Feb 25</c:v>
                </c:pt>
                <c:pt idx="5">
                  <c:v>Mar 25</c:v>
                </c:pt>
                <c:pt idx="6">
                  <c:v>Apr 25</c:v>
                </c:pt>
                <c:pt idx="7">
                  <c:v>May 25</c:v>
                </c:pt>
                <c:pt idx="8">
                  <c:v>Jun 25</c:v>
                </c:pt>
                <c:pt idx="9">
                  <c:v>Jul 25</c:v>
                </c:pt>
                <c:pt idx="10">
                  <c:v>Aug 25</c:v>
                </c:pt>
                <c:pt idx="11">
                  <c:v>Sep 25</c:v>
                </c:pt>
                <c:pt idx="12">
                  <c:v>Oct 25</c:v>
                </c:pt>
                <c:pt idx="13">
                  <c:v>Nov 25</c:v>
                </c:pt>
                <c:pt idx="14">
                  <c:v>Dec 25</c:v>
                </c:pt>
                <c:pt idx="15">
                  <c:v>Jan 26</c:v>
                </c:pt>
                <c:pt idx="16">
                  <c:v>Feb 26</c:v>
                </c:pt>
                <c:pt idx="17">
                  <c:v>Mar 26</c:v>
                </c:pt>
                <c:pt idx="18">
                  <c:v>Apr 26</c:v>
                </c:pt>
                <c:pt idx="19">
                  <c:v>May 26</c:v>
                </c:pt>
                <c:pt idx="20">
                  <c:v>Jun 26</c:v>
                </c:pt>
              </c:strCache>
            </c:strRef>
          </c:cat>
          <c:val>
            <c:numRef>
              <c:f>Sheet1!$B$2:$B$22</c:f>
              <c:numCache>
                <c:formatCode>0.0"%";[Red](0.0"%")</c:formatCode>
                <c:ptCount val="21"/>
                <c:pt idx="0">
                  <c:v>33.1</c:v>
                </c:pt>
                <c:pt idx="1">
                  <c:v>37.0</c:v>
                </c:pt>
                <c:pt idx="2">
                  <c:v>40.4</c:v>
                </c:pt>
                <c:pt idx="3">
                  <c:v>42.7</c:v>
                </c:pt>
                <c:pt idx="4">
                  <c:v>36.4</c:v>
                </c:pt>
                <c:pt idx="5">
                  <c:v>36.5</c:v>
                </c:pt>
                <c:pt idx="6">
                  <c:v>38.4</c:v>
                </c:pt>
                <c:pt idx="7">
                  <c:v>35.5</c:v>
                </c:pt>
                <c:pt idx="8">
                  <c:v>40.5</c:v>
                </c:pt>
                <c:pt idx="9">
                  <c:v>35.6</c:v>
                </c:pt>
                <c:pt idx="10">
                  <c:v>43.8</c:v>
                </c:pt>
                <c:pt idx="11">
                  <c:v>37.6</c:v>
                </c:pt>
                <c:pt idx="12">
                  <c:v>38.4</c:v>
                </c:pt>
                <c:pt idx="13">
                  <c:v>33.7</c:v>
                </c:pt>
                <c:pt idx="14">
                  <c:v>37.4</c:v>
                </c:pt>
                <c:pt idx="15">
                  <c:v>35.3</c:v>
                </c:pt>
                <c:pt idx="16">
                  <c:v>38.6</c:v>
                </c:pt>
                <c:pt idx="17">
                  <c:v>35.6</c:v>
                </c:pt>
                <c:pt idx="18">
                  <c:v>41.7</c:v>
                </c:pt>
                <c:pt idx="19">
                  <c:v>39.0</c:v>
                </c:pt>
                <c:pt idx="20">
                  <c:v>38.5</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txPr>
          <a:bodyPr/>
          <a:lstStyle/>
          <a:p>
            <a:pPr>
              <a:defRPr sz="1000"/>
            </a:pPr>
          </a:p>
        </c:txPr>
        <c:crossAx val="-2100718248"/>
        <c:crosses val="autoZero"/>
        <c:auto val="1"/>
        <c:lblAlgn val="ctr"/>
        <c:lblOffset val="100"/>
        <c:noMultiLvlLbl val="0"/>
      </c:catAx>
      <c:valAx>
        <c:axId val="-2100718248"/>
        <c:scaling>
          <c:orientation val="minMax"/>
        </c:scaling>
        <c:delete val="0"/>
        <c:axPos val="l"/>
        <c:majorGridlines>
          <c:spPr>
            <a:ln>
              <a:solidFill>
                <a:srgbClr val="E6EAE7"/>
              </a:solidFill>
            </a:ln>
          </c:spPr>
        </c:majorGridlines>
        <c:numFmt formatCode="0.0&quot;%&quot;;[Red](0.0&quot;%&quot;)" sourceLinked="0"/>
        <c:majorTickMark val="out"/>
        <c:minorTickMark val="none"/>
        <c:tickLblPos val="nextTo"/>
        <c:spPr>
          <a:ln>
            <a:noFill/>
          </a:ln>
        </c:spPr>
        <c:txPr>
          <a:bodyPr/>
          <a:lstStyle/>
          <a:p>
            <a:pPr>
              <a:defRPr sz="1000"/>
            </a:pPr>
          </a:p>
        </c:txPr>
        <c:crossAx val="-2101159928"/>
        <c:crosses val="autoZero"/>
        <c:crossBetween val="midCat"/>
      </c:valAx>
    </c:plotArea>
    <c:plotVisOnly val="1"/>
    <c:dispBlanksAs val="zero"/>
    <c:showDLblsOverMax val="0"/>
  </c:chart>
  <c:txPr>
    <a:bodyPr/>
    <a:lstStyle/>
    <a:p>
      <a:pPr>
        <a:defRPr sz="1800">
          <a:latin typeface="Roboto"/>
        </a:defRPr>
      </a:pPr>
      <a:endParaR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areaChart>
        <c:grouping val="standard"/>
        <c:varyColors val="0"/>
        <c:ser>
          <c:idx val="0"/>
          <c:order val="0"/>
          <c:tx>
            <c:strRef>
              <c:f>Sheet1!$B$1</c:f>
              <c:strCache>
                <c:ptCount val="1"/>
                <c:pt idx="0">
                  <c:v>Value</c:v>
                </c:pt>
              </c:strCache>
            </c:strRef>
          </c:tx>
          <c:spPr>
            <a:solidFill>
              <a:srgbClr val="0E9F6E">
                <a:alpha val="25000"/>
              </a:srgbClr>
            </a:solidFill>
            <a:ln w="31750">
              <a:solidFill>
                <a:srgbClr val="0E9F6E"/>
              </a:solidFill>
            </a:ln>
          </c:spPr>
          <c:cat>
            <c:strRef>
              <c:f>Sheet1!$A$2:$A$22</c:f>
              <c:strCache>
                <c:ptCount val="21"/>
                <c:pt idx="0">
                  <c:v>Oct 24</c:v>
                </c:pt>
                <c:pt idx="1">
                  <c:v>Nov 24</c:v>
                </c:pt>
                <c:pt idx="2">
                  <c:v>Dec 24</c:v>
                </c:pt>
                <c:pt idx="3">
                  <c:v>Jan 25</c:v>
                </c:pt>
                <c:pt idx="4">
                  <c:v>Feb 25</c:v>
                </c:pt>
                <c:pt idx="5">
                  <c:v>Mar 25</c:v>
                </c:pt>
                <c:pt idx="6">
                  <c:v>Apr 25</c:v>
                </c:pt>
                <c:pt idx="7">
                  <c:v>May 25</c:v>
                </c:pt>
                <c:pt idx="8">
                  <c:v>Jun 25</c:v>
                </c:pt>
                <c:pt idx="9">
                  <c:v>Jul 25</c:v>
                </c:pt>
                <c:pt idx="10">
                  <c:v>Aug 25</c:v>
                </c:pt>
                <c:pt idx="11">
                  <c:v>Sep 25</c:v>
                </c:pt>
                <c:pt idx="12">
                  <c:v>Oct 25</c:v>
                </c:pt>
                <c:pt idx="13">
                  <c:v>Nov 25</c:v>
                </c:pt>
                <c:pt idx="14">
                  <c:v>Dec 25</c:v>
                </c:pt>
                <c:pt idx="15">
                  <c:v>Jan 26</c:v>
                </c:pt>
                <c:pt idx="16">
                  <c:v>Feb 26</c:v>
                </c:pt>
                <c:pt idx="17">
                  <c:v>Mar 26</c:v>
                </c:pt>
                <c:pt idx="18">
                  <c:v>Apr 26</c:v>
                </c:pt>
                <c:pt idx="19">
                  <c:v>May 26</c:v>
                </c:pt>
                <c:pt idx="20">
                  <c:v>Jun 26</c:v>
                </c:pt>
              </c:strCache>
            </c:strRef>
          </c:cat>
          <c:val>
            <c:numRef>
              <c:f>Sheet1!$B$2:$B$22</c:f>
              <c:numCache>
                <c:formatCode>$#,##0;[Red]($#,##0);"-"</c:formatCode>
                <c:ptCount val="21"/>
                <c:pt idx="0">
                  <c:v>94520</c:v>
                </c:pt>
                <c:pt idx="1">
                  <c:v>108140</c:v>
                </c:pt>
                <c:pt idx="2">
                  <c:v>114895</c:v>
                </c:pt>
                <c:pt idx="3">
                  <c:v>88250</c:v>
                </c:pt>
                <c:pt idx="4">
                  <c:v>111010</c:v>
                </c:pt>
                <c:pt idx="5">
                  <c:v>77175</c:v>
                </c:pt>
                <c:pt idx="6">
                  <c:v>63970</c:v>
                </c:pt>
                <c:pt idx="7">
                  <c:v>95555</c:v>
                </c:pt>
                <c:pt idx="8">
                  <c:v>90220</c:v>
                </c:pt>
                <c:pt idx="9">
                  <c:v>86320</c:v>
                </c:pt>
                <c:pt idx="10">
                  <c:v>61475</c:v>
                </c:pt>
                <c:pt idx="11">
                  <c:v>59535</c:v>
                </c:pt>
                <c:pt idx="12">
                  <c:v>71260</c:v>
                </c:pt>
                <c:pt idx="13">
                  <c:v>83940</c:v>
                </c:pt>
                <c:pt idx="14">
                  <c:v>69420</c:v>
                </c:pt>
                <c:pt idx="15">
                  <c:v>92370</c:v>
                </c:pt>
                <c:pt idx="16">
                  <c:v>100055</c:v>
                </c:pt>
                <c:pt idx="17">
                  <c:v>109865</c:v>
                </c:pt>
                <c:pt idx="18">
                  <c:v>80590</c:v>
                </c:pt>
                <c:pt idx="19">
                  <c:v>77090</c:v>
                </c:pt>
                <c:pt idx="20">
                  <c:v>115550</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txPr>
          <a:bodyPr/>
          <a:lstStyle/>
          <a:p>
            <a:pPr>
              <a:defRPr sz="1000"/>
            </a:pPr>
          </a:p>
        </c:txPr>
        <c:crossAx val="-2100718248"/>
        <c:crosses val="autoZero"/>
        <c:auto val="1"/>
        <c:lblAlgn val="ctr"/>
        <c:lblOffset val="100"/>
        <c:noMultiLvlLbl val="0"/>
      </c:catAx>
      <c:valAx>
        <c:axId val="-2100718248"/>
        <c:scaling>
          <c:orientation val="minMax"/>
        </c:scaling>
        <c:delete val="0"/>
        <c:axPos val="l"/>
        <c:majorGridlines>
          <c:spPr>
            <a:ln>
              <a:solidFill>
                <a:srgbClr val="E6EAE7"/>
              </a:solidFill>
            </a:ln>
          </c:spPr>
        </c:majorGridlines>
        <c:numFmt formatCode="$#,##0;[Red]($#,##0);&quot;-&quot;" sourceLinked="0"/>
        <c:majorTickMark val="out"/>
        <c:minorTickMark val="none"/>
        <c:tickLblPos val="nextTo"/>
        <c:spPr>
          <a:ln>
            <a:noFill/>
          </a:ln>
        </c:spPr>
        <c:txPr>
          <a:bodyPr/>
          <a:lstStyle/>
          <a:p>
            <a:pPr>
              <a:defRPr sz="1000"/>
            </a:pPr>
          </a:p>
        </c:txPr>
        <c:crossAx val="-2101159928"/>
        <c:crosses val="autoZero"/>
        <c:crossBetween val="midCat"/>
      </c:valAx>
    </c:plotArea>
    <c:plotVisOnly val="1"/>
    <c:dispBlanksAs val="zero"/>
    <c:showDLblsOverMax val="0"/>
  </c:chart>
  <c:txPr>
    <a:bodyPr/>
    <a:lstStyle/>
    <a:p>
      <a:pPr>
        <a:defRPr sz="1800">
          <a:latin typeface="Roboto"/>
        </a:defRPr>
      </a:pPr>
      <a:endParaR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areaChart>
        <c:grouping val="standard"/>
        <c:varyColors val="0"/>
        <c:ser>
          <c:idx val="0"/>
          <c:order val="0"/>
          <c:tx>
            <c:strRef>
              <c:f>Sheet1!$B$1</c:f>
              <c:strCache>
                <c:ptCount val="1"/>
                <c:pt idx="0">
                  <c:v>Value</c:v>
                </c:pt>
              </c:strCache>
            </c:strRef>
          </c:tx>
          <c:spPr>
            <a:solidFill>
              <a:srgbClr val="0E9F6E">
                <a:alpha val="25000"/>
              </a:srgbClr>
            </a:solidFill>
            <a:ln w="31750">
              <a:solidFill>
                <a:srgbClr val="0E9F6E"/>
              </a:solidFill>
            </a:ln>
          </c:spPr>
          <c:cat>
            <c:strRef>
              <c:f>Sheet1!$A$2:$A$22</c:f>
              <c:strCache>
                <c:ptCount val="21"/>
                <c:pt idx="0">
                  <c:v>Oct 24</c:v>
                </c:pt>
                <c:pt idx="1">
                  <c:v>Nov 24</c:v>
                </c:pt>
                <c:pt idx="2">
                  <c:v>Dec 24</c:v>
                </c:pt>
                <c:pt idx="3">
                  <c:v>Jan 25</c:v>
                </c:pt>
                <c:pt idx="4">
                  <c:v>Feb 25</c:v>
                </c:pt>
                <c:pt idx="5">
                  <c:v>Mar 25</c:v>
                </c:pt>
                <c:pt idx="6">
                  <c:v>Apr 25</c:v>
                </c:pt>
                <c:pt idx="7">
                  <c:v>May 25</c:v>
                </c:pt>
                <c:pt idx="8">
                  <c:v>Jun 25</c:v>
                </c:pt>
                <c:pt idx="9">
                  <c:v>Jul 25</c:v>
                </c:pt>
                <c:pt idx="10">
                  <c:v>Aug 25</c:v>
                </c:pt>
                <c:pt idx="11">
                  <c:v>Sep 25</c:v>
                </c:pt>
                <c:pt idx="12">
                  <c:v>Oct 25</c:v>
                </c:pt>
                <c:pt idx="13">
                  <c:v>Nov 25</c:v>
                </c:pt>
                <c:pt idx="14">
                  <c:v>Dec 25</c:v>
                </c:pt>
                <c:pt idx="15">
                  <c:v>Jan 26</c:v>
                </c:pt>
                <c:pt idx="16">
                  <c:v>Feb 26</c:v>
                </c:pt>
                <c:pt idx="17">
                  <c:v>Mar 26</c:v>
                </c:pt>
                <c:pt idx="18">
                  <c:v>Apr 26</c:v>
                </c:pt>
                <c:pt idx="19">
                  <c:v>May 26</c:v>
                </c:pt>
                <c:pt idx="20">
                  <c:v>Jun 26</c:v>
                </c:pt>
              </c:strCache>
            </c:strRef>
          </c:cat>
          <c:val>
            <c:numRef>
              <c:f>Sheet1!$B$2:$B$22</c:f>
              <c:numCache>
                <c:formatCode>0.0"%";[Red](0.0"%")</c:formatCode>
                <c:ptCount val="21"/>
                <c:pt idx="0">
                  <c:v>62.6</c:v>
                </c:pt>
                <c:pt idx="1">
                  <c:v>63.0</c:v>
                </c:pt>
                <c:pt idx="2">
                  <c:v>62.6</c:v>
                </c:pt>
                <c:pt idx="3">
                  <c:v>62.3</c:v>
                </c:pt>
                <c:pt idx="4">
                  <c:v>61.4</c:v>
                </c:pt>
                <c:pt idx="5">
                  <c:v>58.6</c:v>
                </c:pt>
                <c:pt idx="6">
                  <c:v>60.1</c:v>
                </c:pt>
                <c:pt idx="7">
                  <c:v>62.2</c:v>
                </c:pt>
                <c:pt idx="8">
                  <c:v>60.8</c:v>
                </c:pt>
                <c:pt idx="9">
                  <c:v>62.0</c:v>
                </c:pt>
                <c:pt idx="10">
                  <c:v>65.3</c:v>
                </c:pt>
                <c:pt idx="11">
                  <c:v>65.9</c:v>
                </c:pt>
                <c:pt idx="12">
                  <c:v>64.2</c:v>
                </c:pt>
                <c:pt idx="13">
                  <c:v>62.9</c:v>
                </c:pt>
                <c:pt idx="14">
                  <c:v>64.7</c:v>
                </c:pt>
                <c:pt idx="15">
                  <c:v>64.8</c:v>
                </c:pt>
                <c:pt idx="16">
                  <c:v>63.4</c:v>
                </c:pt>
                <c:pt idx="17">
                  <c:v>62.9</c:v>
                </c:pt>
                <c:pt idx="18">
                  <c:v>65.4</c:v>
                </c:pt>
                <c:pt idx="19">
                  <c:v>64.1</c:v>
                </c:pt>
                <c:pt idx="20">
                  <c:v>60.1</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txPr>
          <a:bodyPr/>
          <a:lstStyle/>
          <a:p>
            <a:pPr>
              <a:defRPr sz="1000"/>
            </a:pPr>
          </a:p>
        </c:txPr>
        <c:crossAx val="-2100718248"/>
        <c:crosses val="autoZero"/>
        <c:auto val="1"/>
        <c:lblAlgn val="ctr"/>
        <c:lblOffset val="100"/>
        <c:noMultiLvlLbl val="0"/>
      </c:catAx>
      <c:valAx>
        <c:axId val="-2100718248"/>
        <c:scaling>
          <c:orientation val="minMax"/>
        </c:scaling>
        <c:delete val="0"/>
        <c:axPos val="l"/>
        <c:majorGridlines>
          <c:spPr>
            <a:ln>
              <a:solidFill>
                <a:srgbClr val="E6EAE7"/>
              </a:solidFill>
            </a:ln>
          </c:spPr>
        </c:majorGridlines>
        <c:numFmt formatCode="0.0&quot;%&quot;;[Red](0.0&quot;%&quot;)" sourceLinked="0"/>
        <c:majorTickMark val="out"/>
        <c:minorTickMark val="none"/>
        <c:tickLblPos val="nextTo"/>
        <c:spPr>
          <a:ln>
            <a:noFill/>
          </a:ln>
        </c:spPr>
        <c:txPr>
          <a:bodyPr/>
          <a:lstStyle/>
          <a:p>
            <a:pPr>
              <a:defRPr sz="1000"/>
            </a:pPr>
          </a:p>
        </c:txPr>
        <c:crossAx val="-2101159928"/>
        <c:crosses val="autoZero"/>
        <c:crossBetween val="midCat"/>
      </c:valAx>
    </c:plotArea>
    <c:plotVisOnly val="1"/>
    <c:dispBlanksAs val="zero"/>
    <c:showDLblsOverMax val="0"/>
  </c:chart>
  <c:txPr>
    <a:bodyPr/>
    <a:lstStyle/>
    <a:p>
      <a:pPr>
        <a:defRPr sz="1800">
          <a:latin typeface="Roboto"/>
        </a:defRPr>
      </a:pPr>
      <a:endParaRPr/>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548640"/>
            <a:ext cx="640080" cy="640080"/>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a:latin typeface="Roboto"/>
              </a:defRPr>
            </a:pPr>
            <a:r>
              <a:rPr sz="1600" b="1">
                <a:solidFill>
                  <a:srgbClr val="FFFFFF"/>
                </a:solidFill>
                <a:latin typeface="Roboto"/>
              </a:rPr>
              <a:t>4th</a:t>
            </a:r>
          </a:p>
        </p:txBody>
      </p:sp>
      <p:sp>
        <p:nvSpPr>
          <p:cNvPr id="3" name="TextBox 2"/>
          <p:cNvSpPr txBox="1"/>
          <p:nvPr/>
        </p:nvSpPr>
        <p:spPr>
          <a:xfrm>
            <a:off x="1234440" y="658368"/>
            <a:ext cx="5486400" cy="457200"/>
          </a:xfrm>
          <a:prstGeom prst="rect">
            <a:avLst/>
          </a:prstGeom>
          <a:noFill/>
        </p:spPr>
        <p:txBody>
          <a:bodyPr wrap="square">
            <a:spAutoFit/>
          </a:bodyPr>
          <a:lstStyle/>
          <a:p>
            <a:pPr>
              <a:defRPr>
                <a:latin typeface="Roboto"/>
              </a:defRPr>
            </a:pPr>
            <a:r>
              <a:rPr sz="1800" b="1">
                <a:solidFill>
                  <a:srgbClr val="25342A"/>
                </a:solidFill>
                <a:latin typeface="Roboto"/>
              </a:rPr>
              <a:t>The Fourth Sheet</a:t>
            </a:r>
          </a:p>
        </p:txBody>
      </p:sp>
      <p:sp>
        <p:nvSpPr>
          <p:cNvPr id="4" name="TextBox 3"/>
          <p:cNvSpPr txBox="1"/>
          <p:nvPr/>
        </p:nvSpPr>
        <p:spPr>
          <a:xfrm>
            <a:off x="457200" y="1554480"/>
            <a:ext cx="10972800" cy="365760"/>
          </a:xfrm>
          <a:prstGeom prst="rect">
            <a:avLst/>
          </a:prstGeom>
          <a:noFill/>
        </p:spPr>
        <p:txBody>
          <a:bodyPr wrap="square">
            <a:spAutoFit/>
          </a:bodyPr>
          <a:lstStyle/>
          <a:p>
            <a:pPr>
              <a:defRPr>
                <a:latin typeface="Roboto"/>
              </a:defRPr>
            </a:pPr>
            <a:r>
              <a:rPr sz="1100" b="1">
                <a:solidFill>
                  <a:srgbClr val="8A7A52"/>
                </a:solidFill>
                <a:latin typeface="Roboto"/>
              </a:rPr>
              <a:t>SAMPLE DATA · invented figures for demonstration</a:t>
            </a:r>
          </a:p>
        </p:txBody>
      </p:sp>
      <p:sp>
        <p:nvSpPr>
          <p:cNvPr id="5" name="TextBox 4"/>
          <p:cNvSpPr txBox="1"/>
          <p:nvPr/>
        </p:nvSpPr>
        <p:spPr>
          <a:xfrm>
            <a:off x="457200" y="2011680"/>
            <a:ext cx="11247120" cy="1097280"/>
          </a:xfrm>
          <a:prstGeom prst="rect">
            <a:avLst/>
          </a:prstGeom>
          <a:noFill/>
        </p:spPr>
        <p:txBody>
          <a:bodyPr wrap="square">
            <a:spAutoFit/>
          </a:bodyPr>
          <a:lstStyle/>
          <a:p>
            <a:pPr>
              <a:defRPr>
                <a:latin typeface="Roboto"/>
              </a:defRPr>
            </a:pPr>
            <a:r>
              <a:rPr sz="3400" b="1">
                <a:solidFill>
                  <a:srgbClr val="25342A"/>
                </a:solidFill>
                <a:latin typeface="Roboto"/>
              </a:rPr>
              <a:t>Which products and services are growing?</a:t>
            </a:r>
          </a:p>
        </p:txBody>
      </p:sp>
      <p:sp>
        <p:nvSpPr>
          <p:cNvPr id="6" name="TextBox 5"/>
          <p:cNvSpPr txBox="1"/>
          <p:nvPr/>
        </p:nvSpPr>
        <p:spPr>
          <a:xfrm>
            <a:off x="457200" y="3154680"/>
            <a:ext cx="11247120" cy="457200"/>
          </a:xfrm>
          <a:prstGeom prst="rect">
            <a:avLst/>
          </a:prstGeom>
          <a:noFill/>
        </p:spPr>
        <p:txBody>
          <a:bodyPr wrap="square">
            <a:spAutoFit/>
          </a:bodyPr>
          <a:lstStyle/>
          <a:p>
            <a:pPr>
              <a:defRPr>
                <a:latin typeface="Roboto"/>
              </a:defRPr>
            </a:pPr>
            <a:r>
              <a:rPr sz="1600" b="0">
                <a:solidFill>
                  <a:srgbClr val="5F6F63"/>
                </a:solidFill>
                <a:latin typeface="Roboto"/>
              </a:rPr>
              <a:t>SME sample businesses</a:t>
            </a:r>
          </a:p>
        </p:txBody>
      </p:sp>
      <p:sp>
        <p:nvSpPr>
          <p:cNvPr id="7" name="TextBox 6"/>
          <p:cNvSpPr txBox="1"/>
          <p:nvPr/>
        </p:nvSpPr>
        <p:spPr>
          <a:xfrm>
            <a:off x="457200" y="3703320"/>
            <a:ext cx="11247120" cy="1097280"/>
          </a:xfrm>
          <a:prstGeom prst="rect">
            <a:avLst/>
          </a:prstGeom>
          <a:noFill/>
        </p:spPr>
        <p:txBody>
          <a:bodyPr wrap="square">
            <a:spAutoFit/>
          </a:bodyPr>
          <a:lstStyle/>
          <a:p>
            <a:pPr>
              <a:defRPr>
                <a:latin typeface="Roboto"/>
              </a:defRPr>
            </a:pPr>
            <a:r>
              <a:rPr sz="1400" b="0">
                <a:solidFill>
                  <a:srgbClr val="25342A"/>
                </a:solidFill>
                <a:latin typeface="Roboto"/>
              </a:rPr>
              <a:t>Period: June 2026. Revenue, gross margin and growth (year on year) by product or service line over 24 months. Pick a line and every number, chart and note follows it.</a:t>
            </a:r>
          </a:p>
        </p:txBody>
      </p:sp>
      <p:sp>
        <p:nvSpPr>
          <p:cNvPr id="8" name="TextBox 7"/>
          <p:cNvSpPr txBox="1"/>
          <p:nvPr/>
        </p:nvSpPr>
        <p:spPr>
          <a:xfrm>
            <a:off x="457200" y="4937760"/>
            <a:ext cx="11247120" cy="1097280"/>
          </a:xfrm>
          <a:prstGeom prst="rect">
            <a:avLst/>
          </a:prstGeom>
          <a:noFill/>
        </p:spPr>
        <p:txBody>
          <a:bodyPr wrap="square">
            <a:spAutoFit/>
          </a:bodyPr>
          <a:lstStyle/>
          <a:p>
            <a:pPr>
              <a:defRPr>
                <a:latin typeface="Roboto"/>
              </a:defRPr>
            </a:pPr>
            <a:r>
              <a:rPr sz="1100" b="0">
                <a:solidFill>
                  <a:srgbClr val="5F6F63"/>
                </a:solidFill>
                <a:latin typeface="Roboto"/>
              </a:rPr>
              <a:t>How final is this data?</a:t>
            </a:r>
          </a:p>
          <a:p>
            <a:pPr>
              <a:defRPr>
                <a:latin typeface="Roboto"/>
              </a:defRPr>
            </a:pPr>
            <a:r>
              <a:rPr sz="1100" b="0">
                <a:solidFill>
                  <a:srgbClr val="5F6F63"/>
                </a:solidFill>
                <a:latin typeface="Roboto"/>
              </a:rPr>
              <a:t>May 2026: Locked. May 2026 is locked (closed 2 Jun 2026). These numbers won't change.</a:t>
            </a:r>
          </a:p>
          <a:p>
            <a:pPr>
              <a:defRPr>
                <a:latin typeface="Roboto"/>
              </a:defRPr>
            </a:pPr>
            <a:r>
              <a:rPr sz="1100" b="0">
                <a:solidFill>
                  <a:srgbClr val="5F6F63"/>
                </a:solidFill>
                <a:latin typeface="Roboto"/>
              </a:rPr>
              <a:t>June 2026: Locked. June 2026 is locked (closed 2 Jul 2026). These numbers won't change.</a:t>
            </a:r>
          </a:p>
          <a:p>
            <a:pPr>
              <a:defRPr>
                <a:latin typeface="Roboto"/>
              </a:defRPr>
            </a:pPr>
            <a:r>
              <a:rPr sz="1100" b="0">
                <a:solidFill>
                  <a:srgbClr val="5F6F63"/>
                </a:solidFill>
                <a:latin typeface="Roboto"/>
              </a:rPr>
              <a:t>October 2026: Incomplete. October 2026 is still in progress: figures to 6 Oct only.</a:t>
            </a:r>
          </a:p>
        </p:txBody>
      </p:sp>
      <p:sp>
        <p:nvSpPr>
          <p:cNvPr id="9" name="TextBox 8"/>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0" name="TextBox 9"/>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1" name="TextBox 10"/>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 of 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Gross margin, not profit</a:t>
            </a:r>
          </a:p>
        </p:txBody>
      </p:sp>
      <p:sp>
        <p:nvSpPr>
          <p:cNvPr id="5" name="Rectangle 4"/>
          <p:cNvSpPr/>
          <p:nvPr/>
        </p:nvSpPr>
        <p:spPr>
          <a:xfrm>
            <a:off x="457200" y="1554480"/>
            <a:ext cx="11277295"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10820095" cy="365760"/>
          </a:xfrm>
          <a:prstGeom prst="rect">
            <a:avLst/>
          </a:prstGeom>
          <a:noFill/>
        </p:spPr>
        <p:txBody>
          <a:bodyPr wrap="square">
            <a:spAutoFit/>
          </a:bodyPr>
          <a:lstStyle/>
          <a:p>
            <a:pPr>
              <a:defRPr>
                <a:latin typeface="Roboto"/>
              </a:defRPr>
            </a:pPr>
            <a:r>
              <a:rPr sz="1100" b="1">
                <a:solidFill>
                  <a:srgbClr val="5F6F63"/>
                </a:solidFill>
                <a:latin typeface="Roboto"/>
              </a:rPr>
              <a:t>GROSS MARGIN, NOT PROFIT</a:t>
            </a:r>
          </a:p>
        </p:txBody>
      </p:sp>
      <p:sp>
        <p:nvSpPr>
          <p:cNvPr id="7" name="TextBox 6"/>
          <p:cNvSpPr txBox="1"/>
          <p:nvPr/>
        </p:nvSpPr>
        <p:spPr>
          <a:xfrm>
            <a:off x="685800" y="2103120"/>
            <a:ext cx="10820095" cy="3749039"/>
          </a:xfrm>
          <a:prstGeom prst="rect">
            <a:avLst/>
          </a:prstGeom>
          <a:noFill/>
        </p:spPr>
        <p:txBody>
          <a:bodyPr wrap="square">
            <a:spAutoFit/>
          </a:bodyPr>
          <a:lstStyle/>
          <a:p>
            <a:pPr>
              <a:defRPr>
                <a:latin typeface="Roboto"/>
              </a:defRPr>
            </a:pPr>
            <a:r>
              <a:rPr sz="1600" b="0">
                <a:solidFill>
                  <a:srgbClr val="25342A"/>
                </a:solidFill>
                <a:latin typeface="Roboto"/>
              </a:rPr>
              <a:t>Gross margin is not profit. Job gross margin = revenue less materials, subcontractors and technician time charged to the job at $68 an hour (wages and all on-costs). Not included: technician time not charged to any job (travel, training, waiting), and overheads (office wages, marketing, vehicles, rent, insurance, IT, depreciation, interest). Profit is what's left after those. Wages always include all on-costs: super, payroll tax, workers' compensation insurance and leave.</a:t>
            </a:r>
          </a:p>
        </p:txBody>
      </p:sp>
      <p:sp>
        <p:nvSpPr>
          <p:cNvPr id="8" name="TextBox 7"/>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9" name="TextBox 8"/>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0" name="TextBox 9"/>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 of 27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From gross margin to profit · Trades</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June's jobs made $66,663 gross margin (38.5%). Technician time not charged to jobs took $2,410 and overheads $59,260, leaving $4,993 profit before tax (2.9% of revenue). To cover overheads, jobs need a 35.6% gross margin on average.</a:t>
            </a:r>
          </a:p>
        </p:txBody>
      </p:sp>
      <p:graphicFrame>
        <p:nvGraphicFramePr>
          <p:cNvPr id="6" name="Table 5"/>
          <p:cNvGraphicFramePr>
            <a:graphicFrameLocks noGrp="1"/>
          </p:cNvGraphicFramePr>
          <p:nvPr/>
        </p:nvGraphicFramePr>
        <p:xfrm>
          <a:off x="457200" y="1463040"/>
          <a:ext cx="11247120" cy="3950208"/>
        </p:xfrm>
        <a:graphic>
          <a:graphicData uri="http://schemas.openxmlformats.org/drawingml/2006/table">
            <a:tbl>
              <a:tblPr firstRow="1" bandRow="1">
                <a:tableStyleId>{5C22544A-7EE6-4342-B048-85BDC9FD1C3A}</a:tableStyleId>
              </a:tblPr>
              <a:tblGrid>
                <a:gridCol w="5623560"/>
                <a:gridCol w="5623560"/>
              </a:tblGrid>
              <a:tr h="329184">
                <a:tc>
                  <a:txBody>
                    <a:bodyPr/>
                    <a:lstStyle/>
                    <a:p>
                      <a:pPr>
                        <a:defRPr>
                          <a:latin typeface="Roboto"/>
                        </a:defRPr>
                      </a:pPr>
                    </a:p>
                  </a:txBody>
                  <a:tcPr>
                    <a:solidFill>
                      <a:srgbClr val="2F7A5D"/>
                    </a:solidFill>
                  </a:tcPr>
                </a:tc>
                <a:tc>
                  <a:txBody>
                    <a:bodyPr/>
                    <a:lstStyle/>
                    <a:p>
                      <a:pPr algn="r">
                        <a:defRPr>
                          <a:latin typeface="Roboto"/>
                        </a:defRPr>
                      </a:pPr>
                      <a:r>
                        <a:rPr sz="1100" b="1">
                          <a:solidFill>
                            <a:srgbClr val="FFFFFF"/>
                          </a:solidFill>
                          <a:latin typeface="Roboto"/>
                        </a:rPr>
                        <a:t>June 2026</a:t>
                      </a:r>
                    </a:p>
                  </a:txBody>
                  <a:tcPr>
                    <a:solidFill>
                      <a:srgbClr val="2F7A5D"/>
                    </a:solidFill>
                  </a:tcPr>
                </a:tc>
              </a:tr>
              <a:tr h="329184">
                <a:tc>
                  <a:txBody>
                    <a:bodyPr/>
                    <a:lstStyle/>
                    <a:p>
                      <a:pPr>
                        <a:defRPr>
                          <a:latin typeface="Roboto"/>
                        </a:defRPr>
                      </a:pPr>
                      <a:r>
                        <a:rPr sz="1050">
                          <a:solidFill>
                            <a:srgbClr val="25342A"/>
                          </a:solidFill>
                          <a:latin typeface="Roboto"/>
                        </a:rPr>
                        <a:t>Gross margin on jobs</a:t>
                      </a:r>
                    </a:p>
                  </a:txBody>
                  <a:tcPr>
                    <a:solidFill>
                      <a:srgbClr val="FFFFFF"/>
                    </a:solidFill>
                  </a:tcPr>
                </a:tc>
                <a:tc>
                  <a:txBody>
                    <a:bodyPr/>
                    <a:lstStyle/>
                    <a:p>
                      <a:pPr algn="r">
                        <a:defRPr>
                          <a:latin typeface="Roboto"/>
                        </a:defRPr>
                      </a:pPr>
                      <a:r>
                        <a:rPr sz="1050">
                          <a:solidFill>
                            <a:srgbClr val="25342A"/>
                          </a:solidFill>
                          <a:latin typeface="Roboto"/>
                        </a:rPr>
                        <a:t>$66,663</a:t>
                      </a:r>
                    </a:p>
                  </a:txBody>
                  <a:tcPr>
                    <a:solidFill>
                      <a:srgbClr val="FFFFFF"/>
                    </a:solidFill>
                  </a:tcPr>
                </a:tc>
              </a:tr>
              <a:tr h="329184">
                <a:tc>
                  <a:txBody>
                    <a:bodyPr/>
                    <a:lstStyle/>
                    <a:p>
                      <a:pPr>
                        <a:defRPr>
                          <a:latin typeface="Roboto"/>
                        </a:defRPr>
                      </a:pPr>
                      <a:r>
                        <a:rPr sz="1050">
                          <a:solidFill>
                            <a:srgbClr val="25342A"/>
                          </a:solidFill>
                          <a:latin typeface="Roboto"/>
                        </a:rPr>
                        <a:t>Technician wages and on-costs</a:t>
                      </a:r>
                    </a:p>
                  </a:txBody>
                  <a:tcPr>
                    <a:solidFill>
                      <a:srgbClr val="F7FAF7"/>
                    </a:solidFill>
                  </a:tcPr>
                </a:tc>
                <a:tc>
                  <a:txBody>
                    <a:bodyPr/>
                    <a:lstStyle/>
                    <a:p>
                      <a:pPr algn="r">
                        <a:defRPr>
                          <a:latin typeface="Roboto"/>
                        </a:defRPr>
                      </a:pPr>
                      <a:r>
                        <a:rPr sz="1050">
                          <a:solidFill>
                            <a:srgbClr val="25342A"/>
                          </a:solidFill>
                          <a:latin typeface="Roboto"/>
                        </a:rPr>
                        <a:t>$54,600</a:t>
                      </a:r>
                    </a:p>
                  </a:txBody>
                  <a:tcPr>
                    <a:solidFill>
                      <a:srgbClr val="F7FAF7"/>
                    </a:solidFill>
                  </a:tcPr>
                </a:tc>
              </a:tr>
              <a:tr h="329184">
                <a:tc>
                  <a:txBody>
                    <a:bodyPr/>
                    <a:lstStyle/>
                    <a:p>
                      <a:pPr>
                        <a:defRPr>
                          <a:latin typeface="Roboto"/>
                        </a:defRPr>
                      </a:pPr>
                      <a:r>
                        <a:rPr sz="1050">
                          <a:solidFill>
                            <a:srgbClr val="25342A"/>
                          </a:solidFill>
                          <a:latin typeface="Roboto"/>
                        </a:rPr>
                        <a:t>Technician time charged to jobs (at cost)</a:t>
                      </a:r>
                    </a:p>
                  </a:txBody>
                  <a:tcPr>
                    <a:solidFill>
                      <a:srgbClr val="FFFFFF"/>
                    </a:solidFill>
                  </a:tcPr>
                </a:tc>
                <a:tc>
                  <a:txBody>
                    <a:bodyPr/>
                    <a:lstStyle/>
                    <a:p>
                      <a:pPr algn="r">
                        <a:defRPr>
                          <a:latin typeface="Roboto"/>
                        </a:defRPr>
                      </a:pPr>
                      <a:r>
                        <a:rPr sz="1050">
                          <a:solidFill>
                            <a:srgbClr val="25342A"/>
                          </a:solidFill>
                          <a:latin typeface="Roboto"/>
                        </a:rPr>
                        <a:t>$52,190</a:t>
                      </a:r>
                    </a:p>
                  </a:txBody>
                  <a:tcPr>
                    <a:solidFill>
                      <a:srgbClr val="FFFFFF"/>
                    </a:solidFill>
                  </a:tcPr>
                </a:tc>
              </a:tr>
              <a:tr h="329184">
                <a:tc>
                  <a:txBody>
                    <a:bodyPr/>
                    <a:lstStyle/>
                    <a:p>
                      <a:pPr>
                        <a:defRPr>
                          <a:latin typeface="Roboto"/>
                        </a:defRPr>
                      </a:pPr>
                      <a:r>
                        <a:rPr sz="1050">
                          <a:solidFill>
                            <a:srgbClr val="25342A"/>
                          </a:solidFill>
                          <a:latin typeface="Roboto"/>
                        </a:rPr>
                        <a:t>Technician time not charged to jobs</a:t>
                      </a:r>
                    </a:p>
                  </a:txBody>
                  <a:tcPr>
                    <a:solidFill>
                      <a:srgbClr val="F7FAF7"/>
                    </a:solidFill>
                  </a:tcPr>
                </a:tc>
                <a:tc>
                  <a:txBody>
                    <a:bodyPr/>
                    <a:lstStyle/>
                    <a:p>
                      <a:pPr algn="r">
                        <a:defRPr>
                          <a:latin typeface="Roboto"/>
                        </a:defRPr>
                      </a:pPr>
                      <a:r>
                        <a:rPr sz="1050">
                          <a:solidFill>
                            <a:srgbClr val="25342A"/>
                          </a:solidFill>
                          <a:latin typeface="Roboto"/>
                        </a:rPr>
                        <a:t>$2,410</a:t>
                      </a:r>
                    </a:p>
                  </a:txBody>
                  <a:tcPr>
                    <a:solidFill>
                      <a:srgbClr val="F7FAF7"/>
                    </a:solidFill>
                  </a:tcPr>
                </a:tc>
              </a:tr>
              <a:tr h="329184">
                <a:tc>
                  <a:txBody>
                    <a:bodyPr/>
                    <a:lstStyle/>
                    <a:p>
                      <a:pPr>
                        <a:defRPr>
                          <a:latin typeface="Roboto"/>
                        </a:defRPr>
                      </a:pPr>
                      <a:r>
                        <a:rPr sz="1050">
                          <a:solidFill>
                            <a:srgbClr val="25342A"/>
                          </a:solidFill>
                          <a:latin typeface="Roboto"/>
                        </a:rPr>
                        <a:t>Gross profit (the P&amp;L)</a:t>
                      </a:r>
                    </a:p>
                  </a:txBody>
                  <a:tcPr>
                    <a:solidFill>
                      <a:srgbClr val="FFFFFF"/>
                    </a:solidFill>
                  </a:tcPr>
                </a:tc>
                <a:tc>
                  <a:txBody>
                    <a:bodyPr/>
                    <a:lstStyle/>
                    <a:p>
                      <a:pPr algn="r">
                        <a:defRPr>
                          <a:latin typeface="Roboto"/>
                        </a:defRPr>
                      </a:pPr>
                      <a:r>
                        <a:rPr sz="1050">
                          <a:solidFill>
                            <a:srgbClr val="25342A"/>
                          </a:solidFill>
                          <a:latin typeface="Roboto"/>
                        </a:rPr>
                        <a:t>$64,253</a:t>
                      </a:r>
                    </a:p>
                  </a:txBody>
                  <a:tcPr>
                    <a:solidFill>
                      <a:srgbClr val="FFFFFF"/>
                    </a:solidFill>
                  </a:tcPr>
                </a:tc>
              </a:tr>
              <a:tr h="329184">
                <a:tc>
                  <a:txBody>
                    <a:bodyPr/>
                    <a:lstStyle/>
                    <a:p>
                      <a:pPr>
                        <a:defRPr>
                          <a:latin typeface="Roboto"/>
                        </a:defRPr>
                      </a:pPr>
                      <a:r>
                        <a:rPr sz="1050">
                          <a:solidFill>
                            <a:srgbClr val="25342A"/>
                          </a:solidFill>
                          <a:latin typeface="Roboto"/>
                        </a:rPr>
                        <a:t>Overheads (operating expenses, depreciation, interest)</a:t>
                      </a:r>
                    </a:p>
                  </a:txBody>
                  <a:tcPr>
                    <a:solidFill>
                      <a:srgbClr val="F7FAF7"/>
                    </a:solidFill>
                  </a:tcPr>
                </a:tc>
                <a:tc>
                  <a:txBody>
                    <a:bodyPr/>
                    <a:lstStyle/>
                    <a:p>
                      <a:pPr algn="r">
                        <a:defRPr>
                          <a:latin typeface="Roboto"/>
                        </a:defRPr>
                      </a:pPr>
                      <a:r>
                        <a:rPr sz="1050">
                          <a:solidFill>
                            <a:srgbClr val="25342A"/>
                          </a:solidFill>
                          <a:latin typeface="Roboto"/>
                        </a:rPr>
                        <a:t>$59,260</a:t>
                      </a:r>
                    </a:p>
                  </a:txBody>
                  <a:tcPr>
                    <a:solidFill>
                      <a:srgbClr val="F7FAF7"/>
                    </a:solidFill>
                  </a:tcPr>
                </a:tc>
              </a:tr>
              <a:tr h="329184">
                <a:tc>
                  <a:txBody>
                    <a:bodyPr/>
                    <a:lstStyle/>
                    <a:p>
                      <a:pPr>
                        <a:defRPr>
                          <a:latin typeface="Roboto"/>
                        </a:defRPr>
                      </a:pPr>
                      <a:r>
                        <a:rPr sz="1050">
                          <a:solidFill>
                            <a:srgbClr val="25342A"/>
                          </a:solidFill>
                          <a:latin typeface="Roboto"/>
                        </a:rPr>
                        <a:t>Profit before tax (the P&amp;L)</a:t>
                      </a:r>
                    </a:p>
                  </a:txBody>
                  <a:tcPr>
                    <a:solidFill>
                      <a:srgbClr val="FFFFFF"/>
                    </a:solidFill>
                  </a:tcPr>
                </a:tc>
                <a:tc>
                  <a:txBody>
                    <a:bodyPr/>
                    <a:lstStyle/>
                    <a:p>
                      <a:pPr algn="r">
                        <a:defRPr>
                          <a:latin typeface="Roboto"/>
                        </a:defRPr>
                      </a:pPr>
                      <a:r>
                        <a:rPr sz="1050">
                          <a:solidFill>
                            <a:srgbClr val="25342A"/>
                          </a:solidFill>
                          <a:latin typeface="Roboto"/>
                        </a:rPr>
                        <a:t>$4,993</a:t>
                      </a:r>
                    </a:p>
                  </a:txBody>
                  <a:tcPr>
                    <a:solidFill>
                      <a:srgbClr val="FFFFFF"/>
                    </a:solidFill>
                  </a:tcPr>
                </a:tc>
              </a:tr>
              <a:tr h="329184">
                <a:tc>
                  <a:txBody>
                    <a:bodyPr/>
                    <a:lstStyle/>
                    <a:p>
                      <a:pPr>
                        <a:defRPr>
                          <a:latin typeface="Roboto"/>
                        </a:defRPr>
                      </a:pPr>
                      <a:r>
                        <a:rPr sz="1050">
                          <a:solidFill>
                            <a:srgbClr val="25342A"/>
                          </a:solidFill>
                          <a:latin typeface="Roboto"/>
                        </a:rPr>
                        <a:t>Revenue</a:t>
                      </a:r>
                    </a:p>
                  </a:txBody>
                  <a:tcPr>
                    <a:solidFill>
                      <a:srgbClr val="F7FAF7"/>
                    </a:solidFill>
                  </a:tcPr>
                </a:tc>
                <a:tc>
                  <a:txBody>
                    <a:bodyPr/>
                    <a:lstStyle/>
                    <a:p>
                      <a:pPr algn="r">
                        <a:defRPr>
                          <a:latin typeface="Roboto"/>
                        </a:defRPr>
                      </a:pPr>
                      <a:r>
                        <a:rPr sz="1050">
                          <a:solidFill>
                            <a:srgbClr val="25342A"/>
                          </a:solidFill>
                          <a:latin typeface="Roboto"/>
                        </a:rPr>
                        <a:t>$173,163</a:t>
                      </a:r>
                    </a:p>
                  </a:txBody>
                  <a:tcPr>
                    <a:solidFill>
                      <a:srgbClr val="F7FAF7"/>
                    </a:solidFill>
                  </a:tcPr>
                </a:tc>
              </a:tr>
              <a:tr h="329184">
                <a:tc>
                  <a:txBody>
                    <a:bodyPr/>
                    <a:lstStyle/>
                    <a:p>
                      <a:pPr>
                        <a:defRPr>
                          <a:latin typeface="Roboto"/>
                        </a:defRPr>
                      </a:pPr>
                      <a:r>
                        <a:rPr sz="1050">
                          <a:solidFill>
                            <a:srgbClr val="25342A"/>
                          </a:solidFill>
                          <a:latin typeface="Roboto"/>
                        </a:rPr>
                        <a:t>Gross margin on jobs, %</a:t>
                      </a:r>
                    </a:p>
                  </a:txBody>
                  <a:tcPr>
                    <a:solidFill>
                      <a:srgbClr val="FFFFFF"/>
                    </a:solidFill>
                  </a:tcPr>
                </a:tc>
                <a:tc>
                  <a:txBody>
                    <a:bodyPr/>
                    <a:lstStyle/>
                    <a:p>
                      <a:pPr algn="r">
                        <a:defRPr>
                          <a:latin typeface="Roboto"/>
                        </a:defRPr>
                      </a:pPr>
                      <a:r>
                        <a:rPr sz="1050">
                          <a:solidFill>
                            <a:srgbClr val="25342A"/>
                          </a:solidFill>
                          <a:latin typeface="Roboto"/>
                        </a:rPr>
                        <a:t>38.5%</a:t>
                      </a:r>
                    </a:p>
                  </a:txBody>
                  <a:tcPr>
                    <a:solidFill>
                      <a:srgbClr val="FFFFFF"/>
                    </a:solidFill>
                  </a:tcPr>
                </a:tc>
              </a:tr>
              <a:tr h="329184">
                <a:tc>
                  <a:txBody>
                    <a:bodyPr/>
                    <a:lstStyle/>
                    <a:p>
                      <a:pPr>
                        <a:defRPr>
                          <a:latin typeface="Roboto"/>
                        </a:defRPr>
                      </a:pPr>
                      <a:r>
                        <a:rPr sz="1050">
                          <a:solidFill>
                            <a:srgbClr val="25342A"/>
                          </a:solidFill>
                          <a:latin typeface="Roboto"/>
                        </a:rPr>
                        <a:t>Profit before tax, % of revenue</a:t>
                      </a:r>
                    </a:p>
                  </a:txBody>
                  <a:tcPr>
                    <a:solidFill>
                      <a:srgbClr val="F7FAF7"/>
                    </a:solidFill>
                  </a:tcPr>
                </a:tc>
                <a:tc>
                  <a:txBody>
                    <a:bodyPr/>
                    <a:lstStyle/>
                    <a:p>
                      <a:pPr algn="r">
                        <a:defRPr>
                          <a:latin typeface="Roboto"/>
                        </a:defRPr>
                      </a:pPr>
                      <a:r>
                        <a:rPr sz="1050">
                          <a:solidFill>
                            <a:srgbClr val="25342A"/>
                          </a:solidFill>
                          <a:latin typeface="Roboto"/>
                        </a:rPr>
                        <a:t>2.9%</a:t>
                      </a:r>
                    </a:p>
                  </a:txBody>
                  <a:tcPr>
                    <a:solidFill>
                      <a:srgbClr val="F7FAF7"/>
                    </a:solidFill>
                  </a:tcPr>
                </a:tc>
              </a:tr>
              <a:tr h="329184">
                <a:tc>
                  <a:txBody>
                    <a:bodyPr/>
                    <a:lstStyle/>
                    <a:p>
                      <a:pPr>
                        <a:defRPr>
                          <a:latin typeface="Roboto"/>
                        </a:defRPr>
                      </a:pPr>
                      <a:r>
                        <a:rPr sz="1050">
                          <a:solidFill>
                            <a:srgbClr val="25342A"/>
                          </a:solidFill>
                          <a:latin typeface="Roboto"/>
                        </a:rPr>
                        <a:t>Gross margin jobs need just to cover overheads and time not charged</a:t>
                      </a:r>
                    </a:p>
                  </a:txBody>
                  <a:tcPr>
                    <a:solidFill>
                      <a:srgbClr val="FFFFFF"/>
                    </a:solidFill>
                  </a:tcPr>
                </a:tc>
                <a:tc>
                  <a:txBody>
                    <a:bodyPr/>
                    <a:lstStyle/>
                    <a:p>
                      <a:pPr algn="r">
                        <a:defRPr>
                          <a:latin typeface="Roboto"/>
                        </a:defRPr>
                      </a:pPr>
                      <a:r>
                        <a:rPr sz="1050">
                          <a:solidFill>
                            <a:srgbClr val="25342A"/>
                          </a:solidFill>
                          <a:latin typeface="Roboto"/>
                        </a:rPr>
                        <a:t>35.6%</a:t>
                      </a:r>
                    </a:p>
                  </a:txBody>
                  <a:tcPr>
                    <a:solidFill>
                      <a:srgbClr val="FFFFFF"/>
                    </a:solidFill>
                  </a:tcPr>
                </a:tc>
              </a:tr>
            </a:tbl>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3 of 27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Trades · Line: All</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June against June last year</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5.5%</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$173,163 against $164,113</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Year to date (Jul to Jun 2026)</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$1,945,707</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same period last year: not in the data</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37.8%</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$734,953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4 of 27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Trades · Line: All</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Revenue is $1,945,707 this financial year to date (Jul to Jun 2026). Maintenance contracts make the highest gross margin (59.5%); Installations the lowest (28.4%). The business needs 35.6% gross margin just to cover overheads.</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Installations: 28.4% gross margin, 6.6 points under the 35.0% target: about $79,655 on $1,207,100 of revenue this financial year to date. It's below the 35.6% needed to cover overheads, too. Maintenance contracts: 59.5% gross margin, 24.5 points over the 35.0% target ($106,951 ahead on $436,300 this financial year to date).</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5 of 27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Trades · Line: Maintenance contracts</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June against June last year</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27.1%</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$40,500 against $31,870</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Year to date (Jul to Jun 2026)</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$436,300</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same period last year: not in the data</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59.5%</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$259,656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6 of 27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Trades · Line: Maintenance contracts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Maintenance contracts brought in $436,300 this financial year to date, at a 59.5% gross margin (above the 37.8% overall).</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Maintenance contracts: 59.5% gross margin, 24.5 points over the 35.0% target ($106,951 ahead on $436,300 this financial year to date).</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7 of 27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Trades · Line: Installations</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June against June last year</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B42318"/>
                </a:solidFill>
                <a:latin typeface="Roboto"/>
              </a:rPr>
              <a:t>(8.4%)</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$103,200 against $112,700</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Year to date (Jul to Jun 2026)</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$1,207,100</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same period last year: not in the data</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28.4%</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$342,830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8 of 27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Trades · Line: Installations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Installations brought in $1,207,100 this financial year to date, at a 28.4% gross margin (below the 37.8% overall).</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Installations: 28.4% gross margin, 6.6 points under the 35.0% target: about $79,655 on $1,207,100 of revenue this financial year to date. It's below the 35.6% needed to cover overheads, too.</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9 of 27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Trades · Line: Call-outs and repairs</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June against June last year</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50.8%</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$29,463 against $19,543</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Year to date (Jul to Jun 2026)</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$302,307</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same period last year: not in the data</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43.8%</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$132,467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10 of 27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Trades · Line: Call-outs and repairs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Call-outs and repairs brought in $302,307 this financial year to date, at a 43.8% gross margin (above the 37.8% overall).</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Call-outs and repairs: 43.8% gross margin, 8.8 points over the 35.0% target ($26,660 ahead on $302,307 this financial year to date).</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11 of 27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Revenue, gross margin and growth by line, by month · Revenue $ · Trades · Every line at once</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Growth is year on year: each month against the same month a year earlier.</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12 of 27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Revenue, gross margin and growth by line, by month · Gross margin % · Trades · Every line at once</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Growth is year on year: each month against the same month a year earlier.</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13 of 27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By line: financial year to date (Jul to Jun 2026) against the same period last year · Trades · Every line at once</a:t>
            </a:r>
          </a:p>
        </p:txBody>
      </p:sp>
      <p:graphicFrame>
        <p:nvGraphicFramePr>
          <p:cNvPr id="5" name="Table 4"/>
          <p:cNvGraphicFramePr>
            <a:graphicFrameLocks noGrp="1"/>
          </p:cNvGraphicFramePr>
          <p:nvPr/>
        </p:nvGraphicFramePr>
        <p:xfrm>
          <a:off x="457200" y="1188720"/>
          <a:ext cx="11247120" cy="1645920"/>
        </p:xfrm>
        <a:graphic>
          <a:graphicData uri="http://schemas.openxmlformats.org/drawingml/2006/table">
            <a:tbl>
              <a:tblPr firstRow="1" bandRow="1">
                <a:tableStyleId>{5C22544A-7EE6-4342-B048-85BDC9FD1C3A}</a:tableStyleId>
              </a:tblPr>
              <a:tblGrid>
                <a:gridCol w="1874520"/>
                <a:gridCol w="1874520"/>
                <a:gridCol w="1874520"/>
                <a:gridCol w="1874520"/>
                <a:gridCol w="1874520"/>
                <a:gridCol w="1874520"/>
              </a:tblGrid>
              <a:tr h="329184">
                <a:tc>
                  <a:txBody>
                    <a:bodyPr/>
                    <a:lstStyle/>
                    <a:p>
                      <a:pPr>
                        <a:defRPr>
                          <a:latin typeface="Roboto"/>
                        </a:defRPr>
                      </a:pPr>
                    </a:p>
                  </a:txBody>
                  <a:tcPr>
                    <a:solidFill>
                      <a:srgbClr val="2F7A5D"/>
                    </a:solidFill>
                  </a:tcPr>
                </a:tc>
                <a:tc>
                  <a:txBody>
                    <a:bodyPr/>
                    <a:lstStyle/>
                    <a:p>
                      <a:pPr algn="r">
                        <a:defRPr>
                          <a:latin typeface="Roboto"/>
                        </a:defRPr>
                      </a:pPr>
                      <a:r>
                        <a:rPr sz="1100" b="1">
                          <a:solidFill>
                            <a:srgbClr val="FFFFFF"/>
                          </a:solidFill>
                          <a:latin typeface="Roboto"/>
                        </a:rPr>
                        <a:t>Year to date</a:t>
                      </a:r>
                    </a:p>
                  </a:txBody>
                  <a:tcPr>
                    <a:solidFill>
                      <a:srgbClr val="2F7A5D"/>
                    </a:solidFill>
                  </a:tcPr>
                </a:tc>
                <a:tc>
                  <a:txBody>
                    <a:bodyPr/>
                    <a:lstStyle/>
                    <a:p>
                      <a:pPr algn="r">
                        <a:defRPr>
                          <a:latin typeface="Roboto"/>
                        </a:defRPr>
                      </a:pPr>
                      <a:r>
                        <a:rPr sz="1100" b="1">
                          <a:solidFill>
                            <a:srgbClr val="FFFFFF"/>
                          </a:solidFill>
                          <a:latin typeface="Roboto"/>
                        </a:rPr>
                        <a:t>Same period last year</a:t>
                      </a:r>
                    </a:p>
                  </a:txBody>
                  <a:tcPr>
                    <a:solidFill>
                      <a:srgbClr val="2F7A5D"/>
                    </a:solidFill>
                  </a:tcPr>
                </a:tc>
                <a:tc>
                  <a:txBody>
                    <a:bodyPr/>
                    <a:lstStyle/>
                    <a:p>
                      <a:pPr algn="r">
                        <a:defRPr>
                          <a:latin typeface="Roboto"/>
                        </a:defRPr>
                      </a:pPr>
                      <a:r>
                        <a:rPr sz="1100" b="1">
                          <a:solidFill>
                            <a:srgbClr val="FFFFFF"/>
                          </a:solidFill>
                          <a:latin typeface="Roboto"/>
                        </a:rPr>
                        <a:t>Growth</a:t>
                      </a:r>
                    </a:p>
                  </a:txBody>
                  <a:tcPr>
                    <a:solidFill>
                      <a:srgbClr val="2F7A5D"/>
                    </a:solidFill>
                  </a:tcPr>
                </a:tc>
                <a:tc>
                  <a:txBody>
                    <a:bodyPr/>
                    <a:lstStyle/>
                    <a:p>
                      <a:pPr algn="r">
                        <a:defRPr>
                          <a:latin typeface="Roboto"/>
                        </a:defRPr>
                      </a:pPr>
                      <a:r>
                        <a:rPr sz="1100" b="1">
                          <a:solidFill>
                            <a:srgbClr val="FFFFFF"/>
                          </a:solidFill>
                          <a:latin typeface="Roboto"/>
                        </a:rPr>
                        <a:t>Gross margin $</a:t>
                      </a:r>
                    </a:p>
                  </a:txBody>
                  <a:tcPr>
                    <a:solidFill>
                      <a:srgbClr val="2F7A5D"/>
                    </a:solidFill>
                  </a:tcPr>
                </a:tc>
                <a:tc>
                  <a:txBody>
                    <a:bodyPr/>
                    <a:lstStyle/>
                    <a:p>
                      <a:pPr algn="r">
                        <a:defRPr>
                          <a:latin typeface="Roboto"/>
                        </a:defRPr>
                      </a:pPr>
                      <a:r>
                        <a:rPr sz="1100" b="1">
                          <a:solidFill>
                            <a:srgbClr val="FFFFFF"/>
                          </a:solidFill>
                          <a:latin typeface="Roboto"/>
                        </a:rPr>
                        <a:t>Gross margin %</a:t>
                      </a:r>
                    </a:p>
                  </a:txBody>
                  <a:tcPr>
                    <a:solidFill>
                      <a:srgbClr val="2F7A5D"/>
                    </a:solidFill>
                  </a:tcPr>
                </a:tc>
              </a:tr>
              <a:tr h="329184">
                <a:tc>
                  <a:txBody>
                    <a:bodyPr/>
                    <a:lstStyle/>
                    <a:p>
                      <a:pPr>
                        <a:defRPr>
                          <a:latin typeface="Roboto"/>
                        </a:defRPr>
                      </a:pPr>
                      <a:r>
                        <a:rPr sz="1050">
                          <a:solidFill>
                            <a:srgbClr val="25342A"/>
                          </a:solidFill>
                          <a:latin typeface="Roboto"/>
                        </a:rPr>
                        <a:t>Maintenance contracts</a:t>
                      </a:r>
                    </a:p>
                  </a:txBody>
                  <a:tcPr>
                    <a:solidFill>
                      <a:srgbClr val="FFFFFF"/>
                    </a:solidFill>
                  </a:tcPr>
                </a:tc>
                <a:tc>
                  <a:txBody>
                    <a:bodyPr/>
                    <a:lstStyle/>
                    <a:p>
                      <a:pPr algn="r">
                        <a:defRPr>
                          <a:latin typeface="Roboto"/>
                        </a:defRPr>
                      </a:pPr>
                      <a:r>
                        <a:rPr sz="1050">
                          <a:solidFill>
                            <a:srgbClr val="25342A"/>
                          </a:solidFill>
                          <a:latin typeface="Roboto"/>
                        </a:rPr>
                        <a:t>$436,300</a:t>
                      </a:r>
                    </a:p>
                  </a:txBody>
                  <a:tcPr>
                    <a:solidFill>
                      <a:srgbClr val="FFFFFF"/>
                    </a:solidFill>
                  </a:tcPr>
                </a:tc>
                <a:tc>
                  <a:txBody>
                    <a:bodyPr/>
                    <a:lstStyle/>
                    <a:p>
                      <a:pPr algn="r">
                        <a:defRPr>
                          <a:latin typeface="Roboto"/>
                        </a:defRPr>
                      </a:pPr>
                      <a:r>
                        <a:rPr sz="1050">
                          <a:solidFill>
                            <a:srgbClr val="25342A"/>
                          </a:solidFill>
                          <a:latin typeface="Roboto"/>
                        </a:rPr>
                        <a:t>–</a:t>
                      </a:r>
                    </a:p>
                  </a:txBody>
                  <a:tcPr>
                    <a:solidFill>
                      <a:srgbClr val="FFFFFF"/>
                    </a:solidFill>
                  </a:tcPr>
                </a:tc>
                <a:tc>
                  <a:txBody>
                    <a:bodyPr/>
                    <a:lstStyle/>
                    <a:p>
                      <a:pPr algn="r">
                        <a:defRPr>
                          <a:latin typeface="Roboto"/>
                        </a:defRPr>
                      </a:pPr>
                      <a:r>
                        <a:rPr sz="1050">
                          <a:solidFill>
                            <a:srgbClr val="25342A"/>
                          </a:solidFill>
                          <a:latin typeface="Roboto"/>
                        </a:rPr>
                        <a:t>–</a:t>
                      </a:r>
                    </a:p>
                  </a:txBody>
                  <a:tcPr>
                    <a:solidFill>
                      <a:srgbClr val="FFFFFF"/>
                    </a:solidFill>
                  </a:tcPr>
                </a:tc>
                <a:tc>
                  <a:txBody>
                    <a:bodyPr/>
                    <a:lstStyle/>
                    <a:p>
                      <a:pPr algn="r">
                        <a:defRPr>
                          <a:latin typeface="Roboto"/>
                        </a:defRPr>
                      </a:pPr>
                      <a:r>
                        <a:rPr sz="1050">
                          <a:solidFill>
                            <a:srgbClr val="25342A"/>
                          </a:solidFill>
                          <a:latin typeface="Roboto"/>
                        </a:rPr>
                        <a:t>$259,656</a:t>
                      </a:r>
                    </a:p>
                  </a:txBody>
                  <a:tcPr>
                    <a:solidFill>
                      <a:srgbClr val="FFFFFF"/>
                    </a:solidFill>
                  </a:tcPr>
                </a:tc>
                <a:tc>
                  <a:txBody>
                    <a:bodyPr/>
                    <a:lstStyle/>
                    <a:p>
                      <a:pPr algn="r">
                        <a:defRPr>
                          <a:latin typeface="Roboto"/>
                        </a:defRPr>
                      </a:pPr>
                      <a:r>
                        <a:rPr sz="1050">
                          <a:solidFill>
                            <a:srgbClr val="25342A"/>
                          </a:solidFill>
                          <a:latin typeface="Roboto"/>
                        </a:rPr>
                        <a:t>59.5%</a:t>
                      </a:r>
                    </a:p>
                  </a:txBody>
                  <a:tcPr>
                    <a:solidFill>
                      <a:srgbClr val="FFFFFF"/>
                    </a:solidFill>
                  </a:tcPr>
                </a:tc>
              </a:tr>
              <a:tr h="329184">
                <a:tc>
                  <a:txBody>
                    <a:bodyPr/>
                    <a:lstStyle/>
                    <a:p>
                      <a:pPr>
                        <a:defRPr>
                          <a:latin typeface="Roboto"/>
                        </a:defRPr>
                      </a:pPr>
                      <a:r>
                        <a:rPr sz="1050">
                          <a:solidFill>
                            <a:srgbClr val="25342A"/>
                          </a:solidFill>
                          <a:latin typeface="Roboto"/>
                        </a:rPr>
                        <a:t>Installations</a:t>
                      </a:r>
                    </a:p>
                  </a:txBody>
                  <a:tcPr>
                    <a:solidFill>
                      <a:srgbClr val="F7FAF7"/>
                    </a:solidFill>
                  </a:tcPr>
                </a:tc>
                <a:tc>
                  <a:txBody>
                    <a:bodyPr/>
                    <a:lstStyle/>
                    <a:p>
                      <a:pPr algn="r">
                        <a:defRPr>
                          <a:latin typeface="Roboto"/>
                        </a:defRPr>
                      </a:pPr>
                      <a:r>
                        <a:rPr sz="1050">
                          <a:solidFill>
                            <a:srgbClr val="25342A"/>
                          </a:solidFill>
                          <a:latin typeface="Roboto"/>
                        </a:rPr>
                        <a:t>$1,207,100</a:t>
                      </a:r>
                    </a:p>
                  </a:txBody>
                  <a:tcPr>
                    <a:solidFill>
                      <a:srgbClr val="F7FAF7"/>
                    </a:solidFill>
                  </a:tcPr>
                </a:tc>
                <a:tc>
                  <a:txBody>
                    <a:bodyPr/>
                    <a:lstStyle/>
                    <a:p>
                      <a:pPr algn="r">
                        <a:defRPr>
                          <a:latin typeface="Roboto"/>
                        </a:defRPr>
                      </a:pPr>
                      <a:r>
                        <a:rPr sz="1050">
                          <a:solidFill>
                            <a:srgbClr val="25342A"/>
                          </a:solidFill>
                          <a:latin typeface="Roboto"/>
                        </a:rPr>
                        <a:t>–</a:t>
                      </a:r>
                    </a:p>
                  </a:txBody>
                  <a:tcPr>
                    <a:solidFill>
                      <a:srgbClr val="F7FAF7"/>
                    </a:solidFill>
                  </a:tcPr>
                </a:tc>
                <a:tc>
                  <a:txBody>
                    <a:bodyPr/>
                    <a:lstStyle/>
                    <a:p>
                      <a:pPr algn="r">
                        <a:defRPr>
                          <a:latin typeface="Roboto"/>
                        </a:defRPr>
                      </a:pPr>
                      <a:r>
                        <a:rPr sz="1050">
                          <a:solidFill>
                            <a:srgbClr val="25342A"/>
                          </a:solidFill>
                          <a:latin typeface="Roboto"/>
                        </a:rPr>
                        <a:t>–</a:t>
                      </a:r>
                    </a:p>
                  </a:txBody>
                  <a:tcPr>
                    <a:solidFill>
                      <a:srgbClr val="F7FAF7"/>
                    </a:solidFill>
                  </a:tcPr>
                </a:tc>
                <a:tc>
                  <a:txBody>
                    <a:bodyPr/>
                    <a:lstStyle/>
                    <a:p>
                      <a:pPr algn="r">
                        <a:defRPr>
                          <a:latin typeface="Roboto"/>
                        </a:defRPr>
                      </a:pPr>
                      <a:r>
                        <a:rPr sz="1050">
                          <a:solidFill>
                            <a:srgbClr val="25342A"/>
                          </a:solidFill>
                          <a:latin typeface="Roboto"/>
                        </a:rPr>
                        <a:t>$342,830</a:t>
                      </a:r>
                    </a:p>
                  </a:txBody>
                  <a:tcPr>
                    <a:solidFill>
                      <a:srgbClr val="F7FAF7"/>
                    </a:solidFill>
                  </a:tcPr>
                </a:tc>
                <a:tc>
                  <a:txBody>
                    <a:bodyPr/>
                    <a:lstStyle/>
                    <a:p>
                      <a:pPr algn="r">
                        <a:defRPr>
                          <a:latin typeface="Roboto"/>
                        </a:defRPr>
                      </a:pPr>
                      <a:r>
                        <a:rPr sz="1050">
                          <a:solidFill>
                            <a:srgbClr val="25342A"/>
                          </a:solidFill>
                          <a:latin typeface="Roboto"/>
                        </a:rPr>
                        <a:t>28.4%</a:t>
                      </a:r>
                    </a:p>
                  </a:txBody>
                  <a:tcPr>
                    <a:solidFill>
                      <a:srgbClr val="F7FAF7"/>
                    </a:solidFill>
                  </a:tcPr>
                </a:tc>
              </a:tr>
              <a:tr h="329184">
                <a:tc>
                  <a:txBody>
                    <a:bodyPr/>
                    <a:lstStyle/>
                    <a:p>
                      <a:pPr>
                        <a:defRPr>
                          <a:latin typeface="Roboto"/>
                        </a:defRPr>
                      </a:pPr>
                      <a:r>
                        <a:rPr sz="1050">
                          <a:solidFill>
                            <a:srgbClr val="25342A"/>
                          </a:solidFill>
                          <a:latin typeface="Roboto"/>
                        </a:rPr>
                        <a:t>Call-outs and repairs</a:t>
                      </a:r>
                    </a:p>
                  </a:txBody>
                  <a:tcPr>
                    <a:solidFill>
                      <a:srgbClr val="FFFFFF"/>
                    </a:solidFill>
                  </a:tcPr>
                </a:tc>
                <a:tc>
                  <a:txBody>
                    <a:bodyPr/>
                    <a:lstStyle/>
                    <a:p>
                      <a:pPr algn="r">
                        <a:defRPr>
                          <a:latin typeface="Roboto"/>
                        </a:defRPr>
                      </a:pPr>
                      <a:r>
                        <a:rPr sz="1050">
                          <a:solidFill>
                            <a:srgbClr val="25342A"/>
                          </a:solidFill>
                          <a:latin typeface="Roboto"/>
                        </a:rPr>
                        <a:t>$302,307</a:t>
                      </a:r>
                    </a:p>
                  </a:txBody>
                  <a:tcPr>
                    <a:solidFill>
                      <a:srgbClr val="FFFFFF"/>
                    </a:solidFill>
                  </a:tcPr>
                </a:tc>
                <a:tc>
                  <a:txBody>
                    <a:bodyPr/>
                    <a:lstStyle/>
                    <a:p>
                      <a:pPr algn="r">
                        <a:defRPr>
                          <a:latin typeface="Roboto"/>
                        </a:defRPr>
                      </a:pPr>
                      <a:r>
                        <a:rPr sz="1050">
                          <a:solidFill>
                            <a:srgbClr val="25342A"/>
                          </a:solidFill>
                          <a:latin typeface="Roboto"/>
                        </a:rPr>
                        <a:t>–</a:t>
                      </a:r>
                    </a:p>
                  </a:txBody>
                  <a:tcPr>
                    <a:solidFill>
                      <a:srgbClr val="FFFFFF"/>
                    </a:solidFill>
                  </a:tcPr>
                </a:tc>
                <a:tc>
                  <a:txBody>
                    <a:bodyPr/>
                    <a:lstStyle/>
                    <a:p>
                      <a:pPr algn="r">
                        <a:defRPr>
                          <a:latin typeface="Roboto"/>
                        </a:defRPr>
                      </a:pPr>
                      <a:r>
                        <a:rPr sz="1050">
                          <a:solidFill>
                            <a:srgbClr val="25342A"/>
                          </a:solidFill>
                          <a:latin typeface="Roboto"/>
                        </a:rPr>
                        <a:t>–</a:t>
                      </a:r>
                    </a:p>
                  </a:txBody>
                  <a:tcPr>
                    <a:solidFill>
                      <a:srgbClr val="FFFFFF"/>
                    </a:solidFill>
                  </a:tcPr>
                </a:tc>
                <a:tc>
                  <a:txBody>
                    <a:bodyPr/>
                    <a:lstStyle/>
                    <a:p>
                      <a:pPr algn="r">
                        <a:defRPr>
                          <a:latin typeface="Roboto"/>
                        </a:defRPr>
                      </a:pPr>
                      <a:r>
                        <a:rPr sz="1050">
                          <a:solidFill>
                            <a:srgbClr val="25342A"/>
                          </a:solidFill>
                          <a:latin typeface="Roboto"/>
                        </a:rPr>
                        <a:t>$132,467</a:t>
                      </a:r>
                    </a:p>
                  </a:txBody>
                  <a:tcPr>
                    <a:solidFill>
                      <a:srgbClr val="FFFFFF"/>
                    </a:solidFill>
                  </a:tcPr>
                </a:tc>
                <a:tc>
                  <a:txBody>
                    <a:bodyPr/>
                    <a:lstStyle/>
                    <a:p>
                      <a:pPr algn="r">
                        <a:defRPr>
                          <a:latin typeface="Roboto"/>
                        </a:defRPr>
                      </a:pPr>
                      <a:r>
                        <a:rPr sz="1050">
                          <a:solidFill>
                            <a:srgbClr val="25342A"/>
                          </a:solidFill>
                          <a:latin typeface="Roboto"/>
                        </a:rPr>
                        <a:t>43.8%</a:t>
                      </a:r>
                    </a:p>
                  </a:txBody>
                  <a:tcPr>
                    <a:solidFill>
                      <a:srgbClr val="FFFFFF"/>
                    </a:solidFill>
                  </a:tcPr>
                </a:tc>
              </a:tr>
              <a:tr h="329184">
                <a:tc>
                  <a:txBody>
                    <a:bodyPr/>
                    <a:lstStyle/>
                    <a:p>
                      <a:pPr>
                        <a:defRPr>
                          <a:latin typeface="Roboto"/>
                        </a:defRPr>
                      </a:pPr>
                      <a:r>
                        <a:rPr sz="1050" b="1">
                          <a:solidFill>
                            <a:srgbClr val="25342A"/>
                          </a:solidFill>
                          <a:latin typeface="Roboto"/>
                        </a:rPr>
                        <a:t>Total</a:t>
                      </a:r>
                    </a:p>
                  </a:txBody>
                  <a:tcPr>
                    <a:solidFill>
                      <a:srgbClr val="F7FAF7"/>
                    </a:solidFill>
                  </a:tcPr>
                </a:tc>
                <a:tc>
                  <a:txBody>
                    <a:bodyPr/>
                    <a:lstStyle/>
                    <a:p>
                      <a:pPr algn="r">
                        <a:defRPr>
                          <a:latin typeface="Roboto"/>
                        </a:defRPr>
                      </a:pPr>
                      <a:r>
                        <a:rPr sz="1050" b="1">
                          <a:solidFill>
                            <a:srgbClr val="25342A"/>
                          </a:solidFill>
                          <a:latin typeface="Roboto"/>
                        </a:rPr>
                        <a:t>$1,945,707</a:t>
                      </a:r>
                    </a:p>
                  </a:txBody>
                  <a:tcPr>
                    <a:solidFill>
                      <a:srgbClr val="F7FAF7"/>
                    </a:solidFill>
                  </a:tcPr>
                </a:tc>
                <a:tc>
                  <a:txBody>
                    <a:bodyPr/>
                    <a:lstStyle/>
                    <a:p>
                      <a:pPr algn="r">
                        <a:defRPr>
                          <a:latin typeface="Roboto"/>
                        </a:defRPr>
                      </a:pPr>
                      <a:r>
                        <a:rPr sz="1050" b="1">
                          <a:solidFill>
                            <a:srgbClr val="25342A"/>
                          </a:solidFill>
                          <a:latin typeface="Roboto"/>
                        </a:rPr>
                        <a:t>–</a:t>
                      </a:r>
                    </a:p>
                  </a:txBody>
                  <a:tcPr>
                    <a:solidFill>
                      <a:srgbClr val="F7FAF7"/>
                    </a:solidFill>
                  </a:tcPr>
                </a:tc>
                <a:tc>
                  <a:txBody>
                    <a:bodyPr/>
                    <a:lstStyle/>
                    <a:p>
                      <a:pPr algn="r">
                        <a:defRPr>
                          <a:latin typeface="Roboto"/>
                        </a:defRPr>
                      </a:pPr>
                      <a:r>
                        <a:rPr sz="1050" b="1">
                          <a:solidFill>
                            <a:srgbClr val="25342A"/>
                          </a:solidFill>
                          <a:latin typeface="Roboto"/>
                        </a:rPr>
                        <a:t>–</a:t>
                      </a:r>
                    </a:p>
                  </a:txBody>
                  <a:tcPr>
                    <a:solidFill>
                      <a:srgbClr val="F7FAF7"/>
                    </a:solidFill>
                  </a:tcPr>
                </a:tc>
                <a:tc>
                  <a:txBody>
                    <a:bodyPr/>
                    <a:lstStyle/>
                    <a:p>
                      <a:pPr algn="r">
                        <a:defRPr>
                          <a:latin typeface="Roboto"/>
                        </a:defRPr>
                      </a:pPr>
                      <a:r>
                        <a:rPr sz="1050" b="1">
                          <a:solidFill>
                            <a:srgbClr val="25342A"/>
                          </a:solidFill>
                          <a:latin typeface="Roboto"/>
                        </a:rPr>
                        <a:t>$734,953</a:t>
                      </a:r>
                    </a:p>
                  </a:txBody>
                  <a:tcPr>
                    <a:solidFill>
                      <a:srgbClr val="F7FAF7"/>
                    </a:solidFill>
                  </a:tcPr>
                </a:tc>
                <a:tc>
                  <a:txBody>
                    <a:bodyPr/>
                    <a:lstStyle/>
                    <a:p>
                      <a:pPr algn="r">
                        <a:defRPr>
                          <a:latin typeface="Roboto"/>
                        </a:defRPr>
                      </a:pPr>
                      <a:r>
                        <a:rPr sz="1050" b="1">
                          <a:solidFill>
                            <a:srgbClr val="25342A"/>
                          </a:solidFill>
                          <a:latin typeface="Roboto"/>
                        </a:rPr>
                        <a:t>37.8%</a:t>
                      </a:r>
                    </a:p>
                  </a:txBody>
                  <a:tcPr>
                    <a:solidFill>
                      <a:srgbClr val="F7FAF7"/>
                    </a:solidFill>
                  </a:tcPr>
                </a:tc>
              </a:tr>
            </a:tbl>
          </a:graphicData>
        </a:graphic>
      </p:graphicFrame>
      <p:sp>
        <p:nvSpPr>
          <p:cNvPr id="6" name="TextBox 5"/>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7" name="TextBox 6"/>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8" name="TextBox 7"/>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14 of 27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Gross margin, not profit</a:t>
            </a:r>
          </a:p>
        </p:txBody>
      </p:sp>
      <p:sp>
        <p:nvSpPr>
          <p:cNvPr id="5" name="Rectangle 4"/>
          <p:cNvSpPr/>
          <p:nvPr/>
        </p:nvSpPr>
        <p:spPr>
          <a:xfrm>
            <a:off x="457200" y="1554480"/>
            <a:ext cx="11277295"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10820095" cy="365760"/>
          </a:xfrm>
          <a:prstGeom prst="rect">
            <a:avLst/>
          </a:prstGeom>
          <a:noFill/>
        </p:spPr>
        <p:txBody>
          <a:bodyPr wrap="square">
            <a:spAutoFit/>
          </a:bodyPr>
          <a:lstStyle/>
          <a:p>
            <a:pPr>
              <a:defRPr>
                <a:latin typeface="Roboto"/>
              </a:defRPr>
            </a:pPr>
            <a:r>
              <a:rPr sz="1100" b="1">
                <a:solidFill>
                  <a:srgbClr val="5F6F63"/>
                </a:solidFill>
                <a:latin typeface="Roboto"/>
              </a:rPr>
              <a:t>GROSS MARGIN, NOT PROFIT</a:t>
            </a:r>
          </a:p>
        </p:txBody>
      </p:sp>
      <p:sp>
        <p:nvSpPr>
          <p:cNvPr id="7" name="TextBox 6"/>
          <p:cNvSpPr txBox="1"/>
          <p:nvPr/>
        </p:nvSpPr>
        <p:spPr>
          <a:xfrm>
            <a:off x="685800" y="2103120"/>
            <a:ext cx="10820095" cy="3749039"/>
          </a:xfrm>
          <a:prstGeom prst="rect">
            <a:avLst/>
          </a:prstGeom>
          <a:noFill/>
        </p:spPr>
        <p:txBody>
          <a:bodyPr wrap="square">
            <a:spAutoFit/>
          </a:bodyPr>
          <a:lstStyle/>
          <a:p>
            <a:pPr>
              <a:defRPr>
                <a:latin typeface="Roboto"/>
              </a:defRPr>
            </a:pPr>
            <a:r>
              <a:rPr sz="1600" b="0">
                <a:solidFill>
                  <a:srgbClr val="25342A"/>
                </a:solidFill>
                <a:latin typeface="Roboto"/>
              </a:rPr>
              <a:t>Gross margin is not profit. Gross margin = revenue less contractors and consultant time charged to the work at $60 an hour (wages and all on-costs). Not included: consultant time not charged to clients, and overheads (management and admin wages, marketing, rent, IT, insurance, travel, depreciation, interest). Profit is what's left after those. Wages always include all on-costs: super, payroll tax, workers' compensation insurance and leave.</a:t>
            </a:r>
          </a:p>
        </p:txBody>
      </p:sp>
      <p:sp>
        <p:nvSpPr>
          <p:cNvPr id="8" name="TextBox 7"/>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9" name="TextBox 8"/>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0" name="TextBox 9"/>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15 of 27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From gross margin to profit · Services</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June's client work made $69,490 gross margin (60.1%). Consultant time not charged to client work took $6,840 and overheads $52,050, leaving $10,600 profit before tax (9.2% of revenue). To cover overheads, client work needs a 51.0% gross margin on average.</a:t>
            </a:r>
          </a:p>
        </p:txBody>
      </p:sp>
      <p:graphicFrame>
        <p:nvGraphicFramePr>
          <p:cNvPr id="6" name="Table 5"/>
          <p:cNvGraphicFramePr>
            <a:graphicFrameLocks noGrp="1"/>
          </p:cNvGraphicFramePr>
          <p:nvPr/>
        </p:nvGraphicFramePr>
        <p:xfrm>
          <a:off x="457200" y="1463040"/>
          <a:ext cx="11247120" cy="3950208"/>
        </p:xfrm>
        <a:graphic>
          <a:graphicData uri="http://schemas.openxmlformats.org/drawingml/2006/table">
            <a:tbl>
              <a:tblPr firstRow="1" bandRow="1">
                <a:tableStyleId>{5C22544A-7EE6-4342-B048-85BDC9FD1C3A}</a:tableStyleId>
              </a:tblPr>
              <a:tblGrid>
                <a:gridCol w="5623560"/>
                <a:gridCol w="5623560"/>
              </a:tblGrid>
              <a:tr h="329184">
                <a:tc>
                  <a:txBody>
                    <a:bodyPr/>
                    <a:lstStyle/>
                    <a:p>
                      <a:pPr>
                        <a:defRPr>
                          <a:latin typeface="Roboto"/>
                        </a:defRPr>
                      </a:pPr>
                    </a:p>
                  </a:txBody>
                  <a:tcPr>
                    <a:solidFill>
                      <a:srgbClr val="2F7A5D"/>
                    </a:solidFill>
                  </a:tcPr>
                </a:tc>
                <a:tc>
                  <a:txBody>
                    <a:bodyPr/>
                    <a:lstStyle/>
                    <a:p>
                      <a:pPr algn="r">
                        <a:defRPr>
                          <a:latin typeface="Roboto"/>
                        </a:defRPr>
                      </a:pPr>
                      <a:r>
                        <a:rPr sz="1100" b="1">
                          <a:solidFill>
                            <a:srgbClr val="FFFFFF"/>
                          </a:solidFill>
                          <a:latin typeface="Roboto"/>
                        </a:rPr>
                        <a:t>June 2026</a:t>
                      </a:r>
                    </a:p>
                  </a:txBody>
                  <a:tcPr>
                    <a:solidFill>
                      <a:srgbClr val="2F7A5D"/>
                    </a:solidFill>
                  </a:tcPr>
                </a:tc>
              </a:tr>
              <a:tr h="329184">
                <a:tc>
                  <a:txBody>
                    <a:bodyPr/>
                    <a:lstStyle/>
                    <a:p>
                      <a:pPr>
                        <a:defRPr>
                          <a:latin typeface="Roboto"/>
                        </a:defRPr>
                      </a:pPr>
                      <a:r>
                        <a:rPr sz="1050">
                          <a:solidFill>
                            <a:srgbClr val="25342A"/>
                          </a:solidFill>
                          <a:latin typeface="Roboto"/>
                        </a:rPr>
                        <a:t>Gross margin on client work</a:t>
                      </a:r>
                    </a:p>
                  </a:txBody>
                  <a:tcPr>
                    <a:solidFill>
                      <a:srgbClr val="FFFFFF"/>
                    </a:solidFill>
                  </a:tcPr>
                </a:tc>
                <a:tc>
                  <a:txBody>
                    <a:bodyPr/>
                    <a:lstStyle/>
                    <a:p>
                      <a:pPr algn="r">
                        <a:defRPr>
                          <a:latin typeface="Roboto"/>
                        </a:defRPr>
                      </a:pPr>
                      <a:r>
                        <a:rPr sz="1050">
                          <a:solidFill>
                            <a:srgbClr val="25342A"/>
                          </a:solidFill>
                          <a:latin typeface="Roboto"/>
                        </a:rPr>
                        <a:t>$69,490</a:t>
                      </a:r>
                    </a:p>
                  </a:txBody>
                  <a:tcPr>
                    <a:solidFill>
                      <a:srgbClr val="FFFFFF"/>
                    </a:solidFill>
                  </a:tcPr>
                </a:tc>
              </a:tr>
              <a:tr h="329184">
                <a:tc>
                  <a:txBody>
                    <a:bodyPr/>
                    <a:lstStyle/>
                    <a:p>
                      <a:pPr>
                        <a:defRPr>
                          <a:latin typeface="Roboto"/>
                        </a:defRPr>
                      </a:pPr>
                      <a:r>
                        <a:rPr sz="1050">
                          <a:solidFill>
                            <a:srgbClr val="25342A"/>
                          </a:solidFill>
                          <a:latin typeface="Roboto"/>
                        </a:rPr>
                        <a:t>Consultant wages and on-costs</a:t>
                      </a:r>
                    </a:p>
                  </a:txBody>
                  <a:tcPr>
                    <a:solidFill>
                      <a:srgbClr val="F7FAF7"/>
                    </a:solidFill>
                  </a:tcPr>
                </a:tc>
                <a:tc>
                  <a:txBody>
                    <a:bodyPr/>
                    <a:lstStyle/>
                    <a:p>
                      <a:pPr algn="r">
                        <a:defRPr>
                          <a:latin typeface="Roboto"/>
                        </a:defRPr>
                      </a:pPr>
                      <a:r>
                        <a:rPr sz="1050">
                          <a:solidFill>
                            <a:srgbClr val="25342A"/>
                          </a:solidFill>
                          <a:latin typeface="Roboto"/>
                        </a:rPr>
                        <a:t>$46,500</a:t>
                      </a:r>
                    </a:p>
                  </a:txBody>
                  <a:tcPr>
                    <a:solidFill>
                      <a:srgbClr val="F7FAF7"/>
                    </a:solidFill>
                  </a:tcPr>
                </a:tc>
              </a:tr>
              <a:tr h="329184">
                <a:tc>
                  <a:txBody>
                    <a:bodyPr/>
                    <a:lstStyle/>
                    <a:p>
                      <a:pPr>
                        <a:defRPr>
                          <a:latin typeface="Roboto"/>
                        </a:defRPr>
                      </a:pPr>
                      <a:r>
                        <a:rPr sz="1050">
                          <a:solidFill>
                            <a:srgbClr val="25342A"/>
                          </a:solidFill>
                          <a:latin typeface="Roboto"/>
                        </a:rPr>
                        <a:t>Consultant time charged to client work (at cost)</a:t>
                      </a:r>
                    </a:p>
                  </a:txBody>
                  <a:tcPr>
                    <a:solidFill>
                      <a:srgbClr val="FFFFFF"/>
                    </a:solidFill>
                  </a:tcPr>
                </a:tc>
                <a:tc>
                  <a:txBody>
                    <a:bodyPr/>
                    <a:lstStyle/>
                    <a:p>
                      <a:pPr algn="r">
                        <a:defRPr>
                          <a:latin typeface="Roboto"/>
                        </a:defRPr>
                      </a:pPr>
                      <a:r>
                        <a:rPr sz="1050">
                          <a:solidFill>
                            <a:srgbClr val="25342A"/>
                          </a:solidFill>
                          <a:latin typeface="Roboto"/>
                        </a:rPr>
                        <a:t>$39,660</a:t>
                      </a:r>
                    </a:p>
                  </a:txBody>
                  <a:tcPr>
                    <a:solidFill>
                      <a:srgbClr val="FFFFFF"/>
                    </a:solidFill>
                  </a:tcPr>
                </a:tc>
              </a:tr>
              <a:tr h="329184">
                <a:tc>
                  <a:txBody>
                    <a:bodyPr/>
                    <a:lstStyle/>
                    <a:p>
                      <a:pPr>
                        <a:defRPr>
                          <a:latin typeface="Roboto"/>
                        </a:defRPr>
                      </a:pPr>
                      <a:r>
                        <a:rPr sz="1050">
                          <a:solidFill>
                            <a:srgbClr val="25342A"/>
                          </a:solidFill>
                          <a:latin typeface="Roboto"/>
                        </a:rPr>
                        <a:t>Consultant time not charged to client work</a:t>
                      </a:r>
                    </a:p>
                  </a:txBody>
                  <a:tcPr>
                    <a:solidFill>
                      <a:srgbClr val="F7FAF7"/>
                    </a:solidFill>
                  </a:tcPr>
                </a:tc>
                <a:tc>
                  <a:txBody>
                    <a:bodyPr/>
                    <a:lstStyle/>
                    <a:p>
                      <a:pPr algn="r">
                        <a:defRPr>
                          <a:latin typeface="Roboto"/>
                        </a:defRPr>
                      </a:pPr>
                      <a:r>
                        <a:rPr sz="1050">
                          <a:solidFill>
                            <a:srgbClr val="25342A"/>
                          </a:solidFill>
                          <a:latin typeface="Roboto"/>
                        </a:rPr>
                        <a:t>$6,840</a:t>
                      </a:r>
                    </a:p>
                  </a:txBody>
                  <a:tcPr>
                    <a:solidFill>
                      <a:srgbClr val="F7FAF7"/>
                    </a:solidFill>
                  </a:tcPr>
                </a:tc>
              </a:tr>
              <a:tr h="329184">
                <a:tc>
                  <a:txBody>
                    <a:bodyPr/>
                    <a:lstStyle/>
                    <a:p>
                      <a:pPr>
                        <a:defRPr>
                          <a:latin typeface="Roboto"/>
                        </a:defRPr>
                      </a:pPr>
                      <a:r>
                        <a:rPr sz="1050">
                          <a:solidFill>
                            <a:srgbClr val="25342A"/>
                          </a:solidFill>
                          <a:latin typeface="Roboto"/>
                        </a:rPr>
                        <a:t>Gross profit (the P&amp;L)</a:t>
                      </a:r>
                    </a:p>
                  </a:txBody>
                  <a:tcPr>
                    <a:solidFill>
                      <a:srgbClr val="FFFFFF"/>
                    </a:solidFill>
                  </a:tcPr>
                </a:tc>
                <a:tc>
                  <a:txBody>
                    <a:bodyPr/>
                    <a:lstStyle/>
                    <a:p>
                      <a:pPr algn="r">
                        <a:defRPr>
                          <a:latin typeface="Roboto"/>
                        </a:defRPr>
                      </a:pPr>
                      <a:r>
                        <a:rPr sz="1050">
                          <a:solidFill>
                            <a:srgbClr val="25342A"/>
                          </a:solidFill>
                          <a:latin typeface="Roboto"/>
                        </a:rPr>
                        <a:t>$62,650</a:t>
                      </a:r>
                    </a:p>
                  </a:txBody>
                  <a:tcPr>
                    <a:solidFill>
                      <a:srgbClr val="FFFFFF"/>
                    </a:solidFill>
                  </a:tcPr>
                </a:tc>
              </a:tr>
              <a:tr h="329184">
                <a:tc>
                  <a:txBody>
                    <a:bodyPr/>
                    <a:lstStyle/>
                    <a:p>
                      <a:pPr>
                        <a:defRPr>
                          <a:latin typeface="Roboto"/>
                        </a:defRPr>
                      </a:pPr>
                      <a:r>
                        <a:rPr sz="1050">
                          <a:solidFill>
                            <a:srgbClr val="25342A"/>
                          </a:solidFill>
                          <a:latin typeface="Roboto"/>
                        </a:rPr>
                        <a:t>Overheads (operating expenses, depreciation, interest)</a:t>
                      </a:r>
                    </a:p>
                  </a:txBody>
                  <a:tcPr>
                    <a:solidFill>
                      <a:srgbClr val="F7FAF7"/>
                    </a:solidFill>
                  </a:tcPr>
                </a:tc>
                <a:tc>
                  <a:txBody>
                    <a:bodyPr/>
                    <a:lstStyle/>
                    <a:p>
                      <a:pPr algn="r">
                        <a:defRPr>
                          <a:latin typeface="Roboto"/>
                        </a:defRPr>
                      </a:pPr>
                      <a:r>
                        <a:rPr sz="1050">
                          <a:solidFill>
                            <a:srgbClr val="25342A"/>
                          </a:solidFill>
                          <a:latin typeface="Roboto"/>
                        </a:rPr>
                        <a:t>$52,050</a:t>
                      </a:r>
                    </a:p>
                  </a:txBody>
                  <a:tcPr>
                    <a:solidFill>
                      <a:srgbClr val="F7FAF7"/>
                    </a:solidFill>
                  </a:tcPr>
                </a:tc>
              </a:tr>
              <a:tr h="329184">
                <a:tc>
                  <a:txBody>
                    <a:bodyPr/>
                    <a:lstStyle/>
                    <a:p>
                      <a:pPr>
                        <a:defRPr>
                          <a:latin typeface="Roboto"/>
                        </a:defRPr>
                      </a:pPr>
                      <a:r>
                        <a:rPr sz="1050">
                          <a:solidFill>
                            <a:srgbClr val="25342A"/>
                          </a:solidFill>
                          <a:latin typeface="Roboto"/>
                        </a:rPr>
                        <a:t>Profit before tax (the P&amp;L)</a:t>
                      </a:r>
                    </a:p>
                  </a:txBody>
                  <a:tcPr>
                    <a:solidFill>
                      <a:srgbClr val="FFFFFF"/>
                    </a:solidFill>
                  </a:tcPr>
                </a:tc>
                <a:tc>
                  <a:txBody>
                    <a:bodyPr/>
                    <a:lstStyle/>
                    <a:p>
                      <a:pPr algn="r">
                        <a:defRPr>
                          <a:latin typeface="Roboto"/>
                        </a:defRPr>
                      </a:pPr>
                      <a:r>
                        <a:rPr sz="1050">
                          <a:solidFill>
                            <a:srgbClr val="25342A"/>
                          </a:solidFill>
                          <a:latin typeface="Roboto"/>
                        </a:rPr>
                        <a:t>$10,600</a:t>
                      </a:r>
                    </a:p>
                  </a:txBody>
                  <a:tcPr>
                    <a:solidFill>
                      <a:srgbClr val="FFFFFF"/>
                    </a:solidFill>
                  </a:tcPr>
                </a:tc>
              </a:tr>
              <a:tr h="329184">
                <a:tc>
                  <a:txBody>
                    <a:bodyPr/>
                    <a:lstStyle/>
                    <a:p>
                      <a:pPr>
                        <a:defRPr>
                          <a:latin typeface="Roboto"/>
                        </a:defRPr>
                      </a:pPr>
                      <a:r>
                        <a:rPr sz="1050">
                          <a:solidFill>
                            <a:srgbClr val="25342A"/>
                          </a:solidFill>
                          <a:latin typeface="Roboto"/>
                        </a:rPr>
                        <a:t>Revenue</a:t>
                      </a:r>
                    </a:p>
                  </a:txBody>
                  <a:tcPr>
                    <a:solidFill>
                      <a:srgbClr val="F7FAF7"/>
                    </a:solidFill>
                  </a:tcPr>
                </a:tc>
                <a:tc>
                  <a:txBody>
                    <a:bodyPr/>
                    <a:lstStyle/>
                    <a:p>
                      <a:pPr algn="r">
                        <a:defRPr>
                          <a:latin typeface="Roboto"/>
                        </a:defRPr>
                      </a:pPr>
                      <a:r>
                        <a:rPr sz="1050">
                          <a:solidFill>
                            <a:srgbClr val="25342A"/>
                          </a:solidFill>
                          <a:latin typeface="Roboto"/>
                        </a:rPr>
                        <a:t>$115,550</a:t>
                      </a:r>
                    </a:p>
                  </a:txBody>
                  <a:tcPr>
                    <a:solidFill>
                      <a:srgbClr val="F7FAF7"/>
                    </a:solidFill>
                  </a:tcPr>
                </a:tc>
              </a:tr>
              <a:tr h="329184">
                <a:tc>
                  <a:txBody>
                    <a:bodyPr/>
                    <a:lstStyle/>
                    <a:p>
                      <a:pPr>
                        <a:defRPr>
                          <a:latin typeface="Roboto"/>
                        </a:defRPr>
                      </a:pPr>
                      <a:r>
                        <a:rPr sz="1050">
                          <a:solidFill>
                            <a:srgbClr val="25342A"/>
                          </a:solidFill>
                          <a:latin typeface="Roboto"/>
                        </a:rPr>
                        <a:t>Gross margin on client work, %</a:t>
                      </a:r>
                    </a:p>
                  </a:txBody>
                  <a:tcPr>
                    <a:solidFill>
                      <a:srgbClr val="FFFFFF"/>
                    </a:solidFill>
                  </a:tcPr>
                </a:tc>
                <a:tc>
                  <a:txBody>
                    <a:bodyPr/>
                    <a:lstStyle/>
                    <a:p>
                      <a:pPr algn="r">
                        <a:defRPr>
                          <a:latin typeface="Roboto"/>
                        </a:defRPr>
                      </a:pPr>
                      <a:r>
                        <a:rPr sz="1050">
                          <a:solidFill>
                            <a:srgbClr val="25342A"/>
                          </a:solidFill>
                          <a:latin typeface="Roboto"/>
                        </a:rPr>
                        <a:t>60.1%</a:t>
                      </a:r>
                    </a:p>
                  </a:txBody>
                  <a:tcPr>
                    <a:solidFill>
                      <a:srgbClr val="FFFFFF"/>
                    </a:solidFill>
                  </a:tcPr>
                </a:tc>
              </a:tr>
              <a:tr h="329184">
                <a:tc>
                  <a:txBody>
                    <a:bodyPr/>
                    <a:lstStyle/>
                    <a:p>
                      <a:pPr>
                        <a:defRPr>
                          <a:latin typeface="Roboto"/>
                        </a:defRPr>
                      </a:pPr>
                      <a:r>
                        <a:rPr sz="1050">
                          <a:solidFill>
                            <a:srgbClr val="25342A"/>
                          </a:solidFill>
                          <a:latin typeface="Roboto"/>
                        </a:rPr>
                        <a:t>Profit before tax, % of revenue</a:t>
                      </a:r>
                    </a:p>
                  </a:txBody>
                  <a:tcPr>
                    <a:solidFill>
                      <a:srgbClr val="F7FAF7"/>
                    </a:solidFill>
                  </a:tcPr>
                </a:tc>
                <a:tc>
                  <a:txBody>
                    <a:bodyPr/>
                    <a:lstStyle/>
                    <a:p>
                      <a:pPr algn="r">
                        <a:defRPr>
                          <a:latin typeface="Roboto"/>
                        </a:defRPr>
                      </a:pPr>
                      <a:r>
                        <a:rPr sz="1050">
                          <a:solidFill>
                            <a:srgbClr val="25342A"/>
                          </a:solidFill>
                          <a:latin typeface="Roboto"/>
                        </a:rPr>
                        <a:t>9.2%</a:t>
                      </a:r>
                    </a:p>
                  </a:txBody>
                  <a:tcPr>
                    <a:solidFill>
                      <a:srgbClr val="F7FAF7"/>
                    </a:solidFill>
                  </a:tcPr>
                </a:tc>
              </a:tr>
              <a:tr h="329184">
                <a:tc>
                  <a:txBody>
                    <a:bodyPr/>
                    <a:lstStyle/>
                    <a:p>
                      <a:pPr>
                        <a:defRPr>
                          <a:latin typeface="Roboto"/>
                        </a:defRPr>
                      </a:pPr>
                      <a:r>
                        <a:rPr sz="1050">
                          <a:solidFill>
                            <a:srgbClr val="25342A"/>
                          </a:solidFill>
                          <a:latin typeface="Roboto"/>
                        </a:rPr>
                        <a:t>Gross margin client work need just to cover overheads and time not charged</a:t>
                      </a:r>
                    </a:p>
                  </a:txBody>
                  <a:tcPr>
                    <a:solidFill>
                      <a:srgbClr val="FFFFFF"/>
                    </a:solidFill>
                  </a:tcPr>
                </a:tc>
                <a:tc>
                  <a:txBody>
                    <a:bodyPr/>
                    <a:lstStyle/>
                    <a:p>
                      <a:pPr algn="r">
                        <a:defRPr>
                          <a:latin typeface="Roboto"/>
                        </a:defRPr>
                      </a:pPr>
                      <a:r>
                        <a:rPr sz="1050">
                          <a:solidFill>
                            <a:srgbClr val="25342A"/>
                          </a:solidFill>
                          <a:latin typeface="Roboto"/>
                        </a:rPr>
                        <a:t>51.0%</a:t>
                      </a:r>
                    </a:p>
                  </a:txBody>
                  <a:tcPr>
                    <a:solidFill>
                      <a:srgbClr val="FFFFFF"/>
                    </a:solidFill>
                  </a:tcPr>
                </a:tc>
              </a:tr>
            </a:tbl>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16 of 27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Services · Type of work: All</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June against June last year</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28.1%</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$115,550 against $90,220</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Year to date (Jul to Jun 2026)</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$1,007,470</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same period last year: not in the data</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63.6%</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$640,390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17 of 27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Services · Type of work: All</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Revenue is $1,007,470 this financial year to date (Jul to Jun 2026). Training makes the highest gross margin (74.5%); Projects the lowest (61.3%). The business needs 51.0% gross margin just to cover overheads.</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Projects: 61.3% gross margin, 21.3 points over the 40.0% target ($134,082 ahead on $629,470 this financial year to date). Training: 74.5% gross margin, 34.5 points over the 40.0% target ($28,320 ahead on $82,200 this financial year to date).</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18 of 27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Services · Type of work: Projects</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June against June last year</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18.8%</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$76,650 against $64,520</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Year to date (Jul to Jun 2026)</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$629,470</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same period last year: not in the data</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61.3%</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$385,870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19 of 27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Services · Type of work: Projects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Projects brought in $629,470 this financial year to date, at a 61.3% gross margin (below the 63.6% overall).</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Projects: 61.3% gross margin, 21.3 points over the 40.0% target ($134,082 ahead on $629,470 this financial year to date).</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20 of 27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Services · Type of work: Retainers</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June against June last year</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49.1%</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$32,500 against $21,800</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Year to date (Jul to Jun 2026)</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$295,800</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same period last year: not in the data</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65.4%</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$193,320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21 of 27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Services · Type of work: Retainers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Retainers brought in $295,800 this financial year to date, at a 65.4% gross margin (above the 63.6% overall).</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Retainers: 65.4% gross margin, 25.4 points over the 40.0% target ($75,000 ahead on $295,800 this financial year to date).</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22 of 27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Services · Type of work: Training</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June against June last year</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64.1%</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$6,400 against $3,900</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Year to date (Jul to Jun 2026)</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$82,200</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same period last year: not in the data</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74.5%</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$61,200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23 of 27</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Services · Type of work: Training</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Training brought in $82,200 this financial year to date, at a 74.5% gross margin (above the 63.6% overall).</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Training: 74.5% gross margin, 34.5 points over the 40.0% target ($28,320 ahead on $82,200 this financial year to date).</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24 of 27</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Revenue, gross margin and growth by type of work, by month · Revenue $ · Services · Every type of work at once</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Growth is year on year: each month against the same month a year earlier.</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25 of 27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Revenue, gross margin and growth by type of work, by month · Gross margin % · Services · Every type of work at once</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Growth is year on year: each month against the same month a year earlier.</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26 of 27</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By type of work: financial year to date (Jul to Jun 2026) against the same period last year · Services · Every type of work at once</a:t>
            </a:r>
          </a:p>
        </p:txBody>
      </p:sp>
      <p:graphicFrame>
        <p:nvGraphicFramePr>
          <p:cNvPr id="5" name="Table 4"/>
          <p:cNvGraphicFramePr>
            <a:graphicFrameLocks noGrp="1"/>
          </p:cNvGraphicFramePr>
          <p:nvPr/>
        </p:nvGraphicFramePr>
        <p:xfrm>
          <a:off x="457200" y="1188720"/>
          <a:ext cx="11247120" cy="1645920"/>
        </p:xfrm>
        <a:graphic>
          <a:graphicData uri="http://schemas.openxmlformats.org/drawingml/2006/table">
            <a:tbl>
              <a:tblPr firstRow="1" bandRow="1">
                <a:tableStyleId>{5C22544A-7EE6-4342-B048-85BDC9FD1C3A}</a:tableStyleId>
              </a:tblPr>
              <a:tblGrid>
                <a:gridCol w="1874520"/>
                <a:gridCol w="1874520"/>
                <a:gridCol w="1874520"/>
                <a:gridCol w="1874520"/>
                <a:gridCol w="1874520"/>
                <a:gridCol w="1874520"/>
              </a:tblGrid>
              <a:tr h="329184">
                <a:tc>
                  <a:txBody>
                    <a:bodyPr/>
                    <a:lstStyle/>
                    <a:p>
                      <a:pPr>
                        <a:defRPr>
                          <a:latin typeface="Roboto"/>
                        </a:defRPr>
                      </a:pPr>
                    </a:p>
                  </a:txBody>
                  <a:tcPr>
                    <a:solidFill>
                      <a:srgbClr val="2F7A5D"/>
                    </a:solidFill>
                  </a:tcPr>
                </a:tc>
                <a:tc>
                  <a:txBody>
                    <a:bodyPr/>
                    <a:lstStyle/>
                    <a:p>
                      <a:pPr algn="r">
                        <a:defRPr>
                          <a:latin typeface="Roboto"/>
                        </a:defRPr>
                      </a:pPr>
                      <a:r>
                        <a:rPr sz="1100" b="1">
                          <a:solidFill>
                            <a:srgbClr val="FFFFFF"/>
                          </a:solidFill>
                          <a:latin typeface="Roboto"/>
                        </a:rPr>
                        <a:t>Year to date</a:t>
                      </a:r>
                    </a:p>
                  </a:txBody>
                  <a:tcPr>
                    <a:solidFill>
                      <a:srgbClr val="2F7A5D"/>
                    </a:solidFill>
                  </a:tcPr>
                </a:tc>
                <a:tc>
                  <a:txBody>
                    <a:bodyPr/>
                    <a:lstStyle/>
                    <a:p>
                      <a:pPr algn="r">
                        <a:defRPr>
                          <a:latin typeface="Roboto"/>
                        </a:defRPr>
                      </a:pPr>
                      <a:r>
                        <a:rPr sz="1100" b="1">
                          <a:solidFill>
                            <a:srgbClr val="FFFFFF"/>
                          </a:solidFill>
                          <a:latin typeface="Roboto"/>
                        </a:rPr>
                        <a:t>Same period last year</a:t>
                      </a:r>
                    </a:p>
                  </a:txBody>
                  <a:tcPr>
                    <a:solidFill>
                      <a:srgbClr val="2F7A5D"/>
                    </a:solidFill>
                  </a:tcPr>
                </a:tc>
                <a:tc>
                  <a:txBody>
                    <a:bodyPr/>
                    <a:lstStyle/>
                    <a:p>
                      <a:pPr algn="r">
                        <a:defRPr>
                          <a:latin typeface="Roboto"/>
                        </a:defRPr>
                      </a:pPr>
                      <a:r>
                        <a:rPr sz="1100" b="1">
                          <a:solidFill>
                            <a:srgbClr val="FFFFFF"/>
                          </a:solidFill>
                          <a:latin typeface="Roboto"/>
                        </a:rPr>
                        <a:t>Growth</a:t>
                      </a:r>
                    </a:p>
                  </a:txBody>
                  <a:tcPr>
                    <a:solidFill>
                      <a:srgbClr val="2F7A5D"/>
                    </a:solidFill>
                  </a:tcPr>
                </a:tc>
                <a:tc>
                  <a:txBody>
                    <a:bodyPr/>
                    <a:lstStyle/>
                    <a:p>
                      <a:pPr algn="r">
                        <a:defRPr>
                          <a:latin typeface="Roboto"/>
                        </a:defRPr>
                      </a:pPr>
                      <a:r>
                        <a:rPr sz="1100" b="1">
                          <a:solidFill>
                            <a:srgbClr val="FFFFFF"/>
                          </a:solidFill>
                          <a:latin typeface="Roboto"/>
                        </a:rPr>
                        <a:t>Gross margin $</a:t>
                      </a:r>
                    </a:p>
                  </a:txBody>
                  <a:tcPr>
                    <a:solidFill>
                      <a:srgbClr val="2F7A5D"/>
                    </a:solidFill>
                  </a:tcPr>
                </a:tc>
                <a:tc>
                  <a:txBody>
                    <a:bodyPr/>
                    <a:lstStyle/>
                    <a:p>
                      <a:pPr algn="r">
                        <a:defRPr>
                          <a:latin typeface="Roboto"/>
                        </a:defRPr>
                      </a:pPr>
                      <a:r>
                        <a:rPr sz="1100" b="1">
                          <a:solidFill>
                            <a:srgbClr val="FFFFFF"/>
                          </a:solidFill>
                          <a:latin typeface="Roboto"/>
                        </a:rPr>
                        <a:t>Gross margin %</a:t>
                      </a:r>
                    </a:p>
                  </a:txBody>
                  <a:tcPr>
                    <a:solidFill>
                      <a:srgbClr val="2F7A5D"/>
                    </a:solidFill>
                  </a:tcPr>
                </a:tc>
              </a:tr>
              <a:tr h="329184">
                <a:tc>
                  <a:txBody>
                    <a:bodyPr/>
                    <a:lstStyle/>
                    <a:p>
                      <a:pPr>
                        <a:defRPr>
                          <a:latin typeface="Roboto"/>
                        </a:defRPr>
                      </a:pPr>
                      <a:r>
                        <a:rPr sz="1050">
                          <a:solidFill>
                            <a:srgbClr val="25342A"/>
                          </a:solidFill>
                          <a:latin typeface="Roboto"/>
                        </a:rPr>
                        <a:t>Projects</a:t>
                      </a:r>
                    </a:p>
                  </a:txBody>
                  <a:tcPr>
                    <a:solidFill>
                      <a:srgbClr val="FFFFFF"/>
                    </a:solidFill>
                  </a:tcPr>
                </a:tc>
                <a:tc>
                  <a:txBody>
                    <a:bodyPr/>
                    <a:lstStyle/>
                    <a:p>
                      <a:pPr algn="r">
                        <a:defRPr>
                          <a:latin typeface="Roboto"/>
                        </a:defRPr>
                      </a:pPr>
                      <a:r>
                        <a:rPr sz="1050">
                          <a:solidFill>
                            <a:srgbClr val="25342A"/>
                          </a:solidFill>
                          <a:latin typeface="Roboto"/>
                        </a:rPr>
                        <a:t>$629,470</a:t>
                      </a:r>
                    </a:p>
                  </a:txBody>
                  <a:tcPr>
                    <a:solidFill>
                      <a:srgbClr val="FFFFFF"/>
                    </a:solidFill>
                  </a:tcPr>
                </a:tc>
                <a:tc>
                  <a:txBody>
                    <a:bodyPr/>
                    <a:lstStyle/>
                    <a:p>
                      <a:pPr algn="r">
                        <a:defRPr>
                          <a:latin typeface="Roboto"/>
                        </a:defRPr>
                      </a:pPr>
                      <a:r>
                        <a:rPr sz="1050">
                          <a:solidFill>
                            <a:srgbClr val="25342A"/>
                          </a:solidFill>
                          <a:latin typeface="Roboto"/>
                        </a:rPr>
                        <a:t>–</a:t>
                      </a:r>
                    </a:p>
                  </a:txBody>
                  <a:tcPr>
                    <a:solidFill>
                      <a:srgbClr val="FFFFFF"/>
                    </a:solidFill>
                  </a:tcPr>
                </a:tc>
                <a:tc>
                  <a:txBody>
                    <a:bodyPr/>
                    <a:lstStyle/>
                    <a:p>
                      <a:pPr algn="r">
                        <a:defRPr>
                          <a:latin typeface="Roboto"/>
                        </a:defRPr>
                      </a:pPr>
                      <a:r>
                        <a:rPr sz="1050">
                          <a:solidFill>
                            <a:srgbClr val="25342A"/>
                          </a:solidFill>
                          <a:latin typeface="Roboto"/>
                        </a:rPr>
                        <a:t>–</a:t>
                      </a:r>
                    </a:p>
                  </a:txBody>
                  <a:tcPr>
                    <a:solidFill>
                      <a:srgbClr val="FFFFFF"/>
                    </a:solidFill>
                  </a:tcPr>
                </a:tc>
                <a:tc>
                  <a:txBody>
                    <a:bodyPr/>
                    <a:lstStyle/>
                    <a:p>
                      <a:pPr algn="r">
                        <a:defRPr>
                          <a:latin typeface="Roboto"/>
                        </a:defRPr>
                      </a:pPr>
                      <a:r>
                        <a:rPr sz="1050">
                          <a:solidFill>
                            <a:srgbClr val="25342A"/>
                          </a:solidFill>
                          <a:latin typeface="Roboto"/>
                        </a:rPr>
                        <a:t>$385,870</a:t>
                      </a:r>
                    </a:p>
                  </a:txBody>
                  <a:tcPr>
                    <a:solidFill>
                      <a:srgbClr val="FFFFFF"/>
                    </a:solidFill>
                  </a:tcPr>
                </a:tc>
                <a:tc>
                  <a:txBody>
                    <a:bodyPr/>
                    <a:lstStyle/>
                    <a:p>
                      <a:pPr algn="r">
                        <a:defRPr>
                          <a:latin typeface="Roboto"/>
                        </a:defRPr>
                      </a:pPr>
                      <a:r>
                        <a:rPr sz="1050">
                          <a:solidFill>
                            <a:srgbClr val="25342A"/>
                          </a:solidFill>
                          <a:latin typeface="Roboto"/>
                        </a:rPr>
                        <a:t>61.3%</a:t>
                      </a:r>
                    </a:p>
                  </a:txBody>
                  <a:tcPr>
                    <a:solidFill>
                      <a:srgbClr val="FFFFFF"/>
                    </a:solidFill>
                  </a:tcPr>
                </a:tc>
              </a:tr>
              <a:tr h="329184">
                <a:tc>
                  <a:txBody>
                    <a:bodyPr/>
                    <a:lstStyle/>
                    <a:p>
                      <a:pPr>
                        <a:defRPr>
                          <a:latin typeface="Roboto"/>
                        </a:defRPr>
                      </a:pPr>
                      <a:r>
                        <a:rPr sz="1050">
                          <a:solidFill>
                            <a:srgbClr val="25342A"/>
                          </a:solidFill>
                          <a:latin typeface="Roboto"/>
                        </a:rPr>
                        <a:t>Retainers</a:t>
                      </a:r>
                    </a:p>
                  </a:txBody>
                  <a:tcPr>
                    <a:solidFill>
                      <a:srgbClr val="F7FAF7"/>
                    </a:solidFill>
                  </a:tcPr>
                </a:tc>
                <a:tc>
                  <a:txBody>
                    <a:bodyPr/>
                    <a:lstStyle/>
                    <a:p>
                      <a:pPr algn="r">
                        <a:defRPr>
                          <a:latin typeface="Roboto"/>
                        </a:defRPr>
                      </a:pPr>
                      <a:r>
                        <a:rPr sz="1050">
                          <a:solidFill>
                            <a:srgbClr val="25342A"/>
                          </a:solidFill>
                          <a:latin typeface="Roboto"/>
                        </a:rPr>
                        <a:t>$295,800</a:t>
                      </a:r>
                    </a:p>
                  </a:txBody>
                  <a:tcPr>
                    <a:solidFill>
                      <a:srgbClr val="F7FAF7"/>
                    </a:solidFill>
                  </a:tcPr>
                </a:tc>
                <a:tc>
                  <a:txBody>
                    <a:bodyPr/>
                    <a:lstStyle/>
                    <a:p>
                      <a:pPr algn="r">
                        <a:defRPr>
                          <a:latin typeface="Roboto"/>
                        </a:defRPr>
                      </a:pPr>
                      <a:r>
                        <a:rPr sz="1050">
                          <a:solidFill>
                            <a:srgbClr val="25342A"/>
                          </a:solidFill>
                          <a:latin typeface="Roboto"/>
                        </a:rPr>
                        <a:t>–</a:t>
                      </a:r>
                    </a:p>
                  </a:txBody>
                  <a:tcPr>
                    <a:solidFill>
                      <a:srgbClr val="F7FAF7"/>
                    </a:solidFill>
                  </a:tcPr>
                </a:tc>
                <a:tc>
                  <a:txBody>
                    <a:bodyPr/>
                    <a:lstStyle/>
                    <a:p>
                      <a:pPr algn="r">
                        <a:defRPr>
                          <a:latin typeface="Roboto"/>
                        </a:defRPr>
                      </a:pPr>
                      <a:r>
                        <a:rPr sz="1050">
                          <a:solidFill>
                            <a:srgbClr val="25342A"/>
                          </a:solidFill>
                          <a:latin typeface="Roboto"/>
                        </a:rPr>
                        <a:t>–</a:t>
                      </a:r>
                    </a:p>
                  </a:txBody>
                  <a:tcPr>
                    <a:solidFill>
                      <a:srgbClr val="F7FAF7"/>
                    </a:solidFill>
                  </a:tcPr>
                </a:tc>
                <a:tc>
                  <a:txBody>
                    <a:bodyPr/>
                    <a:lstStyle/>
                    <a:p>
                      <a:pPr algn="r">
                        <a:defRPr>
                          <a:latin typeface="Roboto"/>
                        </a:defRPr>
                      </a:pPr>
                      <a:r>
                        <a:rPr sz="1050">
                          <a:solidFill>
                            <a:srgbClr val="25342A"/>
                          </a:solidFill>
                          <a:latin typeface="Roboto"/>
                        </a:rPr>
                        <a:t>$193,320</a:t>
                      </a:r>
                    </a:p>
                  </a:txBody>
                  <a:tcPr>
                    <a:solidFill>
                      <a:srgbClr val="F7FAF7"/>
                    </a:solidFill>
                  </a:tcPr>
                </a:tc>
                <a:tc>
                  <a:txBody>
                    <a:bodyPr/>
                    <a:lstStyle/>
                    <a:p>
                      <a:pPr algn="r">
                        <a:defRPr>
                          <a:latin typeface="Roboto"/>
                        </a:defRPr>
                      </a:pPr>
                      <a:r>
                        <a:rPr sz="1050">
                          <a:solidFill>
                            <a:srgbClr val="25342A"/>
                          </a:solidFill>
                          <a:latin typeface="Roboto"/>
                        </a:rPr>
                        <a:t>65.4%</a:t>
                      </a:r>
                    </a:p>
                  </a:txBody>
                  <a:tcPr>
                    <a:solidFill>
                      <a:srgbClr val="F7FAF7"/>
                    </a:solidFill>
                  </a:tcPr>
                </a:tc>
              </a:tr>
              <a:tr h="329184">
                <a:tc>
                  <a:txBody>
                    <a:bodyPr/>
                    <a:lstStyle/>
                    <a:p>
                      <a:pPr>
                        <a:defRPr>
                          <a:latin typeface="Roboto"/>
                        </a:defRPr>
                      </a:pPr>
                      <a:r>
                        <a:rPr sz="1050">
                          <a:solidFill>
                            <a:srgbClr val="25342A"/>
                          </a:solidFill>
                          <a:latin typeface="Roboto"/>
                        </a:rPr>
                        <a:t>Training</a:t>
                      </a:r>
                    </a:p>
                  </a:txBody>
                  <a:tcPr>
                    <a:solidFill>
                      <a:srgbClr val="FFFFFF"/>
                    </a:solidFill>
                  </a:tcPr>
                </a:tc>
                <a:tc>
                  <a:txBody>
                    <a:bodyPr/>
                    <a:lstStyle/>
                    <a:p>
                      <a:pPr algn="r">
                        <a:defRPr>
                          <a:latin typeface="Roboto"/>
                        </a:defRPr>
                      </a:pPr>
                      <a:r>
                        <a:rPr sz="1050">
                          <a:solidFill>
                            <a:srgbClr val="25342A"/>
                          </a:solidFill>
                          <a:latin typeface="Roboto"/>
                        </a:rPr>
                        <a:t>$82,200</a:t>
                      </a:r>
                    </a:p>
                  </a:txBody>
                  <a:tcPr>
                    <a:solidFill>
                      <a:srgbClr val="FFFFFF"/>
                    </a:solidFill>
                  </a:tcPr>
                </a:tc>
                <a:tc>
                  <a:txBody>
                    <a:bodyPr/>
                    <a:lstStyle/>
                    <a:p>
                      <a:pPr algn="r">
                        <a:defRPr>
                          <a:latin typeface="Roboto"/>
                        </a:defRPr>
                      </a:pPr>
                      <a:r>
                        <a:rPr sz="1050">
                          <a:solidFill>
                            <a:srgbClr val="25342A"/>
                          </a:solidFill>
                          <a:latin typeface="Roboto"/>
                        </a:rPr>
                        <a:t>–</a:t>
                      </a:r>
                    </a:p>
                  </a:txBody>
                  <a:tcPr>
                    <a:solidFill>
                      <a:srgbClr val="FFFFFF"/>
                    </a:solidFill>
                  </a:tcPr>
                </a:tc>
                <a:tc>
                  <a:txBody>
                    <a:bodyPr/>
                    <a:lstStyle/>
                    <a:p>
                      <a:pPr algn="r">
                        <a:defRPr>
                          <a:latin typeface="Roboto"/>
                        </a:defRPr>
                      </a:pPr>
                      <a:r>
                        <a:rPr sz="1050">
                          <a:solidFill>
                            <a:srgbClr val="25342A"/>
                          </a:solidFill>
                          <a:latin typeface="Roboto"/>
                        </a:rPr>
                        <a:t>–</a:t>
                      </a:r>
                    </a:p>
                  </a:txBody>
                  <a:tcPr>
                    <a:solidFill>
                      <a:srgbClr val="FFFFFF"/>
                    </a:solidFill>
                  </a:tcPr>
                </a:tc>
                <a:tc>
                  <a:txBody>
                    <a:bodyPr/>
                    <a:lstStyle/>
                    <a:p>
                      <a:pPr algn="r">
                        <a:defRPr>
                          <a:latin typeface="Roboto"/>
                        </a:defRPr>
                      </a:pPr>
                      <a:r>
                        <a:rPr sz="1050">
                          <a:solidFill>
                            <a:srgbClr val="25342A"/>
                          </a:solidFill>
                          <a:latin typeface="Roboto"/>
                        </a:rPr>
                        <a:t>$61,200</a:t>
                      </a:r>
                    </a:p>
                  </a:txBody>
                  <a:tcPr>
                    <a:solidFill>
                      <a:srgbClr val="FFFFFF"/>
                    </a:solidFill>
                  </a:tcPr>
                </a:tc>
                <a:tc>
                  <a:txBody>
                    <a:bodyPr/>
                    <a:lstStyle/>
                    <a:p>
                      <a:pPr algn="r">
                        <a:defRPr>
                          <a:latin typeface="Roboto"/>
                        </a:defRPr>
                      </a:pPr>
                      <a:r>
                        <a:rPr sz="1050">
                          <a:solidFill>
                            <a:srgbClr val="25342A"/>
                          </a:solidFill>
                          <a:latin typeface="Roboto"/>
                        </a:rPr>
                        <a:t>74.5%</a:t>
                      </a:r>
                    </a:p>
                  </a:txBody>
                  <a:tcPr>
                    <a:solidFill>
                      <a:srgbClr val="FFFFFF"/>
                    </a:solidFill>
                  </a:tcPr>
                </a:tc>
              </a:tr>
              <a:tr h="329184">
                <a:tc>
                  <a:txBody>
                    <a:bodyPr/>
                    <a:lstStyle/>
                    <a:p>
                      <a:pPr>
                        <a:defRPr>
                          <a:latin typeface="Roboto"/>
                        </a:defRPr>
                      </a:pPr>
                      <a:r>
                        <a:rPr sz="1050" b="1">
                          <a:solidFill>
                            <a:srgbClr val="25342A"/>
                          </a:solidFill>
                          <a:latin typeface="Roboto"/>
                        </a:rPr>
                        <a:t>Total</a:t>
                      </a:r>
                    </a:p>
                  </a:txBody>
                  <a:tcPr>
                    <a:solidFill>
                      <a:srgbClr val="F7FAF7"/>
                    </a:solidFill>
                  </a:tcPr>
                </a:tc>
                <a:tc>
                  <a:txBody>
                    <a:bodyPr/>
                    <a:lstStyle/>
                    <a:p>
                      <a:pPr algn="r">
                        <a:defRPr>
                          <a:latin typeface="Roboto"/>
                        </a:defRPr>
                      </a:pPr>
                      <a:r>
                        <a:rPr sz="1050" b="1">
                          <a:solidFill>
                            <a:srgbClr val="25342A"/>
                          </a:solidFill>
                          <a:latin typeface="Roboto"/>
                        </a:rPr>
                        <a:t>$1,007,470</a:t>
                      </a:r>
                    </a:p>
                  </a:txBody>
                  <a:tcPr>
                    <a:solidFill>
                      <a:srgbClr val="F7FAF7"/>
                    </a:solidFill>
                  </a:tcPr>
                </a:tc>
                <a:tc>
                  <a:txBody>
                    <a:bodyPr/>
                    <a:lstStyle/>
                    <a:p>
                      <a:pPr algn="r">
                        <a:defRPr>
                          <a:latin typeface="Roboto"/>
                        </a:defRPr>
                      </a:pPr>
                      <a:r>
                        <a:rPr sz="1050" b="1">
                          <a:solidFill>
                            <a:srgbClr val="25342A"/>
                          </a:solidFill>
                          <a:latin typeface="Roboto"/>
                        </a:rPr>
                        <a:t>–</a:t>
                      </a:r>
                    </a:p>
                  </a:txBody>
                  <a:tcPr>
                    <a:solidFill>
                      <a:srgbClr val="F7FAF7"/>
                    </a:solidFill>
                  </a:tcPr>
                </a:tc>
                <a:tc>
                  <a:txBody>
                    <a:bodyPr/>
                    <a:lstStyle/>
                    <a:p>
                      <a:pPr algn="r">
                        <a:defRPr>
                          <a:latin typeface="Roboto"/>
                        </a:defRPr>
                      </a:pPr>
                      <a:r>
                        <a:rPr sz="1050" b="1">
                          <a:solidFill>
                            <a:srgbClr val="25342A"/>
                          </a:solidFill>
                          <a:latin typeface="Roboto"/>
                        </a:rPr>
                        <a:t>–</a:t>
                      </a:r>
                    </a:p>
                  </a:txBody>
                  <a:tcPr>
                    <a:solidFill>
                      <a:srgbClr val="F7FAF7"/>
                    </a:solidFill>
                  </a:tcPr>
                </a:tc>
                <a:tc>
                  <a:txBody>
                    <a:bodyPr/>
                    <a:lstStyle/>
                    <a:p>
                      <a:pPr algn="r">
                        <a:defRPr>
                          <a:latin typeface="Roboto"/>
                        </a:defRPr>
                      </a:pPr>
                      <a:r>
                        <a:rPr sz="1050" b="1">
                          <a:solidFill>
                            <a:srgbClr val="25342A"/>
                          </a:solidFill>
                          <a:latin typeface="Roboto"/>
                        </a:rPr>
                        <a:t>$640,390</a:t>
                      </a:r>
                    </a:p>
                  </a:txBody>
                  <a:tcPr>
                    <a:solidFill>
                      <a:srgbClr val="F7FAF7"/>
                    </a:solidFill>
                  </a:tcPr>
                </a:tc>
                <a:tc>
                  <a:txBody>
                    <a:bodyPr/>
                    <a:lstStyle/>
                    <a:p>
                      <a:pPr algn="r">
                        <a:defRPr>
                          <a:latin typeface="Roboto"/>
                        </a:defRPr>
                      </a:pPr>
                      <a:r>
                        <a:rPr sz="1050" b="1">
                          <a:solidFill>
                            <a:srgbClr val="25342A"/>
                          </a:solidFill>
                          <a:latin typeface="Roboto"/>
                        </a:rPr>
                        <a:t>63.6%</a:t>
                      </a:r>
                    </a:p>
                  </a:txBody>
                  <a:tcPr>
                    <a:solidFill>
                      <a:srgbClr val="F7FAF7"/>
                    </a:solidFill>
                  </a:tcPr>
                </a:tc>
              </a:tr>
            </a:tbl>
          </a:graphicData>
        </a:graphic>
      </p:graphicFrame>
      <p:sp>
        <p:nvSpPr>
          <p:cNvPr id="6" name="TextBox 5"/>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7" name="TextBox 6"/>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8" name="TextBox 7"/>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27 of 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