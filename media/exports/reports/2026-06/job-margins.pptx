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cat>
            <c:strRef>
              <c:f>Sheet1!$A$2:$A$4</c:f>
              <c:strCache>
                <c:ptCount val="3"/>
                <c:pt idx="0">
                  <c:v>Installations</c:v>
                </c:pt>
                <c:pt idx="1">
                  <c:v>Call-outs and repairs</c:v>
                </c:pt>
                <c:pt idx="2">
                  <c:v>Maintenance contracts</c:v>
                </c:pt>
              </c:strCache>
            </c:strRef>
          </c:cat>
          <c:val>
            <c:numRef>
              <c:f>Sheet1!$B$2:$B$4</c:f>
              <c:numCache>
                <c:formatCode>0.0"%";[Red](0.0"%")</c:formatCode>
                <c:ptCount val="3"/>
                <c:pt idx="0">
                  <c:v>28.5</c:v>
                </c:pt>
                <c:pt idx="1">
                  <c:v>44.6</c:v>
                </c:pt>
                <c:pt idx="2">
                  <c:v>59.5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8.42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dPt>
            <c:idx val="6"/>
            <c:spPr>
              <a:solidFill>
                <a:srgbClr val="0E9F6E"/>
              </a:solidFill>
            </c:spPr>
          </c:dPt>
          <c:dPt>
            <c:idx val="7"/>
            <c:spPr>
              <a:solidFill>
                <a:srgbClr val="0E9F6E"/>
              </a:solidFill>
            </c:spPr>
          </c:dPt>
          <c:dPt>
            <c:idx val="8"/>
            <c:spPr>
              <a:solidFill>
                <a:srgbClr val="0E9F6E"/>
              </a:solidFill>
            </c:spPr>
          </c:dPt>
          <c:dPt>
            <c:idx val="9"/>
            <c:spPr>
              <a:solidFill>
                <a:srgbClr val="0E9F6E"/>
              </a:solidFill>
            </c:spPr>
          </c:dPt>
          <c:dPt>
            <c:idx val="10"/>
            <c:spPr>
              <a:solidFill>
                <a:srgbClr val="0E9F6E"/>
              </a:solidFill>
            </c:spPr>
          </c:dPt>
          <c:dPt>
            <c:idx val="11"/>
            <c:spPr>
              <a:solidFill>
                <a:srgbClr val="0E9F6E"/>
              </a:solidFill>
            </c:spPr>
          </c:dPt>
          <c:dPt>
            <c:idx val="12"/>
            <c:spPr>
              <a:solidFill>
                <a:srgbClr val="0E9F6E"/>
              </a:solidFill>
            </c:spPr>
          </c:dPt>
          <c:dPt>
            <c:idx val="13"/>
            <c:spPr>
              <a:solidFill>
                <a:srgbClr val="0E9F6E"/>
              </a:solidFill>
            </c:spPr>
          </c:dPt>
          <c:cat>
            <c:strRef>
              <c:f>Sheet1!$A$2:$A$15</c:f>
              <c:strCache>
                <c:ptCount val="14"/>
                <c:pt idx="0">
                  <c:v>Kangaroo Point townhouses</c:v>
                </c:pt>
                <c:pt idx="1">
                  <c:v>West End brewery</c:v>
                </c:pt>
                <c:pt idx="2">
                  <c:v>Rocklea factory</c:v>
                </c:pt>
                <c:pt idx="3">
                  <c:v>Milton office tower</c:v>
                </c:pt>
                <c:pt idx="4">
                  <c:v>Bulimba school</c:v>
                </c:pt>
                <c:pt idx="5">
                  <c:v>Wacol logistics depot</c:v>
                </c:pt>
                <c:pt idx="6">
                  <c:v>Chermside retail centre</c:v>
                </c:pt>
                <c:pt idx="7">
                  <c:v>Fortitude Valley hotel</c:v>
                </c:pt>
                <c:pt idx="8">
                  <c:v>Riverside Apartments (strata)</c:v>
                </c:pt>
                <c:pt idx="9">
                  <c:v>Newstead gym</c:v>
                </c:pt>
                <c:pt idx="10">
                  <c:v>Southbank cafe group</c:v>
                </c:pt>
                <c:pt idx="11">
                  <c:v>Ashgrove aged care</c:v>
                </c:pt>
                <c:pt idx="12">
                  <c:v>Wynnum medical centre</c:v>
                </c:pt>
                <c:pt idx="13">
                  <c:v>Carindale vet clinic</c:v>
                </c:pt>
              </c:strCache>
            </c:strRef>
          </c:cat>
          <c:val>
            <c:numRef>
              <c:f>Sheet1!$B$2:$B$15</c:f>
              <c:numCache>
                <c:formatCode>0.0"%";[Red](0.0"%")</c:formatCode>
                <c:ptCount val="14"/>
                <c:pt idx="0">
                  <c:v>58.2</c:v>
                </c:pt>
                <c:pt idx="1">
                  <c:v>58.8</c:v>
                </c:pt>
                <c:pt idx="2">
                  <c:v>58.8</c:v>
                </c:pt>
                <c:pt idx="3">
                  <c:v>59.0</c:v>
                </c:pt>
                <c:pt idx="4">
                  <c:v>59.0</c:v>
                </c:pt>
                <c:pt idx="5">
                  <c:v>59.1</c:v>
                </c:pt>
                <c:pt idx="6">
                  <c:v>59.4</c:v>
                </c:pt>
                <c:pt idx="7">
                  <c:v>59.9</c:v>
                </c:pt>
                <c:pt idx="8">
                  <c:v>59.9</c:v>
                </c:pt>
                <c:pt idx="9">
                  <c:v>59.9</c:v>
                </c:pt>
                <c:pt idx="10">
                  <c:v>60.0</c:v>
                </c:pt>
                <c:pt idx="11">
                  <c:v>60.0</c:v>
                </c:pt>
                <c:pt idx="12">
                  <c:v>61.1</c:v>
                </c:pt>
                <c:pt idx="13">
                  <c:v>62.2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1.53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7D8790"/>
              </a:solidFill>
            </c:spPr>
          </c:dPt>
          <c:dPt>
            <c:idx val="3"/>
            <c:spPr>
              <a:solidFill>
                <a:srgbClr val="7D8790"/>
              </a:solidFill>
            </c:spPr>
          </c:dPt>
          <c:dPt>
            <c:idx val="4"/>
            <c:spPr>
              <a:solidFill>
                <a:srgbClr val="7D8790"/>
              </a:solidFill>
            </c:spPr>
          </c:dPt>
          <c:cat>
            <c:strRef>
              <c:f>Sheet1!$A$2:$A$6</c:f>
              <c:strCache>
                <c:ptCount val="5"/>
                <c:pt idx="0">
                  <c:v>Installation 2, June</c:v>
                </c:pt>
                <c:pt idx="1">
                  <c:v>Installation 4, June</c:v>
                </c:pt>
                <c:pt idx="2">
                  <c:v>Installation 5, June</c:v>
                </c:pt>
                <c:pt idx="3">
                  <c:v>Installation 1, June</c:v>
                </c:pt>
                <c:pt idx="4">
                  <c:v>Installation 3, June</c:v>
                </c:pt>
              </c:strCache>
            </c:strRef>
          </c:cat>
          <c:val>
            <c:numRef>
              <c:f>Sheet1!$B$2:$B$6</c:f>
              <c:numCache>
                <c:formatCode>0.0"%";[Red](0.0"%")</c:formatCode>
                <c:ptCount val="5"/>
                <c:pt idx="0">
                  <c:v>28.2</c:v>
                </c:pt>
                <c:pt idx="1">
                  <c:v>28.2</c:v>
                </c:pt>
                <c:pt idx="2">
                  <c:v>28.3</c:v>
                </c:pt>
                <c:pt idx="3">
                  <c:v>29.0</c:v>
                </c:pt>
                <c:pt idx="4">
                  <c:v>29.4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0.94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1.5-hour call-outs (8)</c:v>
                </c:pt>
                <c:pt idx="1">
                  <c:v>1-hour call-outs (6)</c:v>
                </c:pt>
                <c:pt idx="2">
                  <c:v>2-hour call-outs (13)</c:v>
                </c:pt>
                <c:pt idx="3">
                  <c:v>2.5-hour call-outs (5)</c:v>
                </c:pt>
                <c:pt idx="4">
                  <c:v>3-hour call-outs (11)</c:v>
                </c:pt>
                <c:pt idx="5">
                  <c:v>4-hour call-outs (14)</c:v>
                </c:pt>
              </c:strCache>
            </c:strRef>
          </c:cat>
          <c:val>
            <c:numRef>
              <c:f>Sheet1!$B$2:$B$7</c:f>
              <c:numCache>
                <c:formatCode>0.0"%";[Red](0.0"%")</c:formatCode>
                <c:ptCount val="6"/>
                <c:pt idx="0">
                  <c:v>40.5</c:v>
                </c:pt>
                <c:pt idx="1">
                  <c:v>40.9</c:v>
                </c:pt>
                <c:pt idx="2">
                  <c:v>41.9</c:v>
                </c:pt>
                <c:pt idx="3">
                  <c:v>44.1</c:v>
                </c:pt>
                <c:pt idx="4">
                  <c:v>46.3</c:v>
                </c:pt>
                <c:pt idx="5">
                  <c:v>47.0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4.0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Sheet1!$A$2:$A$22</c:f>
              <c:strCache>
                <c:ptCount val="21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</c:strCache>
            </c:strRef>
          </c:cat>
          <c:val>
            <c:numRef>
              <c:f>Sheet1!$B$2:$B$22</c:f>
              <c:numCache>
                <c:formatCode>0.0"%";[Red](0.0"%")</c:formatCode>
                <c:ptCount val="21"/>
                <c:pt idx="0">
                  <c:v>33.1</c:v>
                </c:pt>
                <c:pt idx="1">
                  <c:v>37.0</c:v>
                </c:pt>
                <c:pt idx="2">
                  <c:v>40.4</c:v>
                </c:pt>
                <c:pt idx="3">
                  <c:v>42.7</c:v>
                </c:pt>
                <c:pt idx="4">
                  <c:v>36.4</c:v>
                </c:pt>
                <c:pt idx="5">
                  <c:v>36.5</c:v>
                </c:pt>
                <c:pt idx="6">
                  <c:v>38.4</c:v>
                </c:pt>
                <c:pt idx="7">
                  <c:v>35.5</c:v>
                </c:pt>
                <c:pt idx="8">
                  <c:v>40.5</c:v>
                </c:pt>
                <c:pt idx="9">
                  <c:v>35.6</c:v>
                </c:pt>
                <c:pt idx="10">
                  <c:v>43.8</c:v>
                </c:pt>
                <c:pt idx="11">
                  <c:v>37.6</c:v>
                </c:pt>
                <c:pt idx="12">
                  <c:v>38.4</c:v>
                </c:pt>
                <c:pt idx="13">
                  <c:v>33.7</c:v>
                </c:pt>
                <c:pt idx="14">
                  <c:v>37.4</c:v>
                </c:pt>
                <c:pt idx="15">
                  <c:v>35.3</c:v>
                </c:pt>
                <c:pt idx="16">
                  <c:v>38.6</c:v>
                </c:pt>
                <c:pt idx="17">
                  <c:v>35.6</c:v>
                </c:pt>
                <c:pt idx="18">
                  <c:v>41.7</c:v>
                </c:pt>
                <c:pt idx="19">
                  <c:v>39.0</c:v>
                </c:pt>
                <c:pt idx="20">
                  <c:v>38.5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5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jobs actually make money?. Sample Electrical &amp; Air Pty Ltd. Period: June 2026. Every job's gross margin: revenue less materials, subcontractors and technician time at $68 an hour (fully loaded: wages and all on-costs). Pick a type of job and every number, chart and note on the page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gross margin to profit. June's jobs made $66,663 gross margin (38.5%). Technician time not charged to jobs took $2,410 and overheads $59,260, leaving $4,993 profit before tax (2.9% of revenue). To cover overheads, jobs need a 35.6%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jobs. Job gross margin, June · All jobs: 38.5%; Job gross margin, May · All jobs: 39.0%; Gross margin jobs need to break even: 35.6%. In June maintenance contracts made a 59.5% job gross margin, installations made a 28.5% job gross margin, call-outs and repairs made a 44.6% job gross margin (technician time at $68 an hour, wages and all on-costs). Jobs need 35.6% just to cover overheads. Installations: 28.5% gross margin, 6.5 points under the 35.0% target: about $6,712 on $103,200 of revenue in June. It's below the 35.6% needed to cover overheads, too. Maintenance contracts: 59.5% gross margin, 24.5 points over the 35.0% target ($9,941 ahead on $40,500 in June).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Maintenance contracts. Job gross margin, June · Maintenance contracts: 59.5%; Job gross margin, May · Maintenance contracts: 59.5%; Gross margin jobs need to break even: 35.6%. All 14 contracts made more than the 35.0% job gross margin target. The thinnest was Kangaroo Point townhouses at 58.2% job gross margin: 14.0 h of technician time on a $2,400 monthly fee. The thinnest, Kangaroo Point townhouses: 58.2% gross margin, 23.3 points over the 35.0% target ($558 ahead on $2,400 in June). All maintenance contracts: 59.5% gross margin, 24.5 points over the 35.0% target ($9,941 ahead on $40,500 in June).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Job gross margin on each maintenance contract, June 2026. The month's fee less materials and technician time at $68/hour. Target 35.0% is what to price for; break-even 35.6% only covers overheads and time not charged.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Installations. Job gross margin, June · Installations: 28.5%; Job gross margin, May · Installations: 28.3%; Gross margin jobs need to break even: 35.6%. 5 of the 5 installation jobs invoiced in June made less than the 35.0% job gross margin target. The Installation 4, June made a 28.2% job gross margin: 58.0 h of technician time ($3,944) and $1,200 of subcontractors on a $15,100 job. Jobs need 35.6% gross margin just to cover overheads. 5 installations under the 35.0% target, worth about $6,712 between them on $103,200 of revenue. The biggest gap, Installation 2, June: 28.2% gross margin, 6.8 points under the 35.0% target: about $2,503 on $36,900 of revenue in June. It's below the 35.6% needed to cover overheads,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Call-outs and repairs. Job gross margin, June · Call-outs and repairs: 44.6%; Job gross margin, May · Call-outs and repairs: 44.1%; Gross margin jobs need to break even: 35.6%; Technician time charged, June: $21,104; Materials charged, June: $8,359. 57 call-outs in June billed $21,104 of technician time and $8,359 of materials ($6,430 at cost plus 30%), and made a 44.6% job gross margin between them. Gross margins run from 40.5% to 47.0% by length: the hourly rate covers technician time comfortably, so the gross margin mostly moves with how much material goes on the van. All call-outs: 44.6% gross margin, 9.6 points over the 35.0% target ($2,827 ahead on $29,463 in June).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Job gross margin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jobs actually make money?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June 2026. Every job's gross margin: revenue less materials, subcontractors and technician time at $68 an hour (fully loaded: wages and all on-costs). Pick a type of job and every number, chart and note on the page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2026: Locked. May 2026 is locked (closed 2 Jun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2026: Locked. June 2026 is locked (closed 2 Jul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From gross margin to profit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June's jobs made $66,663 gross margin (38.5%). Technician time not charged to jobs took $2,410 and overheads $59,260, leaving $4,993 profit before tax (2.9% of revenue). To cover overheads, jobs need a 35.6%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9136"/>
          <a:ext cx="11277294" cy="341985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08734"/>
                <a:gridCol w="766856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on jobs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$66,663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wages and on-costs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$54,600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time charged to jobs (at cost)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$52,190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time not charged to jobs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$2,410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profit (the P&amp;L)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$64,253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Overheads (operating expenses, depreciation, interest)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$59,260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Profit before tax (the P&amp;L)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$4,993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Revenue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$173,163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on jobs,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Profit before tax, % of revenue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2.9%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jobs need just to cover overheads and time not charged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jobs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by type of job, June 2026.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June · All jobs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38.5%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May · All jobs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39.0%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35.6%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(June)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188366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7186082" y="2661025"/>
            <a:ext cx="0" cy="1657625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088802" y="4318650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243436" y="2661025"/>
            <a:ext cx="0" cy="1657625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146156" y="4556394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35.6%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991100"/>
            <a:ext cx="5501487" cy="13639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0459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320284"/>
            <a:ext cx="5227167" cy="998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 June maintenance contracts made a 59.5% job gross margin, installations made a 28.5% job gross margin, call-outs and repairs made a 44.6% job gross margin (technician time at $68 an hour, wages and all on-costs). Jobs need 35.6% just to cover overheads.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4991100"/>
            <a:ext cx="5501487" cy="13639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0459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320284"/>
            <a:ext cx="5227167" cy="998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28.5% gross margin, 6.5 points under the 35.0% target: about $6,712 on $103,200 of revenue in June. It's below the 35.6% needed to cover overheads, too. Maintenance contracts: 59.5% gross margin, 24.5 points over the 35.0% target ($9,941 ahead on $40,500 in June).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Maintenance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June · Maintenance contracts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59.5%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2498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429658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May · Maintenance contracts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59.5%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7796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264956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4956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35.6%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(June)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28600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594360" y="23408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61518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All 14 contracts made more than the 35.0% job gross margin target. The thinnest was Kangaroo Point townhouses at 58.2% job gross margin: 14.0 h of technician time on a $2,400 monthly fee.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3007" y="228600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370167" y="23408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261518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thinnest, Kangaroo Point townhouses: 58.2% gross margin, 23.3 points over the 35.0% target ($558 ahead on $2,400 in June). All maintenance contracts: 59.5% gross margin, 24.5 points over the 35.0% target ($9,941 ahead on $40,500 in June).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Job gross margin on each maintenance contract, June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The month's fee less materials and technician time at $68/hour. Target 35.0% is what to price for; break-even 35.6% only covers overheads and time not charged.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9136"/>
          <a:ext cx="11277295" cy="43373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7040851" y="1599255"/>
            <a:ext cx="0" cy="3816827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571" y="5416082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95716" y="1599255"/>
            <a:ext cx="0" cy="3816827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98436" y="5653826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35.6%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Installations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on each installation invoiced in June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June · Installations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28.5%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May · Installations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28.3%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35.6%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(June)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119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9432207" y="2668112"/>
            <a:ext cx="0" cy="1865498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334927" y="4533610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528067" y="2668112"/>
            <a:ext cx="0" cy="1865498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430787" y="4771354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35.6%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227320"/>
            <a:ext cx="5501487" cy="11277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5 of the 5 installation jobs invoiced in June made less than the 35.0% job gross margin target. The Installation 4, June made a 28.2% job gross margin: 58.0 h of technician time ($3,944) and $1,200 of subcontractors on a $15,100 job. Jobs need 35.6% gross margin just to cover overheads.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227320"/>
            <a:ext cx="5501487" cy="11277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5 installations under the 35.0% target, worth about $6,712 between them on $103,200 of revenue. The biggest gap, Installation 2, June: 28.2% gross margin, 6.8 points under the 35.0% target: about $2,503 on $36,900 of revenue in June. It's below the 35.6% needed to cover overheads, too.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Call-outs and repairs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on call-outs by length, June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June · Call-outs and repairs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44.6%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58379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2895539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May · Call-outs and repairs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5539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44.1%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5539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59558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5196718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6718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35.6%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6718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(June)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737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7497897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Technician time charged, June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7897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$21,104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7897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71.6% of call-out revenue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61916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9799076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Materials charged, June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9076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$8,359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99076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$6,430 at cost, plus 30%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457200" y="2604516"/>
          <a:ext cx="11277295" cy="2119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27" name="Connector 26"/>
          <p:cNvCxnSpPr/>
          <p:nvPr/>
        </p:nvCxnSpPr>
        <p:spPr>
          <a:xfrm>
            <a:off x="8075894" y="2668112"/>
            <a:ext cx="0" cy="1865498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978614" y="4533610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148502" y="2668112"/>
            <a:ext cx="0" cy="1865498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051222" y="4771354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35.6%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227320"/>
            <a:ext cx="5501487" cy="11277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594360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57 call-outs in June billed $21,104 of technician time and $8,359 of materials ($6,430 at cost plus 30%), and made a 44.6% job gross margin between them. Gross margins run from 40.5% to 47.0% by length: the hourly rate covers technician time comfortably, so the gross margin mostly moves with how much material goes on the van.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33007" y="5227320"/>
            <a:ext cx="5501487" cy="11277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6370167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0167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All call-outs: 44.6% gross margin, 9.6 points over the 35.0% target ($2,827 ahead on $29,463 in June).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Job gross margin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