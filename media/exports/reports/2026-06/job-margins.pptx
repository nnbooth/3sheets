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28.5</c:v>
                </c:pt>
                <c:pt idx="1">
                  <c:v>44.6</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29408</c:v>
                </c:pt>
                <c:pt idx="1">
                  <c:v>13139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A7B0B8"/>
              </a:solidFill>
            </c:spPr>
          </c:dPt>
          <c:cat>
            <c:strRef>
              <c:f>Sheet1!$A$2:$A$6</c:f>
              <c:strCache>
                <c:ptCount val="5"/>
                <c:pt idx="0">
                  <c:v>Installation 2, June</c:v>
                </c:pt>
                <c:pt idx="1">
                  <c:v>Installation 4, June</c:v>
                </c:pt>
                <c:pt idx="2">
                  <c:v>Installation 5, June</c:v>
                </c:pt>
                <c:pt idx="3">
                  <c:v>Installation 1, June</c:v>
                </c:pt>
                <c:pt idx="4">
                  <c:v>Installation 3, June</c:v>
                </c:pt>
              </c:strCache>
            </c:strRef>
          </c:cat>
          <c:val>
            <c:numRef>
              <c:f>Sheet1!$B$2:$B$6</c:f>
              <c:numCache>
                <c:formatCode>0.0"%";[Red](0.0"%")</c:formatCode>
                <c:ptCount val="5"/>
                <c:pt idx="0">
                  <c:v>28.2</c:v>
                </c:pt>
                <c:pt idx="1">
                  <c:v>28.2</c:v>
                </c:pt>
                <c:pt idx="2">
                  <c:v>28.3</c:v>
                </c:pt>
                <c:pt idx="3">
                  <c:v>29.0</c:v>
                </c:pt>
                <c:pt idx="4">
                  <c:v>29.4</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A7B0B8"/>
              </a:solidFill>
            </c:spPr>
          </c:dPt>
          <c:cat>
            <c:strRef>
              <c:f>Sheet1!$A$2:$A$6</c:f>
              <c:strCache>
                <c:ptCount val="5"/>
                <c:pt idx="0">
                  <c:v>Installation 2, June</c:v>
                </c:pt>
                <c:pt idx="1">
                  <c:v>Installation 4, June</c:v>
                </c:pt>
                <c:pt idx="2">
                  <c:v>Installation 5, June</c:v>
                </c:pt>
                <c:pt idx="3">
                  <c:v>Installation 1, June</c:v>
                </c:pt>
                <c:pt idx="4">
                  <c:v>Installation 3, June</c:v>
                </c:pt>
              </c:strCache>
            </c:strRef>
          </c:cat>
          <c:val>
            <c:numRef>
              <c:f>Sheet1!$B$2:$B$6</c:f>
              <c:numCache>
                <c:formatCode>$#,##0;[Red]($#,##0);"-"</c:formatCode>
                <c:ptCount val="5"/>
                <c:pt idx="0">
                  <c:v>10412</c:v>
                </c:pt>
                <c:pt idx="1">
                  <c:v>4256</c:v>
                </c:pt>
                <c:pt idx="2">
                  <c:v>6516</c:v>
                </c:pt>
                <c:pt idx="3">
                  <c:v>5340</c:v>
                </c:pt>
                <c:pt idx="4">
                  <c:v>2884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1.5-hour call-outs (8)</c:v>
                </c:pt>
                <c:pt idx="1">
                  <c:v>1-hour call-outs (6)</c:v>
                </c:pt>
                <c:pt idx="2">
                  <c:v>2-hour call-outs (13)</c:v>
                </c:pt>
                <c:pt idx="3">
                  <c:v>2.5-hour call-outs (5)</c:v>
                </c:pt>
                <c:pt idx="4">
                  <c:v>3-hour call-outs (11)</c:v>
                </c:pt>
                <c:pt idx="5">
                  <c:v>4-hour call-outs (14)</c:v>
                </c:pt>
              </c:strCache>
            </c:strRef>
          </c:cat>
          <c:val>
            <c:numRef>
              <c:f>Sheet1!$B$2:$B$7</c:f>
              <c:numCache>
                <c:formatCode>0.0"%";[Red](0.0"%")</c:formatCode>
                <c:ptCount val="6"/>
                <c:pt idx="0">
                  <c:v>40.5</c:v>
                </c:pt>
                <c:pt idx="1">
                  <c:v>40.9</c:v>
                </c:pt>
                <c:pt idx="2">
                  <c:v>41.9</c:v>
                </c:pt>
                <c:pt idx="3">
                  <c:v>44.1</c:v>
                </c:pt>
                <c:pt idx="4">
                  <c:v>46.3</c:v>
                </c:pt>
                <c:pt idx="5">
                  <c:v>47.0</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1.5-hour call-outs (8)</c:v>
                </c:pt>
                <c:pt idx="1">
                  <c:v>1-hour call-outs (6)</c:v>
                </c:pt>
                <c:pt idx="2">
                  <c:v>2-hour call-outs (13)</c:v>
                </c:pt>
                <c:pt idx="3">
                  <c:v>2.5-hour call-outs (5)</c:v>
                </c:pt>
                <c:pt idx="4">
                  <c:v>3-hour call-outs (11)</c:v>
                </c:pt>
                <c:pt idx="5">
                  <c:v>4-hour call-outs (14)</c:v>
                </c:pt>
              </c:strCache>
            </c:strRef>
          </c:cat>
          <c:val>
            <c:numRef>
              <c:f>Sheet1!$B$2:$B$7</c:f>
              <c:numCache>
                <c:formatCode>$#,##0;[Red]($#,##0);"-"</c:formatCode>
                <c:ptCount val="6"/>
                <c:pt idx="0">
                  <c:v>1222</c:v>
                </c:pt>
                <c:pt idx="1">
                  <c:v>600</c:v>
                </c:pt>
                <c:pt idx="2">
                  <c:v>2521</c:v>
                </c:pt>
                <c:pt idx="3">
                  <c:v>1145</c:v>
                </c:pt>
                <c:pt idx="4">
                  <c:v>2862</c:v>
                </c:pt>
                <c:pt idx="5">
                  <c:v>4789</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0.0"%";[Red](0.0"%")</c:formatCode>
                <c:ptCount val="21"/>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$#,##0;[Red]($#,##0);"-"</c:formatCode>
                <c:ptCount val="21"/>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June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May 2026: Locked. May 2026 is locked (closed 2 Jun 2026). These numbers won't change.</a:t>
            </a:r>
          </a:p>
          <a:p>
            <a:r>
              <a:rPr sz="1100" b="0">
                <a:solidFill>
                  <a:srgbClr val="5F6F63"/>
                </a:solidFill>
                <a:latin typeface="Arial"/>
              </a:rPr>
              <a:t>June 2026: Locked. June 2026 is locked (closed 2 Jul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June's jobs made $66,663 gross margin (38.5%). Technician time not charged to jobs took $2,410 and overheads $59,260, leaving $4,993 profit before tax (2.9% of revenue). To cover overheads, jobs need a 35.6%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June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$66,663</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$52,190</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$2,410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$64,253</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$59,260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$4,993</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$173,163</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38.5%</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2.9%</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35.6%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June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38.5%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May 39.0%</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June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June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June maintenance contracts made a 59.5% job gross margin, installations made a 28.5% job gross margin, call-outs and repairs made a 44.6% job gross margin (technician time at $68 an hour, wages and all on-costs). Jobs need 35.6%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28.5% gross margin, below the 35.6%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June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May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June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June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22.6 points clear of the 35.6%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June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28.5%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May 28.3%</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June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June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5 of the 5 installation jobs invoiced in June made less than the 35.0% job gross margin target. The Installation 4, June made a 28.2% job gross margin: 58.0 h of technician time ($3,944) and $1,200 of subcontractors on a $15,100 job. Jobs need 35.6%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35.6% overheads need: Installation 3, June (29.4%), Installation 1, June (29.0%), Installation 5, June (28.3%), Installation 2, June (28.2%), Installation 4, June (28.2%). Most profitable: Installation 3, June (29.4%).</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Job gross margin, June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44.6%</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May 44.1%</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Technician time charged, June</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$21,104</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71.6%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Materials charged, June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$8,359</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$6,430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June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June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57 call-outs in June billed $21,104 of technician time and $8,359 of materials ($6,430 at cost plus 30%), and made a 44.6% job gross margin between them. Gross margins run from 40.5% to 47.0%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44.6% gross margin, 9.0 points clear of the 35.6%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