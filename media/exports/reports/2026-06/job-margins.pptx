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0.0"%";[Red](0.0"%")</c:formatCode>
                <c:ptCount val="3"/>
                <c:pt idx="0">
                  <c:v>28.5</c:v>
                </c:pt>
                <c:pt idx="1">
                  <c:v>44.6</c:v>
                </c:pt>
                <c:pt idx="2">
                  <c:v>59.5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$#,##0;[Red]($#,##0);"-"</c:formatCode>
                <c:ptCount val="3"/>
                <c:pt idx="0">
                  <c:v>29408</c:v>
                </c:pt>
                <c:pt idx="1">
                  <c:v>13139</c:v>
                </c:pt>
                <c:pt idx="2">
                  <c:v>24116</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dPt>
            <c:idx val="13"/>
            <c:spPr>
              <a:solidFill>
                <a:srgbClr val="0E9F6E"/>
              </a:solidFill>
            </c:spPr>
          </c:dPt>
          <c:cat>
            <c:strRef>
              <c:f>Sheet1!$A$2:$A$15</c:f>
              <c:strCache>
                <c:ptCount val="14"/>
                <c:pt idx="0">
                  <c:v>Kangaroo Point townhouses</c:v>
                </c:pt>
                <c:pt idx="1">
                  <c:v>West End brewery</c:v>
                </c:pt>
                <c:pt idx="2">
                  <c:v>Rocklea factory</c:v>
                </c:pt>
                <c:pt idx="3">
                  <c:v>Milton office tower</c:v>
                </c:pt>
                <c:pt idx="4">
                  <c:v>Bulimba school</c:v>
                </c:pt>
                <c:pt idx="5">
                  <c:v>Wacol logistics depot</c:v>
                </c:pt>
                <c:pt idx="6">
                  <c:v>Chermside retail centre</c:v>
                </c:pt>
                <c:pt idx="7">
                  <c:v>Fortitude Valley hotel</c:v>
                </c:pt>
                <c:pt idx="8">
                  <c:v>Riverside Apartments (strata)</c:v>
                </c:pt>
                <c:pt idx="9">
                  <c:v>Newstead gym</c:v>
                </c:pt>
                <c:pt idx="10">
                  <c:v>Southbank cafe group</c:v>
                </c:pt>
                <c:pt idx="11">
                  <c:v>Ashgrove aged care</c:v>
                </c:pt>
                <c:pt idx="12">
                  <c:v>Wynnum medical centre</c:v>
                </c:pt>
                <c:pt idx="13">
                  <c:v>Carindale vet clinic</c:v>
                </c:pt>
              </c:strCache>
            </c:strRef>
          </c:cat>
          <c:val>
            <c:numRef>
              <c:f>Sheet1!$B$2:$B$15</c:f>
              <c:numCache>
                <c:formatCode>0.0"%";[Red](0.0"%")</c:formatCode>
                <c:ptCount val="14"/>
                <c:pt idx="0">
                  <c:v>58.2</c:v>
                </c:pt>
                <c:pt idx="1">
                  <c:v>58.8</c:v>
                </c:pt>
                <c:pt idx="2">
                  <c:v>58.8</c:v>
                </c:pt>
                <c:pt idx="3">
                  <c:v>59.0</c:v>
                </c:pt>
                <c:pt idx="4">
                  <c:v>59.0</c:v>
                </c:pt>
                <c:pt idx="5">
                  <c:v>59.1</c:v>
                </c:pt>
                <c:pt idx="6">
                  <c:v>59.4</c:v>
                </c:pt>
                <c:pt idx="7">
                  <c:v>59.9</c:v>
                </c:pt>
                <c:pt idx="8">
                  <c:v>59.9</c:v>
                </c:pt>
                <c:pt idx="9">
                  <c:v>59.9</c:v>
                </c:pt>
                <c:pt idx="10">
                  <c:v>60.0</c:v>
                </c:pt>
                <c:pt idx="11">
                  <c:v>60.0</c:v>
                </c:pt>
                <c:pt idx="12">
                  <c:v>61.1</c:v>
                </c:pt>
                <c:pt idx="13">
                  <c:v>62.2</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dPt>
            <c:idx val="13"/>
            <c:spPr>
              <a:solidFill>
                <a:srgbClr val="0E9F6E"/>
              </a:solidFill>
            </c:spPr>
          </c:dPt>
          <c:cat>
            <c:strRef>
              <c:f>Sheet1!$A$2:$A$15</c:f>
              <c:strCache>
                <c:ptCount val="14"/>
                <c:pt idx="0">
                  <c:v>Kangaroo Point townhouses</c:v>
                </c:pt>
                <c:pt idx="1">
                  <c:v>West End brewery</c:v>
                </c:pt>
                <c:pt idx="2">
                  <c:v>Rocklea factory</c:v>
                </c:pt>
                <c:pt idx="3">
                  <c:v>Milton office tower</c:v>
                </c:pt>
                <c:pt idx="4">
                  <c:v>Bulimba school</c:v>
                </c:pt>
                <c:pt idx="5">
                  <c:v>Wacol logistics depot</c:v>
                </c:pt>
                <c:pt idx="6">
                  <c:v>Chermside retail centre</c:v>
                </c:pt>
                <c:pt idx="7">
                  <c:v>Fortitude Valley hotel</c:v>
                </c:pt>
                <c:pt idx="8">
                  <c:v>Riverside Apartments (strata)</c:v>
                </c:pt>
                <c:pt idx="9">
                  <c:v>Newstead gym</c:v>
                </c:pt>
                <c:pt idx="10">
                  <c:v>Southbank cafe group</c:v>
                </c:pt>
                <c:pt idx="11">
                  <c:v>Ashgrove aged care</c:v>
                </c:pt>
                <c:pt idx="12">
                  <c:v>Wynnum medical centre</c:v>
                </c:pt>
                <c:pt idx="13">
                  <c:v>Carindale vet clinic</c:v>
                </c:pt>
              </c:strCache>
            </c:strRef>
          </c:cat>
          <c:val>
            <c:numRef>
              <c:f>Sheet1!$B$2:$B$15</c:f>
              <c:numCache>
                <c:formatCode>$#,##0;[Red]($#,##0);"-"</c:formatCode>
                <c:ptCount val="14"/>
                <c:pt idx="0">
                  <c:v>1398</c:v>
                </c:pt>
                <c:pt idx="1">
                  <c:v>1530</c:v>
                </c:pt>
                <c:pt idx="2">
                  <c:v>2294</c:v>
                </c:pt>
                <c:pt idx="3">
                  <c:v>2478</c:v>
                </c:pt>
                <c:pt idx="4">
                  <c:v>1652</c:v>
                </c:pt>
                <c:pt idx="5">
                  <c:v>1774</c:v>
                </c:pt>
                <c:pt idx="6">
                  <c:v>2436</c:v>
                </c:pt>
                <c:pt idx="7">
                  <c:v>2038</c:v>
                </c:pt>
                <c:pt idx="8">
                  <c:v>1916</c:v>
                </c:pt>
                <c:pt idx="9">
                  <c:v>958</c:v>
                </c:pt>
                <c:pt idx="10">
                  <c:v>1080</c:v>
                </c:pt>
                <c:pt idx="11">
                  <c:v>2160</c:v>
                </c:pt>
                <c:pt idx="12">
                  <c:v>1344</c:v>
                </c:pt>
                <c:pt idx="13">
                  <c:v>1058</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7D8790"/>
              </a:solidFill>
            </c:spPr>
          </c:dPt>
          <c:dPt>
            <c:idx val="2"/>
            <c:spPr>
              <a:solidFill>
                <a:srgbClr val="7D8790"/>
              </a:solidFill>
            </c:spPr>
          </c:dPt>
          <c:dPt>
            <c:idx val="3"/>
            <c:spPr>
              <a:solidFill>
                <a:srgbClr val="7D8790"/>
              </a:solidFill>
            </c:spPr>
          </c:dPt>
          <c:dPt>
            <c:idx val="4"/>
            <c:spPr>
              <a:solidFill>
                <a:srgbClr val="7D8790"/>
              </a:solidFill>
            </c:spPr>
          </c:dPt>
          <c:cat>
            <c:strRef>
              <c:f>Sheet1!$A$2:$A$6</c:f>
              <c:strCache>
                <c:ptCount val="5"/>
                <c:pt idx="0">
                  <c:v>Installation 2, June</c:v>
                </c:pt>
                <c:pt idx="1">
                  <c:v>Installation 4, June</c:v>
                </c:pt>
                <c:pt idx="2">
                  <c:v>Installation 5, June</c:v>
                </c:pt>
                <c:pt idx="3">
                  <c:v>Installation 1, June</c:v>
                </c:pt>
                <c:pt idx="4">
                  <c:v>Installation 3, June</c:v>
                </c:pt>
              </c:strCache>
            </c:strRef>
          </c:cat>
          <c:val>
            <c:numRef>
              <c:f>Sheet1!$B$2:$B$6</c:f>
              <c:numCache>
                <c:formatCode>0.0"%";[Red](0.0"%")</c:formatCode>
                <c:ptCount val="5"/>
                <c:pt idx="0">
                  <c:v>28.2</c:v>
                </c:pt>
                <c:pt idx="1">
                  <c:v>28.2</c:v>
                </c:pt>
                <c:pt idx="2">
                  <c:v>28.3</c:v>
                </c:pt>
                <c:pt idx="3">
                  <c:v>29.0</c:v>
                </c:pt>
                <c:pt idx="4">
                  <c:v>29.4</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7D8790"/>
              </a:solidFill>
            </c:spPr>
          </c:dPt>
          <c:dPt>
            <c:idx val="2"/>
            <c:spPr>
              <a:solidFill>
                <a:srgbClr val="7D8790"/>
              </a:solidFill>
            </c:spPr>
          </c:dPt>
          <c:dPt>
            <c:idx val="3"/>
            <c:spPr>
              <a:solidFill>
                <a:srgbClr val="7D8790"/>
              </a:solidFill>
            </c:spPr>
          </c:dPt>
          <c:dPt>
            <c:idx val="4"/>
            <c:spPr>
              <a:solidFill>
                <a:srgbClr val="7D8790"/>
              </a:solidFill>
            </c:spPr>
          </c:dPt>
          <c:cat>
            <c:strRef>
              <c:f>Sheet1!$A$2:$A$6</c:f>
              <c:strCache>
                <c:ptCount val="5"/>
                <c:pt idx="0">
                  <c:v>Installation 2, June</c:v>
                </c:pt>
                <c:pt idx="1">
                  <c:v>Installation 4, June</c:v>
                </c:pt>
                <c:pt idx="2">
                  <c:v>Installation 5, June</c:v>
                </c:pt>
                <c:pt idx="3">
                  <c:v>Installation 1, June</c:v>
                </c:pt>
                <c:pt idx="4">
                  <c:v>Installation 3, June</c:v>
                </c:pt>
              </c:strCache>
            </c:strRef>
          </c:cat>
          <c:val>
            <c:numRef>
              <c:f>Sheet1!$B$2:$B$6</c:f>
              <c:numCache>
                <c:formatCode>$#,##0;[Red]($#,##0);"-"</c:formatCode>
                <c:ptCount val="5"/>
                <c:pt idx="0">
                  <c:v>10412</c:v>
                </c:pt>
                <c:pt idx="1">
                  <c:v>4256</c:v>
                </c:pt>
                <c:pt idx="2">
                  <c:v>6516</c:v>
                </c:pt>
                <c:pt idx="3">
                  <c:v>5340</c:v>
                </c:pt>
                <c:pt idx="4">
                  <c:v>2884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1.5-hour call-outs (8)</c:v>
                </c:pt>
                <c:pt idx="1">
                  <c:v>1-hour call-outs (6)</c:v>
                </c:pt>
                <c:pt idx="2">
                  <c:v>2-hour call-outs (13)</c:v>
                </c:pt>
                <c:pt idx="3">
                  <c:v>2.5-hour call-outs (5)</c:v>
                </c:pt>
                <c:pt idx="4">
                  <c:v>3-hour call-outs (11)</c:v>
                </c:pt>
                <c:pt idx="5">
                  <c:v>4-hour call-outs (14)</c:v>
                </c:pt>
              </c:strCache>
            </c:strRef>
          </c:cat>
          <c:val>
            <c:numRef>
              <c:f>Sheet1!$B$2:$B$7</c:f>
              <c:numCache>
                <c:formatCode>0.0"%";[Red](0.0"%")</c:formatCode>
                <c:ptCount val="6"/>
                <c:pt idx="0">
                  <c:v>40.5</c:v>
                </c:pt>
                <c:pt idx="1">
                  <c:v>40.9</c:v>
                </c:pt>
                <c:pt idx="2">
                  <c:v>41.9</c:v>
                </c:pt>
                <c:pt idx="3">
                  <c:v>44.1</c:v>
                </c:pt>
                <c:pt idx="4">
                  <c:v>46.3</c:v>
                </c:pt>
                <c:pt idx="5">
                  <c:v>47.0</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1.5-hour call-outs (8)</c:v>
                </c:pt>
                <c:pt idx="1">
                  <c:v>1-hour call-outs (6)</c:v>
                </c:pt>
                <c:pt idx="2">
                  <c:v>2-hour call-outs (13)</c:v>
                </c:pt>
                <c:pt idx="3">
                  <c:v>2.5-hour call-outs (5)</c:v>
                </c:pt>
                <c:pt idx="4">
                  <c:v>3-hour call-outs (11)</c:v>
                </c:pt>
                <c:pt idx="5">
                  <c:v>4-hour call-outs (14)</c:v>
                </c:pt>
              </c:strCache>
            </c:strRef>
          </c:cat>
          <c:val>
            <c:numRef>
              <c:f>Sheet1!$B$2:$B$7</c:f>
              <c:numCache>
                <c:formatCode>$#,##0;[Red]($#,##0);"-"</c:formatCode>
                <c:ptCount val="6"/>
                <c:pt idx="0">
                  <c:v>1222</c:v>
                </c:pt>
                <c:pt idx="1">
                  <c:v>600</c:v>
                </c:pt>
                <c:pt idx="2">
                  <c:v>2521</c:v>
                </c:pt>
                <c:pt idx="3">
                  <c:v>1145</c:v>
                </c:pt>
                <c:pt idx="4">
                  <c:v>2862</c:v>
                </c:pt>
                <c:pt idx="5">
                  <c:v>4789</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Sheet1!$A$2:$A$22</c:f>
              <c:strCache>
                <c:ptCount val="21"/>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strCache>
            </c:strRef>
          </c:cat>
          <c:val>
            <c:numRef>
              <c:f>Sheet1!$B$2:$B$22</c:f>
              <c:numCache>
                <c:formatCode>0.0"%";[Red](0.0"%")</c:formatCode>
                <c:ptCount val="21"/>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pt idx="16">
                  <c:v>38.6</c:v>
                </c:pt>
                <c:pt idx="17">
                  <c:v>35.6</c:v>
                </c:pt>
                <c:pt idx="18">
                  <c:v>41.7</c:v>
                </c:pt>
                <c:pt idx="19">
                  <c:v>39.0</c:v>
                </c:pt>
                <c:pt idx="20">
                  <c:v>38.5</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Sheet1!$A$2:$A$22</c:f>
              <c:strCache>
                <c:ptCount val="21"/>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strCache>
            </c:strRef>
          </c:cat>
          <c:val>
            <c:numRef>
              <c:f>Sheet1!$B$2:$B$22</c:f>
              <c:numCache>
                <c:formatCode>$#,##0;[Red]($#,##0);"-"</c:formatCode>
                <c:ptCount val="21"/>
                <c:pt idx="0">
                  <c:v>56675</c:v>
                </c:pt>
                <c:pt idx="1">
                  <c:v>66458</c:v>
                </c:pt>
                <c:pt idx="2">
                  <c:v>57840</c:v>
                </c:pt>
                <c:pt idx="3">
                  <c:v>60167</c:v>
                </c:pt>
                <c:pt idx="4">
                  <c:v>58595</c:v>
                </c:pt>
                <c:pt idx="5">
                  <c:v>49330</c:v>
                </c:pt>
                <c:pt idx="6">
                  <c:v>47897</c:v>
                </c:pt>
                <c:pt idx="7">
                  <c:v>46116</c:v>
                </c:pt>
                <c:pt idx="8">
                  <c:v>66529</c:v>
                </c:pt>
                <c:pt idx="9">
                  <c:v>66434</c:v>
                </c:pt>
                <c:pt idx="10">
                  <c:v>60906</c:v>
                </c:pt>
                <c:pt idx="11">
                  <c:v>48201</c:v>
                </c:pt>
                <c:pt idx="12">
                  <c:v>49446</c:v>
                </c:pt>
                <c:pt idx="13">
                  <c:v>58844</c:v>
                </c:pt>
                <c:pt idx="14">
                  <c:v>50453</c:v>
                </c:pt>
                <c:pt idx="15">
                  <c:v>58190</c:v>
                </c:pt>
                <c:pt idx="16">
                  <c:v>75710</c:v>
                </c:pt>
                <c:pt idx="17">
                  <c:v>68158</c:v>
                </c:pt>
                <c:pt idx="18">
                  <c:v>68843</c:v>
                </c:pt>
                <c:pt idx="19">
                  <c:v>63105</c:v>
                </c:pt>
                <c:pt idx="20">
                  <c:v>66663</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3" name="TextBox 2"/>
          <p:cNvSpPr txBox="1"/>
          <p:nvPr/>
        </p:nvSpPr>
        <p:spPr>
          <a:xfrm>
            <a:off x="1234440" y="658368"/>
            <a:ext cx="5486400" cy="457200"/>
          </a:xfrm>
          <a:prstGeom prst="rect">
            <a:avLst/>
          </a:prstGeom>
          <a:noFill/>
        </p:spPr>
        <p:txBody>
          <a:bodyPr wrap="square">
            <a:spAutoFit/>
          </a:bodyPr>
          <a:lstStyle/>
          <a:p>
            <a:pPr>
              <a:defRPr>
                <a:latin typeface="Roboto"/>
              </a:defRPr>
            </a:pPr>
            <a:r>
              <a:rPr sz="1800" b="1">
                <a:solidFill>
                  <a:srgbClr val="25342A"/>
                </a:solidFill>
                <a:latin typeface="Roboto"/>
              </a:rPr>
              <a:t>The Fourth Sheet</a:t>
            </a:r>
          </a:p>
        </p:txBody>
      </p:sp>
      <p:sp>
        <p:nvSpPr>
          <p:cNvPr id="4" name="TextBox 3"/>
          <p:cNvSpPr txBox="1"/>
          <p:nvPr/>
        </p:nvSpPr>
        <p:spPr>
          <a:xfrm>
            <a:off x="457200" y="1554480"/>
            <a:ext cx="10972800" cy="365760"/>
          </a:xfrm>
          <a:prstGeom prst="rect">
            <a:avLst/>
          </a:prstGeom>
          <a:noFill/>
        </p:spPr>
        <p:txBody>
          <a:bodyPr wrap="square">
            <a:spAutoFit/>
          </a:bodyPr>
          <a:lstStyle/>
          <a:p>
            <a:pPr>
              <a:defRPr>
                <a:latin typeface="Roboto"/>
              </a:defRPr>
            </a:pPr>
            <a:r>
              <a:rPr sz="1100" b="1">
                <a:solidFill>
                  <a:srgbClr val="8A7A52"/>
                </a:solidFill>
                <a:latin typeface="Roboto"/>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pPr>
              <a:defRPr>
                <a:latin typeface="Roboto"/>
              </a:defRPr>
            </a:pPr>
            <a:r>
              <a:rPr sz="3400" b="1">
                <a:solidFill>
                  <a:srgbClr val="25342A"/>
                </a:solidFill>
                <a:latin typeface="Roboto"/>
              </a:rPr>
              <a:t>Which jobs actually make money?</a:t>
            </a:r>
          </a:p>
        </p:txBody>
      </p:sp>
      <p:sp>
        <p:nvSpPr>
          <p:cNvPr id="6" name="TextBox 5"/>
          <p:cNvSpPr txBox="1"/>
          <p:nvPr/>
        </p:nvSpPr>
        <p:spPr>
          <a:xfrm>
            <a:off x="457200" y="3154680"/>
            <a:ext cx="11247120" cy="457200"/>
          </a:xfrm>
          <a:prstGeom prst="rect">
            <a:avLst/>
          </a:prstGeom>
          <a:noFill/>
        </p:spPr>
        <p:txBody>
          <a:bodyPr wrap="square">
            <a:spAutoFit/>
          </a:bodyPr>
          <a:lstStyle/>
          <a:p>
            <a:pPr>
              <a:defRPr>
                <a:latin typeface="Roboto"/>
              </a:defRPr>
            </a:pPr>
            <a:r>
              <a:rPr sz="1600" b="0">
                <a:solidFill>
                  <a:srgbClr val="5F6F63"/>
                </a:solidFill>
                <a:latin typeface="Roboto"/>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pPr>
              <a:defRPr>
                <a:latin typeface="Roboto"/>
              </a:defRPr>
            </a:pPr>
            <a:r>
              <a:rPr sz="1400" b="0">
                <a:solidFill>
                  <a:srgbClr val="25342A"/>
                </a:solidFill>
                <a:latin typeface="Roboto"/>
              </a:rPr>
              <a:t>Period: June 2026. Every job's gross margin: revenue less materials, subcontractors and technician time at $68 an hour (fully loaded: wages and all on-costs). Before overheads, so this is not profit. Pick a type of job and every number, chart and note on the page follows it.</a:t>
            </a:r>
          </a:p>
        </p:txBody>
      </p:sp>
      <p:sp>
        <p:nvSpPr>
          <p:cNvPr id="8" name="TextBox 7"/>
          <p:cNvSpPr txBox="1"/>
          <p:nvPr/>
        </p:nvSpPr>
        <p:spPr>
          <a:xfrm>
            <a:off x="457200" y="4937760"/>
            <a:ext cx="11247120" cy="1097280"/>
          </a:xfrm>
          <a:prstGeom prst="rect">
            <a:avLst/>
          </a:prstGeom>
          <a:noFill/>
        </p:spPr>
        <p:txBody>
          <a:bodyPr wrap="square">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May 2026: Locked. May 2026 is locked (closed 2 Jun 2026). These numbers won't change.</a:t>
            </a:r>
          </a:p>
          <a:p>
            <a:pPr>
              <a:defRPr>
                <a:latin typeface="Roboto"/>
              </a:defRPr>
            </a:pPr>
            <a:r>
              <a:rPr sz="1100" b="0">
                <a:solidFill>
                  <a:srgbClr val="5F6F63"/>
                </a:solidFill>
                <a:latin typeface="Roboto"/>
              </a:rPr>
              <a:t>June 2026: Locked. June 2026 is locked (closed 2 Jul 2026).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 of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 of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June's jobs made $66,663 gross margin (38.5%). Technician time not charged to jobs took $2,410 and overheads $59,260, leaving $4,993 profit before tax (2.9% of revenue). To cover overheads, jobs need a 35.6%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June 2026</a:t>
                      </a:r>
                    </a:p>
                  </a:txBody>
                  <a:tcPr>
                    <a:solidFill>
                      <a:srgbClr val="2F7A5D"/>
                    </a:solidFill>
                  </a:tcPr>
                </a:tc>
              </a:tr>
              <a:tr h="329184">
                <a:tc>
                  <a:txBody>
                    <a:bodyPr/>
                    <a:lstStyle/>
                    <a:p>
                      <a:pPr>
                        <a:defRPr>
                          <a:latin typeface="Roboto"/>
                        </a:defRPr>
                      </a:pPr>
                      <a:r>
                        <a:rPr sz="1050">
                          <a:solidFill>
                            <a:srgbClr val="25342A"/>
                          </a:solidFill>
                          <a:latin typeface="Roboto"/>
                        </a:rPr>
                        <a:t>Gross margin on jobs</a:t>
                      </a:r>
                    </a:p>
                  </a:txBody>
                  <a:tcPr>
                    <a:solidFill>
                      <a:srgbClr val="FFFFFF"/>
                    </a:solidFill>
                  </a:tcPr>
                </a:tc>
                <a:tc>
                  <a:txBody>
                    <a:bodyPr/>
                    <a:lstStyle/>
                    <a:p>
                      <a:pPr algn="r">
                        <a:defRPr>
                          <a:latin typeface="Roboto"/>
                        </a:defRPr>
                      </a:pPr>
                      <a:r>
                        <a:rPr sz="1050">
                          <a:solidFill>
                            <a:srgbClr val="25342A"/>
                          </a:solidFill>
                          <a:latin typeface="Roboto"/>
                        </a:rPr>
                        <a:t>$66,663</a:t>
                      </a:r>
                    </a:p>
                  </a:txBody>
                  <a:tcPr>
                    <a:solidFill>
                      <a:srgbClr val="FFFFFF"/>
                    </a:solidFill>
                  </a:tcPr>
                </a:tc>
              </a:tr>
              <a:tr h="329184">
                <a:tc>
                  <a:txBody>
                    <a:bodyPr/>
                    <a:lstStyle/>
                    <a:p>
                      <a:pPr>
                        <a:defRPr>
                          <a:latin typeface="Roboto"/>
                        </a:defRPr>
                      </a:pPr>
                      <a:r>
                        <a:rPr sz="1050">
                          <a:solidFill>
                            <a:srgbClr val="25342A"/>
                          </a:solidFill>
                          <a:latin typeface="Roboto"/>
                        </a:rPr>
                        <a:t>Technician wages and on-costs</a:t>
                      </a:r>
                    </a:p>
                  </a:txBody>
                  <a:tcPr>
                    <a:solidFill>
                      <a:srgbClr val="F7FAF7"/>
                    </a:solidFill>
                  </a:tcPr>
                </a:tc>
                <a:tc>
                  <a:txBody>
                    <a:bodyPr/>
                    <a:lstStyle/>
                    <a:p>
                      <a:pPr algn="r">
                        <a:defRPr>
                          <a:latin typeface="Roboto"/>
                        </a:defRPr>
                      </a:pPr>
                      <a:r>
                        <a:rPr sz="1050">
                          <a:solidFill>
                            <a:srgbClr val="25342A"/>
                          </a:solidFill>
                          <a:latin typeface="Roboto"/>
                        </a:rPr>
                        <a:t>$54,600</a:t>
                      </a:r>
                    </a:p>
                  </a:txBody>
                  <a:tcPr>
                    <a:solidFill>
                      <a:srgbClr val="F7FAF7"/>
                    </a:solidFill>
                  </a:tcPr>
                </a:tc>
              </a:tr>
              <a:tr h="329184">
                <a:tc>
                  <a:txBody>
                    <a:bodyPr/>
                    <a:lstStyle/>
                    <a:p>
                      <a:pPr>
                        <a:defRPr>
                          <a:latin typeface="Roboto"/>
                        </a:defRPr>
                      </a:pPr>
                      <a:r>
                        <a:rPr sz="1050">
                          <a:solidFill>
                            <a:srgbClr val="25342A"/>
                          </a:solidFill>
                          <a:latin typeface="Roboto"/>
                        </a:rPr>
                        <a:t>Technician time charged to jobs (at cost)</a:t>
                      </a:r>
                    </a:p>
                  </a:txBody>
                  <a:tcPr>
                    <a:solidFill>
                      <a:srgbClr val="FFFFFF"/>
                    </a:solidFill>
                  </a:tcPr>
                </a:tc>
                <a:tc>
                  <a:txBody>
                    <a:bodyPr/>
                    <a:lstStyle/>
                    <a:p>
                      <a:pPr algn="r">
                        <a:defRPr>
                          <a:latin typeface="Roboto"/>
                        </a:defRPr>
                      </a:pPr>
                      <a:r>
                        <a:rPr sz="1050">
                          <a:solidFill>
                            <a:srgbClr val="25342A"/>
                          </a:solidFill>
                          <a:latin typeface="Roboto"/>
                        </a:rPr>
                        <a:t>$52,190</a:t>
                      </a:r>
                    </a:p>
                  </a:txBody>
                  <a:tcPr>
                    <a:solidFill>
                      <a:srgbClr val="FFFFFF"/>
                    </a:solidFill>
                  </a:tcPr>
                </a:tc>
              </a:tr>
              <a:tr h="329184">
                <a:tc>
                  <a:txBody>
                    <a:bodyPr/>
                    <a:lstStyle/>
                    <a:p>
                      <a:pPr>
                        <a:defRPr>
                          <a:latin typeface="Roboto"/>
                        </a:defRPr>
                      </a:pPr>
                      <a:r>
                        <a:rPr sz="1050">
                          <a:solidFill>
                            <a:srgbClr val="25342A"/>
                          </a:solidFill>
                          <a:latin typeface="Roboto"/>
                        </a:rPr>
                        <a:t>Technician time not charged to jobs</a:t>
                      </a:r>
                    </a:p>
                  </a:txBody>
                  <a:tcPr>
                    <a:solidFill>
                      <a:srgbClr val="F7FAF7"/>
                    </a:solidFill>
                  </a:tcPr>
                </a:tc>
                <a:tc>
                  <a:txBody>
                    <a:bodyPr/>
                    <a:lstStyle/>
                    <a:p>
                      <a:pPr algn="r">
                        <a:defRPr>
                          <a:latin typeface="Roboto"/>
                        </a:defRPr>
                      </a:pPr>
                      <a:r>
                        <a:rPr sz="1050">
                          <a:solidFill>
                            <a:srgbClr val="25342A"/>
                          </a:solidFill>
                          <a:latin typeface="Roboto"/>
                        </a:rPr>
                        <a:t>$2,410</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$64,253</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$59,260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25342A"/>
                          </a:solidFill>
                          <a:latin typeface="Roboto"/>
                        </a:rPr>
                        <a:t>$4,993</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$173,163</a:t>
                      </a:r>
                    </a:p>
                  </a:txBody>
                  <a:tcPr>
                    <a:solidFill>
                      <a:srgbClr val="F7FAF7"/>
                    </a:solidFill>
                  </a:tcPr>
                </a:tc>
              </a:tr>
              <a:tr h="329184">
                <a:tc>
                  <a:txBody>
                    <a:bodyPr/>
                    <a:lstStyle/>
                    <a:p>
                      <a:pPr>
                        <a:defRPr>
                          <a:latin typeface="Roboto"/>
                        </a:defRPr>
                      </a:pPr>
                      <a:r>
                        <a:rPr sz="1050">
                          <a:solidFill>
                            <a:srgbClr val="25342A"/>
                          </a:solidFill>
                          <a:latin typeface="Roboto"/>
                        </a:rPr>
                        <a:t>Gross margin on jobs, %</a:t>
                      </a:r>
                    </a:p>
                  </a:txBody>
                  <a:tcPr>
                    <a:solidFill>
                      <a:srgbClr val="FFFFFF"/>
                    </a:solidFill>
                  </a:tcPr>
                </a:tc>
                <a:tc>
                  <a:txBody>
                    <a:bodyPr/>
                    <a:lstStyle/>
                    <a:p>
                      <a:pPr algn="r">
                        <a:defRPr>
                          <a:latin typeface="Roboto"/>
                        </a:defRPr>
                      </a:pPr>
                      <a:r>
                        <a:rPr sz="1050">
                          <a:solidFill>
                            <a:srgbClr val="25342A"/>
                          </a:solidFill>
                          <a:latin typeface="Roboto"/>
                        </a:rPr>
                        <a:t>38.5%</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25342A"/>
                          </a:solidFill>
                          <a:latin typeface="Roboto"/>
                        </a:rPr>
                        <a:t>2.9%</a:t>
                      </a:r>
                    </a:p>
                  </a:txBody>
                  <a:tcPr>
                    <a:solidFill>
                      <a:srgbClr val="F7FAF7"/>
                    </a:solidFill>
                  </a:tcPr>
                </a:tc>
              </a:tr>
              <a:tr h="329184">
                <a:tc>
                  <a:txBody>
                    <a:bodyPr/>
                    <a:lstStyle/>
                    <a:p>
                      <a:pPr>
                        <a:defRPr>
                          <a:latin typeface="Roboto"/>
                        </a:defRPr>
                      </a:pPr>
                      <a:r>
                        <a:rPr sz="1050">
                          <a:solidFill>
                            <a:srgbClr val="25342A"/>
                          </a:solidFill>
                          <a:latin typeface="Roboto"/>
                        </a:rPr>
                        <a:t>Gross margin jobs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35.6%</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3 of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All jobs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June · All jobs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38.5%</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May 39.0%</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4 of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June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5 of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June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6 of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All jobs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 June maintenance contracts made a 59.5% job gross margin, installations made a 28.5% job gross margin, call-outs and repairs made a 44.6% job gross margin (technician time at $68 an hour, wages and all on-costs). Jobs need 35.6%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59.5% gross margin, the most profitable work you do. Installations: 28.5% gross margin, below the 35.6%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7 of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Maintenance contracts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June · Maintenance contracts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59.5%</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May 59.5%</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8 of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June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9 of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June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10 of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All 14 contracts made more than the 35.0% job gross margin target. The thinnest was Kangaroo Point townhouses at 58.2% job gross margin: 14.0 h of technician time on a $2,400 monthly fee.</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The Kangaroo Point townhouses contract: 58.2% gross margin, 22.6 points clear of the 35.6% overheads need. Maintenance contracts overall: 59.5% gross margin.</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11 of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Installations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June · Installations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28.5%</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May 28.3%</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12 of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June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13 of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June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14 of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5 of the 5 installation jobs invoiced in June made less than the 35.0% job gross margin target. The Installation 4, June made a 28.2% job gross margin: 58.0 h of technician time ($3,944) and $1,200 of subcontractors on a $15,100 job. Jobs need 35.6%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Below the 35.6% overheads need: Installation 3, June (29.4%), Installation 1, June (29.0%), Installation 5, June (28.3%), Installation 2, June (28.2%), Installation 4, June (28.2%). Most profitable: Installation 3, June (29.4%).</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15 of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June · Call-outs and repairs</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44.6%</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May 44.1%</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Technician time charged, June</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$21,104</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71.6% of call-out revenue</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Materials charged, June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$8,359</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$6,430 at cost, plus 30%</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16 of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June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17 of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June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18 of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57 call-outs in June billed $21,104 of technician time and $8,359 of materials ($6,430 at cost plus 30%), and made a 44.6% job gross margin between them. Gross margins run from 40.5% to 47.0% by length: the hourly rate covers technician time comfortably, so the gross margin mostly moves with how much material goes on the van.</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44.6% gross margin, 9.0 points clear of the 35.6%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19 of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20 of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21 of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