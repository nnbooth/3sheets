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Installations</c:v>
                </c:pt>
                <c:pt idx="1">
                  <c:v>Call-outs and repairs</c:v>
                </c:pt>
                <c:pt idx="2">
                  <c:v>Maintenance contracts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27.0</c:v>
                </c:pt>
                <c:pt idx="1">
                  <c:v>43.9</c:v>
                </c:pt>
                <c:pt idx="2">
                  <c:v>59.5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8.42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dPt>
            <c:idx val="7"/>
            <c:spPr>
              <a:solidFill>
                <a:srgbClr val="0E9F6E"/>
              </a:solidFill>
            </c:spPr>
          </c:dPt>
          <c:dPt>
            <c:idx val="8"/>
            <c:spPr>
              <a:solidFill>
                <a:srgbClr val="0E9F6E"/>
              </a:solidFill>
            </c:spPr>
          </c:dPt>
          <c:dPt>
            <c:idx val="9"/>
            <c:spPr>
              <a:solidFill>
                <a:srgbClr val="0E9F6E"/>
              </a:solidFill>
            </c:spPr>
          </c:dPt>
          <c:dPt>
            <c:idx val="10"/>
            <c:spPr>
              <a:solidFill>
                <a:srgbClr val="0E9F6E"/>
              </a:solidFill>
            </c:spPr>
          </c:dPt>
          <c:dPt>
            <c:idx val="11"/>
            <c:spPr>
              <a:solidFill>
                <a:srgbClr val="0E9F6E"/>
              </a:solidFill>
            </c:spPr>
          </c:dPt>
          <c:dPt>
            <c:idx val="12"/>
            <c:spPr>
              <a:solidFill>
                <a:srgbClr val="0E9F6E"/>
              </a:solidFill>
            </c:spPr>
          </c:dPt>
          <c:dPt>
            <c:idx val="13"/>
            <c:spPr>
              <a:solidFill>
                <a:srgbClr val="0E9F6E"/>
              </a:solidFill>
            </c:spPr>
          </c:dPt>
          <c:cat>
            <c:strRef>
              <c:f>Sheet1!$A$2:$A$15</c:f>
              <c:strCache>
                <c:ptCount val="14"/>
                <c:pt idx="0">
                  <c:v>Kangaroo Point townhouses</c:v>
                </c:pt>
                <c:pt idx="1">
                  <c:v>West End brewery</c:v>
                </c:pt>
                <c:pt idx="2">
                  <c:v>Rocklea factory</c:v>
                </c:pt>
                <c:pt idx="3">
                  <c:v>Milton office tower</c:v>
                </c:pt>
                <c:pt idx="4">
                  <c:v>Bulimba school</c:v>
                </c:pt>
                <c:pt idx="5">
                  <c:v>Wacol logistics depot</c:v>
                </c:pt>
                <c:pt idx="6">
                  <c:v>Chermside retail centre</c:v>
                </c:pt>
                <c:pt idx="7">
                  <c:v>Fortitude Valley hotel</c:v>
                </c:pt>
                <c:pt idx="8">
                  <c:v>Riverside Apartments (strata)</c:v>
                </c:pt>
                <c:pt idx="9">
                  <c:v>Newstead gym</c:v>
                </c:pt>
                <c:pt idx="10">
                  <c:v>Southbank cafe group</c:v>
                </c:pt>
                <c:pt idx="11">
                  <c:v>Ashgrove aged care</c:v>
                </c:pt>
                <c:pt idx="12">
                  <c:v>Wynnum medical centre</c:v>
                </c:pt>
                <c:pt idx="13">
                  <c:v>Carindale vet clinic</c:v>
                </c:pt>
              </c:strCache>
            </c:strRef>
          </c:cat>
          <c:val>
            <c:numRef>
              <c:f>Sheet1!$B$2:$B$15</c:f>
              <c:numCache>
                <c:formatCode>0.0"%";[Red](0.0"%")</c:formatCode>
                <c:ptCount val="14"/>
                <c:pt idx="0">
                  <c:v>58.2</c:v>
                </c:pt>
                <c:pt idx="1">
                  <c:v>58.8</c:v>
                </c:pt>
                <c:pt idx="2">
                  <c:v>58.8</c:v>
                </c:pt>
                <c:pt idx="3">
                  <c:v>59.0</c:v>
                </c:pt>
                <c:pt idx="4">
                  <c:v>59.0</c:v>
                </c:pt>
                <c:pt idx="5">
                  <c:v>59.1</c:v>
                </c:pt>
                <c:pt idx="6">
                  <c:v>59.4</c:v>
                </c:pt>
                <c:pt idx="7">
                  <c:v>59.9</c:v>
                </c:pt>
                <c:pt idx="8">
                  <c:v>59.9</c:v>
                </c:pt>
                <c:pt idx="9">
                  <c:v>59.9</c:v>
                </c:pt>
                <c:pt idx="10">
                  <c:v>60.0</c:v>
                </c:pt>
                <c:pt idx="11">
                  <c:v>60.0</c:v>
                </c:pt>
                <c:pt idx="12">
                  <c:v>61.1</c:v>
                </c:pt>
                <c:pt idx="13">
                  <c:v>62.2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1.5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Wacol warehouse switchboard</c:v>
                </c:pt>
                <c:pt idx="1">
                  <c:v>Carindale solar and battery</c:v>
                </c:pt>
                <c:pt idx="2">
                  <c:v>West End cafe air-con</c:v>
                </c:pt>
                <c:pt idx="3">
                  <c:v>Chermside clinic cabling</c:v>
                </c:pt>
                <c:pt idx="4">
                  <c:v>Milton office LED lighting</c:v>
                </c:pt>
                <c:pt idx="5">
                  <c:v>Bulimba EV chargers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13.5</c:v>
                </c:pt>
                <c:pt idx="1">
                  <c:v>26.9</c:v>
                </c:pt>
                <c:pt idx="2">
                  <c:v>33.5</c:v>
                </c:pt>
                <c:pt idx="3">
                  <c:v>36.6</c:v>
                </c:pt>
                <c:pt idx="4">
                  <c:v>39.5</c:v>
                </c:pt>
                <c:pt idx="5">
                  <c:v>45.2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1.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1-hour call-outs (6)</c:v>
                </c:pt>
                <c:pt idx="1">
                  <c:v>1.5-hour call-outs (13)</c:v>
                </c:pt>
                <c:pt idx="2">
                  <c:v>2-hour call-outs (17)</c:v>
                </c:pt>
                <c:pt idx="3">
                  <c:v>2.5-hour call-outs (8)</c:v>
                </c:pt>
                <c:pt idx="4">
                  <c:v>3-hour call-outs (11)</c:v>
                </c:pt>
                <c:pt idx="5">
                  <c:v>4-hour call-outs (9)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37.6</c:v>
                </c:pt>
                <c:pt idx="1">
                  <c:v>41.4</c:v>
                </c:pt>
                <c:pt idx="2">
                  <c:v>42.1</c:v>
                </c:pt>
                <c:pt idx="3">
                  <c:v>44.9</c:v>
                </c:pt>
                <c:pt idx="4">
                  <c:v>45.7</c:v>
                </c:pt>
                <c:pt idx="5">
                  <c:v>47.1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4.16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0.0"%";[Red](0.0"%")</c:formatCode>
                <c:ptCount val="24"/>
                <c:pt idx="0">
                  <c:v>33.1</c:v>
                </c:pt>
                <c:pt idx="1">
                  <c:v>37.0</c:v>
                </c:pt>
                <c:pt idx="2">
                  <c:v>40.4</c:v>
                </c:pt>
                <c:pt idx="3">
                  <c:v>42.7</c:v>
                </c:pt>
                <c:pt idx="4">
                  <c:v>36.4</c:v>
                </c:pt>
                <c:pt idx="5">
                  <c:v>36.5</c:v>
                </c:pt>
                <c:pt idx="6">
                  <c:v>38.4</c:v>
                </c:pt>
                <c:pt idx="7">
                  <c:v>35.5</c:v>
                </c:pt>
                <c:pt idx="8">
                  <c:v>40.5</c:v>
                </c:pt>
                <c:pt idx="9">
                  <c:v>35.6</c:v>
                </c:pt>
                <c:pt idx="10">
                  <c:v>43.8</c:v>
                </c:pt>
                <c:pt idx="11">
                  <c:v>37.6</c:v>
                </c:pt>
                <c:pt idx="12">
                  <c:v>38.4</c:v>
                </c:pt>
                <c:pt idx="13">
                  <c:v>33.7</c:v>
                </c:pt>
                <c:pt idx="14">
                  <c:v>37.4</c:v>
                </c:pt>
                <c:pt idx="15">
                  <c:v>35.3</c:v>
                </c:pt>
                <c:pt idx="16">
                  <c:v>38.6</c:v>
                </c:pt>
                <c:pt idx="17">
                  <c:v>35.6</c:v>
                </c:pt>
                <c:pt idx="18">
                  <c:v>41.7</c:v>
                </c:pt>
                <c:pt idx="19">
                  <c:v>39.0</c:v>
                </c:pt>
                <c:pt idx="20">
                  <c:v>38.5</c:v>
                </c:pt>
                <c:pt idx="21">
                  <c:v>36.8</c:v>
                </c:pt>
                <c:pt idx="22">
                  <c:v>41.1</c:v>
                </c:pt>
                <c:pt idx="23">
                  <c:v>36.1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jobs actually make money?. Sample Electrical &amp; Air Pty Ltd. Period: September 2026.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gross margin to profit. September's jobs made $73,107 gross margin (36.1%). Technician time not charged to jobs took $3,430 and overheads $59,580, leaving $10,097 profit before tax (5.0% of revenue). To cover overheads, jobs need a 31.1%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jobs. Job gross margin, September · All jobs: 36.1%; Job gross margin, August · All jobs: 41.1%; Gross margin jobs need to break even: 31.1%. In September maintenance contracts made a 59.5% job gross margin, installations made a 27.0% job gross margin, call-outs and repairs made a 43.9% job gross margin (technician time at $68 an hour, wages and all on-costs). Jobs need 31.1% just to cover overheads. Installations: 27.0% gross margin, 8.0 points under the 35.0% target: about $10,413 on $130,700 of revenue in September. It's below the 31.1% needed to cover overheads, too. Maintenance contracts: 59.5% gross margin, 24.5 points over the 35.0% target ($9,941 ahead on $40,500 in September).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Maintenance contracts. Job gross margin, September · Maintenance contracts: 59.5%; Job gross margin, August · Maintenance contracts: 59.5%; Gross margin jobs need to break even: 31.1%. All 14 contracts made more than the 35.0% job gross margin target. The thinnest was Kangaroo Point townhouses at 58.2% job gross margin: 14.0 h of technician time on a $2,400 monthly fee. The thinnest, Kangaroo Point townhouses: 58.2% gross margin, 23.3 points over the 35.0% target ($558 ahead on $2,400 in September). All maintenance contracts: 59.5% gross margin, 24.5 points over the 35.0% target ($9,941 ahead on $40,500 in September).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on each maintenance contract, September 2026. The month's fee less materials and technician time at $68/hour. Target 35.0% is what to price for; break-even 31.1% only covers overheads and time not charged.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Installations. Job gross margin, September · Installations: 27.0%; Job gross margin, August · Installations: 33.6%; Gross margin jobs need to break even: 31.1%. 3 of the 6 installation jobs invoiced in September made less than the 35.0% job gross margin target. The Wacol warehouse switchboard made a 13.5% job gross margin: 150.0 h of technician time ($10,200) and $7,400 of subcontractors on a $46,800 job. Jobs need 31.1% gross margin just to cover overheads. 3 installations under the 35.0% target, worth about $12,497 between them on $87,100 of revenue. The biggest gap, Wacol warehouse switchboard: 13.5% gross margin, 21.5 points under the 35.0% target: about $10,080 on $46,800 of revenue in September. It's below the 31.1%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Call-outs and repairs. Job gross margin, September · Call-outs and repairs: 43.9%; Job gross margin, August · Call-outs and repairs: 43.7%; Gross margin jobs need to break even: 31.1%; Technician time charged, September: $21,543; Materials charged, September: $9,594. 64 call-outs in September billed $21,543 of technician time and $9,594 of materials ($7,380 at cost plus 30%), and made a 43.9% job gross margin between them. Gross margins run from 37.6% to 47.1% by length: the hourly rate covers technician time comfortably, so the gross margin mostly moves with how much material goes on the van. All call-outs: 43.9% gross margin, 8.9 points over the 35.0% target ($2,761 ahead on $31,137 in September).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jobs actually make money?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From gross margin to profit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September's jobs made $73,107 gross margin (36.1%). Technician time not charged to jobs took $3,430 and overheads $59,580, leaving $10,097 profit before tax (5.0% of revenue). To cover overheads, jobs need a 31.1%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9136"/>
          <a:ext cx="11277294" cy="3419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$73,107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wages and on-costs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$54,600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charged to jobs (at 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$51,170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not charged to jobs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$3,430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$69,677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Overheads (operating expenses, depreciation, interest)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$59,580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$10,097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$202,337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jobs,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tax, % of 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jobs need just to cover overheads and time not charged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by type of job, September 2026.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September · All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36.1%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August · All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31.1%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(September)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7186082" y="2661025"/>
            <a:ext cx="0" cy="1657625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88802" y="431865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13276" y="2661025"/>
            <a:ext cx="0" cy="1657625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15996" y="455639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31.1%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91100"/>
            <a:ext cx="5501487" cy="13639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September maintenance contracts made a 59.5% job gross margin, installations made a 27.0% job gross margin, call-outs and repairs made a 43.9% job gross margin (technician time at $68 an hour, wages and all on-costs). Jobs need 31.1%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991100"/>
            <a:ext cx="5501487" cy="13639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27.0% gross margin, 8.0 points under the 35.0% target: about $10,413 on $130,700 of revenue in September. It's below the 31.1% needed to cover overheads, too. Maintenance contracts: 59.5% gross margin, 24.5 points over the 35.0% target ($9,941 ahead on $40,500 in September).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September · Maintenance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August · Maintenance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31.1%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(September)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14 contracts made more than the 35.0% job gross margin target. The thinnest was Kangaroo Point townhouses at 58.2% job gross margin: 14.0 h of technician time on a $2,400 monthly fee.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22860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thinnest, Kangaroo Point townhouses: 58.2% gross margin, 23.3 points over the 35.0% target ($558 ahead on $2,400 in September). All maintenance contracts: 59.5% gross margin, 24.5 points over the 35.0% target ($9,941 ahead on $40,500 in September).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on each maintenance contract,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The month's fee less materials and technician time at $68/hour. Target 35.0% is what to price for; break-even 31.1% only covers overheads and time not charged.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7040851" y="1599255"/>
            <a:ext cx="0" cy="381682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571" y="541608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684228" y="1599255"/>
            <a:ext cx="0" cy="3816827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86948" y="5653826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31.1%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each installation invoiced in September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September · Installations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27.0%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August · Installations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33.6%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31.1%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(September)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8244564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47284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53813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656533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31.1%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 of the 6 installation jobs invoiced in September made less than the 35.0% job gross margin target. The Wacol warehouse switchboard made a 13.5% job gross margin: 150.0 h of technician time ($10,200) and $7,400 of subcontractors on a $46,800 job. Jobs need 31.1% gross margin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 installations under the 35.0% target, worth about $12,497 between them on $87,100 of revenue. The biggest gap, Wacol warehouse switchboard: 13.5% gross margin, 21.5 points under the 35.0% target: about $10,080 on $46,800 of revenue in September. It's below the 31.1% needed to cover overheads, too.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call-outs by length, September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September · Call-outs and repairs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8379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895539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August · Call-outs and repairs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9558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196718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6718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31.1%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6718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(September)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737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497897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Technician time charged, September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7897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$21,543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7897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69.2% of call-out revenue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61916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799076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Materials charged, September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076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$9,594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076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$7,380 at cost, plus 30%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7" name="Connector 26"/>
          <p:cNvCxnSpPr/>
          <p:nvPr/>
        </p:nvCxnSpPr>
        <p:spPr>
          <a:xfrm>
            <a:off x="8066901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969621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95947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98667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31.1%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64 call-outs in September billed $21,543 of technician time and $9,594 of materials ($7,380 at cost plus 30%), and made a 43.9% job gross margin between them. Gross margins run from 37.6% to 47.1% by length: the hourly rate covers technician time comfortably, so the gross margin mostly moves with how much material goes on the van.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call-outs: 43.9% gross margin, 8.9 points over the 35.0% target ($2,761 ahead on $31,137 in September).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