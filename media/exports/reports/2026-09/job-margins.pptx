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27.0</c:v>
                </c:pt>
                <c:pt idx="1">
                  <c:v>43.9</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35332</c:v>
                </c:pt>
                <c:pt idx="1">
                  <c:v>13659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0.0"%";[Red](0.0"%")</c:formatCode>
                <c:ptCount val="6"/>
                <c:pt idx="0">
                  <c:v>13.5</c:v>
                </c:pt>
                <c:pt idx="1">
                  <c:v>26.9</c:v>
                </c:pt>
                <c:pt idx="2">
                  <c:v>33.5</c:v>
                </c:pt>
                <c:pt idx="3">
                  <c:v>36.6</c:v>
                </c:pt>
                <c:pt idx="4">
                  <c:v>39.5</c:v>
                </c:pt>
                <c:pt idx="5">
                  <c:v>45.2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$#,##0;[Red]($#,##0);"-"</c:formatCode>
                <c:ptCount val="6"/>
                <c:pt idx="0">
                  <c:v>6300</c:v>
                </c:pt>
                <c:pt idx="1">
                  <c:v>7372</c:v>
                </c:pt>
                <c:pt idx="2">
                  <c:v>4316</c:v>
                </c:pt>
                <c:pt idx="3">
                  <c:v>5564</c:v>
                </c:pt>
                <c:pt idx="4">
                  <c:v>7348</c:v>
                </c:pt>
                <c:pt idx="5">
                  <c:v>4432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0.0"%";[Red](0.0"%")</c:formatCode>
                <c:ptCount val="6"/>
                <c:pt idx="0">
                  <c:v>37.6</c:v>
                </c:pt>
                <c:pt idx="1">
                  <c:v>41.4</c:v>
                </c:pt>
                <c:pt idx="2">
                  <c:v>42.1</c:v>
                </c:pt>
                <c:pt idx="3">
                  <c:v>44.9</c:v>
                </c:pt>
                <c:pt idx="4">
                  <c:v>45.7</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$#,##0;[Red]($#,##0);"-"</c:formatCode>
                <c:ptCount val="6"/>
                <c:pt idx="0">
                  <c:v>675</c:v>
                </c:pt>
                <c:pt idx="1">
                  <c:v>1931</c:v>
                </c:pt>
                <c:pt idx="2">
                  <c:v>3278</c:v>
                </c:pt>
                <c:pt idx="3">
                  <c:v>1796</c:v>
                </c:pt>
                <c:pt idx="4">
                  <c:v>2904</c:v>
                </c:pt>
                <c:pt idx="5">
                  <c:v>3075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pt idx="23">
                  <c:v>73107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September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August 2026: Locked. August 2026 is locked (closed 2 Sep 2026). These numbers won't change.</a:t>
            </a:r>
          </a:p>
          <a:p>
            <a:r>
              <a:rPr sz="1100" b="0">
                <a:solidFill>
                  <a:srgbClr val="5F6F63"/>
                </a:solidFill>
                <a:latin typeface="Arial"/>
              </a:rPr>
              <a:t>September 2026: Locked. September 2026 is locked (closed 2 Oct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$73,107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$51,170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$3,430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$69,677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$202,337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36.1%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41.1%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September maintenance contracts made a 59.5% job gross margin, installations made a 27.0% job gross margin, call-outs and repairs made a 43.9%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27.0%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27.0%</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33.6%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6 installation jobs invoiced in September made less than the 35.0% job gross margin target. The Wacol warehouse switchboard made a 13.5% job gross margin: 150.0 h of technician time ($10,200) and $7,400 of subcontractors on a $46,800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31.1% overheads need: Carindale solar and battery (26.9%), Wacol warehouse switchboard (13.5%). Most profitable: Bulimba EV chargers (45.2%).</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September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43.9%</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August 43.7%</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September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$21,543</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69.2%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September</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$9,594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$7,380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64 call-outs in September billed $21,543 of technician time and $9,594 of materials ($7,380 at cost plus 30%), and made a 43.9% job gross margin between them. Gross margins run from 37.6%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43.9% gross margin, 12.7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