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lsx" ContentType="application/vnd.openxmlformats-officedocument.spreadsheetml.sheet"/>
  <Default Extension="xml" ContentType="application/xml"/>
  <Override PartName="/docProps/app.xml" ContentType="application/vnd.openxmlformats-officedocument.extended-properties+xml"/>
  <Override PartName="/docProps/core.xml" ContentType="application/vnd.openxmlformats-package.core-properties+xml"/>
  <Override PartName="/ppt/charts/chart1.xml" ContentType="application/vnd.openxmlformats-officedocument.drawingml.chart+xml"/>
  <Override PartName="/ppt/charts/chart10.xml" ContentType="application/vnd.openxmlformats-officedocument.drawingml.chart+xml"/>
  <Override PartName="/ppt/charts/chart2.xml" ContentType="application/vnd.openxmlformats-officedocument.drawingml.chart+xml"/>
  <Override PartName="/ppt/charts/chart3.xml" ContentType="application/vnd.openxmlformats-officedocument.drawingml.chart+xml"/>
  <Override PartName="/ppt/charts/chart4.xml" ContentType="application/vnd.openxmlformats-officedocument.drawingml.chart+xml"/>
  <Override PartName="/ppt/charts/chart5.xml" ContentType="application/vnd.openxmlformats-officedocument.drawingml.chart+xml"/>
  <Override PartName="/ppt/charts/chart6.xml" ContentType="application/vnd.openxmlformats-officedocument.drawingml.chart+xml"/>
  <Override PartName="/ppt/charts/chart7.xml" ContentType="application/vnd.openxmlformats-officedocument.drawingml.chart+xml"/>
  <Override PartName="/ppt/charts/chart8.xml" ContentType="application/vnd.openxmlformats-officedocument.drawingml.chart+xml"/>
  <Override PartName="/ppt/charts/chart9.xml" ContentType="application/vnd.openxmlformats-officedocument.drawingml.chart+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Sheet1.xlsx"/></Relationships>
</file>

<file path=ppt/charts/_rels/chart2.xml.rels><?xml version='1.0' encoding='UTF-8' standalone='yes'?>
<Relationships xmlns="http://schemas.openxmlformats.org/package/2006/relationships"><Relationship Id="rId1" Type="http://schemas.openxmlformats.org/officeDocument/2006/relationships/package" Target="../embeddings/Microsoft_Excel_Sheet2.xlsx"/></Relationships>
</file>

<file path=ppt/charts/_rels/chart3.xml.rels><?xml version='1.0' encoding='UTF-8' standalone='yes'?>
<Relationships xmlns="http://schemas.openxmlformats.org/package/2006/relationships"><Relationship Id="rId1" Type="http://schemas.openxmlformats.org/officeDocument/2006/relationships/package" Target="../embeddings/Microsoft_Excel_Sheet3.xlsx"/></Relationships>
</file>

<file path=ppt/charts/_rels/chart4.xml.rels><?xml version='1.0' encoding='UTF-8' standalone='yes'?>
<Relationships xmlns="http://schemas.openxmlformats.org/package/2006/relationships"><Relationship Id="rId1" Type="http://schemas.openxmlformats.org/officeDocument/2006/relationships/package" Target="../embeddings/Microsoft_Excel_Sheet4.xlsx"/></Relationships>
</file>

<file path=ppt/charts/_rels/chart5.xml.rels><?xml version='1.0' encoding='UTF-8' standalone='yes'?>
<Relationships xmlns="http://schemas.openxmlformats.org/package/2006/relationships"><Relationship Id="rId1" Type="http://schemas.openxmlformats.org/officeDocument/2006/relationships/package" Target="../embeddings/Microsoft_Excel_Sheet5.xlsx"/></Relationships>
</file>

<file path=ppt/charts/_rels/chart6.xml.rels><?xml version='1.0' encoding='UTF-8' standalone='yes'?>
<Relationships xmlns="http://schemas.openxmlformats.org/package/2006/relationships"><Relationship Id="rId1" Type="http://schemas.openxmlformats.org/officeDocument/2006/relationships/package" Target="../embeddings/Microsoft_Excel_Sheet6.xlsx"/></Relationships>
</file>

<file path=ppt/charts/_rels/chart7.xml.rels><?xml version='1.0' encoding='UTF-8' standalone='yes'?>
<Relationships xmlns="http://schemas.openxmlformats.org/package/2006/relationships"><Relationship Id="rId1" Type="http://schemas.openxmlformats.org/officeDocument/2006/relationships/package" Target="../embeddings/Microsoft_Excel_Sheet7.xlsx"/></Relationships>
</file>

<file path=ppt/charts/_rels/chart8.xml.rels><?xml version='1.0' encoding='UTF-8' standalone='yes'?>
<Relationships xmlns="http://schemas.openxmlformats.org/package/2006/relationships"><Relationship Id="rId1" Type="http://schemas.openxmlformats.org/officeDocument/2006/relationships/package" Target="../embeddings/Microsoft_Excel_Sheet8.xlsx"/></Relationships>
</file>

<file path=ppt/charts/_rels/chart9.xml.rels><?xml version='1.0' encoding='UTF-8' standalone='yes'?>
<Relationships xmlns="http://schemas.openxmlformats.org/package/2006/relationships"><Relationship Id="rId1" Type="http://schemas.openxmlformats.org/officeDocument/2006/relationships/package" Target="../embeddings/Microsoft_Excel_Sheet9.xlsx"/></Relationships>
</file>

<file path=ppt/charts/_rels/chart10.xml.rels><?xml version='1.0' encoding='UTF-8' standalone='yes'?>
<Relationships xmlns="http://schemas.openxmlformats.org/package/2006/relationships"><Relationship Id="rId1" Type="http://schemas.openxmlformats.org/officeDocument/2006/relationships/package" Target="../embeddings/Microsoft_Excel_Sheet10.xlsx"/></Relationships>
</file>

<file path=ppt/charts/chart1.xml><?xml version="1.0" encoding="utf-8"?>
<c:chartSpace xmlns:c="http://schemas.openxmlformats.org/drawingml/2006/chart" xmlns:a="http://schemas.openxmlformats.org/drawingml/2006/main" xmlns:r="http://schemas.openxmlformats.org/officeDocument/2006/relationships">
  <c:date1904 val="0"/>
  <c:chart>
    <c:autoTitleDeleted val="0"/>
    <c:plotArea>
      <c:barChart>
        <c:barDir val="bar"/>
        <c:grouping val="clustered"/>
        <c:ser>
          <c:idx val="0"/>
          <c:order val="0"/>
          <c:tx>
            <c:strRef>
              <c:f>Sheet1!$B$1</c:f>
              <c:strCache>
                <c:ptCount val="1"/>
                <c:pt idx="0">
                  <c:v>Value</c:v>
                </c:pt>
              </c:strCache>
            </c:strRef>
          </c:tx>
          <c:dPt>
            <c:idx val="0"/>
            <c:spPr>
              <a:solidFill>
                <a:srgbClr val="A7B0B8"/>
              </a:solidFill>
            </c:spPr>
          </c:dPt>
          <c:dPt>
            <c:idx val="1"/>
            <c:spPr>
              <a:solidFill>
                <a:srgbClr val="0E9F6E"/>
              </a:solidFill>
            </c:spPr>
          </c:dPt>
          <c:dPt>
            <c:idx val="2"/>
            <c:spPr>
              <a:solidFill>
                <a:srgbClr val="0E9F6E"/>
              </a:solidFill>
            </c:spPr>
          </c:dPt>
          <c:cat>
            <c:strRef>
              <c:f>Sheet1!$A$2:$A$4</c:f>
              <c:strCache>
                <c:ptCount val="3"/>
                <c:pt idx="0">
                  <c:v>Installations</c:v>
                </c:pt>
                <c:pt idx="1">
                  <c:v>Call-outs and repairs</c:v>
                </c:pt>
                <c:pt idx="2">
                  <c:v>Maintenance contracts</c:v>
                </c:pt>
              </c:strCache>
            </c:strRef>
          </c:cat>
          <c:val>
            <c:numRef>
              <c:f>Sheet1!$B$2:$B$4</c:f>
              <c:numCache>
                <c:formatCode>0.0"%";[Red](0.0"%")</c:formatCode>
                <c:ptCount val="3"/>
                <c:pt idx="0">
                  <c:v>27.0</c:v>
                </c:pt>
                <c:pt idx="1">
                  <c:v>43.9</c:v>
                </c:pt>
                <c:pt idx="2">
                  <c:v>59.5</c:v>
                </c:pt>
              </c:numCache>
            </c:numRef>
          </c:val>
        </c:ser>
        <c:dLbls>
          <c:numFmt formatCode="0.0&quot;%&quot;;[Red](0.0&quot;%&quot;)" sourceLinked="0"/>
          <c:txPr>
            <a:bodyPr/>
            <a:lstStyle/>
            <a:p>
              <a:pPr>
                <a:defRPr sz="1100"/>
              </a:pPr>
            </a:p>
          </c:txPr>
          <c:dLblPos val="outEnd"/>
          <c:showLegendKey val="0"/>
          <c:showVal val="1"/>
          <c:showCatName val="0"/>
          <c:showSerName val="0"/>
          <c:showPercent val="0"/>
          <c:showBubbleSize val="0"/>
          <c:showLeaderLines val="1"/>
        </c:dLbls>
        <c:gapWidth val="60"/>
        <c:axId val="-2068027336"/>
        <c:axId val="-2113994440"/>
      </c:barChart>
      <c:catAx>
        <c:axId val="-2068027336"/>
        <c:scaling>
          <c:orientation val="minMax"/>
        </c:scaling>
        <c:delete val="0"/>
        <c:axPos val="l"/>
        <c:majorTickMark val="out"/>
        <c:minorTickMark val="none"/>
        <c:tickLblPos val="nextTo"/>
        <c:spPr>
          <a:ln>
            <a:noFill/>
          </a:ln>
        </c:spPr>
        <c:txPr>
          <a:bodyPr/>
          <a:lstStyle/>
          <a:p>
            <a:pPr>
              <a:defRPr sz="1200"/>
            </a:pPr>
          </a:p>
        </c:txPr>
        <c:crossAx val="-2113994440"/>
        <c:crosses val="autoZero"/>
        <c:auto val="1"/>
        <c:lblAlgn val="ctr"/>
        <c:lblOffset val="100"/>
        <c:noMultiLvlLbl val="0"/>
      </c:catAx>
      <c:valAx>
        <c:axId val="-2113994440"/>
        <c:scaling/>
        <c:delete/>
        <c:axPos val="b"/>
        <c:majorTickMark val="out"/>
        <c:minorTickMark val="none"/>
        <c:tickLblPos val="nextTo"/>
        <c:crossAx val="-2068027336"/>
        <c:crosses val="autoZero"/>
      </c:valAx>
    </c:plotArea>
    <c:dispBlanksAs val="gap"/>
  </c:chart>
  <c:txPr>
    <a:bodyPr/>
    <a:lstStyle/>
    <a:p>
      <a:pPr>
        <a:defRPr sz="1800">
          <a:latin typeface="Roboto"/>
        </a:defRPr>
      </a:pPr>
      <a:endParaRPr lang="en-US"/>
    </a:p>
  </c:tx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chart>
    <c:autoTitleDeleted val="0"/>
    <c:plotArea>
      <c:barChart>
        <c:barDir val="bar"/>
        <c:grouping val="clustered"/>
        <c:ser>
          <c:idx val="0"/>
          <c:order val="0"/>
          <c:tx>
            <c:strRef>
              <c:f>Sheet1!$B$1</c:f>
              <c:strCache>
                <c:ptCount val="1"/>
                <c:pt idx="0">
                  <c:v>Value</c:v>
                </c:pt>
              </c:strCache>
            </c:strRef>
          </c:tx>
          <c:dPt>
            <c:idx val="0"/>
            <c:spPr>
              <a:solidFill>
                <a:srgbClr val="A7B0B8"/>
              </a:solidFill>
            </c:spPr>
          </c:dPt>
          <c:dPt>
            <c:idx val="1"/>
            <c:spPr>
              <a:solidFill>
                <a:srgbClr val="0E9F6E"/>
              </a:solidFill>
            </c:spPr>
          </c:dPt>
          <c:dPt>
            <c:idx val="2"/>
            <c:spPr>
              <a:solidFill>
                <a:srgbClr val="0E9F6E"/>
              </a:solidFill>
            </c:spPr>
          </c:dPt>
          <c:cat>
            <c:strRef>
              <c:f>Sheet1!$A$2:$A$4</c:f>
              <c:strCache>
                <c:ptCount val="3"/>
                <c:pt idx="0">
                  <c:v>Installations</c:v>
                </c:pt>
                <c:pt idx="1">
                  <c:v>Call-outs and repairs</c:v>
                </c:pt>
                <c:pt idx="2">
                  <c:v>Maintenance contracts</c:v>
                </c:pt>
              </c:strCache>
            </c:strRef>
          </c:cat>
          <c:val>
            <c:numRef>
              <c:f>Sheet1!$B$2:$B$4</c:f>
              <c:numCache>
                <c:formatCode>$#,##0;[Red]($#,##0);"-"</c:formatCode>
                <c:ptCount val="3"/>
                <c:pt idx="0">
                  <c:v>35332</c:v>
                </c:pt>
                <c:pt idx="1">
                  <c:v>13659</c:v>
                </c:pt>
                <c:pt idx="2">
                  <c:v>24116</c:v>
                </c:pt>
              </c:numCache>
            </c:numRef>
          </c:val>
        </c:ser>
        <c:dLbls>
          <c:numFmt formatCode="$#,##0;[Red]($#,##0);&quot;-&quot;" sourceLinked="0"/>
          <c:txPr>
            <a:bodyPr/>
            <a:lstStyle/>
            <a:p>
              <a:pPr>
                <a:defRPr sz="1100"/>
              </a:pPr>
            </a:p>
          </c:txPr>
          <c:dLblPos val="outEnd"/>
          <c:showLegendKey val="0"/>
          <c:showVal val="1"/>
          <c:showCatName val="0"/>
          <c:showSerName val="0"/>
          <c:showPercent val="0"/>
          <c:showBubbleSize val="0"/>
          <c:showLeaderLines val="1"/>
        </c:dLbls>
        <c:gapWidth val="60"/>
        <c:axId val="-2068027336"/>
        <c:axId val="-2113994440"/>
      </c:barChart>
      <c:catAx>
        <c:axId val="-2068027336"/>
        <c:scaling>
          <c:orientation val="minMax"/>
        </c:scaling>
        <c:delete val="0"/>
        <c:axPos val="l"/>
        <c:majorTickMark val="out"/>
        <c:minorTickMark val="none"/>
        <c:tickLblPos val="nextTo"/>
        <c:spPr>
          <a:ln>
            <a:noFill/>
          </a:ln>
        </c:spPr>
        <c:txPr>
          <a:bodyPr/>
          <a:lstStyle/>
          <a:p>
            <a:pPr>
              <a:defRPr sz="1200"/>
            </a:pPr>
          </a:p>
        </c:txPr>
        <c:crossAx val="-2113994440"/>
        <c:crosses val="autoZero"/>
        <c:auto val="1"/>
        <c:lblAlgn val="ctr"/>
        <c:lblOffset val="100"/>
        <c:noMultiLvlLbl val="0"/>
      </c:catAx>
      <c:valAx>
        <c:axId val="-2113994440"/>
        <c:scaling/>
        <c:delete/>
        <c:axPos val="b"/>
        <c:majorTickMark val="out"/>
        <c:minorTickMark val="none"/>
        <c:tickLblPos val="nextTo"/>
        <c:crossAx val="-2068027336"/>
        <c:crosses val="autoZero"/>
      </c:valAx>
    </c:plotArea>
    <c:dispBlanksAs val="gap"/>
  </c:chart>
  <c:txPr>
    <a:bodyPr/>
    <a:lstStyle/>
    <a:p>
      <a:pPr>
        <a:defRPr sz="1800">
          <a:latin typeface="Roboto"/>
        </a:defRPr>
      </a:pPr>
      <a:endParaRPr lang="en-US"/>
    </a:p>
  </c:tx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chart>
    <c:autoTitleDeleted val="0"/>
    <c:plotArea>
      <c:barChart>
        <c:barDir val="bar"/>
        <c:grouping val="clustered"/>
        <c:ser>
          <c:idx val="0"/>
          <c:order val="0"/>
          <c:tx>
            <c:strRef>
              <c:f>Sheet1!$B$1</c:f>
              <c:strCache>
                <c:ptCount val="1"/>
                <c:pt idx="0">
                  <c:v>Value</c:v>
                </c:pt>
              </c:strCache>
            </c:strRef>
          </c:tx>
          <c:dPt>
            <c:idx val="0"/>
            <c:spPr>
              <a:solidFill>
                <a:srgbClr val="0E9F6E"/>
              </a:solidFill>
            </c:spPr>
          </c:dPt>
          <c:dPt>
            <c:idx val="1"/>
            <c:spPr>
              <a:solidFill>
                <a:srgbClr val="0E9F6E"/>
              </a:solidFill>
            </c:spPr>
          </c:dPt>
          <c:dPt>
            <c:idx val="2"/>
            <c:spPr>
              <a:solidFill>
                <a:srgbClr val="0E9F6E"/>
              </a:solidFill>
            </c:spPr>
          </c:dPt>
          <c:dPt>
            <c:idx val="3"/>
            <c:spPr>
              <a:solidFill>
                <a:srgbClr val="0E9F6E"/>
              </a:solidFill>
            </c:spPr>
          </c:dPt>
          <c:dPt>
            <c:idx val="4"/>
            <c:spPr>
              <a:solidFill>
                <a:srgbClr val="0E9F6E"/>
              </a:solidFill>
            </c:spPr>
          </c:dPt>
          <c:dPt>
            <c:idx val="5"/>
            <c:spPr>
              <a:solidFill>
                <a:srgbClr val="0E9F6E"/>
              </a:solidFill>
            </c:spPr>
          </c:dPt>
          <c:dPt>
            <c:idx val="6"/>
            <c:spPr>
              <a:solidFill>
                <a:srgbClr val="0E9F6E"/>
              </a:solidFill>
            </c:spPr>
          </c:dPt>
          <c:dPt>
            <c:idx val="7"/>
            <c:spPr>
              <a:solidFill>
                <a:srgbClr val="0E9F6E"/>
              </a:solidFill>
            </c:spPr>
          </c:dPt>
          <c:dPt>
            <c:idx val="8"/>
            <c:spPr>
              <a:solidFill>
                <a:srgbClr val="0E9F6E"/>
              </a:solidFill>
            </c:spPr>
          </c:dPt>
          <c:dPt>
            <c:idx val="9"/>
            <c:spPr>
              <a:solidFill>
                <a:srgbClr val="0E9F6E"/>
              </a:solidFill>
            </c:spPr>
          </c:dPt>
          <c:dPt>
            <c:idx val="10"/>
            <c:spPr>
              <a:solidFill>
                <a:srgbClr val="0E9F6E"/>
              </a:solidFill>
            </c:spPr>
          </c:dPt>
          <c:dPt>
            <c:idx val="11"/>
            <c:spPr>
              <a:solidFill>
                <a:srgbClr val="0E9F6E"/>
              </a:solidFill>
            </c:spPr>
          </c:dPt>
          <c:dPt>
            <c:idx val="12"/>
            <c:spPr>
              <a:solidFill>
                <a:srgbClr val="0E9F6E"/>
              </a:solidFill>
            </c:spPr>
          </c:dPt>
          <c:dPt>
            <c:idx val="13"/>
            <c:spPr>
              <a:solidFill>
                <a:srgbClr val="0E9F6E"/>
              </a:solidFill>
            </c:spPr>
          </c:dPt>
          <c:cat>
            <c:strRef>
              <c:f>Sheet1!$A$2:$A$15</c:f>
              <c:strCache>
                <c:ptCount val="14"/>
                <c:pt idx="0">
                  <c:v>Kangaroo Point townhouses</c:v>
                </c:pt>
                <c:pt idx="1">
                  <c:v>West End brewery</c:v>
                </c:pt>
                <c:pt idx="2">
                  <c:v>Rocklea factory</c:v>
                </c:pt>
                <c:pt idx="3">
                  <c:v>Milton office tower</c:v>
                </c:pt>
                <c:pt idx="4">
                  <c:v>Bulimba school</c:v>
                </c:pt>
                <c:pt idx="5">
                  <c:v>Wacol logistics depot</c:v>
                </c:pt>
                <c:pt idx="6">
                  <c:v>Chermside retail centre</c:v>
                </c:pt>
                <c:pt idx="7">
                  <c:v>Fortitude Valley hotel</c:v>
                </c:pt>
                <c:pt idx="8">
                  <c:v>Riverside Apartments (strata)</c:v>
                </c:pt>
                <c:pt idx="9">
                  <c:v>Newstead gym</c:v>
                </c:pt>
                <c:pt idx="10">
                  <c:v>Southbank cafe group</c:v>
                </c:pt>
                <c:pt idx="11">
                  <c:v>Ashgrove aged care</c:v>
                </c:pt>
                <c:pt idx="12">
                  <c:v>Wynnum medical centre</c:v>
                </c:pt>
                <c:pt idx="13">
                  <c:v>Carindale vet clinic</c:v>
                </c:pt>
              </c:strCache>
            </c:strRef>
          </c:cat>
          <c:val>
            <c:numRef>
              <c:f>Sheet1!$B$2:$B$15</c:f>
              <c:numCache>
                <c:formatCode>0.0"%";[Red](0.0"%")</c:formatCode>
                <c:ptCount val="14"/>
                <c:pt idx="0">
                  <c:v>58.2</c:v>
                </c:pt>
                <c:pt idx="1">
                  <c:v>58.8</c:v>
                </c:pt>
                <c:pt idx="2">
                  <c:v>58.8</c:v>
                </c:pt>
                <c:pt idx="3">
                  <c:v>59.0</c:v>
                </c:pt>
                <c:pt idx="4">
                  <c:v>59.0</c:v>
                </c:pt>
                <c:pt idx="5">
                  <c:v>59.1</c:v>
                </c:pt>
                <c:pt idx="6">
                  <c:v>59.4</c:v>
                </c:pt>
                <c:pt idx="7">
                  <c:v>59.9</c:v>
                </c:pt>
                <c:pt idx="8">
                  <c:v>59.9</c:v>
                </c:pt>
                <c:pt idx="9">
                  <c:v>59.9</c:v>
                </c:pt>
                <c:pt idx="10">
                  <c:v>60.0</c:v>
                </c:pt>
                <c:pt idx="11">
                  <c:v>60.0</c:v>
                </c:pt>
                <c:pt idx="12">
                  <c:v>61.1</c:v>
                </c:pt>
                <c:pt idx="13">
                  <c:v>62.2</c:v>
                </c:pt>
              </c:numCache>
            </c:numRef>
          </c:val>
        </c:ser>
        <c:dLbls>
          <c:numFmt formatCode="0.0&quot;%&quot;;[Red](0.0&quot;%&quot;)" sourceLinked="0"/>
          <c:txPr>
            <a:bodyPr/>
            <a:lstStyle/>
            <a:p>
              <a:pPr>
                <a:defRPr sz="1100"/>
              </a:pPr>
            </a:p>
          </c:txPr>
          <c:dLblPos val="outEnd"/>
          <c:showLegendKey val="0"/>
          <c:showVal val="1"/>
          <c:showCatName val="0"/>
          <c:showSerName val="0"/>
          <c:showPercent val="0"/>
          <c:showBubbleSize val="0"/>
          <c:showLeaderLines val="1"/>
        </c:dLbls>
        <c:gapWidth val="60"/>
        <c:axId val="-2068027336"/>
        <c:axId val="-2113994440"/>
      </c:barChart>
      <c:catAx>
        <c:axId val="-2068027336"/>
        <c:scaling>
          <c:orientation val="minMax"/>
        </c:scaling>
        <c:delete val="0"/>
        <c:axPos val="l"/>
        <c:majorTickMark val="out"/>
        <c:minorTickMark val="none"/>
        <c:tickLblPos val="nextTo"/>
        <c:spPr>
          <a:ln>
            <a:noFill/>
          </a:ln>
        </c:spPr>
        <c:txPr>
          <a:bodyPr/>
          <a:lstStyle/>
          <a:p>
            <a:pPr>
              <a:defRPr sz="1200"/>
            </a:pPr>
          </a:p>
        </c:txPr>
        <c:crossAx val="-2113994440"/>
        <c:crosses val="autoZero"/>
        <c:auto val="1"/>
        <c:lblAlgn val="ctr"/>
        <c:lblOffset val="100"/>
        <c:noMultiLvlLbl val="0"/>
      </c:catAx>
      <c:valAx>
        <c:axId val="-2113994440"/>
        <c:scaling/>
        <c:delete/>
        <c:axPos val="b"/>
        <c:majorTickMark val="out"/>
        <c:minorTickMark val="none"/>
        <c:tickLblPos val="nextTo"/>
        <c:crossAx val="-2068027336"/>
        <c:crosses val="autoZero"/>
      </c:valAx>
    </c:plotArea>
    <c:dispBlanksAs val="gap"/>
  </c:chart>
  <c:txPr>
    <a:bodyPr/>
    <a:lstStyle/>
    <a:p>
      <a:pPr>
        <a:defRPr sz="1800">
          <a:latin typeface="Roboto"/>
        </a:defRPr>
      </a:pPr>
      <a:endParaRPr lang="en-US"/>
    </a:p>
  </c:tx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date1904 val="0"/>
  <c:chart>
    <c:autoTitleDeleted val="0"/>
    <c:plotArea>
      <c:barChart>
        <c:barDir val="bar"/>
        <c:grouping val="clustered"/>
        <c:ser>
          <c:idx val="0"/>
          <c:order val="0"/>
          <c:tx>
            <c:strRef>
              <c:f>Sheet1!$B$1</c:f>
              <c:strCache>
                <c:ptCount val="1"/>
                <c:pt idx="0">
                  <c:v>Value</c:v>
                </c:pt>
              </c:strCache>
            </c:strRef>
          </c:tx>
          <c:dPt>
            <c:idx val="0"/>
            <c:spPr>
              <a:solidFill>
                <a:srgbClr val="0E9F6E"/>
              </a:solidFill>
            </c:spPr>
          </c:dPt>
          <c:dPt>
            <c:idx val="1"/>
            <c:spPr>
              <a:solidFill>
                <a:srgbClr val="0E9F6E"/>
              </a:solidFill>
            </c:spPr>
          </c:dPt>
          <c:dPt>
            <c:idx val="2"/>
            <c:spPr>
              <a:solidFill>
                <a:srgbClr val="0E9F6E"/>
              </a:solidFill>
            </c:spPr>
          </c:dPt>
          <c:dPt>
            <c:idx val="3"/>
            <c:spPr>
              <a:solidFill>
                <a:srgbClr val="0E9F6E"/>
              </a:solidFill>
            </c:spPr>
          </c:dPt>
          <c:dPt>
            <c:idx val="4"/>
            <c:spPr>
              <a:solidFill>
                <a:srgbClr val="0E9F6E"/>
              </a:solidFill>
            </c:spPr>
          </c:dPt>
          <c:dPt>
            <c:idx val="5"/>
            <c:spPr>
              <a:solidFill>
                <a:srgbClr val="0E9F6E"/>
              </a:solidFill>
            </c:spPr>
          </c:dPt>
          <c:dPt>
            <c:idx val="6"/>
            <c:spPr>
              <a:solidFill>
                <a:srgbClr val="0E9F6E"/>
              </a:solidFill>
            </c:spPr>
          </c:dPt>
          <c:dPt>
            <c:idx val="7"/>
            <c:spPr>
              <a:solidFill>
                <a:srgbClr val="0E9F6E"/>
              </a:solidFill>
            </c:spPr>
          </c:dPt>
          <c:dPt>
            <c:idx val="8"/>
            <c:spPr>
              <a:solidFill>
                <a:srgbClr val="0E9F6E"/>
              </a:solidFill>
            </c:spPr>
          </c:dPt>
          <c:dPt>
            <c:idx val="9"/>
            <c:spPr>
              <a:solidFill>
                <a:srgbClr val="0E9F6E"/>
              </a:solidFill>
            </c:spPr>
          </c:dPt>
          <c:dPt>
            <c:idx val="10"/>
            <c:spPr>
              <a:solidFill>
                <a:srgbClr val="0E9F6E"/>
              </a:solidFill>
            </c:spPr>
          </c:dPt>
          <c:dPt>
            <c:idx val="11"/>
            <c:spPr>
              <a:solidFill>
                <a:srgbClr val="0E9F6E"/>
              </a:solidFill>
            </c:spPr>
          </c:dPt>
          <c:dPt>
            <c:idx val="12"/>
            <c:spPr>
              <a:solidFill>
                <a:srgbClr val="0E9F6E"/>
              </a:solidFill>
            </c:spPr>
          </c:dPt>
          <c:dPt>
            <c:idx val="13"/>
            <c:spPr>
              <a:solidFill>
                <a:srgbClr val="0E9F6E"/>
              </a:solidFill>
            </c:spPr>
          </c:dPt>
          <c:cat>
            <c:strRef>
              <c:f>Sheet1!$A$2:$A$15</c:f>
              <c:strCache>
                <c:ptCount val="14"/>
                <c:pt idx="0">
                  <c:v>Kangaroo Point townhouses</c:v>
                </c:pt>
                <c:pt idx="1">
                  <c:v>West End brewery</c:v>
                </c:pt>
                <c:pt idx="2">
                  <c:v>Rocklea factory</c:v>
                </c:pt>
                <c:pt idx="3">
                  <c:v>Milton office tower</c:v>
                </c:pt>
                <c:pt idx="4">
                  <c:v>Bulimba school</c:v>
                </c:pt>
                <c:pt idx="5">
                  <c:v>Wacol logistics depot</c:v>
                </c:pt>
                <c:pt idx="6">
                  <c:v>Chermside retail centre</c:v>
                </c:pt>
                <c:pt idx="7">
                  <c:v>Fortitude Valley hotel</c:v>
                </c:pt>
                <c:pt idx="8">
                  <c:v>Riverside Apartments (strata)</c:v>
                </c:pt>
                <c:pt idx="9">
                  <c:v>Newstead gym</c:v>
                </c:pt>
                <c:pt idx="10">
                  <c:v>Southbank cafe group</c:v>
                </c:pt>
                <c:pt idx="11">
                  <c:v>Ashgrove aged care</c:v>
                </c:pt>
                <c:pt idx="12">
                  <c:v>Wynnum medical centre</c:v>
                </c:pt>
                <c:pt idx="13">
                  <c:v>Carindale vet clinic</c:v>
                </c:pt>
              </c:strCache>
            </c:strRef>
          </c:cat>
          <c:val>
            <c:numRef>
              <c:f>Sheet1!$B$2:$B$15</c:f>
              <c:numCache>
                <c:formatCode>$#,##0;[Red]($#,##0);"-"</c:formatCode>
                <c:ptCount val="14"/>
                <c:pt idx="0">
                  <c:v>1398</c:v>
                </c:pt>
                <c:pt idx="1">
                  <c:v>1530</c:v>
                </c:pt>
                <c:pt idx="2">
                  <c:v>2294</c:v>
                </c:pt>
                <c:pt idx="3">
                  <c:v>2478</c:v>
                </c:pt>
                <c:pt idx="4">
                  <c:v>1652</c:v>
                </c:pt>
                <c:pt idx="5">
                  <c:v>1774</c:v>
                </c:pt>
                <c:pt idx="6">
                  <c:v>2436</c:v>
                </c:pt>
                <c:pt idx="7">
                  <c:v>2038</c:v>
                </c:pt>
                <c:pt idx="8">
                  <c:v>1916</c:v>
                </c:pt>
                <c:pt idx="9">
                  <c:v>958</c:v>
                </c:pt>
                <c:pt idx="10">
                  <c:v>1080</c:v>
                </c:pt>
                <c:pt idx="11">
                  <c:v>2160</c:v>
                </c:pt>
                <c:pt idx="12">
                  <c:v>1344</c:v>
                </c:pt>
                <c:pt idx="13">
                  <c:v>1058</c:v>
                </c:pt>
              </c:numCache>
            </c:numRef>
          </c:val>
        </c:ser>
        <c:dLbls>
          <c:numFmt formatCode="$#,##0;[Red]($#,##0);&quot;-&quot;" sourceLinked="0"/>
          <c:txPr>
            <a:bodyPr/>
            <a:lstStyle/>
            <a:p>
              <a:pPr>
                <a:defRPr sz="1100"/>
              </a:pPr>
            </a:p>
          </c:txPr>
          <c:dLblPos val="outEnd"/>
          <c:showLegendKey val="0"/>
          <c:showVal val="1"/>
          <c:showCatName val="0"/>
          <c:showSerName val="0"/>
          <c:showPercent val="0"/>
          <c:showBubbleSize val="0"/>
          <c:showLeaderLines val="1"/>
        </c:dLbls>
        <c:gapWidth val="60"/>
        <c:axId val="-2068027336"/>
        <c:axId val="-2113994440"/>
      </c:barChart>
      <c:catAx>
        <c:axId val="-2068027336"/>
        <c:scaling>
          <c:orientation val="minMax"/>
        </c:scaling>
        <c:delete val="0"/>
        <c:axPos val="l"/>
        <c:majorTickMark val="out"/>
        <c:minorTickMark val="none"/>
        <c:tickLblPos val="nextTo"/>
        <c:spPr>
          <a:ln>
            <a:noFill/>
          </a:ln>
        </c:spPr>
        <c:txPr>
          <a:bodyPr/>
          <a:lstStyle/>
          <a:p>
            <a:pPr>
              <a:defRPr sz="1200"/>
            </a:pPr>
          </a:p>
        </c:txPr>
        <c:crossAx val="-2113994440"/>
        <c:crosses val="autoZero"/>
        <c:auto val="1"/>
        <c:lblAlgn val="ctr"/>
        <c:lblOffset val="100"/>
        <c:noMultiLvlLbl val="0"/>
      </c:catAx>
      <c:valAx>
        <c:axId val="-2113994440"/>
        <c:scaling/>
        <c:delete/>
        <c:axPos val="b"/>
        <c:majorTickMark val="out"/>
        <c:minorTickMark val="none"/>
        <c:tickLblPos val="nextTo"/>
        <c:crossAx val="-2068027336"/>
        <c:crosses val="autoZero"/>
      </c:valAx>
    </c:plotArea>
    <c:dispBlanksAs val="gap"/>
  </c:chart>
  <c:txPr>
    <a:bodyPr/>
    <a:lstStyle/>
    <a:p>
      <a:pPr>
        <a:defRPr sz="1800">
          <a:latin typeface="Roboto"/>
        </a:defRPr>
      </a:pPr>
      <a:endParaRPr lang="en-US"/>
    </a:p>
  </c:txPr>
  <c:externalData r:id="rId1">
    <c:autoUpdate val="0"/>
  </c:externalData>
</c:chartSpace>
</file>

<file path=ppt/charts/chart5.xml><?xml version="1.0" encoding="utf-8"?>
<c:chartSpace xmlns:c="http://schemas.openxmlformats.org/drawingml/2006/chart" xmlns:a="http://schemas.openxmlformats.org/drawingml/2006/main" xmlns:r="http://schemas.openxmlformats.org/officeDocument/2006/relationships">
  <c:date1904 val="0"/>
  <c:chart>
    <c:autoTitleDeleted val="0"/>
    <c:plotArea>
      <c:barChart>
        <c:barDir val="bar"/>
        <c:grouping val="clustered"/>
        <c:ser>
          <c:idx val="0"/>
          <c:order val="0"/>
          <c:tx>
            <c:strRef>
              <c:f>Sheet1!$B$1</c:f>
              <c:strCache>
                <c:ptCount val="1"/>
                <c:pt idx="0">
                  <c:v>Value</c:v>
                </c:pt>
              </c:strCache>
            </c:strRef>
          </c:tx>
          <c:dPt>
            <c:idx val="0"/>
            <c:spPr>
              <a:solidFill>
                <a:srgbClr val="A7B0B8"/>
              </a:solidFill>
            </c:spPr>
          </c:dPt>
          <c:dPt>
            <c:idx val="1"/>
            <c:spPr>
              <a:solidFill>
                <a:srgbClr val="A7B0B8"/>
              </a:solidFill>
            </c:spPr>
          </c:dPt>
          <c:dPt>
            <c:idx val="2"/>
            <c:spPr>
              <a:solidFill>
                <a:srgbClr val="A7B0B8"/>
              </a:solidFill>
            </c:spPr>
          </c:dPt>
          <c:dPt>
            <c:idx val="3"/>
            <c:spPr>
              <a:solidFill>
                <a:srgbClr val="0E9F6E"/>
              </a:solidFill>
            </c:spPr>
          </c:dPt>
          <c:dPt>
            <c:idx val="4"/>
            <c:spPr>
              <a:solidFill>
                <a:srgbClr val="0E9F6E"/>
              </a:solidFill>
            </c:spPr>
          </c:dPt>
          <c:dPt>
            <c:idx val="5"/>
            <c:spPr>
              <a:solidFill>
                <a:srgbClr val="0E9F6E"/>
              </a:solidFill>
            </c:spPr>
          </c:dPt>
          <c:cat>
            <c:strRef>
              <c:f>Sheet1!$A$2:$A$7</c:f>
              <c:strCache>
                <c:ptCount val="6"/>
                <c:pt idx="0">
                  <c:v>Wacol warehouse switchboard</c:v>
                </c:pt>
                <c:pt idx="1">
                  <c:v>Carindale solar and battery</c:v>
                </c:pt>
                <c:pt idx="2">
                  <c:v>West End cafe air-con</c:v>
                </c:pt>
                <c:pt idx="3">
                  <c:v>Chermside clinic cabling</c:v>
                </c:pt>
                <c:pt idx="4">
                  <c:v>Milton office LED lighting</c:v>
                </c:pt>
                <c:pt idx="5">
                  <c:v>Bulimba EV chargers</c:v>
                </c:pt>
              </c:strCache>
            </c:strRef>
          </c:cat>
          <c:val>
            <c:numRef>
              <c:f>Sheet1!$B$2:$B$7</c:f>
              <c:numCache>
                <c:formatCode>0.0"%";[Red](0.0"%")</c:formatCode>
                <c:ptCount val="6"/>
                <c:pt idx="0">
                  <c:v>13.5</c:v>
                </c:pt>
                <c:pt idx="1">
                  <c:v>26.9</c:v>
                </c:pt>
                <c:pt idx="2">
                  <c:v>33.5</c:v>
                </c:pt>
                <c:pt idx="3">
                  <c:v>36.6</c:v>
                </c:pt>
                <c:pt idx="4">
                  <c:v>39.5</c:v>
                </c:pt>
                <c:pt idx="5">
                  <c:v>45.2</c:v>
                </c:pt>
              </c:numCache>
            </c:numRef>
          </c:val>
        </c:ser>
        <c:dLbls>
          <c:numFmt formatCode="0.0&quot;%&quot;;[Red](0.0&quot;%&quot;)" sourceLinked="0"/>
          <c:txPr>
            <a:bodyPr/>
            <a:lstStyle/>
            <a:p>
              <a:pPr>
                <a:defRPr sz="1100"/>
              </a:pPr>
            </a:p>
          </c:txPr>
          <c:dLblPos val="outEnd"/>
          <c:showLegendKey val="0"/>
          <c:showVal val="1"/>
          <c:showCatName val="0"/>
          <c:showSerName val="0"/>
          <c:showPercent val="0"/>
          <c:showBubbleSize val="0"/>
          <c:showLeaderLines val="1"/>
        </c:dLbls>
        <c:gapWidth val="60"/>
        <c:axId val="-2068027336"/>
        <c:axId val="-2113994440"/>
      </c:barChart>
      <c:catAx>
        <c:axId val="-2068027336"/>
        <c:scaling>
          <c:orientation val="minMax"/>
        </c:scaling>
        <c:delete val="0"/>
        <c:axPos val="l"/>
        <c:majorTickMark val="out"/>
        <c:minorTickMark val="none"/>
        <c:tickLblPos val="nextTo"/>
        <c:spPr>
          <a:ln>
            <a:noFill/>
          </a:ln>
        </c:spPr>
        <c:txPr>
          <a:bodyPr/>
          <a:lstStyle/>
          <a:p>
            <a:pPr>
              <a:defRPr sz="1200"/>
            </a:pPr>
          </a:p>
        </c:txPr>
        <c:crossAx val="-2113994440"/>
        <c:crosses val="autoZero"/>
        <c:auto val="1"/>
        <c:lblAlgn val="ctr"/>
        <c:lblOffset val="100"/>
        <c:noMultiLvlLbl val="0"/>
      </c:catAx>
      <c:valAx>
        <c:axId val="-2113994440"/>
        <c:scaling/>
        <c:delete/>
        <c:axPos val="b"/>
        <c:majorTickMark val="out"/>
        <c:minorTickMark val="none"/>
        <c:tickLblPos val="nextTo"/>
        <c:crossAx val="-2068027336"/>
        <c:crosses val="autoZero"/>
      </c:valAx>
    </c:plotArea>
    <c:dispBlanksAs val="gap"/>
  </c:chart>
  <c:txPr>
    <a:bodyPr/>
    <a:lstStyle/>
    <a:p>
      <a:pPr>
        <a:defRPr sz="1800">
          <a:latin typeface="Roboto"/>
        </a:defRPr>
      </a:pPr>
      <a:endParaRPr lang="en-US"/>
    </a:p>
  </c:txPr>
  <c:externalData r:id="rId1">
    <c:autoUpdate val="0"/>
  </c:externalData>
</c:chartSpace>
</file>

<file path=ppt/charts/chart6.xml><?xml version="1.0" encoding="utf-8"?>
<c:chartSpace xmlns:c="http://schemas.openxmlformats.org/drawingml/2006/chart" xmlns:a="http://schemas.openxmlformats.org/drawingml/2006/main" xmlns:r="http://schemas.openxmlformats.org/officeDocument/2006/relationships">
  <c:date1904 val="0"/>
  <c:chart>
    <c:autoTitleDeleted val="0"/>
    <c:plotArea>
      <c:barChart>
        <c:barDir val="bar"/>
        <c:grouping val="clustered"/>
        <c:ser>
          <c:idx val="0"/>
          <c:order val="0"/>
          <c:tx>
            <c:strRef>
              <c:f>Sheet1!$B$1</c:f>
              <c:strCache>
                <c:ptCount val="1"/>
                <c:pt idx="0">
                  <c:v>Value</c:v>
                </c:pt>
              </c:strCache>
            </c:strRef>
          </c:tx>
          <c:dPt>
            <c:idx val="0"/>
            <c:spPr>
              <a:solidFill>
                <a:srgbClr val="A7B0B8"/>
              </a:solidFill>
            </c:spPr>
          </c:dPt>
          <c:dPt>
            <c:idx val="1"/>
            <c:spPr>
              <a:solidFill>
                <a:srgbClr val="A7B0B8"/>
              </a:solidFill>
            </c:spPr>
          </c:dPt>
          <c:dPt>
            <c:idx val="2"/>
            <c:spPr>
              <a:solidFill>
                <a:srgbClr val="A7B0B8"/>
              </a:solidFill>
            </c:spPr>
          </c:dPt>
          <c:dPt>
            <c:idx val="3"/>
            <c:spPr>
              <a:solidFill>
                <a:srgbClr val="0E9F6E"/>
              </a:solidFill>
            </c:spPr>
          </c:dPt>
          <c:dPt>
            <c:idx val="4"/>
            <c:spPr>
              <a:solidFill>
                <a:srgbClr val="0E9F6E"/>
              </a:solidFill>
            </c:spPr>
          </c:dPt>
          <c:dPt>
            <c:idx val="5"/>
            <c:spPr>
              <a:solidFill>
                <a:srgbClr val="0E9F6E"/>
              </a:solidFill>
            </c:spPr>
          </c:dPt>
          <c:cat>
            <c:strRef>
              <c:f>Sheet1!$A$2:$A$7</c:f>
              <c:strCache>
                <c:ptCount val="6"/>
                <c:pt idx="0">
                  <c:v>Wacol warehouse switchboard</c:v>
                </c:pt>
                <c:pt idx="1">
                  <c:v>Carindale solar and battery</c:v>
                </c:pt>
                <c:pt idx="2">
                  <c:v>West End cafe air-con</c:v>
                </c:pt>
                <c:pt idx="3">
                  <c:v>Chermside clinic cabling</c:v>
                </c:pt>
                <c:pt idx="4">
                  <c:v>Milton office LED lighting</c:v>
                </c:pt>
                <c:pt idx="5">
                  <c:v>Bulimba EV chargers</c:v>
                </c:pt>
              </c:strCache>
            </c:strRef>
          </c:cat>
          <c:val>
            <c:numRef>
              <c:f>Sheet1!$B$2:$B$7</c:f>
              <c:numCache>
                <c:formatCode>$#,##0;[Red]($#,##0);"-"</c:formatCode>
                <c:ptCount val="6"/>
                <c:pt idx="0">
                  <c:v>6300</c:v>
                </c:pt>
                <c:pt idx="1">
                  <c:v>7372</c:v>
                </c:pt>
                <c:pt idx="2">
                  <c:v>4316</c:v>
                </c:pt>
                <c:pt idx="3">
                  <c:v>5564</c:v>
                </c:pt>
                <c:pt idx="4">
                  <c:v>7348</c:v>
                </c:pt>
                <c:pt idx="5">
                  <c:v>4432</c:v>
                </c:pt>
              </c:numCache>
            </c:numRef>
          </c:val>
        </c:ser>
        <c:dLbls>
          <c:numFmt formatCode="$#,##0;[Red]($#,##0);&quot;-&quot;" sourceLinked="0"/>
          <c:txPr>
            <a:bodyPr/>
            <a:lstStyle/>
            <a:p>
              <a:pPr>
                <a:defRPr sz="1100"/>
              </a:pPr>
            </a:p>
          </c:txPr>
          <c:dLblPos val="outEnd"/>
          <c:showLegendKey val="0"/>
          <c:showVal val="1"/>
          <c:showCatName val="0"/>
          <c:showSerName val="0"/>
          <c:showPercent val="0"/>
          <c:showBubbleSize val="0"/>
          <c:showLeaderLines val="1"/>
        </c:dLbls>
        <c:gapWidth val="60"/>
        <c:axId val="-2068027336"/>
        <c:axId val="-2113994440"/>
      </c:barChart>
      <c:catAx>
        <c:axId val="-2068027336"/>
        <c:scaling>
          <c:orientation val="minMax"/>
        </c:scaling>
        <c:delete val="0"/>
        <c:axPos val="l"/>
        <c:majorTickMark val="out"/>
        <c:minorTickMark val="none"/>
        <c:tickLblPos val="nextTo"/>
        <c:spPr>
          <a:ln>
            <a:noFill/>
          </a:ln>
        </c:spPr>
        <c:txPr>
          <a:bodyPr/>
          <a:lstStyle/>
          <a:p>
            <a:pPr>
              <a:defRPr sz="1200"/>
            </a:pPr>
          </a:p>
        </c:txPr>
        <c:crossAx val="-2113994440"/>
        <c:crosses val="autoZero"/>
        <c:auto val="1"/>
        <c:lblAlgn val="ctr"/>
        <c:lblOffset val="100"/>
        <c:noMultiLvlLbl val="0"/>
      </c:catAx>
      <c:valAx>
        <c:axId val="-2113994440"/>
        <c:scaling/>
        <c:delete/>
        <c:axPos val="b"/>
        <c:majorTickMark val="out"/>
        <c:minorTickMark val="none"/>
        <c:tickLblPos val="nextTo"/>
        <c:crossAx val="-2068027336"/>
        <c:crosses val="autoZero"/>
      </c:valAx>
    </c:plotArea>
    <c:dispBlanksAs val="gap"/>
  </c:chart>
  <c:txPr>
    <a:bodyPr/>
    <a:lstStyle/>
    <a:p>
      <a:pPr>
        <a:defRPr sz="1800">
          <a:latin typeface="Roboto"/>
        </a:defRPr>
      </a:pPr>
      <a:endParaRPr lang="en-US"/>
    </a:p>
  </c:txPr>
  <c:externalData r:id="rId1">
    <c:autoUpdate val="0"/>
  </c:externalData>
</c:chartSpace>
</file>

<file path=ppt/charts/chart7.xml><?xml version="1.0" encoding="utf-8"?>
<c:chartSpace xmlns:c="http://schemas.openxmlformats.org/drawingml/2006/chart" xmlns:a="http://schemas.openxmlformats.org/drawingml/2006/main" xmlns:r="http://schemas.openxmlformats.org/officeDocument/2006/relationships">
  <c:date1904 val="0"/>
  <c:chart>
    <c:autoTitleDeleted val="0"/>
    <c:plotArea>
      <c:barChart>
        <c:barDir val="bar"/>
        <c:grouping val="clustered"/>
        <c:ser>
          <c:idx val="0"/>
          <c:order val="0"/>
          <c:tx>
            <c:strRef>
              <c:f>Sheet1!$B$1</c:f>
              <c:strCache>
                <c:ptCount val="1"/>
                <c:pt idx="0">
                  <c:v>Value</c:v>
                </c:pt>
              </c:strCache>
            </c:strRef>
          </c:tx>
          <c:dPt>
            <c:idx val="0"/>
            <c:spPr>
              <a:solidFill>
                <a:srgbClr val="0E9F6E"/>
              </a:solidFill>
            </c:spPr>
          </c:dPt>
          <c:dPt>
            <c:idx val="1"/>
            <c:spPr>
              <a:solidFill>
                <a:srgbClr val="0E9F6E"/>
              </a:solidFill>
            </c:spPr>
          </c:dPt>
          <c:dPt>
            <c:idx val="2"/>
            <c:spPr>
              <a:solidFill>
                <a:srgbClr val="0E9F6E"/>
              </a:solidFill>
            </c:spPr>
          </c:dPt>
          <c:dPt>
            <c:idx val="3"/>
            <c:spPr>
              <a:solidFill>
                <a:srgbClr val="0E9F6E"/>
              </a:solidFill>
            </c:spPr>
          </c:dPt>
          <c:dPt>
            <c:idx val="4"/>
            <c:spPr>
              <a:solidFill>
                <a:srgbClr val="0E9F6E"/>
              </a:solidFill>
            </c:spPr>
          </c:dPt>
          <c:dPt>
            <c:idx val="5"/>
            <c:spPr>
              <a:solidFill>
                <a:srgbClr val="0E9F6E"/>
              </a:solidFill>
            </c:spPr>
          </c:dPt>
          <c:cat>
            <c:strRef>
              <c:f>Sheet1!$A$2:$A$7</c:f>
              <c:strCache>
                <c:ptCount val="6"/>
                <c:pt idx="0">
                  <c:v>1-hour call-outs (6)</c:v>
                </c:pt>
                <c:pt idx="1">
                  <c:v>1.5-hour call-outs (13)</c:v>
                </c:pt>
                <c:pt idx="2">
                  <c:v>2-hour call-outs (17)</c:v>
                </c:pt>
                <c:pt idx="3">
                  <c:v>2.5-hour call-outs (8)</c:v>
                </c:pt>
                <c:pt idx="4">
                  <c:v>3-hour call-outs (11)</c:v>
                </c:pt>
                <c:pt idx="5">
                  <c:v>4-hour call-outs (9)</c:v>
                </c:pt>
              </c:strCache>
            </c:strRef>
          </c:cat>
          <c:val>
            <c:numRef>
              <c:f>Sheet1!$B$2:$B$7</c:f>
              <c:numCache>
                <c:formatCode>0.0"%";[Red](0.0"%")</c:formatCode>
                <c:ptCount val="6"/>
                <c:pt idx="0">
                  <c:v>37.6</c:v>
                </c:pt>
                <c:pt idx="1">
                  <c:v>41.4</c:v>
                </c:pt>
                <c:pt idx="2">
                  <c:v>42.1</c:v>
                </c:pt>
                <c:pt idx="3">
                  <c:v>44.9</c:v>
                </c:pt>
                <c:pt idx="4">
                  <c:v>45.7</c:v>
                </c:pt>
                <c:pt idx="5">
                  <c:v>47.1</c:v>
                </c:pt>
              </c:numCache>
            </c:numRef>
          </c:val>
        </c:ser>
        <c:dLbls>
          <c:numFmt formatCode="0.0&quot;%&quot;;[Red](0.0&quot;%&quot;)" sourceLinked="0"/>
          <c:txPr>
            <a:bodyPr/>
            <a:lstStyle/>
            <a:p>
              <a:pPr>
                <a:defRPr sz="1100"/>
              </a:pPr>
            </a:p>
          </c:txPr>
          <c:dLblPos val="outEnd"/>
          <c:showLegendKey val="0"/>
          <c:showVal val="1"/>
          <c:showCatName val="0"/>
          <c:showSerName val="0"/>
          <c:showPercent val="0"/>
          <c:showBubbleSize val="0"/>
          <c:showLeaderLines val="1"/>
        </c:dLbls>
        <c:gapWidth val="60"/>
        <c:axId val="-2068027336"/>
        <c:axId val="-2113994440"/>
      </c:barChart>
      <c:catAx>
        <c:axId val="-2068027336"/>
        <c:scaling>
          <c:orientation val="minMax"/>
        </c:scaling>
        <c:delete val="0"/>
        <c:axPos val="l"/>
        <c:majorTickMark val="out"/>
        <c:minorTickMark val="none"/>
        <c:tickLblPos val="nextTo"/>
        <c:spPr>
          <a:ln>
            <a:noFill/>
          </a:ln>
        </c:spPr>
        <c:txPr>
          <a:bodyPr/>
          <a:lstStyle/>
          <a:p>
            <a:pPr>
              <a:defRPr sz="1200"/>
            </a:pPr>
          </a:p>
        </c:txPr>
        <c:crossAx val="-2113994440"/>
        <c:crosses val="autoZero"/>
        <c:auto val="1"/>
        <c:lblAlgn val="ctr"/>
        <c:lblOffset val="100"/>
        <c:noMultiLvlLbl val="0"/>
      </c:catAx>
      <c:valAx>
        <c:axId val="-2113994440"/>
        <c:scaling/>
        <c:delete/>
        <c:axPos val="b"/>
        <c:majorTickMark val="out"/>
        <c:minorTickMark val="none"/>
        <c:tickLblPos val="nextTo"/>
        <c:crossAx val="-2068027336"/>
        <c:crosses val="autoZero"/>
      </c:valAx>
    </c:plotArea>
    <c:dispBlanksAs val="gap"/>
  </c:chart>
  <c:txPr>
    <a:bodyPr/>
    <a:lstStyle/>
    <a:p>
      <a:pPr>
        <a:defRPr sz="1800">
          <a:latin typeface="Roboto"/>
        </a:defRPr>
      </a:pPr>
      <a:endParaRPr lang="en-US"/>
    </a:p>
  </c:txPr>
  <c:externalData r:id="rId1">
    <c:autoUpdate val="0"/>
  </c:externalData>
</c:chartSpace>
</file>

<file path=ppt/charts/chart8.xml><?xml version="1.0" encoding="utf-8"?>
<c:chartSpace xmlns:c="http://schemas.openxmlformats.org/drawingml/2006/chart" xmlns:a="http://schemas.openxmlformats.org/drawingml/2006/main" xmlns:r="http://schemas.openxmlformats.org/officeDocument/2006/relationships">
  <c:date1904 val="0"/>
  <c:chart>
    <c:autoTitleDeleted val="0"/>
    <c:plotArea>
      <c:barChart>
        <c:barDir val="bar"/>
        <c:grouping val="clustered"/>
        <c:ser>
          <c:idx val="0"/>
          <c:order val="0"/>
          <c:tx>
            <c:strRef>
              <c:f>Sheet1!$B$1</c:f>
              <c:strCache>
                <c:ptCount val="1"/>
                <c:pt idx="0">
                  <c:v>Value</c:v>
                </c:pt>
              </c:strCache>
            </c:strRef>
          </c:tx>
          <c:dPt>
            <c:idx val="0"/>
            <c:spPr>
              <a:solidFill>
                <a:srgbClr val="0E9F6E"/>
              </a:solidFill>
            </c:spPr>
          </c:dPt>
          <c:dPt>
            <c:idx val="1"/>
            <c:spPr>
              <a:solidFill>
                <a:srgbClr val="0E9F6E"/>
              </a:solidFill>
            </c:spPr>
          </c:dPt>
          <c:dPt>
            <c:idx val="2"/>
            <c:spPr>
              <a:solidFill>
                <a:srgbClr val="0E9F6E"/>
              </a:solidFill>
            </c:spPr>
          </c:dPt>
          <c:dPt>
            <c:idx val="3"/>
            <c:spPr>
              <a:solidFill>
                <a:srgbClr val="0E9F6E"/>
              </a:solidFill>
            </c:spPr>
          </c:dPt>
          <c:dPt>
            <c:idx val="4"/>
            <c:spPr>
              <a:solidFill>
                <a:srgbClr val="0E9F6E"/>
              </a:solidFill>
            </c:spPr>
          </c:dPt>
          <c:dPt>
            <c:idx val="5"/>
            <c:spPr>
              <a:solidFill>
                <a:srgbClr val="0E9F6E"/>
              </a:solidFill>
            </c:spPr>
          </c:dPt>
          <c:cat>
            <c:strRef>
              <c:f>Sheet1!$A$2:$A$7</c:f>
              <c:strCache>
                <c:ptCount val="6"/>
                <c:pt idx="0">
                  <c:v>1-hour call-outs (6)</c:v>
                </c:pt>
                <c:pt idx="1">
                  <c:v>1.5-hour call-outs (13)</c:v>
                </c:pt>
                <c:pt idx="2">
                  <c:v>2-hour call-outs (17)</c:v>
                </c:pt>
                <c:pt idx="3">
                  <c:v>2.5-hour call-outs (8)</c:v>
                </c:pt>
                <c:pt idx="4">
                  <c:v>3-hour call-outs (11)</c:v>
                </c:pt>
                <c:pt idx="5">
                  <c:v>4-hour call-outs (9)</c:v>
                </c:pt>
              </c:strCache>
            </c:strRef>
          </c:cat>
          <c:val>
            <c:numRef>
              <c:f>Sheet1!$B$2:$B$7</c:f>
              <c:numCache>
                <c:formatCode>$#,##0;[Red]($#,##0);"-"</c:formatCode>
                <c:ptCount val="6"/>
                <c:pt idx="0">
                  <c:v>675</c:v>
                </c:pt>
                <c:pt idx="1">
                  <c:v>1931</c:v>
                </c:pt>
                <c:pt idx="2">
                  <c:v>3278</c:v>
                </c:pt>
                <c:pt idx="3">
                  <c:v>1796</c:v>
                </c:pt>
                <c:pt idx="4">
                  <c:v>2904</c:v>
                </c:pt>
                <c:pt idx="5">
                  <c:v>3075</c:v>
                </c:pt>
              </c:numCache>
            </c:numRef>
          </c:val>
        </c:ser>
        <c:dLbls>
          <c:numFmt formatCode="$#,##0;[Red]($#,##0);&quot;-&quot;" sourceLinked="0"/>
          <c:txPr>
            <a:bodyPr/>
            <a:lstStyle/>
            <a:p>
              <a:pPr>
                <a:defRPr sz="1100"/>
              </a:pPr>
            </a:p>
          </c:txPr>
          <c:dLblPos val="outEnd"/>
          <c:showLegendKey val="0"/>
          <c:showVal val="1"/>
          <c:showCatName val="0"/>
          <c:showSerName val="0"/>
          <c:showPercent val="0"/>
          <c:showBubbleSize val="0"/>
          <c:showLeaderLines val="1"/>
        </c:dLbls>
        <c:gapWidth val="60"/>
        <c:axId val="-2068027336"/>
        <c:axId val="-2113994440"/>
      </c:barChart>
      <c:catAx>
        <c:axId val="-2068027336"/>
        <c:scaling>
          <c:orientation val="minMax"/>
        </c:scaling>
        <c:delete val="0"/>
        <c:axPos val="l"/>
        <c:majorTickMark val="out"/>
        <c:minorTickMark val="none"/>
        <c:tickLblPos val="nextTo"/>
        <c:spPr>
          <a:ln>
            <a:noFill/>
          </a:ln>
        </c:spPr>
        <c:txPr>
          <a:bodyPr/>
          <a:lstStyle/>
          <a:p>
            <a:pPr>
              <a:defRPr sz="1200"/>
            </a:pPr>
          </a:p>
        </c:txPr>
        <c:crossAx val="-2113994440"/>
        <c:crosses val="autoZero"/>
        <c:auto val="1"/>
        <c:lblAlgn val="ctr"/>
        <c:lblOffset val="100"/>
        <c:noMultiLvlLbl val="0"/>
      </c:catAx>
      <c:valAx>
        <c:axId val="-2113994440"/>
        <c:scaling/>
        <c:delete/>
        <c:axPos val="b"/>
        <c:majorTickMark val="out"/>
        <c:minorTickMark val="none"/>
        <c:tickLblPos val="nextTo"/>
        <c:crossAx val="-2068027336"/>
        <c:crosses val="autoZero"/>
      </c:valAx>
    </c:plotArea>
    <c:dispBlanksAs val="gap"/>
  </c:chart>
  <c:txPr>
    <a:bodyPr/>
    <a:lstStyle/>
    <a:p>
      <a:pPr>
        <a:defRPr sz="1800">
          <a:latin typeface="Roboto"/>
        </a:defRPr>
      </a:pPr>
      <a:endParaRPr lang="en-US"/>
    </a:p>
  </c:txPr>
  <c:externalData r:id="rId1">
    <c:autoUpdate val="0"/>
  </c:externalData>
</c:chartSpace>
</file>

<file path=ppt/charts/chart9.xml><?xml version="1.0" encoding="utf-8"?>
<c:chartSpace xmlns:c="http://schemas.openxmlformats.org/drawingml/2006/chart" xmlns:a="http://schemas.openxmlformats.org/drawingml/2006/main" xmlns:r="http://schemas.openxmlformats.org/officeDocument/2006/relationships">
  <c:date1904 val="0"/>
  <c:roundedCorners val="0"/>
  <c:chart>
    <c:autoTitleDeleted val="0"/>
    <c:plotArea>
      <c:layout/>
      <c:areaChart>
        <c:grouping val="standard"/>
        <c:varyColors val="0"/>
        <c:ser>
          <c:idx val="0"/>
          <c:order val="0"/>
          <c:tx>
            <c:strRef>
              <c:f>Sheet1!$B$1</c:f>
              <c:strCache>
                <c:ptCount val="1"/>
                <c:pt idx="0">
                  <c:v>Value</c:v>
                </c:pt>
              </c:strCache>
            </c:strRef>
          </c:tx>
          <c:spPr>
            <a:solidFill>
              <a:srgbClr val="0E9F6E">
                <a:alpha val="25000"/>
              </a:srgbClr>
            </a:solidFill>
            <a:ln w="31750">
              <a:solidFill>
                <a:srgbClr val="0E9F6E"/>
              </a:solidFill>
            </a:ln>
          </c:spPr>
          <c:cat>
            <c:strRef>
              <c:f>Sheet1!$A$2:$A$25</c:f>
              <c:strCache>
                <c:ptCount val="24"/>
                <c:pt idx="0">
                  <c:v>Oct 24</c:v>
                </c:pt>
                <c:pt idx="1">
                  <c:v>Nov 24</c:v>
                </c:pt>
                <c:pt idx="2">
                  <c:v>Dec 24</c:v>
                </c:pt>
                <c:pt idx="3">
                  <c:v>Jan 25</c:v>
                </c:pt>
                <c:pt idx="4">
                  <c:v>Feb 25</c:v>
                </c:pt>
                <c:pt idx="5">
                  <c:v>Mar 25</c:v>
                </c:pt>
                <c:pt idx="6">
                  <c:v>Apr 25</c:v>
                </c:pt>
                <c:pt idx="7">
                  <c:v>May 25</c:v>
                </c:pt>
                <c:pt idx="8">
                  <c:v>Jun 25</c:v>
                </c:pt>
                <c:pt idx="9">
                  <c:v>Jul 25</c:v>
                </c:pt>
                <c:pt idx="10">
                  <c:v>Aug 25</c:v>
                </c:pt>
                <c:pt idx="11">
                  <c:v>Sep 25</c:v>
                </c:pt>
                <c:pt idx="12">
                  <c:v>Oct 25</c:v>
                </c:pt>
                <c:pt idx="13">
                  <c:v>Nov 25</c:v>
                </c:pt>
                <c:pt idx="14">
                  <c:v>Dec 25</c:v>
                </c:pt>
                <c:pt idx="15">
                  <c:v>Jan 26</c:v>
                </c:pt>
                <c:pt idx="16">
                  <c:v>Feb 26</c:v>
                </c:pt>
                <c:pt idx="17">
                  <c:v>Mar 26</c:v>
                </c:pt>
                <c:pt idx="18">
                  <c:v>Apr 26</c:v>
                </c:pt>
                <c:pt idx="19">
                  <c:v>May 26</c:v>
                </c:pt>
                <c:pt idx="20">
                  <c:v>Jun 26</c:v>
                </c:pt>
                <c:pt idx="21">
                  <c:v>Jul 26</c:v>
                </c:pt>
                <c:pt idx="22">
                  <c:v>Aug 26</c:v>
                </c:pt>
                <c:pt idx="23">
                  <c:v>Sep 26</c:v>
                </c:pt>
              </c:strCache>
            </c:strRef>
          </c:cat>
          <c:val>
            <c:numRef>
              <c:f>Sheet1!$B$2:$B$25</c:f>
              <c:numCache>
                <c:formatCode>0.0"%";[Red](0.0"%")</c:formatCode>
                <c:ptCount val="24"/>
                <c:pt idx="0">
                  <c:v>33.1</c:v>
                </c:pt>
                <c:pt idx="1">
                  <c:v>37.0</c:v>
                </c:pt>
                <c:pt idx="2">
                  <c:v>40.4</c:v>
                </c:pt>
                <c:pt idx="3">
                  <c:v>42.7</c:v>
                </c:pt>
                <c:pt idx="4">
                  <c:v>36.4</c:v>
                </c:pt>
                <c:pt idx="5">
                  <c:v>36.5</c:v>
                </c:pt>
                <c:pt idx="6">
                  <c:v>38.4</c:v>
                </c:pt>
                <c:pt idx="7">
                  <c:v>35.5</c:v>
                </c:pt>
                <c:pt idx="8">
                  <c:v>40.5</c:v>
                </c:pt>
                <c:pt idx="9">
                  <c:v>35.6</c:v>
                </c:pt>
                <c:pt idx="10">
                  <c:v>43.8</c:v>
                </c:pt>
                <c:pt idx="11">
                  <c:v>37.6</c:v>
                </c:pt>
                <c:pt idx="12">
                  <c:v>38.4</c:v>
                </c:pt>
                <c:pt idx="13">
                  <c:v>33.7</c:v>
                </c:pt>
                <c:pt idx="14">
                  <c:v>37.4</c:v>
                </c:pt>
                <c:pt idx="15">
                  <c:v>35.3</c:v>
                </c:pt>
                <c:pt idx="16">
                  <c:v>38.6</c:v>
                </c:pt>
                <c:pt idx="17">
                  <c:v>35.6</c:v>
                </c:pt>
                <c:pt idx="18">
                  <c:v>41.7</c:v>
                </c:pt>
                <c:pt idx="19">
                  <c:v>39.0</c:v>
                </c:pt>
                <c:pt idx="20">
                  <c:v>38.5</c:v>
                </c:pt>
                <c:pt idx="21">
                  <c:v>36.8</c:v>
                </c:pt>
                <c:pt idx="22">
                  <c:v>41.1</c:v>
                </c:pt>
                <c:pt idx="23">
                  <c:v>36.1</c:v>
                </c:pt>
              </c:numCache>
            </c:numRef>
          </c:val>
        </c:ser>
        <c:dLbls>
          <c:showLegendKey val="0"/>
          <c:showVal val="0"/>
          <c:showCatName val="0"/>
          <c:showSerName val="0"/>
          <c:showPercent val="0"/>
          <c:showBubbleSize val="0"/>
        </c:dLbls>
        <c:axId val="-2101159928"/>
        <c:axId val="-2100718248"/>
      </c:areaChart>
      <c:catAx>
        <c:axId val="-2101159928"/>
        <c:scaling>
          <c:orientation val="minMax"/>
        </c:scaling>
        <c:delete val="0"/>
        <c:axPos val="b"/>
        <c:numFmt formatCode="General" sourceLinked="1"/>
        <c:majorTickMark val="out"/>
        <c:minorTickMark val="none"/>
        <c:tickLblPos val="nextTo"/>
        <c:txPr>
          <a:bodyPr/>
          <a:lstStyle/>
          <a:p>
            <a:pPr>
              <a:defRPr sz="1000"/>
            </a:pPr>
          </a:p>
        </c:txPr>
        <c:crossAx val="-2100718248"/>
        <c:crosses val="autoZero"/>
        <c:auto val="1"/>
        <c:lblAlgn val="ctr"/>
        <c:lblOffset val="100"/>
        <c:noMultiLvlLbl val="0"/>
      </c:catAx>
      <c:valAx>
        <c:axId val="-2100718248"/>
        <c:scaling>
          <c:orientation val="minMax"/>
        </c:scaling>
        <c:delete val="0"/>
        <c:axPos val="l"/>
        <c:majorGridlines>
          <c:spPr>
            <a:ln>
              <a:solidFill>
                <a:srgbClr val="E6EAE7"/>
              </a:solidFill>
            </a:ln>
          </c:spPr>
        </c:majorGridlines>
        <c:numFmt formatCode="0.0&quot;%&quot;;[Red](0.0&quot;%&quot;)" sourceLinked="0"/>
        <c:majorTickMark val="out"/>
        <c:minorTickMark val="none"/>
        <c:tickLblPos val="nextTo"/>
        <c:spPr>
          <a:ln>
            <a:noFill/>
          </a:ln>
        </c:spPr>
        <c:txPr>
          <a:bodyPr/>
          <a:lstStyle/>
          <a:p>
            <a:pPr>
              <a:defRPr sz="1000"/>
            </a:pPr>
          </a:p>
        </c:txPr>
        <c:crossAx val="-2101159928"/>
        <c:crosses val="autoZero"/>
        <c:crossBetween val="midCat"/>
      </c:valAx>
    </c:plotArea>
    <c:plotVisOnly val="1"/>
    <c:dispBlanksAs val="zero"/>
    <c:showDLblsOverMax val="0"/>
  </c:chart>
  <c:txPr>
    <a:bodyPr/>
    <a:lstStyle/>
    <a:p>
      <a:pPr>
        <a:defRPr sz="1800">
          <a:latin typeface="Roboto"/>
        </a:defRPr>
      </a:pPr>
      <a:endParaRPr/>
    </a:p>
  </c:txPr>
  <c:externalData r:id="rId1">
    <c:autoUpdate val="0"/>
  </c:externalData>
</c:chartSpace>
</file>

<file path=ppt/charts/chart10.xml><?xml version="1.0" encoding="utf-8"?>
<c:chartSpace xmlns:c="http://schemas.openxmlformats.org/drawingml/2006/chart" xmlns:a="http://schemas.openxmlformats.org/drawingml/2006/main" xmlns:r="http://schemas.openxmlformats.org/officeDocument/2006/relationships">
  <c:date1904 val="0"/>
  <c:roundedCorners val="0"/>
  <c:chart>
    <c:autoTitleDeleted val="0"/>
    <c:plotArea>
      <c:layout/>
      <c:areaChart>
        <c:grouping val="standard"/>
        <c:varyColors val="0"/>
        <c:ser>
          <c:idx val="0"/>
          <c:order val="0"/>
          <c:tx>
            <c:strRef>
              <c:f>Sheet1!$B$1</c:f>
              <c:strCache>
                <c:ptCount val="1"/>
                <c:pt idx="0">
                  <c:v>Value</c:v>
                </c:pt>
              </c:strCache>
            </c:strRef>
          </c:tx>
          <c:spPr>
            <a:solidFill>
              <a:srgbClr val="0E9F6E">
                <a:alpha val="25000"/>
              </a:srgbClr>
            </a:solidFill>
            <a:ln w="31750">
              <a:solidFill>
                <a:srgbClr val="0E9F6E"/>
              </a:solidFill>
            </a:ln>
          </c:spPr>
          <c:cat>
            <c:strRef>
              <c:f>Sheet1!$A$2:$A$25</c:f>
              <c:strCache>
                <c:ptCount val="24"/>
                <c:pt idx="0">
                  <c:v>Oct 24</c:v>
                </c:pt>
                <c:pt idx="1">
                  <c:v>Nov 24</c:v>
                </c:pt>
                <c:pt idx="2">
                  <c:v>Dec 24</c:v>
                </c:pt>
                <c:pt idx="3">
                  <c:v>Jan 25</c:v>
                </c:pt>
                <c:pt idx="4">
                  <c:v>Feb 25</c:v>
                </c:pt>
                <c:pt idx="5">
                  <c:v>Mar 25</c:v>
                </c:pt>
                <c:pt idx="6">
                  <c:v>Apr 25</c:v>
                </c:pt>
                <c:pt idx="7">
                  <c:v>May 25</c:v>
                </c:pt>
                <c:pt idx="8">
                  <c:v>Jun 25</c:v>
                </c:pt>
                <c:pt idx="9">
                  <c:v>Jul 25</c:v>
                </c:pt>
                <c:pt idx="10">
                  <c:v>Aug 25</c:v>
                </c:pt>
                <c:pt idx="11">
                  <c:v>Sep 25</c:v>
                </c:pt>
                <c:pt idx="12">
                  <c:v>Oct 25</c:v>
                </c:pt>
                <c:pt idx="13">
                  <c:v>Nov 25</c:v>
                </c:pt>
                <c:pt idx="14">
                  <c:v>Dec 25</c:v>
                </c:pt>
                <c:pt idx="15">
                  <c:v>Jan 26</c:v>
                </c:pt>
                <c:pt idx="16">
                  <c:v>Feb 26</c:v>
                </c:pt>
                <c:pt idx="17">
                  <c:v>Mar 26</c:v>
                </c:pt>
                <c:pt idx="18">
                  <c:v>Apr 26</c:v>
                </c:pt>
                <c:pt idx="19">
                  <c:v>May 26</c:v>
                </c:pt>
                <c:pt idx="20">
                  <c:v>Jun 26</c:v>
                </c:pt>
                <c:pt idx="21">
                  <c:v>Jul 26</c:v>
                </c:pt>
                <c:pt idx="22">
                  <c:v>Aug 26</c:v>
                </c:pt>
                <c:pt idx="23">
                  <c:v>Sep 26</c:v>
                </c:pt>
              </c:strCache>
            </c:strRef>
          </c:cat>
          <c:val>
            <c:numRef>
              <c:f>Sheet1!$B$2:$B$25</c:f>
              <c:numCache>
                <c:formatCode>$#,##0;[Red]($#,##0);"-"</c:formatCode>
                <c:ptCount val="24"/>
                <c:pt idx="0">
                  <c:v>56675</c:v>
                </c:pt>
                <c:pt idx="1">
                  <c:v>66458</c:v>
                </c:pt>
                <c:pt idx="2">
                  <c:v>57840</c:v>
                </c:pt>
                <c:pt idx="3">
                  <c:v>60167</c:v>
                </c:pt>
                <c:pt idx="4">
                  <c:v>58595</c:v>
                </c:pt>
                <c:pt idx="5">
                  <c:v>49330</c:v>
                </c:pt>
                <c:pt idx="6">
                  <c:v>47897</c:v>
                </c:pt>
                <c:pt idx="7">
                  <c:v>46116</c:v>
                </c:pt>
                <c:pt idx="8">
                  <c:v>66529</c:v>
                </c:pt>
                <c:pt idx="9">
                  <c:v>66434</c:v>
                </c:pt>
                <c:pt idx="10">
                  <c:v>60906</c:v>
                </c:pt>
                <c:pt idx="11">
                  <c:v>48201</c:v>
                </c:pt>
                <c:pt idx="12">
                  <c:v>49446</c:v>
                </c:pt>
                <c:pt idx="13">
                  <c:v>58844</c:v>
                </c:pt>
                <c:pt idx="14">
                  <c:v>50453</c:v>
                </c:pt>
                <c:pt idx="15">
                  <c:v>58190</c:v>
                </c:pt>
                <c:pt idx="16">
                  <c:v>75710</c:v>
                </c:pt>
                <c:pt idx="17">
                  <c:v>68158</c:v>
                </c:pt>
                <c:pt idx="18">
                  <c:v>68843</c:v>
                </c:pt>
                <c:pt idx="19">
                  <c:v>63105</c:v>
                </c:pt>
                <c:pt idx="20">
                  <c:v>66663</c:v>
                </c:pt>
                <c:pt idx="21">
                  <c:v>71121</c:v>
                </c:pt>
                <c:pt idx="22">
                  <c:v>73637</c:v>
                </c:pt>
                <c:pt idx="23">
                  <c:v>73107</c:v>
                </c:pt>
              </c:numCache>
            </c:numRef>
          </c:val>
        </c:ser>
        <c:dLbls>
          <c:showLegendKey val="0"/>
          <c:showVal val="0"/>
          <c:showCatName val="0"/>
          <c:showSerName val="0"/>
          <c:showPercent val="0"/>
          <c:showBubbleSize val="0"/>
        </c:dLbls>
        <c:axId val="-2101159928"/>
        <c:axId val="-2100718248"/>
      </c:areaChart>
      <c:catAx>
        <c:axId val="-2101159928"/>
        <c:scaling>
          <c:orientation val="minMax"/>
        </c:scaling>
        <c:delete val="0"/>
        <c:axPos val="b"/>
        <c:numFmt formatCode="General" sourceLinked="1"/>
        <c:majorTickMark val="out"/>
        <c:minorTickMark val="none"/>
        <c:tickLblPos val="nextTo"/>
        <c:txPr>
          <a:bodyPr/>
          <a:lstStyle/>
          <a:p>
            <a:pPr>
              <a:defRPr sz="1000"/>
            </a:pPr>
          </a:p>
        </c:txPr>
        <c:crossAx val="-2100718248"/>
        <c:crosses val="autoZero"/>
        <c:auto val="1"/>
        <c:lblAlgn val="ctr"/>
        <c:lblOffset val="100"/>
        <c:noMultiLvlLbl val="0"/>
      </c:catAx>
      <c:valAx>
        <c:axId val="-2100718248"/>
        <c:scaling>
          <c:orientation val="minMax"/>
        </c:scaling>
        <c:delete val="0"/>
        <c:axPos val="l"/>
        <c:majorGridlines>
          <c:spPr>
            <a:ln>
              <a:solidFill>
                <a:srgbClr val="E6EAE7"/>
              </a:solidFill>
            </a:ln>
          </c:spPr>
        </c:majorGridlines>
        <c:numFmt formatCode="$#,##0;[Red]($#,##0);&quot;-&quot;" sourceLinked="0"/>
        <c:majorTickMark val="out"/>
        <c:minorTickMark val="none"/>
        <c:tickLblPos val="nextTo"/>
        <c:spPr>
          <a:ln>
            <a:noFill/>
          </a:ln>
        </c:spPr>
        <c:txPr>
          <a:bodyPr/>
          <a:lstStyle/>
          <a:p>
            <a:pPr>
              <a:defRPr sz="1000"/>
            </a:pPr>
          </a:p>
        </c:txPr>
        <c:crossAx val="-2101159928"/>
        <c:crosses val="autoZero"/>
        <c:crossBetween val="midCat"/>
      </c:valAx>
    </c:plotArea>
    <c:plotVisOnly val="1"/>
    <c:dispBlanksAs val="zero"/>
    <c:showDLblsOverMax val="0"/>
  </c:chart>
  <c:txPr>
    <a:bodyPr/>
    <a:lstStyle/>
    <a:p>
      <a:pPr>
        <a:defRPr sz="1800">
          <a:latin typeface="Roboto"/>
        </a:defRPr>
      </a:pPr>
      <a:endParaRPr/>
    </a:p>
  </c:txPr>
  <c:externalData r:id="rId1">
    <c:autoUpdate val="0"/>
  </c:externalData>
</c:chartSpace>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1.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2.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3.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4.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5.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6.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9.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10.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548640"/>
            <a:ext cx="640080" cy="640080"/>
          </a:xfrm>
          <a:prstGeom prst="rect">
            <a:avLst/>
          </a:prstGeom>
          <a:solidFill>
            <a:srgbClr val="2F7A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defRPr>
                <a:latin typeface="Roboto"/>
              </a:defRPr>
            </a:pPr>
            <a:r>
              <a:rPr sz="1600" b="1">
                <a:solidFill>
                  <a:srgbClr val="FFFFFF"/>
                </a:solidFill>
                <a:latin typeface="Roboto"/>
              </a:rPr>
              <a:t>4th</a:t>
            </a:r>
          </a:p>
        </p:txBody>
      </p:sp>
      <p:sp>
        <p:nvSpPr>
          <p:cNvPr id="3" name="TextBox 2"/>
          <p:cNvSpPr txBox="1"/>
          <p:nvPr/>
        </p:nvSpPr>
        <p:spPr>
          <a:xfrm>
            <a:off x="1234440" y="658368"/>
            <a:ext cx="5486400" cy="457200"/>
          </a:xfrm>
          <a:prstGeom prst="rect">
            <a:avLst/>
          </a:prstGeom>
          <a:noFill/>
        </p:spPr>
        <p:txBody>
          <a:bodyPr wrap="square">
            <a:spAutoFit/>
          </a:bodyPr>
          <a:lstStyle/>
          <a:p>
            <a:pPr>
              <a:defRPr>
                <a:latin typeface="Roboto"/>
              </a:defRPr>
            </a:pPr>
            <a:r>
              <a:rPr sz="1800" b="1">
                <a:solidFill>
                  <a:srgbClr val="25342A"/>
                </a:solidFill>
                <a:latin typeface="Roboto"/>
              </a:rPr>
              <a:t>The Fourth Sheet</a:t>
            </a:r>
          </a:p>
        </p:txBody>
      </p:sp>
      <p:sp>
        <p:nvSpPr>
          <p:cNvPr id="4" name="TextBox 3"/>
          <p:cNvSpPr txBox="1"/>
          <p:nvPr/>
        </p:nvSpPr>
        <p:spPr>
          <a:xfrm>
            <a:off x="457200" y="1554480"/>
            <a:ext cx="10972800" cy="365760"/>
          </a:xfrm>
          <a:prstGeom prst="rect">
            <a:avLst/>
          </a:prstGeom>
          <a:noFill/>
        </p:spPr>
        <p:txBody>
          <a:bodyPr wrap="square">
            <a:spAutoFit/>
          </a:bodyPr>
          <a:lstStyle/>
          <a:p>
            <a:pPr>
              <a:defRPr>
                <a:latin typeface="Roboto"/>
              </a:defRPr>
            </a:pPr>
            <a:r>
              <a:rPr sz="1100" b="1">
                <a:solidFill>
                  <a:srgbClr val="8A7A52"/>
                </a:solidFill>
                <a:latin typeface="Roboto"/>
              </a:rPr>
              <a:t>SAMPLE DATA · invented figures for demonstration</a:t>
            </a:r>
          </a:p>
        </p:txBody>
      </p:sp>
      <p:sp>
        <p:nvSpPr>
          <p:cNvPr id="5" name="TextBox 4"/>
          <p:cNvSpPr txBox="1"/>
          <p:nvPr/>
        </p:nvSpPr>
        <p:spPr>
          <a:xfrm>
            <a:off x="457200" y="2011680"/>
            <a:ext cx="11247120" cy="1097280"/>
          </a:xfrm>
          <a:prstGeom prst="rect">
            <a:avLst/>
          </a:prstGeom>
          <a:noFill/>
        </p:spPr>
        <p:txBody>
          <a:bodyPr wrap="square">
            <a:spAutoFit/>
          </a:bodyPr>
          <a:lstStyle/>
          <a:p>
            <a:pPr>
              <a:defRPr>
                <a:latin typeface="Roboto"/>
              </a:defRPr>
            </a:pPr>
            <a:r>
              <a:rPr sz="3400" b="1">
                <a:solidFill>
                  <a:srgbClr val="25342A"/>
                </a:solidFill>
                <a:latin typeface="Roboto"/>
              </a:rPr>
              <a:t>Which jobs actually make money?</a:t>
            </a:r>
          </a:p>
        </p:txBody>
      </p:sp>
      <p:sp>
        <p:nvSpPr>
          <p:cNvPr id="6" name="TextBox 5"/>
          <p:cNvSpPr txBox="1"/>
          <p:nvPr/>
        </p:nvSpPr>
        <p:spPr>
          <a:xfrm>
            <a:off x="457200" y="3154680"/>
            <a:ext cx="11247120" cy="457200"/>
          </a:xfrm>
          <a:prstGeom prst="rect">
            <a:avLst/>
          </a:prstGeom>
          <a:noFill/>
        </p:spPr>
        <p:txBody>
          <a:bodyPr wrap="square">
            <a:spAutoFit/>
          </a:bodyPr>
          <a:lstStyle/>
          <a:p>
            <a:pPr>
              <a:defRPr>
                <a:latin typeface="Roboto"/>
              </a:defRPr>
            </a:pPr>
            <a:r>
              <a:rPr sz="1600" b="0">
                <a:solidFill>
                  <a:srgbClr val="5F6F63"/>
                </a:solidFill>
                <a:latin typeface="Roboto"/>
              </a:rPr>
              <a:t>Sample Electrical &amp; Air Pty Ltd</a:t>
            </a:r>
          </a:p>
        </p:txBody>
      </p:sp>
      <p:sp>
        <p:nvSpPr>
          <p:cNvPr id="7" name="TextBox 6"/>
          <p:cNvSpPr txBox="1"/>
          <p:nvPr/>
        </p:nvSpPr>
        <p:spPr>
          <a:xfrm>
            <a:off x="457200" y="3703320"/>
            <a:ext cx="11247120" cy="1097280"/>
          </a:xfrm>
          <a:prstGeom prst="rect">
            <a:avLst/>
          </a:prstGeom>
          <a:noFill/>
        </p:spPr>
        <p:txBody>
          <a:bodyPr wrap="square">
            <a:spAutoFit/>
          </a:bodyPr>
          <a:lstStyle/>
          <a:p>
            <a:pPr>
              <a:defRPr>
                <a:latin typeface="Roboto"/>
              </a:defRPr>
            </a:pPr>
            <a:r>
              <a:rPr sz="1400" b="0">
                <a:solidFill>
                  <a:srgbClr val="25342A"/>
                </a:solidFill>
                <a:latin typeface="Roboto"/>
              </a:rPr>
              <a:t>Period: September 2026. Every job's gross margin: revenue less materials, subcontractors and technician time at $68 an hour (fully loaded: wages and all on-costs). Before overheads, so this is not profit. Pick a type of job and every number, chart and note on the page follows it.</a:t>
            </a:r>
          </a:p>
        </p:txBody>
      </p:sp>
      <p:sp>
        <p:nvSpPr>
          <p:cNvPr id="8" name="TextBox 7"/>
          <p:cNvSpPr txBox="1"/>
          <p:nvPr/>
        </p:nvSpPr>
        <p:spPr>
          <a:xfrm>
            <a:off x="457200" y="4937760"/>
            <a:ext cx="11247120" cy="1097280"/>
          </a:xfrm>
          <a:prstGeom prst="rect">
            <a:avLst/>
          </a:prstGeom>
          <a:noFill/>
        </p:spPr>
        <p:txBody>
          <a:bodyPr wrap="square">
            <a:spAutoFit/>
          </a:bodyPr>
          <a:lstStyle/>
          <a:p>
            <a:pPr>
              <a:defRPr>
                <a:latin typeface="Roboto"/>
              </a:defRPr>
            </a:pPr>
            <a:r>
              <a:rPr sz="1100" b="0">
                <a:solidFill>
                  <a:srgbClr val="5F6F63"/>
                </a:solidFill>
                <a:latin typeface="Roboto"/>
              </a:rPr>
              <a:t>How final is this data?</a:t>
            </a:r>
          </a:p>
          <a:p>
            <a:pPr>
              <a:defRPr>
                <a:latin typeface="Roboto"/>
              </a:defRPr>
            </a:pPr>
            <a:r>
              <a:rPr sz="1100" b="0">
                <a:solidFill>
                  <a:srgbClr val="5F6F63"/>
                </a:solidFill>
                <a:latin typeface="Roboto"/>
              </a:rPr>
              <a:t>August 2026: Locked. August 2026 is locked (closed 2 Sep 2026). These numbers won't change.</a:t>
            </a:r>
          </a:p>
          <a:p>
            <a:pPr>
              <a:defRPr>
                <a:latin typeface="Roboto"/>
              </a:defRPr>
            </a:pPr>
            <a:r>
              <a:rPr sz="1100" b="0">
                <a:solidFill>
                  <a:srgbClr val="5F6F63"/>
                </a:solidFill>
                <a:latin typeface="Roboto"/>
              </a:rPr>
              <a:t>September 2026: Locked. September 2026 is locked (closed 2 Oct 2026). These numbers won't change.</a:t>
            </a:r>
          </a:p>
          <a:p>
            <a:pPr>
              <a:defRPr>
                <a:latin typeface="Roboto"/>
              </a:defRPr>
            </a:pPr>
            <a:r>
              <a:rPr sz="1100" b="0">
                <a:solidFill>
                  <a:srgbClr val="5F6F63"/>
                </a:solidFill>
                <a:latin typeface="Roboto"/>
              </a:rPr>
              <a:t>October 2026: Incomplete. October 2026 is still in progress: figures to 6 Oct only.</a:t>
            </a:r>
          </a:p>
        </p:txBody>
      </p:sp>
      <p:sp>
        <p:nvSpPr>
          <p:cNvPr id="9" name="TextBox 8"/>
          <p:cNvSpPr txBox="1"/>
          <p:nvPr/>
        </p:nvSpPr>
        <p:spPr>
          <a:xfrm>
            <a:off x="457200" y="6492240"/>
            <a:ext cx="3657600" cy="274320"/>
          </a:xfrm>
          <a:prstGeom prst="rect">
            <a:avLst/>
          </a:prstGeom>
          <a:noFill/>
        </p:spPr>
        <p:txBody>
          <a:bodyPr wrap="square">
            <a:spAutoFit/>
          </a:bodyPr>
          <a:lstStyle/>
          <a:p>
            <a:pPr>
              <a:defRPr>
                <a:latin typeface="Roboto"/>
              </a:defRPr>
            </a:pPr>
            <a:r>
              <a:rPr sz="900" b="0">
                <a:solidFill>
                  <a:srgbClr val="5F6F63"/>
                </a:solidFill>
                <a:latin typeface="Roboto"/>
              </a:rPr>
              <a:t>job-margins.pptx</a:t>
            </a:r>
          </a:p>
        </p:txBody>
      </p:sp>
      <p:sp>
        <p:nvSpPr>
          <p:cNvPr id="10" name="TextBox 9"/>
          <p:cNvSpPr txBox="1"/>
          <p:nvPr/>
        </p:nvSpPr>
        <p:spPr>
          <a:xfrm>
            <a:off x="4297680" y="6492240"/>
            <a:ext cx="3657600" cy="274320"/>
          </a:xfrm>
          <a:prstGeom prst="rect">
            <a:avLst/>
          </a:prstGeom>
          <a:noFill/>
        </p:spPr>
        <p:txBody>
          <a:bodyPr wrap="square">
            <a:spAutoFit/>
          </a:bodyPr>
          <a:lstStyle/>
          <a:p>
            <a:pPr algn="ctr">
              <a:defRPr>
                <a:latin typeface="Roboto"/>
              </a:defRPr>
            </a:pPr>
            <a:r>
              <a:rPr sz="900" b="0">
                <a:solidFill>
                  <a:srgbClr val="5F6F63"/>
                </a:solidFill>
                <a:latin typeface="Roboto"/>
              </a:rPr>
              <a:t>Data retrieved 2pm, Tue 6 Oct 2026 · Sample data</a:t>
            </a:r>
          </a:p>
        </p:txBody>
      </p:sp>
      <p:sp>
        <p:nvSpPr>
          <p:cNvPr id="11" name="TextBox 10"/>
          <p:cNvSpPr txBox="1"/>
          <p:nvPr/>
        </p:nvSpPr>
        <p:spPr>
          <a:xfrm>
            <a:off x="8503920" y="6492240"/>
            <a:ext cx="3200400" cy="274320"/>
          </a:xfrm>
          <a:prstGeom prst="rect">
            <a:avLst/>
          </a:prstGeom>
          <a:noFill/>
        </p:spPr>
        <p:txBody>
          <a:bodyPr wrap="square">
            <a:spAutoFit/>
          </a:bodyPr>
          <a:lstStyle/>
          <a:p>
            <a:pPr algn="r">
              <a:defRPr>
                <a:latin typeface="Roboto"/>
              </a:defRPr>
            </a:pPr>
            <a:r>
              <a:rPr sz="900" b="0">
                <a:solidFill>
                  <a:srgbClr val="5F6F63"/>
                </a:solidFill>
                <a:latin typeface="Roboto"/>
              </a:rPr>
              <a:t>Slide 1 of 21</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2F7A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3" name="TextBox 2"/>
          <p:cNvSpPr txBox="1"/>
          <p:nvPr/>
        </p:nvSpPr>
        <p:spPr>
          <a:xfrm>
            <a:off x="457200" y="164592"/>
            <a:ext cx="7315200" cy="274320"/>
          </a:xfrm>
          <a:prstGeom prst="rect">
            <a:avLst/>
          </a:prstGeom>
          <a:noFill/>
        </p:spPr>
        <p:txBody>
          <a:bodyPr wrap="square">
            <a:spAutoFit/>
          </a:bodyPr>
          <a:lstStyle/>
          <a:p>
            <a:pPr>
              <a:defRPr>
                <a:latin typeface="Roboto"/>
              </a:defRPr>
            </a:pPr>
            <a:r>
              <a:rPr sz="1000" b="0">
                <a:solidFill>
                  <a:srgbClr val="5F6F63"/>
                </a:solidFill>
                <a:latin typeface="Roboto"/>
              </a:rPr>
              <a:t>Sample Electrical &amp; Air Pty Ltd · Which jobs actually make money?</a:t>
            </a:r>
          </a:p>
        </p:txBody>
      </p:sp>
      <p:sp>
        <p:nvSpPr>
          <p:cNvPr id="4" name="TextBox 3"/>
          <p:cNvSpPr txBox="1"/>
          <p:nvPr/>
        </p:nvSpPr>
        <p:spPr>
          <a:xfrm>
            <a:off x="457200" y="411480"/>
            <a:ext cx="11247120" cy="548640"/>
          </a:xfrm>
          <a:prstGeom prst="rect">
            <a:avLst/>
          </a:prstGeom>
          <a:noFill/>
        </p:spPr>
        <p:txBody>
          <a:bodyPr wrap="square">
            <a:spAutoFit/>
          </a:bodyPr>
          <a:lstStyle/>
          <a:p>
            <a:pPr>
              <a:defRPr>
                <a:latin typeface="Roboto"/>
              </a:defRPr>
            </a:pPr>
            <a:r>
              <a:rPr sz="2400" b="1">
                <a:solidFill>
                  <a:srgbClr val="25342A"/>
                </a:solidFill>
                <a:latin typeface="Roboto"/>
              </a:rPr>
              <a:t>Gross margin, not profit</a:t>
            </a:r>
          </a:p>
        </p:txBody>
      </p:sp>
      <p:sp>
        <p:nvSpPr>
          <p:cNvPr id="5" name="Rectangle 4"/>
          <p:cNvSpPr/>
          <p:nvPr/>
        </p:nvSpPr>
        <p:spPr>
          <a:xfrm>
            <a:off x="457200" y="1554480"/>
            <a:ext cx="11277295" cy="4389120"/>
          </a:xfrm>
          <a:prstGeom prst="rect">
            <a:avLst/>
          </a:prstGeom>
          <a:solidFill>
            <a:srgbClr val="FFFFFF"/>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6" name="TextBox 5"/>
          <p:cNvSpPr txBox="1"/>
          <p:nvPr/>
        </p:nvSpPr>
        <p:spPr>
          <a:xfrm>
            <a:off x="685800" y="1691640"/>
            <a:ext cx="10820095" cy="365760"/>
          </a:xfrm>
          <a:prstGeom prst="rect">
            <a:avLst/>
          </a:prstGeom>
          <a:noFill/>
        </p:spPr>
        <p:txBody>
          <a:bodyPr wrap="square">
            <a:spAutoFit/>
          </a:bodyPr>
          <a:lstStyle/>
          <a:p>
            <a:pPr>
              <a:defRPr>
                <a:latin typeface="Roboto"/>
              </a:defRPr>
            </a:pPr>
            <a:r>
              <a:rPr sz="1100" b="1">
                <a:solidFill>
                  <a:srgbClr val="5F6F63"/>
                </a:solidFill>
                <a:latin typeface="Roboto"/>
              </a:rPr>
              <a:t>GROSS MARGIN, NOT PROFIT</a:t>
            </a:r>
          </a:p>
        </p:txBody>
      </p:sp>
      <p:sp>
        <p:nvSpPr>
          <p:cNvPr id="7" name="TextBox 6"/>
          <p:cNvSpPr txBox="1"/>
          <p:nvPr/>
        </p:nvSpPr>
        <p:spPr>
          <a:xfrm>
            <a:off x="685800" y="2103120"/>
            <a:ext cx="10820095" cy="3749039"/>
          </a:xfrm>
          <a:prstGeom prst="rect">
            <a:avLst/>
          </a:prstGeom>
          <a:noFill/>
        </p:spPr>
        <p:txBody>
          <a:bodyPr wrap="square">
            <a:spAutoFit/>
          </a:bodyPr>
          <a:lstStyle/>
          <a:p>
            <a:pPr>
              <a:defRPr>
                <a:latin typeface="Roboto"/>
              </a:defRPr>
            </a:pPr>
            <a:r>
              <a:rPr sz="1600" b="0">
                <a:solidFill>
                  <a:srgbClr val="25342A"/>
                </a:solidFill>
                <a:latin typeface="Roboto"/>
              </a:rPr>
              <a:t>Gross margin is not profit. Job gross margin = revenue less materials, subcontractors and technician time charged to the job at $68 an hour (wages and all on-costs). Not included: technician time not charged to any job (travel, training, waiting), and overheads (office wages, marketing, vehicles, rent, insurance, IT, depreciation, interest). Profit is what's left after those. Wages always include all on-costs: super, payroll tax, workers' compensation insurance and leave.</a:t>
            </a:r>
          </a:p>
        </p:txBody>
      </p:sp>
      <p:sp>
        <p:nvSpPr>
          <p:cNvPr id="8" name="TextBox 7"/>
          <p:cNvSpPr txBox="1"/>
          <p:nvPr/>
        </p:nvSpPr>
        <p:spPr>
          <a:xfrm>
            <a:off x="457200" y="6492240"/>
            <a:ext cx="3657600" cy="274320"/>
          </a:xfrm>
          <a:prstGeom prst="rect">
            <a:avLst/>
          </a:prstGeom>
          <a:noFill/>
        </p:spPr>
        <p:txBody>
          <a:bodyPr wrap="square">
            <a:spAutoFit/>
          </a:bodyPr>
          <a:lstStyle/>
          <a:p>
            <a:pPr>
              <a:defRPr>
                <a:latin typeface="Roboto"/>
              </a:defRPr>
            </a:pPr>
            <a:r>
              <a:rPr sz="900" b="0">
                <a:solidFill>
                  <a:srgbClr val="5F6F63"/>
                </a:solidFill>
                <a:latin typeface="Roboto"/>
              </a:rPr>
              <a:t>job-margins.pptx</a:t>
            </a:r>
          </a:p>
        </p:txBody>
      </p:sp>
      <p:sp>
        <p:nvSpPr>
          <p:cNvPr id="9" name="TextBox 8"/>
          <p:cNvSpPr txBox="1"/>
          <p:nvPr/>
        </p:nvSpPr>
        <p:spPr>
          <a:xfrm>
            <a:off x="4297680" y="6492240"/>
            <a:ext cx="3657600" cy="274320"/>
          </a:xfrm>
          <a:prstGeom prst="rect">
            <a:avLst/>
          </a:prstGeom>
          <a:noFill/>
        </p:spPr>
        <p:txBody>
          <a:bodyPr wrap="square">
            <a:spAutoFit/>
          </a:bodyPr>
          <a:lstStyle/>
          <a:p>
            <a:pPr algn="ctr">
              <a:defRPr>
                <a:latin typeface="Roboto"/>
              </a:defRPr>
            </a:pPr>
            <a:r>
              <a:rPr sz="900" b="0">
                <a:solidFill>
                  <a:srgbClr val="5F6F63"/>
                </a:solidFill>
                <a:latin typeface="Roboto"/>
              </a:rPr>
              <a:t>Data retrieved 2pm, Tue 6 Oct 2026 · Sample data</a:t>
            </a:r>
          </a:p>
        </p:txBody>
      </p:sp>
      <p:sp>
        <p:nvSpPr>
          <p:cNvPr id="10" name="TextBox 9"/>
          <p:cNvSpPr txBox="1"/>
          <p:nvPr/>
        </p:nvSpPr>
        <p:spPr>
          <a:xfrm>
            <a:off x="8503920" y="6492240"/>
            <a:ext cx="3200400" cy="274320"/>
          </a:xfrm>
          <a:prstGeom prst="rect">
            <a:avLst/>
          </a:prstGeom>
          <a:noFill/>
        </p:spPr>
        <p:txBody>
          <a:bodyPr wrap="square">
            <a:spAutoFit/>
          </a:bodyPr>
          <a:lstStyle/>
          <a:p>
            <a:pPr algn="r">
              <a:defRPr>
                <a:latin typeface="Roboto"/>
              </a:defRPr>
            </a:pPr>
            <a:r>
              <a:rPr sz="900" b="0">
                <a:solidFill>
                  <a:srgbClr val="5F6F63"/>
                </a:solidFill>
                <a:latin typeface="Roboto"/>
              </a:rPr>
              <a:t>Slide 2 of 21</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2F7A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3" name="TextBox 2"/>
          <p:cNvSpPr txBox="1"/>
          <p:nvPr/>
        </p:nvSpPr>
        <p:spPr>
          <a:xfrm>
            <a:off x="457200" y="164592"/>
            <a:ext cx="7315200" cy="274320"/>
          </a:xfrm>
          <a:prstGeom prst="rect">
            <a:avLst/>
          </a:prstGeom>
          <a:noFill/>
        </p:spPr>
        <p:txBody>
          <a:bodyPr wrap="square">
            <a:spAutoFit/>
          </a:bodyPr>
          <a:lstStyle/>
          <a:p>
            <a:pPr>
              <a:defRPr>
                <a:latin typeface="Roboto"/>
              </a:defRPr>
            </a:pPr>
            <a:r>
              <a:rPr sz="1000" b="0">
                <a:solidFill>
                  <a:srgbClr val="5F6F63"/>
                </a:solidFill>
                <a:latin typeface="Roboto"/>
              </a:rPr>
              <a:t>Sample Electrical &amp; Air Pty Ltd · Which jobs actually make money?</a:t>
            </a:r>
          </a:p>
        </p:txBody>
      </p:sp>
      <p:sp>
        <p:nvSpPr>
          <p:cNvPr id="4" name="TextBox 3"/>
          <p:cNvSpPr txBox="1"/>
          <p:nvPr/>
        </p:nvSpPr>
        <p:spPr>
          <a:xfrm>
            <a:off x="457200" y="411480"/>
            <a:ext cx="11247120" cy="548640"/>
          </a:xfrm>
          <a:prstGeom prst="rect">
            <a:avLst/>
          </a:prstGeom>
          <a:noFill/>
        </p:spPr>
        <p:txBody>
          <a:bodyPr wrap="square">
            <a:spAutoFit/>
          </a:bodyPr>
          <a:lstStyle/>
          <a:p>
            <a:pPr>
              <a:defRPr>
                <a:latin typeface="Roboto"/>
              </a:defRPr>
            </a:pPr>
            <a:r>
              <a:rPr sz="2400" b="1">
                <a:solidFill>
                  <a:srgbClr val="25342A"/>
                </a:solidFill>
                <a:latin typeface="Roboto"/>
              </a:rPr>
              <a:t>From gross margin to profit</a:t>
            </a:r>
          </a:p>
        </p:txBody>
      </p:sp>
      <p:sp>
        <p:nvSpPr>
          <p:cNvPr id="5" name="TextBox 4"/>
          <p:cNvSpPr txBox="1"/>
          <p:nvPr/>
        </p:nvSpPr>
        <p:spPr>
          <a:xfrm>
            <a:off x="457200" y="960120"/>
            <a:ext cx="11247120" cy="457200"/>
          </a:xfrm>
          <a:prstGeom prst="rect">
            <a:avLst/>
          </a:prstGeom>
          <a:noFill/>
        </p:spPr>
        <p:txBody>
          <a:bodyPr wrap="square">
            <a:spAutoFit/>
          </a:bodyPr>
          <a:lstStyle/>
          <a:p>
            <a:pPr>
              <a:defRPr>
                <a:latin typeface="Roboto"/>
              </a:defRPr>
            </a:pPr>
            <a:r>
              <a:rPr sz="1200" b="0">
                <a:solidFill>
                  <a:srgbClr val="5F6F63"/>
                </a:solidFill>
                <a:latin typeface="Roboto"/>
              </a:rPr>
              <a:t>September's jobs made $73,107 gross margin (36.1%). Technician time not charged to jobs took $3,430 and overheads $59,580, leaving $10,097 profit before tax (5.0% of revenue). To cover overheads, jobs need a 31.1% gross margin on average.</a:t>
            </a:r>
          </a:p>
        </p:txBody>
      </p:sp>
      <p:graphicFrame>
        <p:nvGraphicFramePr>
          <p:cNvPr id="6" name="Table 5"/>
          <p:cNvGraphicFramePr>
            <a:graphicFrameLocks noGrp="1"/>
          </p:cNvGraphicFramePr>
          <p:nvPr/>
        </p:nvGraphicFramePr>
        <p:xfrm>
          <a:off x="457200" y="1463040"/>
          <a:ext cx="11247120" cy="3950208"/>
        </p:xfrm>
        <a:graphic>
          <a:graphicData uri="http://schemas.openxmlformats.org/drawingml/2006/table">
            <a:tbl>
              <a:tblPr firstRow="1" bandRow="1">
                <a:tableStyleId>{5C22544A-7EE6-4342-B048-85BDC9FD1C3A}</a:tableStyleId>
              </a:tblPr>
              <a:tblGrid>
                <a:gridCol w="5623560"/>
                <a:gridCol w="5623560"/>
              </a:tblGrid>
              <a:tr h="329184">
                <a:tc>
                  <a:txBody>
                    <a:bodyPr/>
                    <a:lstStyle/>
                    <a:p>
                      <a:pPr>
                        <a:defRPr>
                          <a:latin typeface="Roboto"/>
                        </a:defRPr>
                      </a:pPr>
                    </a:p>
                  </a:txBody>
                  <a:tcPr>
                    <a:solidFill>
                      <a:srgbClr val="2F7A5D"/>
                    </a:solidFill>
                  </a:tcPr>
                </a:tc>
                <a:tc>
                  <a:txBody>
                    <a:bodyPr/>
                    <a:lstStyle/>
                    <a:p>
                      <a:pPr algn="r">
                        <a:defRPr>
                          <a:latin typeface="Roboto"/>
                        </a:defRPr>
                      </a:pPr>
                      <a:r>
                        <a:rPr sz="1100" b="1">
                          <a:solidFill>
                            <a:srgbClr val="FFFFFF"/>
                          </a:solidFill>
                          <a:latin typeface="Roboto"/>
                        </a:rPr>
                        <a:t>September 2026</a:t>
                      </a:r>
                    </a:p>
                  </a:txBody>
                  <a:tcPr>
                    <a:solidFill>
                      <a:srgbClr val="2F7A5D"/>
                    </a:solidFill>
                  </a:tcPr>
                </a:tc>
              </a:tr>
              <a:tr h="329184">
                <a:tc>
                  <a:txBody>
                    <a:bodyPr/>
                    <a:lstStyle/>
                    <a:p>
                      <a:pPr>
                        <a:defRPr>
                          <a:latin typeface="Roboto"/>
                        </a:defRPr>
                      </a:pPr>
                      <a:r>
                        <a:rPr sz="1050">
                          <a:solidFill>
                            <a:srgbClr val="25342A"/>
                          </a:solidFill>
                          <a:latin typeface="Roboto"/>
                        </a:rPr>
                        <a:t>Gross margin on jobs</a:t>
                      </a:r>
                    </a:p>
                  </a:txBody>
                  <a:tcPr>
                    <a:solidFill>
                      <a:srgbClr val="FFFFFF"/>
                    </a:solidFill>
                  </a:tcPr>
                </a:tc>
                <a:tc>
                  <a:txBody>
                    <a:bodyPr/>
                    <a:lstStyle/>
                    <a:p>
                      <a:pPr algn="r">
                        <a:defRPr>
                          <a:latin typeface="Roboto"/>
                        </a:defRPr>
                      </a:pPr>
                      <a:r>
                        <a:rPr sz="1050">
                          <a:solidFill>
                            <a:srgbClr val="25342A"/>
                          </a:solidFill>
                          <a:latin typeface="Roboto"/>
                        </a:rPr>
                        <a:t>$73,107</a:t>
                      </a:r>
                    </a:p>
                  </a:txBody>
                  <a:tcPr>
                    <a:solidFill>
                      <a:srgbClr val="FFFFFF"/>
                    </a:solidFill>
                  </a:tcPr>
                </a:tc>
              </a:tr>
              <a:tr h="329184">
                <a:tc>
                  <a:txBody>
                    <a:bodyPr/>
                    <a:lstStyle/>
                    <a:p>
                      <a:pPr>
                        <a:defRPr>
                          <a:latin typeface="Roboto"/>
                        </a:defRPr>
                      </a:pPr>
                      <a:r>
                        <a:rPr sz="1050">
                          <a:solidFill>
                            <a:srgbClr val="25342A"/>
                          </a:solidFill>
                          <a:latin typeface="Roboto"/>
                        </a:rPr>
                        <a:t>Technician wages and on-costs</a:t>
                      </a:r>
                    </a:p>
                  </a:txBody>
                  <a:tcPr>
                    <a:solidFill>
                      <a:srgbClr val="F7FAF7"/>
                    </a:solidFill>
                  </a:tcPr>
                </a:tc>
                <a:tc>
                  <a:txBody>
                    <a:bodyPr/>
                    <a:lstStyle/>
                    <a:p>
                      <a:pPr algn="r">
                        <a:defRPr>
                          <a:latin typeface="Roboto"/>
                        </a:defRPr>
                      </a:pPr>
                      <a:r>
                        <a:rPr sz="1050">
                          <a:solidFill>
                            <a:srgbClr val="25342A"/>
                          </a:solidFill>
                          <a:latin typeface="Roboto"/>
                        </a:rPr>
                        <a:t>$54,600</a:t>
                      </a:r>
                    </a:p>
                  </a:txBody>
                  <a:tcPr>
                    <a:solidFill>
                      <a:srgbClr val="F7FAF7"/>
                    </a:solidFill>
                  </a:tcPr>
                </a:tc>
              </a:tr>
              <a:tr h="329184">
                <a:tc>
                  <a:txBody>
                    <a:bodyPr/>
                    <a:lstStyle/>
                    <a:p>
                      <a:pPr>
                        <a:defRPr>
                          <a:latin typeface="Roboto"/>
                        </a:defRPr>
                      </a:pPr>
                      <a:r>
                        <a:rPr sz="1050">
                          <a:solidFill>
                            <a:srgbClr val="25342A"/>
                          </a:solidFill>
                          <a:latin typeface="Roboto"/>
                        </a:rPr>
                        <a:t>Technician time charged to jobs (at cost)</a:t>
                      </a:r>
                    </a:p>
                  </a:txBody>
                  <a:tcPr>
                    <a:solidFill>
                      <a:srgbClr val="FFFFFF"/>
                    </a:solidFill>
                  </a:tcPr>
                </a:tc>
                <a:tc>
                  <a:txBody>
                    <a:bodyPr/>
                    <a:lstStyle/>
                    <a:p>
                      <a:pPr algn="r">
                        <a:defRPr>
                          <a:latin typeface="Roboto"/>
                        </a:defRPr>
                      </a:pPr>
                      <a:r>
                        <a:rPr sz="1050">
                          <a:solidFill>
                            <a:srgbClr val="25342A"/>
                          </a:solidFill>
                          <a:latin typeface="Roboto"/>
                        </a:rPr>
                        <a:t>$51,170</a:t>
                      </a:r>
                    </a:p>
                  </a:txBody>
                  <a:tcPr>
                    <a:solidFill>
                      <a:srgbClr val="FFFFFF"/>
                    </a:solidFill>
                  </a:tcPr>
                </a:tc>
              </a:tr>
              <a:tr h="329184">
                <a:tc>
                  <a:txBody>
                    <a:bodyPr/>
                    <a:lstStyle/>
                    <a:p>
                      <a:pPr>
                        <a:defRPr>
                          <a:latin typeface="Roboto"/>
                        </a:defRPr>
                      </a:pPr>
                      <a:r>
                        <a:rPr sz="1050">
                          <a:solidFill>
                            <a:srgbClr val="25342A"/>
                          </a:solidFill>
                          <a:latin typeface="Roboto"/>
                        </a:rPr>
                        <a:t>Technician time not charged to jobs</a:t>
                      </a:r>
                    </a:p>
                  </a:txBody>
                  <a:tcPr>
                    <a:solidFill>
                      <a:srgbClr val="F7FAF7"/>
                    </a:solidFill>
                  </a:tcPr>
                </a:tc>
                <a:tc>
                  <a:txBody>
                    <a:bodyPr/>
                    <a:lstStyle/>
                    <a:p>
                      <a:pPr algn="r">
                        <a:defRPr>
                          <a:latin typeface="Roboto"/>
                        </a:defRPr>
                      </a:pPr>
                      <a:r>
                        <a:rPr sz="1050">
                          <a:solidFill>
                            <a:srgbClr val="25342A"/>
                          </a:solidFill>
                          <a:latin typeface="Roboto"/>
                        </a:rPr>
                        <a:t>$3,430</a:t>
                      </a:r>
                    </a:p>
                  </a:txBody>
                  <a:tcPr>
                    <a:solidFill>
                      <a:srgbClr val="F7FAF7"/>
                    </a:solidFill>
                  </a:tcPr>
                </a:tc>
              </a:tr>
              <a:tr h="329184">
                <a:tc>
                  <a:txBody>
                    <a:bodyPr/>
                    <a:lstStyle/>
                    <a:p>
                      <a:pPr>
                        <a:defRPr>
                          <a:latin typeface="Roboto"/>
                        </a:defRPr>
                      </a:pPr>
                      <a:r>
                        <a:rPr sz="1050">
                          <a:solidFill>
                            <a:srgbClr val="25342A"/>
                          </a:solidFill>
                          <a:latin typeface="Roboto"/>
                        </a:rPr>
                        <a:t>Gross profit (the P&amp;L)</a:t>
                      </a:r>
                    </a:p>
                  </a:txBody>
                  <a:tcPr>
                    <a:solidFill>
                      <a:srgbClr val="FFFFFF"/>
                    </a:solidFill>
                  </a:tcPr>
                </a:tc>
                <a:tc>
                  <a:txBody>
                    <a:bodyPr/>
                    <a:lstStyle/>
                    <a:p>
                      <a:pPr algn="r">
                        <a:defRPr>
                          <a:latin typeface="Roboto"/>
                        </a:defRPr>
                      </a:pPr>
                      <a:r>
                        <a:rPr sz="1050">
                          <a:solidFill>
                            <a:srgbClr val="25342A"/>
                          </a:solidFill>
                          <a:latin typeface="Roboto"/>
                        </a:rPr>
                        <a:t>$69,677</a:t>
                      </a:r>
                    </a:p>
                  </a:txBody>
                  <a:tcPr>
                    <a:solidFill>
                      <a:srgbClr val="FFFFFF"/>
                    </a:solidFill>
                  </a:tcPr>
                </a:tc>
              </a:tr>
              <a:tr h="329184">
                <a:tc>
                  <a:txBody>
                    <a:bodyPr/>
                    <a:lstStyle/>
                    <a:p>
                      <a:pPr>
                        <a:defRPr>
                          <a:latin typeface="Roboto"/>
                        </a:defRPr>
                      </a:pPr>
                      <a:r>
                        <a:rPr sz="1050">
                          <a:solidFill>
                            <a:srgbClr val="25342A"/>
                          </a:solidFill>
                          <a:latin typeface="Roboto"/>
                        </a:rPr>
                        <a:t>Overheads (operating expenses, depreciation, interest)</a:t>
                      </a:r>
                    </a:p>
                  </a:txBody>
                  <a:tcPr>
                    <a:solidFill>
                      <a:srgbClr val="F7FAF7"/>
                    </a:solidFill>
                  </a:tcPr>
                </a:tc>
                <a:tc>
                  <a:txBody>
                    <a:bodyPr/>
                    <a:lstStyle/>
                    <a:p>
                      <a:pPr algn="r">
                        <a:defRPr>
                          <a:latin typeface="Roboto"/>
                        </a:defRPr>
                      </a:pPr>
                      <a:r>
                        <a:rPr sz="1050">
                          <a:solidFill>
                            <a:srgbClr val="25342A"/>
                          </a:solidFill>
                          <a:latin typeface="Roboto"/>
                        </a:rPr>
                        <a:t>$59,580</a:t>
                      </a:r>
                    </a:p>
                  </a:txBody>
                  <a:tcPr>
                    <a:solidFill>
                      <a:srgbClr val="F7FAF7"/>
                    </a:solidFill>
                  </a:tcPr>
                </a:tc>
              </a:tr>
              <a:tr h="329184">
                <a:tc>
                  <a:txBody>
                    <a:bodyPr/>
                    <a:lstStyle/>
                    <a:p>
                      <a:pPr>
                        <a:defRPr>
                          <a:latin typeface="Roboto"/>
                        </a:defRPr>
                      </a:pPr>
                      <a:r>
                        <a:rPr sz="1050">
                          <a:solidFill>
                            <a:srgbClr val="25342A"/>
                          </a:solidFill>
                          <a:latin typeface="Roboto"/>
                        </a:rPr>
                        <a:t>Profit before tax (the P&amp;L)</a:t>
                      </a:r>
                    </a:p>
                  </a:txBody>
                  <a:tcPr>
                    <a:solidFill>
                      <a:srgbClr val="FFFFFF"/>
                    </a:solidFill>
                  </a:tcPr>
                </a:tc>
                <a:tc>
                  <a:txBody>
                    <a:bodyPr/>
                    <a:lstStyle/>
                    <a:p>
                      <a:pPr algn="r">
                        <a:defRPr>
                          <a:latin typeface="Roboto"/>
                        </a:defRPr>
                      </a:pPr>
                      <a:r>
                        <a:rPr sz="1050">
                          <a:solidFill>
                            <a:srgbClr val="25342A"/>
                          </a:solidFill>
                          <a:latin typeface="Roboto"/>
                        </a:rPr>
                        <a:t>$10,097</a:t>
                      </a:r>
                    </a:p>
                  </a:txBody>
                  <a:tcPr>
                    <a:solidFill>
                      <a:srgbClr val="FFFFFF"/>
                    </a:solidFill>
                  </a:tcPr>
                </a:tc>
              </a:tr>
              <a:tr h="329184">
                <a:tc>
                  <a:txBody>
                    <a:bodyPr/>
                    <a:lstStyle/>
                    <a:p>
                      <a:pPr>
                        <a:defRPr>
                          <a:latin typeface="Roboto"/>
                        </a:defRPr>
                      </a:pPr>
                      <a:r>
                        <a:rPr sz="1050">
                          <a:solidFill>
                            <a:srgbClr val="25342A"/>
                          </a:solidFill>
                          <a:latin typeface="Roboto"/>
                        </a:rPr>
                        <a:t>Revenue</a:t>
                      </a:r>
                    </a:p>
                  </a:txBody>
                  <a:tcPr>
                    <a:solidFill>
                      <a:srgbClr val="F7FAF7"/>
                    </a:solidFill>
                  </a:tcPr>
                </a:tc>
                <a:tc>
                  <a:txBody>
                    <a:bodyPr/>
                    <a:lstStyle/>
                    <a:p>
                      <a:pPr algn="r">
                        <a:defRPr>
                          <a:latin typeface="Roboto"/>
                        </a:defRPr>
                      </a:pPr>
                      <a:r>
                        <a:rPr sz="1050">
                          <a:solidFill>
                            <a:srgbClr val="25342A"/>
                          </a:solidFill>
                          <a:latin typeface="Roboto"/>
                        </a:rPr>
                        <a:t>$202,337</a:t>
                      </a:r>
                    </a:p>
                  </a:txBody>
                  <a:tcPr>
                    <a:solidFill>
                      <a:srgbClr val="F7FAF7"/>
                    </a:solidFill>
                  </a:tcPr>
                </a:tc>
              </a:tr>
              <a:tr h="329184">
                <a:tc>
                  <a:txBody>
                    <a:bodyPr/>
                    <a:lstStyle/>
                    <a:p>
                      <a:pPr>
                        <a:defRPr>
                          <a:latin typeface="Roboto"/>
                        </a:defRPr>
                      </a:pPr>
                      <a:r>
                        <a:rPr sz="1050">
                          <a:solidFill>
                            <a:srgbClr val="25342A"/>
                          </a:solidFill>
                          <a:latin typeface="Roboto"/>
                        </a:rPr>
                        <a:t>Gross margin on jobs, %</a:t>
                      </a:r>
                    </a:p>
                  </a:txBody>
                  <a:tcPr>
                    <a:solidFill>
                      <a:srgbClr val="FFFFFF"/>
                    </a:solidFill>
                  </a:tcPr>
                </a:tc>
                <a:tc>
                  <a:txBody>
                    <a:bodyPr/>
                    <a:lstStyle/>
                    <a:p>
                      <a:pPr algn="r">
                        <a:defRPr>
                          <a:latin typeface="Roboto"/>
                        </a:defRPr>
                      </a:pPr>
                      <a:r>
                        <a:rPr sz="1050">
                          <a:solidFill>
                            <a:srgbClr val="25342A"/>
                          </a:solidFill>
                          <a:latin typeface="Roboto"/>
                        </a:rPr>
                        <a:t>36.1%</a:t>
                      </a:r>
                    </a:p>
                  </a:txBody>
                  <a:tcPr>
                    <a:solidFill>
                      <a:srgbClr val="FFFFFF"/>
                    </a:solidFill>
                  </a:tcPr>
                </a:tc>
              </a:tr>
              <a:tr h="329184">
                <a:tc>
                  <a:txBody>
                    <a:bodyPr/>
                    <a:lstStyle/>
                    <a:p>
                      <a:pPr>
                        <a:defRPr>
                          <a:latin typeface="Roboto"/>
                        </a:defRPr>
                      </a:pPr>
                      <a:r>
                        <a:rPr sz="1050">
                          <a:solidFill>
                            <a:srgbClr val="25342A"/>
                          </a:solidFill>
                          <a:latin typeface="Roboto"/>
                        </a:rPr>
                        <a:t>Profit before tax, % of revenue</a:t>
                      </a:r>
                    </a:p>
                  </a:txBody>
                  <a:tcPr>
                    <a:solidFill>
                      <a:srgbClr val="F7FAF7"/>
                    </a:solidFill>
                  </a:tcPr>
                </a:tc>
                <a:tc>
                  <a:txBody>
                    <a:bodyPr/>
                    <a:lstStyle/>
                    <a:p>
                      <a:pPr algn="r">
                        <a:defRPr>
                          <a:latin typeface="Roboto"/>
                        </a:defRPr>
                      </a:pPr>
                      <a:r>
                        <a:rPr sz="1050">
                          <a:solidFill>
                            <a:srgbClr val="25342A"/>
                          </a:solidFill>
                          <a:latin typeface="Roboto"/>
                        </a:rPr>
                        <a:t>5.0%</a:t>
                      </a:r>
                    </a:p>
                  </a:txBody>
                  <a:tcPr>
                    <a:solidFill>
                      <a:srgbClr val="F7FAF7"/>
                    </a:solidFill>
                  </a:tcPr>
                </a:tc>
              </a:tr>
              <a:tr h="329184">
                <a:tc>
                  <a:txBody>
                    <a:bodyPr/>
                    <a:lstStyle/>
                    <a:p>
                      <a:pPr>
                        <a:defRPr>
                          <a:latin typeface="Roboto"/>
                        </a:defRPr>
                      </a:pPr>
                      <a:r>
                        <a:rPr sz="1050">
                          <a:solidFill>
                            <a:srgbClr val="25342A"/>
                          </a:solidFill>
                          <a:latin typeface="Roboto"/>
                        </a:rPr>
                        <a:t>Gross margin jobs need just to cover overheads and time not charged</a:t>
                      </a:r>
                    </a:p>
                  </a:txBody>
                  <a:tcPr>
                    <a:solidFill>
                      <a:srgbClr val="FFFFFF"/>
                    </a:solidFill>
                  </a:tcPr>
                </a:tc>
                <a:tc>
                  <a:txBody>
                    <a:bodyPr/>
                    <a:lstStyle/>
                    <a:p>
                      <a:pPr algn="r">
                        <a:defRPr>
                          <a:latin typeface="Roboto"/>
                        </a:defRPr>
                      </a:pPr>
                      <a:r>
                        <a:rPr sz="1050">
                          <a:solidFill>
                            <a:srgbClr val="25342A"/>
                          </a:solidFill>
                          <a:latin typeface="Roboto"/>
                        </a:rPr>
                        <a:t>31.1%</a:t>
                      </a:r>
                    </a:p>
                  </a:txBody>
                  <a:tcPr>
                    <a:solidFill>
                      <a:srgbClr val="FFFFFF"/>
                    </a:solidFill>
                  </a:tcPr>
                </a:tc>
              </a:tr>
            </a:tbl>
          </a:graphicData>
        </a:graphic>
      </p:graphicFrame>
      <p:sp>
        <p:nvSpPr>
          <p:cNvPr id="7" name="TextBox 6"/>
          <p:cNvSpPr txBox="1"/>
          <p:nvPr/>
        </p:nvSpPr>
        <p:spPr>
          <a:xfrm>
            <a:off x="457200" y="6492240"/>
            <a:ext cx="3657600" cy="274320"/>
          </a:xfrm>
          <a:prstGeom prst="rect">
            <a:avLst/>
          </a:prstGeom>
          <a:noFill/>
        </p:spPr>
        <p:txBody>
          <a:bodyPr wrap="square">
            <a:spAutoFit/>
          </a:bodyPr>
          <a:lstStyle/>
          <a:p>
            <a:pPr>
              <a:defRPr>
                <a:latin typeface="Roboto"/>
              </a:defRPr>
            </a:pPr>
            <a:r>
              <a:rPr sz="900" b="0">
                <a:solidFill>
                  <a:srgbClr val="5F6F63"/>
                </a:solidFill>
                <a:latin typeface="Roboto"/>
              </a:rPr>
              <a:t>job-margins.pptx</a:t>
            </a:r>
          </a:p>
        </p:txBody>
      </p:sp>
      <p:sp>
        <p:nvSpPr>
          <p:cNvPr id="8" name="TextBox 7"/>
          <p:cNvSpPr txBox="1"/>
          <p:nvPr/>
        </p:nvSpPr>
        <p:spPr>
          <a:xfrm>
            <a:off x="4297680" y="6492240"/>
            <a:ext cx="3657600" cy="274320"/>
          </a:xfrm>
          <a:prstGeom prst="rect">
            <a:avLst/>
          </a:prstGeom>
          <a:noFill/>
        </p:spPr>
        <p:txBody>
          <a:bodyPr wrap="square">
            <a:spAutoFit/>
          </a:bodyPr>
          <a:lstStyle/>
          <a:p>
            <a:pPr algn="ctr">
              <a:defRPr>
                <a:latin typeface="Roboto"/>
              </a:defRPr>
            </a:pPr>
            <a:r>
              <a:rPr sz="900" b="0">
                <a:solidFill>
                  <a:srgbClr val="5F6F63"/>
                </a:solidFill>
                <a:latin typeface="Roboto"/>
              </a:rPr>
              <a:t>Data retrieved 2pm, Tue 6 Oct 2026 · Sample data</a:t>
            </a:r>
          </a:p>
        </p:txBody>
      </p:sp>
      <p:sp>
        <p:nvSpPr>
          <p:cNvPr id="9" name="TextBox 8"/>
          <p:cNvSpPr txBox="1"/>
          <p:nvPr/>
        </p:nvSpPr>
        <p:spPr>
          <a:xfrm>
            <a:off x="8503920" y="6492240"/>
            <a:ext cx="3200400" cy="274320"/>
          </a:xfrm>
          <a:prstGeom prst="rect">
            <a:avLst/>
          </a:prstGeom>
          <a:noFill/>
        </p:spPr>
        <p:txBody>
          <a:bodyPr wrap="square">
            <a:spAutoFit/>
          </a:bodyPr>
          <a:lstStyle/>
          <a:p>
            <a:pPr algn="r">
              <a:defRPr>
                <a:latin typeface="Roboto"/>
              </a:defRPr>
            </a:pPr>
            <a:r>
              <a:rPr sz="900" b="0">
                <a:solidFill>
                  <a:srgbClr val="5F6F63"/>
                </a:solidFill>
                <a:latin typeface="Roboto"/>
              </a:rPr>
              <a:t>Slide 3 of 21</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2F7A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3" name="TextBox 2"/>
          <p:cNvSpPr txBox="1"/>
          <p:nvPr/>
        </p:nvSpPr>
        <p:spPr>
          <a:xfrm>
            <a:off x="457200" y="164592"/>
            <a:ext cx="7315200" cy="274320"/>
          </a:xfrm>
          <a:prstGeom prst="rect">
            <a:avLst/>
          </a:prstGeom>
          <a:noFill/>
        </p:spPr>
        <p:txBody>
          <a:bodyPr wrap="square">
            <a:spAutoFit/>
          </a:bodyPr>
          <a:lstStyle/>
          <a:p>
            <a:pPr>
              <a:defRPr>
                <a:latin typeface="Roboto"/>
              </a:defRPr>
            </a:pPr>
            <a:r>
              <a:rPr sz="1000" b="0">
                <a:solidFill>
                  <a:srgbClr val="5F6F63"/>
                </a:solidFill>
                <a:latin typeface="Roboto"/>
              </a:rPr>
              <a:t>Sample Electrical &amp; Air Pty Ltd · Which jobs actually make money?</a:t>
            </a:r>
          </a:p>
        </p:txBody>
      </p:sp>
      <p:sp>
        <p:nvSpPr>
          <p:cNvPr id="4" name="TextBox 3"/>
          <p:cNvSpPr txBox="1"/>
          <p:nvPr/>
        </p:nvSpPr>
        <p:spPr>
          <a:xfrm>
            <a:off x="457200" y="411480"/>
            <a:ext cx="11247120" cy="548640"/>
          </a:xfrm>
          <a:prstGeom prst="rect">
            <a:avLst/>
          </a:prstGeom>
          <a:noFill/>
        </p:spPr>
        <p:txBody>
          <a:bodyPr wrap="square">
            <a:spAutoFit/>
          </a:bodyPr>
          <a:lstStyle/>
          <a:p>
            <a:pPr>
              <a:defRPr>
                <a:latin typeface="Roboto"/>
              </a:defRPr>
            </a:pPr>
            <a:r>
              <a:rPr sz="2400" b="1">
                <a:solidFill>
                  <a:srgbClr val="25342A"/>
                </a:solidFill>
                <a:latin typeface="Roboto"/>
              </a:rPr>
              <a:t>Headline numbers · Type of job: All jobs</a:t>
            </a:r>
          </a:p>
        </p:txBody>
      </p:sp>
      <p:sp>
        <p:nvSpPr>
          <p:cNvPr id="5" name="Rectangle 4"/>
          <p:cNvSpPr/>
          <p:nvPr/>
        </p:nvSpPr>
        <p:spPr>
          <a:xfrm>
            <a:off x="457200" y="1645920"/>
            <a:ext cx="11277295" cy="2011680"/>
          </a:xfrm>
          <a:prstGeom prst="rect">
            <a:avLst/>
          </a:prstGeom>
          <a:solidFill>
            <a:srgbClr val="F7FAF7"/>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6" name="TextBox 5"/>
          <p:cNvSpPr txBox="1"/>
          <p:nvPr/>
        </p:nvSpPr>
        <p:spPr>
          <a:xfrm>
            <a:off x="640080" y="1783080"/>
            <a:ext cx="10911535" cy="457200"/>
          </a:xfrm>
          <a:prstGeom prst="rect">
            <a:avLst/>
          </a:prstGeom>
          <a:noFill/>
        </p:spPr>
        <p:txBody>
          <a:bodyPr wrap="square">
            <a:spAutoFit/>
          </a:bodyPr>
          <a:lstStyle/>
          <a:p>
            <a:pPr>
              <a:defRPr>
                <a:latin typeface="Roboto"/>
              </a:defRPr>
            </a:pPr>
            <a:r>
              <a:rPr sz="1200" b="0">
                <a:solidFill>
                  <a:srgbClr val="5F6F63"/>
                </a:solidFill>
                <a:latin typeface="Roboto"/>
              </a:rPr>
              <a:t>Job gross margin, September · All jobs</a:t>
            </a:r>
          </a:p>
        </p:txBody>
      </p:sp>
      <p:sp>
        <p:nvSpPr>
          <p:cNvPr id="7" name="TextBox 6"/>
          <p:cNvSpPr txBox="1"/>
          <p:nvPr/>
        </p:nvSpPr>
        <p:spPr>
          <a:xfrm>
            <a:off x="640080" y="2240280"/>
            <a:ext cx="10911535" cy="731520"/>
          </a:xfrm>
          <a:prstGeom prst="rect">
            <a:avLst/>
          </a:prstGeom>
          <a:noFill/>
        </p:spPr>
        <p:txBody>
          <a:bodyPr wrap="square">
            <a:spAutoFit/>
          </a:bodyPr>
          <a:lstStyle/>
          <a:p>
            <a:pPr>
              <a:defRPr>
                <a:latin typeface="Roboto"/>
              </a:defRPr>
            </a:pPr>
            <a:r>
              <a:rPr sz="3000" b="1">
                <a:solidFill>
                  <a:srgbClr val="2F7A5D"/>
                </a:solidFill>
                <a:latin typeface="Roboto"/>
              </a:rPr>
              <a:t>36.1%</a:t>
            </a:r>
          </a:p>
        </p:txBody>
      </p:sp>
      <p:sp>
        <p:nvSpPr>
          <p:cNvPr id="8" name="TextBox 7"/>
          <p:cNvSpPr txBox="1"/>
          <p:nvPr/>
        </p:nvSpPr>
        <p:spPr>
          <a:xfrm>
            <a:off x="640080" y="3017520"/>
            <a:ext cx="10911535" cy="548640"/>
          </a:xfrm>
          <a:prstGeom prst="rect">
            <a:avLst/>
          </a:prstGeom>
          <a:noFill/>
        </p:spPr>
        <p:txBody>
          <a:bodyPr wrap="square">
            <a:spAutoFit/>
          </a:bodyPr>
          <a:lstStyle/>
          <a:p>
            <a:pPr>
              <a:defRPr>
                <a:latin typeface="Roboto"/>
              </a:defRPr>
            </a:pPr>
            <a:r>
              <a:rPr sz="1100" b="0">
                <a:solidFill>
                  <a:srgbClr val="5F6F63"/>
                </a:solidFill>
                <a:latin typeface="Roboto"/>
              </a:rPr>
              <a:t>August 41.1%</a:t>
            </a:r>
          </a:p>
        </p:txBody>
      </p:sp>
      <p:sp>
        <p:nvSpPr>
          <p:cNvPr id="9" name="TextBox 8"/>
          <p:cNvSpPr txBox="1"/>
          <p:nvPr/>
        </p:nvSpPr>
        <p:spPr>
          <a:xfrm>
            <a:off x="457200" y="6492240"/>
            <a:ext cx="3657600" cy="274320"/>
          </a:xfrm>
          <a:prstGeom prst="rect">
            <a:avLst/>
          </a:prstGeom>
          <a:noFill/>
        </p:spPr>
        <p:txBody>
          <a:bodyPr wrap="square">
            <a:spAutoFit/>
          </a:bodyPr>
          <a:lstStyle/>
          <a:p>
            <a:pPr>
              <a:defRPr>
                <a:latin typeface="Roboto"/>
              </a:defRPr>
            </a:pPr>
            <a:r>
              <a:rPr sz="900" b="0">
                <a:solidFill>
                  <a:srgbClr val="5F6F63"/>
                </a:solidFill>
                <a:latin typeface="Roboto"/>
              </a:rPr>
              <a:t>job-margins.pptx</a:t>
            </a:r>
          </a:p>
        </p:txBody>
      </p:sp>
      <p:sp>
        <p:nvSpPr>
          <p:cNvPr id="10" name="TextBox 9"/>
          <p:cNvSpPr txBox="1"/>
          <p:nvPr/>
        </p:nvSpPr>
        <p:spPr>
          <a:xfrm>
            <a:off x="4297680" y="6492240"/>
            <a:ext cx="3657600" cy="274320"/>
          </a:xfrm>
          <a:prstGeom prst="rect">
            <a:avLst/>
          </a:prstGeom>
          <a:noFill/>
        </p:spPr>
        <p:txBody>
          <a:bodyPr wrap="square">
            <a:spAutoFit/>
          </a:bodyPr>
          <a:lstStyle/>
          <a:p>
            <a:pPr algn="ctr">
              <a:defRPr>
                <a:latin typeface="Roboto"/>
              </a:defRPr>
            </a:pPr>
            <a:r>
              <a:rPr sz="900" b="0">
                <a:solidFill>
                  <a:srgbClr val="5F6F63"/>
                </a:solidFill>
                <a:latin typeface="Roboto"/>
              </a:rPr>
              <a:t>Data retrieved 2pm, Tue 6 Oct 2026 · Sample data</a:t>
            </a:r>
          </a:p>
        </p:txBody>
      </p:sp>
      <p:sp>
        <p:nvSpPr>
          <p:cNvPr id="11" name="TextBox 10"/>
          <p:cNvSpPr txBox="1"/>
          <p:nvPr/>
        </p:nvSpPr>
        <p:spPr>
          <a:xfrm>
            <a:off x="8503920" y="6492240"/>
            <a:ext cx="3200400" cy="274320"/>
          </a:xfrm>
          <a:prstGeom prst="rect">
            <a:avLst/>
          </a:prstGeom>
          <a:noFill/>
        </p:spPr>
        <p:txBody>
          <a:bodyPr wrap="square">
            <a:spAutoFit/>
          </a:bodyPr>
          <a:lstStyle/>
          <a:p>
            <a:pPr algn="r">
              <a:defRPr>
                <a:latin typeface="Roboto"/>
              </a:defRPr>
            </a:pPr>
            <a:r>
              <a:rPr sz="900" b="0">
                <a:solidFill>
                  <a:srgbClr val="5F6F63"/>
                </a:solidFill>
                <a:latin typeface="Roboto"/>
              </a:rPr>
              <a:t>Slide 4 of 21</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2F7A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3" name="TextBox 2"/>
          <p:cNvSpPr txBox="1"/>
          <p:nvPr/>
        </p:nvSpPr>
        <p:spPr>
          <a:xfrm>
            <a:off x="457200" y="164592"/>
            <a:ext cx="7315200" cy="274320"/>
          </a:xfrm>
          <a:prstGeom prst="rect">
            <a:avLst/>
          </a:prstGeom>
          <a:noFill/>
        </p:spPr>
        <p:txBody>
          <a:bodyPr wrap="square">
            <a:spAutoFit/>
          </a:bodyPr>
          <a:lstStyle/>
          <a:p>
            <a:pPr>
              <a:defRPr>
                <a:latin typeface="Roboto"/>
              </a:defRPr>
            </a:pPr>
            <a:r>
              <a:rPr sz="1000" b="0">
                <a:solidFill>
                  <a:srgbClr val="5F6F63"/>
                </a:solidFill>
                <a:latin typeface="Roboto"/>
              </a:rPr>
              <a:t>Sample Electrical &amp; Air Pty Ltd · Which jobs actually make money?</a:t>
            </a:r>
          </a:p>
        </p:txBody>
      </p:sp>
      <p:sp>
        <p:nvSpPr>
          <p:cNvPr id="4" name="TextBox 3"/>
          <p:cNvSpPr txBox="1"/>
          <p:nvPr/>
        </p:nvSpPr>
        <p:spPr>
          <a:xfrm>
            <a:off x="457200" y="411480"/>
            <a:ext cx="11247120" cy="548640"/>
          </a:xfrm>
          <a:prstGeom prst="rect">
            <a:avLst/>
          </a:prstGeom>
          <a:noFill/>
        </p:spPr>
        <p:txBody>
          <a:bodyPr wrap="square">
            <a:spAutoFit/>
          </a:bodyPr>
          <a:lstStyle/>
          <a:p>
            <a:pPr>
              <a:defRPr>
                <a:latin typeface="Roboto"/>
              </a:defRPr>
            </a:pPr>
            <a:r>
              <a:rPr sz="2400" b="1">
                <a:solidFill>
                  <a:srgbClr val="25342A"/>
                </a:solidFill>
                <a:latin typeface="Roboto"/>
              </a:rPr>
              <a:t>Job gross margin by type of job, September 2026 · Gross margin % · Type of job: All jobs</a:t>
            </a:r>
          </a:p>
        </p:txBody>
      </p:sp>
      <p:sp>
        <p:nvSpPr>
          <p:cNvPr id="5" name="TextBox 4"/>
          <p:cNvSpPr txBox="1"/>
          <p:nvPr/>
        </p:nvSpPr>
        <p:spPr>
          <a:xfrm>
            <a:off x="457200" y="960120"/>
            <a:ext cx="11247120" cy="457200"/>
          </a:xfrm>
          <a:prstGeom prst="rect">
            <a:avLst/>
          </a:prstGeom>
          <a:noFill/>
        </p:spPr>
        <p:txBody>
          <a:bodyPr wrap="square">
            <a:spAutoFit/>
          </a:bodyPr>
          <a:lstStyle/>
          <a:p>
            <a:pPr>
              <a:defRPr>
                <a:latin typeface="Roboto"/>
              </a:defRPr>
            </a:pPr>
            <a:r>
              <a:rPr sz="1200" b="0">
                <a:solidFill>
                  <a:srgbClr val="5F6F63"/>
                </a:solidFill>
                <a:latin typeface="Roboto"/>
              </a:rPr>
              <a:t>Revenue less materials, subcontractors and technician time at $68/hour.</a:t>
            </a:r>
          </a:p>
        </p:txBody>
      </p:sp>
      <p:graphicFrame>
        <p:nvGraphicFramePr>
          <p:cNvPr id="6" name="Chart 5"/>
          <p:cNvGraphicFramePr>
            <a:graphicFrameLocks noGrp="1"/>
          </p:cNvGraphicFramePr>
          <p:nvPr/>
        </p:nvGraphicFramePr>
        <p:xfrm>
          <a:off x="457200" y="1463040"/>
          <a:ext cx="11247120" cy="4754880"/>
        </p:xfrm>
        <a:graphic>
          <a:graphicData uri="http://schemas.openxmlformats.org/drawingml/2006/chart">
            <c:chart xmlns:c="http://schemas.openxmlformats.org/drawingml/2006/chart" r:id="rId2"/>
          </a:graphicData>
        </a:graphic>
      </p:graphicFrame>
      <p:sp>
        <p:nvSpPr>
          <p:cNvPr id="7" name="TextBox 6"/>
          <p:cNvSpPr txBox="1"/>
          <p:nvPr/>
        </p:nvSpPr>
        <p:spPr>
          <a:xfrm>
            <a:off x="457200" y="6172200"/>
            <a:ext cx="10972800" cy="274320"/>
          </a:xfrm>
          <a:prstGeom prst="rect">
            <a:avLst/>
          </a:prstGeom>
          <a:noFill/>
        </p:spPr>
        <p:txBody>
          <a:bodyPr wrap="square">
            <a:spAutoFit/>
          </a:bodyPr>
          <a:lstStyle/>
          <a:p>
            <a:pPr>
              <a:defRPr>
                <a:latin typeface="Roboto"/>
              </a:defRPr>
            </a:pPr>
            <a:r>
              <a:rPr sz="1000" b="0">
                <a:solidFill>
                  <a:srgbClr val="5F6F63"/>
                </a:solidFill>
                <a:latin typeface="Roboto"/>
              </a:rPr>
              <a:t>Target 35.0%  ·  grey = below target</a:t>
            </a:r>
          </a:p>
        </p:txBody>
      </p:sp>
      <p:sp>
        <p:nvSpPr>
          <p:cNvPr id="8" name="TextBox 7"/>
          <p:cNvSpPr txBox="1"/>
          <p:nvPr/>
        </p:nvSpPr>
        <p:spPr>
          <a:xfrm>
            <a:off x="457200" y="6492240"/>
            <a:ext cx="3657600" cy="274320"/>
          </a:xfrm>
          <a:prstGeom prst="rect">
            <a:avLst/>
          </a:prstGeom>
          <a:noFill/>
        </p:spPr>
        <p:txBody>
          <a:bodyPr wrap="square">
            <a:spAutoFit/>
          </a:bodyPr>
          <a:lstStyle/>
          <a:p>
            <a:pPr>
              <a:defRPr>
                <a:latin typeface="Roboto"/>
              </a:defRPr>
            </a:pPr>
            <a:r>
              <a:rPr sz="900" b="0">
                <a:solidFill>
                  <a:srgbClr val="5F6F63"/>
                </a:solidFill>
                <a:latin typeface="Roboto"/>
              </a:rPr>
              <a:t>job-margins.pptx</a:t>
            </a:r>
          </a:p>
        </p:txBody>
      </p:sp>
      <p:sp>
        <p:nvSpPr>
          <p:cNvPr id="9" name="TextBox 8"/>
          <p:cNvSpPr txBox="1"/>
          <p:nvPr/>
        </p:nvSpPr>
        <p:spPr>
          <a:xfrm>
            <a:off x="4297680" y="6492240"/>
            <a:ext cx="3657600" cy="274320"/>
          </a:xfrm>
          <a:prstGeom prst="rect">
            <a:avLst/>
          </a:prstGeom>
          <a:noFill/>
        </p:spPr>
        <p:txBody>
          <a:bodyPr wrap="square">
            <a:spAutoFit/>
          </a:bodyPr>
          <a:lstStyle/>
          <a:p>
            <a:pPr algn="ctr">
              <a:defRPr>
                <a:latin typeface="Roboto"/>
              </a:defRPr>
            </a:pPr>
            <a:r>
              <a:rPr sz="900" b="0">
                <a:solidFill>
                  <a:srgbClr val="5F6F63"/>
                </a:solidFill>
                <a:latin typeface="Roboto"/>
              </a:rPr>
              <a:t>Data retrieved 2pm, Tue 6 Oct 2026 · Sample data</a:t>
            </a:r>
          </a:p>
        </p:txBody>
      </p:sp>
      <p:sp>
        <p:nvSpPr>
          <p:cNvPr id="10" name="TextBox 9"/>
          <p:cNvSpPr txBox="1"/>
          <p:nvPr/>
        </p:nvSpPr>
        <p:spPr>
          <a:xfrm>
            <a:off x="8503920" y="6492240"/>
            <a:ext cx="3200400" cy="274320"/>
          </a:xfrm>
          <a:prstGeom prst="rect">
            <a:avLst/>
          </a:prstGeom>
          <a:noFill/>
        </p:spPr>
        <p:txBody>
          <a:bodyPr wrap="square">
            <a:spAutoFit/>
          </a:bodyPr>
          <a:lstStyle/>
          <a:p>
            <a:pPr algn="r">
              <a:defRPr>
                <a:latin typeface="Roboto"/>
              </a:defRPr>
            </a:pPr>
            <a:r>
              <a:rPr sz="900" b="0">
                <a:solidFill>
                  <a:srgbClr val="5F6F63"/>
                </a:solidFill>
                <a:latin typeface="Roboto"/>
              </a:rPr>
              <a:t>Slide 5 of 21</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2F7A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3" name="TextBox 2"/>
          <p:cNvSpPr txBox="1"/>
          <p:nvPr/>
        </p:nvSpPr>
        <p:spPr>
          <a:xfrm>
            <a:off x="457200" y="164592"/>
            <a:ext cx="7315200" cy="274320"/>
          </a:xfrm>
          <a:prstGeom prst="rect">
            <a:avLst/>
          </a:prstGeom>
          <a:noFill/>
        </p:spPr>
        <p:txBody>
          <a:bodyPr wrap="square">
            <a:spAutoFit/>
          </a:bodyPr>
          <a:lstStyle/>
          <a:p>
            <a:pPr>
              <a:defRPr>
                <a:latin typeface="Roboto"/>
              </a:defRPr>
            </a:pPr>
            <a:r>
              <a:rPr sz="1000" b="0">
                <a:solidFill>
                  <a:srgbClr val="5F6F63"/>
                </a:solidFill>
                <a:latin typeface="Roboto"/>
              </a:rPr>
              <a:t>Sample Electrical &amp; Air Pty Ltd · Which jobs actually make money?</a:t>
            </a:r>
          </a:p>
        </p:txBody>
      </p:sp>
      <p:sp>
        <p:nvSpPr>
          <p:cNvPr id="4" name="TextBox 3"/>
          <p:cNvSpPr txBox="1"/>
          <p:nvPr/>
        </p:nvSpPr>
        <p:spPr>
          <a:xfrm>
            <a:off x="457200" y="411480"/>
            <a:ext cx="11247120" cy="548640"/>
          </a:xfrm>
          <a:prstGeom prst="rect">
            <a:avLst/>
          </a:prstGeom>
          <a:noFill/>
        </p:spPr>
        <p:txBody>
          <a:bodyPr wrap="square">
            <a:spAutoFit/>
          </a:bodyPr>
          <a:lstStyle/>
          <a:p>
            <a:pPr>
              <a:defRPr>
                <a:latin typeface="Roboto"/>
              </a:defRPr>
            </a:pPr>
            <a:r>
              <a:rPr sz="2400" b="1">
                <a:solidFill>
                  <a:srgbClr val="25342A"/>
                </a:solidFill>
                <a:latin typeface="Roboto"/>
              </a:rPr>
              <a:t>Job gross margin by type of job, September 2026 · Gross margin $ · Type of job: All jobs</a:t>
            </a:r>
          </a:p>
        </p:txBody>
      </p:sp>
      <p:sp>
        <p:nvSpPr>
          <p:cNvPr id="5" name="TextBox 4"/>
          <p:cNvSpPr txBox="1"/>
          <p:nvPr/>
        </p:nvSpPr>
        <p:spPr>
          <a:xfrm>
            <a:off x="457200" y="960120"/>
            <a:ext cx="11247120" cy="457200"/>
          </a:xfrm>
          <a:prstGeom prst="rect">
            <a:avLst/>
          </a:prstGeom>
          <a:noFill/>
        </p:spPr>
        <p:txBody>
          <a:bodyPr wrap="square">
            <a:spAutoFit/>
          </a:bodyPr>
          <a:lstStyle/>
          <a:p>
            <a:pPr>
              <a:defRPr>
                <a:latin typeface="Roboto"/>
              </a:defRPr>
            </a:pPr>
            <a:r>
              <a:rPr sz="1200" b="0">
                <a:solidFill>
                  <a:srgbClr val="5F6F63"/>
                </a:solidFill>
                <a:latin typeface="Roboto"/>
              </a:rPr>
              <a:t>Revenue less materials, subcontractors and technician time at $68/hour.</a:t>
            </a:r>
          </a:p>
        </p:txBody>
      </p:sp>
      <p:graphicFrame>
        <p:nvGraphicFramePr>
          <p:cNvPr id="6" name="Chart 5"/>
          <p:cNvGraphicFramePr>
            <a:graphicFrameLocks noGrp="1"/>
          </p:cNvGraphicFramePr>
          <p:nvPr/>
        </p:nvGraphicFramePr>
        <p:xfrm>
          <a:off x="457200" y="1463040"/>
          <a:ext cx="11247120" cy="4754880"/>
        </p:xfrm>
        <a:graphic>
          <a:graphicData uri="http://schemas.openxmlformats.org/drawingml/2006/chart">
            <c:chart xmlns:c="http://schemas.openxmlformats.org/drawingml/2006/chart" r:id="rId2"/>
          </a:graphicData>
        </a:graphic>
      </p:graphicFrame>
      <p:sp>
        <p:nvSpPr>
          <p:cNvPr id="7" name="TextBox 6"/>
          <p:cNvSpPr txBox="1"/>
          <p:nvPr/>
        </p:nvSpPr>
        <p:spPr>
          <a:xfrm>
            <a:off x="457200" y="6492240"/>
            <a:ext cx="3657600" cy="274320"/>
          </a:xfrm>
          <a:prstGeom prst="rect">
            <a:avLst/>
          </a:prstGeom>
          <a:noFill/>
        </p:spPr>
        <p:txBody>
          <a:bodyPr wrap="square">
            <a:spAutoFit/>
          </a:bodyPr>
          <a:lstStyle/>
          <a:p>
            <a:pPr>
              <a:defRPr>
                <a:latin typeface="Roboto"/>
              </a:defRPr>
            </a:pPr>
            <a:r>
              <a:rPr sz="900" b="0">
                <a:solidFill>
                  <a:srgbClr val="5F6F63"/>
                </a:solidFill>
                <a:latin typeface="Roboto"/>
              </a:rPr>
              <a:t>job-margins.pptx</a:t>
            </a:r>
          </a:p>
        </p:txBody>
      </p:sp>
      <p:sp>
        <p:nvSpPr>
          <p:cNvPr id="8" name="TextBox 7"/>
          <p:cNvSpPr txBox="1"/>
          <p:nvPr/>
        </p:nvSpPr>
        <p:spPr>
          <a:xfrm>
            <a:off x="4297680" y="6492240"/>
            <a:ext cx="3657600" cy="274320"/>
          </a:xfrm>
          <a:prstGeom prst="rect">
            <a:avLst/>
          </a:prstGeom>
          <a:noFill/>
        </p:spPr>
        <p:txBody>
          <a:bodyPr wrap="square">
            <a:spAutoFit/>
          </a:bodyPr>
          <a:lstStyle/>
          <a:p>
            <a:pPr algn="ctr">
              <a:defRPr>
                <a:latin typeface="Roboto"/>
              </a:defRPr>
            </a:pPr>
            <a:r>
              <a:rPr sz="900" b="0">
                <a:solidFill>
                  <a:srgbClr val="5F6F63"/>
                </a:solidFill>
                <a:latin typeface="Roboto"/>
              </a:rPr>
              <a:t>Data retrieved 2pm, Tue 6 Oct 2026 · Sample data</a:t>
            </a:r>
          </a:p>
        </p:txBody>
      </p:sp>
      <p:sp>
        <p:nvSpPr>
          <p:cNvPr id="9" name="TextBox 8"/>
          <p:cNvSpPr txBox="1"/>
          <p:nvPr/>
        </p:nvSpPr>
        <p:spPr>
          <a:xfrm>
            <a:off x="8503920" y="6492240"/>
            <a:ext cx="3200400" cy="274320"/>
          </a:xfrm>
          <a:prstGeom prst="rect">
            <a:avLst/>
          </a:prstGeom>
          <a:noFill/>
        </p:spPr>
        <p:txBody>
          <a:bodyPr wrap="square">
            <a:spAutoFit/>
          </a:bodyPr>
          <a:lstStyle/>
          <a:p>
            <a:pPr algn="r">
              <a:defRPr>
                <a:latin typeface="Roboto"/>
              </a:defRPr>
            </a:pPr>
            <a:r>
              <a:rPr sz="900" b="0">
                <a:solidFill>
                  <a:srgbClr val="5F6F63"/>
                </a:solidFill>
                <a:latin typeface="Roboto"/>
              </a:rPr>
              <a:t>Slide 6 of 21</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2F7A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3" name="TextBox 2"/>
          <p:cNvSpPr txBox="1"/>
          <p:nvPr/>
        </p:nvSpPr>
        <p:spPr>
          <a:xfrm>
            <a:off x="457200" y="164592"/>
            <a:ext cx="7315200" cy="274320"/>
          </a:xfrm>
          <a:prstGeom prst="rect">
            <a:avLst/>
          </a:prstGeom>
          <a:noFill/>
        </p:spPr>
        <p:txBody>
          <a:bodyPr wrap="square">
            <a:spAutoFit/>
          </a:bodyPr>
          <a:lstStyle/>
          <a:p>
            <a:pPr>
              <a:defRPr>
                <a:latin typeface="Roboto"/>
              </a:defRPr>
            </a:pPr>
            <a:r>
              <a:rPr sz="1000" b="0">
                <a:solidFill>
                  <a:srgbClr val="5F6F63"/>
                </a:solidFill>
                <a:latin typeface="Roboto"/>
              </a:rPr>
              <a:t>Sample Electrical &amp; Air Pty Ltd · Which jobs actually make money?</a:t>
            </a:r>
          </a:p>
        </p:txBody>
      </p:sp>
      <p:sp>
        <p:nvSpPr>
          <p:cNvPr id="4" name="TextBox 3"/>
          <p:cNvSpPr txBox="1"/>
          <p:nvPr/>
        </p:nvSpPr>
        <p:spPr>
          <a:xfrm>
            <a:off x="457200" y="411480"/>
            <a:ext cx="11247120" cy="548640"/>
          </a:xfrm>
          <a:prstGeom prst="rect">
            <a:avLst/>
          </a:prstGeom>
          <a:noFill/>
        </p:spPr>
        <p:txBody>
          <a:bodyPr wrap="square">
            <a:spAutoFit/>
          </a:bodyPr>
          <a:lstStyle/>
          <a:p>
            <a:pPr>
              <a:defRPr>
                <a:latin typeface="Roboto"/>
              </a:defRPr>
            </a:pPr>
            <a:r>
              <a:rPr sz="2400" b="1">
                <a:solidFill>
                  <a:srgbClr val="25342A"/>
                </a:solidFill>
                <a:latin typeface="Roboto"/>
              </a:rPr>
              <a:t>What it shows · Type of job: All jobs</a:t>
            </a:r>
          </a:p>
        </p:txBody>
      </p:sp>
      <p:sp>
        <p:nvSpPr>
          <p:cNvPr id="5" name="Rectangle 4"/>
          <p:cNvSpPr/>
          <p:nvPr/>
        </p:nvSpPr>
        <p:spPr>
          <a:xfrm>
            <a:off x="457200" y="1554480"/>
            <a:ext cx="5501487" cy="4389120"/>
          </a:xfrm>
          <a:prstGeom prst="rect">
            <a:avLst/>
          </a:prstGeom>
          <a:solidFill>
            <a:srgbClr val="FFFFFF"/>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6" name="TextBox 5"/>
          <p:cNvSpPr txBox="1"/>
          <p:nvPr/>
        </p:nvSpPr>
        <p:spPr>
          <a:xfrm>
            <a:off x="685800" y="1691640"/>
            <a:ext cx="5044287" cy="365760"/>
          </a:xfrm>
          <a:prstGeom prst="rect">
            <a:avLst/>
          </a:prstGeom>
          <a:noFill/>
        </p:spPr>
        <p:txBody>
          <a:bodyPr wrap="square">
            <a:spAutoFit/>
          </a:bodyPr>
          <a:lstStyle/>
          <a:p>
            <a:pPr>
              <a:defRPr>
                <a:latin typeface="Roboto"/>
              </a:defRPr>
            </a:pPr>
            <a:r>
              <a:rPr sz="1100" b="1">
                <a:solidFill>
                  <a:srgbClr val="5F6F63"/>
                </a:solidFill>
                <a:latin typeface="Roboto"/>
              </a:rPr>
              <a:t>WHAT IT SHOWS</a:t>
            </a:r>
          </a:p>
        </p:txBody>
      </p:sp>
      <p:sp>
        <p:nvSpPr>
          <p:cNvPr id="7" name="TextBox 6"/>
          <p:cNvSpPr txBox="1"/>
          <p:nvPr/>
        </p:nvSpPr>
        <p:spPr>
          <a:xfrm>
            <a:off x="685800" y="2103120"/>
            <a:ext cx="5044287" cy="3749039"/>
          </a:xfrm>
          <a:prstGeom prst="rect">
            <a:avLst/>
          </a:prstGeom>
          <a:noFill/>
        </p:spPr>
        <p:txBody>
          <a:bodyPr wrap="square">
            <a:spAutoFit/>
          </a:bodyPr>
          <a:lstStyle/>
          <a:p>
            <a:pPr>
              <a:defRPr>
                <a:latin typeface="Roboto"/>
              </a:defRPr>
            </a:pPr>
            <a:r>
              <a:rPr sz="1600" b="0">
                <a:solidFill>
                  <a:srgbClr val="25342A"/>
                </a:solidFill>
                <a:latin typeface="Roboto"/>
              </a:rPr>
              <a:t>In September maintenance contracts made a 59.5% job gross margin, installations made a 27.0% job gross margin, call-outs and repairs made a 43.9% job gross margin (technician time at $68 an hour, wages and all on-costs). Jobs need 31.1% just to cover overheads.</a:t>
            </a:r>
          </a:p>
        </p:txBody>
      </p:sp>
      <p:sp>
        <p:nvSpPr>
          <p:cNvPr id="8" name="Rectangle 7"/>
          <p:cNvSpPr/>
          <p:nvPr/>
        </p:nvSpPr>
        <p:spPr>
          <a:xfrm>
            <a:off x="6233007" y="1554480"/>
            <a:ext cx="5501487" cy="4389120"/>
          </a:xfrm>
          <a:prstGeom prst="rect">
            <a:avLst/>
          </a:prstGeom>
          <a:solidFill>
            <a:srgbClr val="EEF5F0"/>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9" name="TextBox 8"/>
          <p:cNvSpPr txBox="1"/>
          <p:nvPr/>
        </p:nvSpPr>
        <p:spPr>
          <a:xfrm>
            <a:off x="6461607" y="1691640"/>
            <a:ext cx="5044287" cy="365760"/>
          </a:xfrm>
          <a:prstGeom prst="rect">
            <a:avLst/>
          </a:prstGeom>
          <a:noFill/>
        </p:spPr>
        <p:txBody>
          <a:bodyPr wrap="square">
            <a:spAutoFit/>
          </a:bodyPr>
          <a:lstStyle/>
          <a:p>
            <a:pPr>
              <a:defRPr>
                <a:latin typeface="Roboto"/>
              </a:defRPr>
            </a:pPr>
            <a:r>
              <a:rPr sz="1100" b="1">
                <a:solidFill>
                  <a:srgbClr val="5F6F63"/>
                </a:solidFill>
                <a:latin typeface="Roboto"/>
              </a:rPr>
              <a:t>WHAT YOU'D DO ABOUT IT</a:t>
            </a:r>
          </a:p>
        </p:txBody>
      </p:sp>
      <p:sp>
        <p:nvSpPr>
          <p:cNvPr id="10" name="TextBox 9"/>
          <p:cNvSpPr txBox="1"/>
          <p:nvPr/>
        </p:nvSpPr>
        <p:spPr>
          <a:xfrm>
            <a:off x="6461607" y="2103120"/>
            <a:ext cx="5044287" cy="3749039"/>
          </a:xfrm>
          <a:prstGeom prst="rect">
            <a:avLst/>
          </a:prstGeom>
          <a:noFill/>
        </p:spPr>
        <p:txBody>
          <a:bodyPr wrap="square">
            <a:spAutoFit/>
          </a:bodyPr>
          <a:lstStyle/>
          <a:p>
            <a:pPr>
              <a:defRPr>
                <a:latin typeface="Roboto"/>
              </a:defRPr>
            </a:pPr>
            <a:r>
              <a:rPr sz="1600" b="0">
                <a:solidFill>
                  <a:srgbClr val="25342A"/>
                </a:solidFill>
                <a:latin typeface="Roboto"/>
              </a:rPr>
              <a:t>Maintenance contracts: 59.5% gross margin, the most profitable work you do. Installations: 27.0% gross margin, below the 31.1% needed to cover overheads.</a:t>
            </a:r>
          </a:p>
        </p:txBody>
      </p:sp>
      <p:sp>
        <p:nvSpPr>
          <p:cNvPr id="11" name="TextBox 10"/>
          <p:cNvSpPr txBox="1"/>
          <p:nvPr/>
        </p:nvSpPr>
        <p:spPr>
          <a:xfrm>
            <a:off x="457200" y="6492240"/>
            <a:ext cx="3657600" cy="274320"/>
          </a:xfrm>
          <a:prstGeom prst="rect">
            <a:avLst/>
          </a:prstGeom>
          <a:noFill/>
        </p:spPr>
        <p:txBody>
          <a:bodyPr wrap="square">
            <a:spAutoFit/>
          </a:bodyPr>
          <a:lstStyle/>
          <a:p>
            <a:pPr>
              <a:defRPr>
                <a:latin typeface="Roboto"/>
              </a:defRPr>
            </a:pPr>
            <a:r>
              <a:rPr sz="900" b="0">
                <a:solidFill>
                  <a:srgbClr val="5F6F63"/>
                </a:solidFill>
                <a:latin typeface="Roboto"/>
              </a:rPr>
              <a:t>job-margins.pptx</a:t>
            </a:r>
          </a:p>
        </p:txBody>
      </p:sp>
      <p:sp>
        <p:nvSpPr>
          <p:cNvPr id="12" name="TextBox 11"/>
          <p:cNvSpPr txBox="1"/>
          <p:nvPr/>
        </p:nvSpPr>
        <p:spPr>
          <a:xfrm>
            <a:off x="4297680" y="6492240"/>
            <a:ext cx="3657600" cy="274320"/>
          </a:xfrm>
          <a:prstGeom prst="rect">
            <a:avLst/>
          </a:prstGeom>
          <a:noFill/>
        </p:spPr>
        <p:txBody>
          <a:bodyPr wrap="square">
            <a:spAutoFit/>
          </a:bodyPr>
          <a:lstStyle/>
          <a:p>
            <a:pPr algn="ctr">
              <a:defRPr>
                <a:latin typeface="Roboto"/>
              </a:defRPr>
            </a:pPr>
            <a:r>
              <a:rPr sz="900" b="0">
                <a:solidFill>
                  <a:srgbClr val="5F6F63"/>
                </a:solidFill>
                <a:latin typeface="Roboto"/>
              </a:rPr>
              <a:t>Data retrieved 2pm, Tue 6 Oct 2026 · Sample data</a:t>
            </a:r>
          </a:p>
        </p:txBody>
      </p:sp>
      <p:sp>
        <p:nvSpPr>
          <p:cNvPr id="13" name="TextBox 12"/>
          <p:cNvSpPr txBox="1"/>
          <p:nvPr/>
        </p:nvSpPr>
        <p:spPr>
          <a:xfrm>
            <a:off x="8503920" y="6492240"/>
            <a:ext cx="3200400" cy="274320"/>
          </a:xfrm>
          <a:prstGeom prst="rect">
            <a:avLst/>
          </a:prstGeom>
          <a:noFill/>
        </p:spPr>
        <p:txBody>
          <a:bodyPr wrap="square">
            <a:spAutoFit/>
          </a:bodyPr>
          <a:lstStyle/>
          <a:p>
            <a:pPr algn="r">
              <a:defRPr>
                <a:latin typeface="Roboto"/>
              </a:defRPr>
            </a:pPr>
            <a:r>
              <a:rPr sz="900" b="0">
                <a:solidFill>
                  <a:srgbClr val="5F6F63"/>
                </a:solidFill>
                <a:latin typeface="Roboto"/>
              </a:rPr>
              <a:t>Slide 7 of 21</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2F7A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3" name="TextBox 2"/>
          <p:cNvSpPr txBox="1"/>
          <p:nvPr/>
        </p:nvSpPr>
        <p:spPr>
          <a:xfrm>
            <a:off x="457200" y="164592"/>
            <a:ext cx="7315200" cy="274320"/>
          </a:xfrm>
          <a:prstGeom prst="rect">
            <a:avLst/>
          </a:prstGeom>
          <a:noFill/>
        </p:spPr>
        <p:txBody>
          <a:bodyPr wrap="square">
            <a:spAutoFit/>
          </a:bodyPr>
          <a:lstStyle/>
          <a:p>
            <a:pPr>
              <a:defRPr>
                <a:latin typeface="Roboto"/>
              </a:defRPr>
            </a:pPr>
            <a:r>
              <a:rPr sz="1000" b="0">
                <a:solidFill>
                  <a:srgbClr val="5F6F63"/>
                </a:solidFill>
                <a:latin typeface="Roboto"/>
              </a:rPr>
              <a:t>Sample Electrical &amp; Air Pty Ltd · Which jobs actually make money?</a:t>
            </a:r>
          </a:p>
        </p:txBody>
      </p:sp>
      <p:sp>
        <p:nvSpPr>
          <p:cNvPr id="4" name="TextBox 3"/>
          <p:cNvSpPr txBox="1"/>
          <p:nvPr/>
        </p:nvSpPr>
        <p:spPr>
          <a:xfrm>
            <a:off x="457200" y="411480"/>
            <a:ext cx="11247120" cy="548640"/>
          </a:xfrm>
          <a:prstGeom prst="rect">
            <a:avLst/>
          </a:prstGeom>
          <a:noFill/>
        </p:spPr>
        <p:txBody>
          <a:bodyPr wrap="square">
            <a:spAutoFit/>
          </a:bodyPr>
          <a:lstStyle/>
          <a:p>
            <a:pPr>
              <a:defRPr>
                <a:latin typeface="Roboto"/>
              </a:defRPr>
            </a:pPr>
            <a:r>
              <a:rPr sz="2400" b="1">
                <a:solidFill>
                  <a:srgbClr val="25342A"/>
                </a:solidFill>
                <a:latin typeface="Roboto"/>
              </a:rPr>
              <a:t>Headline numbers · Type of job: Maintenance contracts</a:t>
            </a:r>
          </a:p>
        </p:txBody>
      </p:sp>
      <p:sp>
        <p:nvSpPr>
          <p:cNvPr id="5" name="Rectangle 4"/>
          <p:cNvSpPr/>
          <p:nvPr/>
        </p:nvSpPr>
        <p:spPr>
          <a:xfrm>
            <a:off x="457200" y="1645920"/>
            <a:ext cx="11277295" cy="2011680"/>
          </a:xfrm>
          <a:prstGeom prst="rect">
            <a:avLst/>
          </a:prstGeom>
          <a:solidFill>
            <a:srgbClr val="F7FAF7"/>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6" name="TextBox 5"/>
          <p:cNvSpPr txBox="1"/>
          <p:nvPr/>
        </p:nvSpPr>
        <p:spPr>
          <a:xfrm>
            <a:off x="640080" y="1783080"/>
            <a:ext cx="10911535" cy="457200"/>
          </a:xfrm>
          <a:prstGeom prst="rect">
            <a:avLst/>
          </a:prstGeom>
          <a:noFill/>
        </p:spPr>
        <p:txBody>
          <a:bodyPr wrap="square">
            <a:spAutoFit/>
          </a:bodyPr>
          <a:lstStyle/>
          <a:p>
            <a:pPr>
              <a:defRPr>
                <a:latin typeface="Roboto"/>
              </a:defRPr>
            </a:pPr>
            <a:r>
              <a:rPr sz="1200" b="0">
                <a:solidFill>
                  <a:srgbClr val="5F6F63"/>
                </a:solidFill>
                <a:latin typeface="Roboto"/>
              </a:rPr>
              <a:t>Job gross margin, September · Maintenance contracts</a:t>
            </a:r>
          </a:p>
        </p:txBody>
      </p:sp>
      <p:sp>
        <p:nvSpPr>
          <p:cNvPr id="7" name="TextBox 6"/>
          <p:cNvSpPr txBox="1"/>
          <p:nvPr/>
        </p:nvSpPr>
        <p:spPr>
          <a:xfrm>
            <a:off x="640080" y="2240280"/>
            <a:ext cx="10911535" cy="731520"/>
          </a:xfrm>
          <a:prstGeom prst="rect">
            <a:avLst/>
          </a:prstGeom>
          <a:noFill/>
        </p:spPr>
        <p:txBody>
          <a:bodyPr wrap="square">
            <a:spAutoFit/>
          </a:bodyPr>
          <a:lstStyle/>
          <a:p>
            <a:pPr>
              <a:defRPr>
                <a:latin typeface="Roboto"/>
              </a:defRPr>
            </a:pPr>
            <a:r>
              <a:rPr sz="3000" b="1">
                <a:solidFill>
                  <a:srgbClr val="2F7A5D"/>
                </a:solidFill>
                <a:latin typeface="Roboto"/>
              </a:rPr>
              <a:t>59.5%</a:t>
            </a:r>
          </a:p>
        </p:txBody>
      </p:sp>
      <p:sp>
        <p:nvSpPr>
          <p:cNvPr id="8" name="TextBox 7"/>
          <p:cNvSpPr txBox="1"/>
          <p:nvPr/>
        </p:nvSpPr>
        <p:spPr>
          <a:xfrm>
            <a:off x="640080" y="3017520"/>
            <a:ext cx="10911535" cy="548640"/>
          </a:xfrm>
          <a:prstGeom prst="rect">
            <a:avLst/>
          </a:prstGeom>
          <a:noFill/>
        </p:spPr>
        <p:txBody>
          <a:bodyPr wrap="square">
            <a:spAutoFit/>
          </a:bodyPr>
          <a:lstStyle/>
          <a:p>
            <a:pPr>
              <a:defRPr>
                <a:latin typeface="Roboto"/>
              </a:defRPr>
            </a:pPr>
            <a:r>
              <a:rPr sz="1100" b="0">
                <a:solidFill>
                  <a:srgbClr val="5F6F63"/>
                </a:solidFill>
                <a:latin typeface="Roboto"/>
              </a:rPr>
              <a:t>August 59.5%</a:t>
            </a:r>
          </a:p>
        </p:txBody>
      </p:sp>
      <p:sp>
        <p:nvSpPr>
          <p:cNvPr id="9" name="TextBox 8"/>
          <p:cNvSpPr txBox="1"/>
          <p:nvPr/>
        </p:nvSpPr>
        <p:spPr>
          <a:xfrm>
            <a:off x="457200" y="6492240"/>
            <a:ext cx="3657600" cy="274320"/>
          </a:xfrm>
          <a:prstGeom prst="rect">
            <a:avLst/>
          </a:prstGeom>
          <a:noFill/>
        </p:spPr>
        <p:txBody>
          <a:bodyPr wrap="square">
            <a:spAutoFit/>
          </a:bodyPr>
          <a:lstStyle/>
          <a:p>
            <a:pPr>
              <a:defRPr>
                <a:latin typeface="Roboto"/>
              </a:defRPr>
            </a:pPr>
            <a:r>
              <a:rPr sz="900" b="0">
                <a:solidFill>
                  <a:srgbClr val="5F6F63"/>
                </a:solidFill>
                <a:latin typeface="Roboto"/>
              </a:rPr>
              <a:t>job-margins.pptx</a:t>
            </a:r>
          </a:p>
        </p:txBody>
      </p:sp>
      <p:sp>
        <p:nvSpPr>
          <p:cNvPr id="10" name="TextBox 9"/>
          <p:cNvSpPr txBox="1"/>
          <p:nvPr/>
        </p:nvSpPr>
        <p:spPr>
          <a:xfrm>
            <a:off x="4297680" y="6492240"/>
            <a:ext cx="3657600" cy="274320"/>
          </a:xfrm>
          <a:prstGeom prst="rect">
            <a:avLst/>
          </a:prstGeom>
          <a:noFill/>
        </p:spPr>
        <p:txBody>
          <a:bodyPr wrap="square">
            <a:spAutoFit/>
          </a:bodyPr>
          <a:lstStyle/>
          <a:p>
            <a:pPr algn="ctr">
              <a:defRPr>
                <a:latin typeface="Roboto"/>
              </a:defRPr>
            </a:pPr>
            <a:r>
              <a:rPr sz="900" b="0">
                <a:solidFill>
                  <a:srgbClr val="5F6F63"/>
                </a:solidFill>
                <a:latin typeface="Roboto"/>
              </a:rPr>
              <a:t>Data retrieved 2pm, Tue 6 Oct 2026 · Sample data</a:t>
            </a:r>
          </a:p>
        </p:txBody>
      </p:sp>
      <p:sp>
        <p:nvSpPr>
          <p:cNvPr id="11" name="TextBox 10"/>
          <p:cNvSpPr txBox="1"/>
          <p:nvPr/>
        </p:nvSpPr>
        <p:spPr>
          <a:xfrm>
            <a:off x="8503920" y="6492240"/>
            <a:ext cx="3200400" cy="274320"/>
          </a:xfrm>
          <a:prstGeom prst="rect">
            <a:avLst/>
          </a:prstGeom>
          <a:noFill/>
        </p:spPr>
        <p:txBody>
          <a:bodyPr wrap="square">
            <a:spAutoFit/>
          </a:bodyPr>
          <a:lstStyle/>
          <a:p>
            <a:pPr algn="r">
              <a:defRPr>
                <a:latin typeface="Roboto"/>
              </a:defRPr>
            </a:pPr>
            <a:r>
              <a:rPr sz="900" b="0">
                <a:solidFill>
                  <a:srgbClr val="5F6F63"/>
                </a:solidFill>
                <a:latin typeface="Roboto"/>
              </a:rPr>
              <a:t>Slide 8 of 21</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2F7A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3" name="TextBox 2"/>
          <p:cNvSpPr txBox="1"/>
          <p:nvPr/>
        </p:nvSpPr>
        <p:spPr>
          <a:xfrm>
            <a:off x="457200" y="164592"/>
            <a:ext cx="7315200" cy="274320"/>
          </a:xfrm>
          <a:prstGeom prst="rect">
            <a:avLst/>
          </a:prstGeom>
          <a:noFill/>
        </p:spPr>
        <p:txBody>
          <a:bodyPr wrap="square">
            <a:spAutoFit/>
          </a:bodyPr>
          <a:lstStyle/>
          <a:p>
            <a:pPr>
              <a:defRPr>
                <a:latin typeface="Roboto"/>
              </a:defRPr>
            </a:pPr>
            <a:r>
              <a:rPr sz="1000" b="0">
                <a:solidFill>
                  <a:srgbClr val="5F6F63"/>
                </a:solidFill>
                <a:latin typeface="Roboto"/>
              </a:rPr>
              <a:t>Sample Electrical &amp; Air Pty Ltd · Which jobs actually make money?</a:t>
            </a:r>
          </a:p>
        </p:txBody>
      </p:sp>
      <p:sp>
        <p:nvSpPr>
          <p:cNvPr id="4" name="TextBox 3"/>
          <p:cNvSpPr txBox="1"/>
          <p:nvPr/>
        </p:nvSpPr>
        <p:spPr>
          <a:xfrm>
            <a:off x="457200" y="411480"/>
            <a:ext cx="11247120" cy="548640"/>
          </a:xfrm>
          <a:prstGeom prst="rect">
            <a:avLst/>
          </a:prstGeom>
          <a:noFill/>
        </p:spPr>
        <p:txBody>
          <a:bodyPr wrap="square">
            <a:spAutoFit/>
          </a:bodyPr>
          <a:lstStyle/>
          <a:p>
            <a:pPr>
              <a:defRPr>
                <a:latin typeface="Roboto"/>
              </a:defRPr>
            </a:pPr>
            <a:r>
              <a:rPr sz="2400" b="1">
                <a:solidFill>
                  <a:srgbClr val="25342A"/>
                </a:solidFill>
                <a:latin typeface="Roboto"/>
              </a:rPr>
              <a:t>Job gross margin on each maintenance contract, September 2026 · Gross margin % · Type of job: Maintenance contracts</a:t>
            </a:r>
          </a:p>
        </p:txBody>
      </p:sp>
      <p:sp>
        <p:nvSpPr>
          <p:cNvPr id="5" name="TextBox 4"/>
          <p:cNvSpPr txBox="1"/>
          <p:nvPr/>
        </p:nvSpPr>
        <p:spPr>
          <a:xfrm>
            <a:off x="457200" y="960120"/>
            <a:ext cx="11247120" cy="457200"/>
          </a:xfrm>
          <a:prstGeom prst="rect">
            <a:avLst/>
          </a:prstGeom>
          <a:noFill/>
        </p:spPr>
        <p:txBody>
          <a:bodyPr wrap="square">
            <a:spAutoFit/>
          </a:bodyPr>
          <a:lstStyle/>
          <a:p>
            <a:pPr>
              <a:defRPr>
                <a:latin typeface="Roboto"/>
              </a:defRPr>
            </a:pPr>
            <a:r>
              <a:rPr sz="1200" b="0">
                <a:solidFill>
                  <a:srgbClr val="5F6F63"/>
                </a:solidFill>
                <a:latin typeface="Roboto"/>
              </a:rPr>
              <a:t>The month's fee less materials and technician time at $68/hour.</a:t>
            </a:r>
          </a:p>
        </p:txBody>
      </p:sp>
      <p:graphicFrame>
        <p:nvGraphicFramePr>
          <p:cNvPr id="6" name="Chart 5"/>
          <p:cNvGraphicFramePr>
            <a:graphicFrameLocks noGrp="1"/>
          </p:cNvGraphicFramePr>
          <p:nvPr/>
        </p:nvGraphicFramePr>
        <p:xfrm>
          <a:off x="457200" y="1463040"/>
          <a:ext cx="11247120" cy="4754880"/>
        </p:xfrm>
        <a:graphic>
          <a:graphicData uri="http://schemas.openxmlformats.org/drawingml/2006/chart">
            <c:chart xmlns:c="http://schemas.openxmlformats.org/drawingml/2006/chart" r:id="rId2"/>
          </a:graphicData>
        </a:graphic>
      </p:graphicFrame>
      <p:sp>
        <p:nvSpPr>
          <p:cNvPr id="7" name="TextBox 6"/>
          <p:cNvSpPr txBox="1"/>
          <p:nvPr/>
        </p:nvSpPr>
        <p:spPr>
          <a:xfrm>
            <a:off x="457200" y="6172200"/>
            <a:ext cx="10972800" cy="274320"/>
          </a:xfrm>
          <a:prstGeom prst="rect">
            <a:avLst/>
          </a:prstGeom>
          <a:noFill/>
        </p:spPr>
        <p:txBody>
          <a:bodyPr wrap="square">
            <a:spAutoFit/>
          </a:bodyPr>
          <a:lstStyle/>
          <a:p>
            <a:pPr>
              <a:defRPr>
                <a:latin typeface="Roboto"/>
              </a:defRPr>
            </a:pPr>
            <a:r>
              <a:rPr sz="1000" b="0">
                <a:solidFill>
                  <a:srgbClr val="5F6F63"/>
                </a:solidFill>
                <a:latin typeface="Roboto"/>
              </a:rPr>
              <a:t>Target 35.0%  ·  grey = below target</a:t>
            </a:r>
          </a:p>
        </p:txBody>
      </p:sp>
      <p:sp>
        <p:nvSpPr>
          <p:cNvPr id="8" name="TextBox 7"/>
          <p:cNvSpPr txBox="1"/>
          <p:nvPr/>
        </p:nvSpPr>
        <p:spPr>
          <a:xfrm>
            <a:off x="457200" y="6492240"/>
            <a:ext cx="3657600" cy="274320"/>
          </a:xfrm>
          <a:prstGeom prst="rect">
            <a:avLst/>
          </a:prstGeom>
          <a:noFill/>
        </p:spPr>
        <p:txBody>
          <a:bodyPr wrap="square">
            <a:spAutoFit/>
          </a:bodyPr>
          <a:lstStyle/>
          <a:p>
            <a:pPr>
              <a:defRPr>
                <a:latin typeface="Roboto"/>
              </a:defRPr>
            </a:pPr>
            <a:r>
              <a:rPr sz="900" b="0">
                <a:solidFill>
                  <a:srgbClr val="5F6F63"/>
                </a:solidFill>
                <a:latin typeface="Roboto"/>
              </a:rPr>
              <a:t>job-margins.pptx</a:t>
            </a:r>
          </a:p>
        </p:txBody>
      </p:sp>
      <p:sp>
        <p:nvSpPr>
          <p:cNvPr id="9" name="TextBox 8"/>
          <p:cNvSpPr txBox="1"/>
          <p:nvPr/>
        </p:nvSpPr>
        <p:spPr>
          <a:xfrm>
            <a:off x="4297680" y="6492240"/>
            <a:ext cx="3657600" cy="274320"/>
          </a:xfrm>
          <a:prstGeom prst="rect">
            <a:avLst/>
          </a:prstGeom>
          <a:noFill/>
        </p:spPr>
        <p:txBody>
          <a:bodyPr wrap="square">
            <a:spAutoFit/>
          </a:bodyPr>
          <a:lstStyle/>
          <a:p>
            <a:pPr algn="ctr">
              <a:defRPr>
                <a:latin typeface="Roboto"/>
              </a:defRPr>
            </a:pPr>
            <a:r>
              <a:rPr sz="900" b="0">
                <a:solidFill>
                  <a:srgbClr val="5F6F63"/>
                </a:solidFill>
                <a:latin typeface="Roboto"/>
              </a:rPr>
              <a:t>Data retrieved 2pm, Tue 6 Oct 2026 · Sample data</a:t>
            </a:r>
          </a:p>
        </p:txBody>
      </p:sp>
      <p:sp>
        <p:nvSpPr>
          <p:cNvPr id="10" name="TextBox 9"/>
          <p:cNvSpPr txBox="1"/>
          <p:nvPr/>
        </p:nvSpPr>
        <p:spPr>
          <a:xfrm>
            <a:off x="8503920" y="6492240"/>
            <a:ext cx="3200400" cy="274320"/>
          </a:xfrm>
          <a:prstGeom prst="rect">
            <a:avLst/>
          </a:prstGeom>
          <a:noFill/>
        </p:spPr>
        <p:txBody>
          <a:bodyPr wrap="square">
            <a:spAutoFit/>
          </a:bodyPr>
          <a:lstStyle/>
          <a:p>
            <a:pPr algn="r">
              <a:defRPr>
                <a:latin typeface="Roboto"/>
              </a:defRPr>
            </a:pPr>
            <a:r>
              <a:rPr sz="900" b="0">
                <a:solidFill>
                  <a:srgbClr val="5F6F63"/>
                </a:solidFill>
                <a:latin typeface="Roboto"/>
              </a:rPr>
              <a:t>Slide 9 of 21</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2F7A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3" name="TextBox 2"/>
          <p:cNvSpPr txBox="1"/>
          <p:nvPr/>
        </p:nvSpPr>
        <p:spPr>
          <a:xfrm>
            <a:off x="457200" y="164592"/>
            <a:ext cx="7315200" cy="274320"/>
          </a:xfrm>
          <a:prstGeom prst="rect">
            <a:avLst/>
          </a:prstGeom>
          <a:noFill/>
        </p:spPr>
        <p:txBody>
          <a:bodyPr wrap="square">
            <a:spAutoFit/>
          </a:bodyPr>
          <a:lstStyle/>
          <a:p>
            <a:pPr>
              <a:defRPr>
                <a:latin typeface="Roboto"/>
              </a:defRPr>
            </a:pPr>
            <a:r>
              <a:rPr sz="1000" b="0">
                <a:solidFill>
                  <a:srgbClr val="5F6F63"/>
                </a:solidFill>
                <a:latin typeface="Roboto"/>
              </a:rPr>
              <a:t>Sample Electrical &amp; Air Pty Ltd · Which jobs actually make money?</a:t>
            </a:r>
          </a:p>
        </p:txBody>
      </p:sp>
      <p:sp>
        <p:nvSpPr>
          <p:cNvPr id="4" name="TextBox 3"/>
          <p:cNvSpPr txBox="1"/>
          <p:nvPr/>
        </p:nvSpPr>
        <p:spPr>
          <a:xfrm>
            <a:off x="457200" y="411480"/>
            <a:ext cx="11247120" cy="548640"/>
          </a:xfrm>
          <a:prstGeom prst="rect">
            <a:avLst/>
          </a:prstGeom>
          <a:noFill/>
        </p:spPr>
        <p:txBody>
          <a:bodyPr wrap="square">
            <a:spAutoFit/>
          </a:bodyPr>
          <a:lstStyle/>
          <a:p>
            <a:pPr>
              <a:defRPr>
                <a:latin typeface="Roboto"/>
              </a:defRPr>
            </a:pPr>
            <a:r>
              <a:rPr sz="2400" b="1">
                <a:solidFill>
                  <a:srgbClr val="25342A"/>
                </a:solidFill>
                <a:latin typeface="Roboto"/>
              </a:rPr>
              <a:t>Job gross margin on each maintenance contract, September 2026 · Gross margin $ · Type of job: Maintenance contracts</a:t>
            </a:r>
          </a:p>
        </p:txBody>
      </p:sp>
      <p:sp>
        <p:nvSpPr>
          <p:cNvPr id="5" name="TextBox 4"/>
          <p:cNvSpPr txBox="1"/>
          <p:nvPr/>
        </p:nvSpPr>
        <p:spPr>
          <a:xfrm>
            <a:off x="457200" y="960120"/>
            <a:ext cx="11247120" cy="457200"/>
          </a:xfrm>
          <a:prstGeom prst="rect">
            <a:avLst/>
          </a:prstGeom>
          <a:noFill/>
        </p:spPr>
        <p:txBody>
          <a:bodyPr wrap="square">
            <a:spAutoFit/>
          </a:bodyPr>
          <a:lstStyle/>
          <a:p>
            <a:pPr>
              <a:defRPr>
                <a:latin typeface="Roboto"/>
              </a:defRPr>
            </a:pPr>
            <a:r>
              <a:rPr sz="1200" b="0">
                <a:solidFill>
                  <a:srgbClr val="5F6F63"/>
                </a:solidFill>
                <a:latin typeface="Roboto"/>
              </a:rPr>
              <a:t>The month's fee less materials and technician time at $68/hour.</a:t>
            </a:r>
          </a:p>
        </p:txBody>
      </p:sp>
      <p:graphicFrame>
        <p:nvGraphicFramePr>
          <p:cNvPr id="6" name="Chart 5"/>
          <p:cNvGraphicFramePr>
            <a:graphicFrameLocks noGrp="1"/>
          </p:cNvGraphicFramePr>
          <p:nvPr/>
        </p:nvGraphicFramePr>
        <p:xfrm>
          <a:off x="457200" y="1463040"/>
          <a:ext cx="11247120" cy="4754880"/>
        </p:xfrm>
        <a:graphic>
          <a:graphicData uri="http://schemas.openxmlformats.org/drawingml/2006/chart">
            <c:chart xmlns:c="http://schemas.openxmlformats.org/drawingml/2006/chart" r:id="rId2"/>
          </a:graphicData>
        </a:graphic>
      </p:graphicFrame>
      <p:sp>
        <p:nvSpPr>
          <p:cNvPr id="7" name="TextBox 6"/>
          <p:cNvSpPr txBox="1"/>
          <p:nvPr/>
        </p:nvSpPr>
        <p:spPr>
          <a:xfrm>
            <a:off x="457200" y="6492240"/>
            <a:ext cx="3657600" cy="274320"/>
          </a:xfrm>
          <a:prstGeom prst="rect">
            <a:avLst/>
          </a:prstGeom>
          <a:noFill/>
        </p:spPr>
        <p:txBody>
          <a:bodyPr wrap="square">
            <a:spAutoFit/>
          </a:bodyPr>
          <a:lstStyle/>
          <a:p>
            <a:pPr>
              <a:defRPr>
                <a:latin typeface="Roboto"/>
              </a:defRPr>
            </a:pPr>
            <a:r>
              <a:rPr sz="900" b="0">
                <a:solidFill>
                  <a:srgbClr val="5F6F63"/>
                </a:solidFill>
                <a:latin typeface="Roboto"/>
              </a:rPr>
              <a:t>job-margins.pptx</a:t>
            </a:r>
          </a:p>
        </p:txBody>
      </p:sp>
      <p:sp>
        <p:nvSpPr>
          <p:cNvPr id="8" name="TextBox 7"/>
          <p:cNvSpPr txBox="1"/>
          <p:nvPr/>
        </p:nvSpPr>
        <p:spPr>
          <a:xfrm>
            <a:off x="4297680" y="6492240"/>
            <a:ext cx="3657600" cy="274320"/>
          </a:xfrm>
          <a:prstGeom prst="rect">
            <a:avLst/>
          </a:prstGeom>
          <a:noFill/>
        </p:spPr>
        <p:txBody>
          <a:bodyPr wrap="square">
            <a:spAutoFit/>
          </a:bodyPr>
          <a:lstStyle/>
          <a:p>
            <a:pPr algn="ctr">
              <a:defRPr>
                <a:latin typeface="Roboto"/>
              </a:defRPr>
            </a:pPr>
            <a:r>
              <a:rPr sz="900" b="0">
                <a:solidFill>
                  <a:srgbClr val="5F6F63"/>
                </a:solidFill>
                <a:latin typeface="Roboto"/>
              </a:rPr>
              <a:t>Data retrieved 2pm, Tue 6 Oct 2026 · Sample data</a:t>
            </a:r>
          </a:p>
        </p:txBody>
      </p:sp>
      <p:sp>
        <p:nvSpPr>
          <p:cNvPr id="9" name="TextBox 8"/>
          <p:cNvSpPr txBox="1"/>
          <p:nvPr/>
        </p:nvSpPr>
        <p:spPr>
          <a:xfrm>
            <a:off x="8503920" y="6492240"/>
            <a:ext cx="3200400" cy="274320"/>
          </a:xfrm>
          <a:prstGeom prst="rect">
            <a:avLst/>
          </a:prstGeom>
          <a:noFill/>
        </p:spPr>
        <p:txBody>
          <a:bodyPr wrap="square">
            <a:spAutoFit/>
          </a:bodyPr>
          <a:lstStyle/>
          <a:p>
            <a:pPr algn="r">
              <a:defRPr>
                <a:latin typeface="Roboto"/>
              </a:defRPr>
            </a:pPr>
            <a:r>
              <a:rPr sz="900" b="0">
                <a:solidFill>
                  <a:srgbClr val="5F6F63"/>
                </a:solidFill>
                <a:latin typeface="Roboto"/>
              </a:rPr>
              <a:t>Slide 10 of 21</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2F7A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3" name="TextBox 2"/>
          <p:cNvSpPr txBox="1"/>
          <p:nvPr/>
        </p:nvSpPr>
        <p:spPr>
          <a:xfrm>
            <a:off x="457200" y="164592"/>
            <a:ext cx="7315200" cy="274320"/>
          </a:xfrm>
          <a:prstGeom prst="rect">
            <a:avLst/>
          </a:prstGeom>
          <a:noFill/>
        </p:spPr>
        <p:txBody>
          <a:bodyPr wrap="square">
            <a:spAutoFit/>
          </a:bodyPr>
          <a:lstStyle/>
          <a:p>
            <a:pPr>
              <a:defRPr>
                <a:latin typeface="Roboto"/>
              </a:defRPr>
            </a:pPr>
            <a:r>
              <a:rPr sz="1000" b="0">
                <a:solidFill>
                  <a:srgbClr val="5F6F63"/>
                </a:solidFill>
                <a:latin typeface="Roboto"/>
              </a:rPr>
              <a:t>Sample Electrical &amp; Air Pty Ltd · Which jobs actually make money?</a:t>
            </a:r>
          </a:p>
        </p:txBody>
      </p:sp>
      <p:sp>
        <p:nvSpPr>
          <p:cNvPr id="4" name="TextBox 3"/>
          <p:cNvSpPr txBox="1"/>
          <p:nvPr/>
        </p:nvSpPr>
        <p:spPr>
          <a:xfrm>
            <a:off x="457200" y="411480"/>
            <a:ext cx="11247120" cy="548640"/>
          </a:xfrm>
          <a:prstGeom prst="rect">
            <a:avLst/>
          </a:prstGeom>
          <a:noFill/>
        </p:spPr>
        <p:txBody>
          <a:bodyPr wrap="square">
            <a:spAutoFit/>
          </a:bodyPr>
          <a:lstStyle/>
          <a:p>
            <a:pPr>
              <a:defRPr>
                <a:latin typeface="Roboto"/>
              </a:defRPr>
            </a:pPr>
            <a:r>
              <a:rPr sz="2400" b="1">
                <a:solidFill>
                  <a:srgbClr val="25342A"/>
                </a:solidFill>
                <a:latin typeface="Roboto"/>
              </a:rPr>
              <a:t>What it shows · Type of job: Maintenance contracts</a:t>
            </a:r>
          </a:p>
        </p:txBody>
      </p:sp>
      <p:sp>
        <p:nvSpPr>
          <p:cNvPr id="5" name="Rectangle 4"/>
          <p:cNvSpPr/>
          <p:nvPr/>
        </p:nvSpPr>
        <p:spPr>
          <a:xfrm>
            <a:off x="457200" y="1554480"/>
            <a:ext cx="5501487" cy="4389120"/>
          </a:xfrm>
          <a:prstGeom prst="rect">
            <a:avLst/>
          </a:prstGeom>
          <a:solidFill>
            <a:srgbClr val="FFFFFF"/>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6" name="TextBox 5"/>
          <p:cNvSpPr txBox="1"/>
          <p:nvPr/>
        </p:nvSpPr>
        <p:spPr>
          <a:xfrm>
            <a:off x="685800" y="1691640"/>
            <a:ext cx="5044287" cy="365760"/>
          </a:xfrm>
          <a:prstGeom prst="rect">
            <a:avLst/>
          </a:prstGeom>
          <a:noFill/>
        </p:spPr>
        <p:txBody>
          <a:bodyPr wrap="square">
            <a:spAutoFit/>
          </a:bodyPr>
          <a:lstStyle/>
          <a:p>
            <a:pPr>
              <a:defRPr>
                <a:latin typeface="Roboto"/>
              </a:defRPr>
            </a:pPr>
            <a:r>
              <a:rPr sz="1100" b="1">
                <a:solidFill>
                  <a:srgbClr val="5F6F63"/>
                </a:solidFill>
                <a:latin typeface="Roboto"/>
              </a:rPr>
              <a:t>WHAT IT SHOWS</a:t>
            </a:r>
          </a:p>
        </p:txBody>
      </p:sp>
      <p:sp>
        <p:nvSpPr>
          <p:cNvPr id="7" name="TextBox 6"/>
          <p:cNvSpPr txBox="1"/>
          <p:nvPr/>
        </p:nvSpPr>
        <p:spPr>
          <a:xfrm>
            <a:off x="685800" y="2103120"/>
            <a:ext cx="5044287" cy="3749039"/>
          </a:xfrm>
          <a:prstGeom prst="rect">
            <a:avLst/>
          </a:prstGeom>
          <a:noFill/>
        </p:spPr>
        <p:txBody>
          <a:bodyPr wrap="square">
            <a:spAutoFit/>
          </a:bodyPr>
          <a:lstStyle/>
          <a:p>
            <a:pPr>
              <a:defRPr>
                <a:latin typeface="Roboto"/>
              </a:defRPr>
            </a:pPr>
            <a:r>
              <a:rPr sz="1600" b="0">
                <a:solidFill>
                  <a:srgbClr val="25342A"/>
                </a:solidFill>
                <a:latin typeface="Roboto"/>
              </a:rPr>
              <a:t>All 14 contracts made more than the 35.0% job gross margin target. The thinnest was Kangaroo Point townhouses at 58.2% job gross margin: 14.0 h of technician time on a $2,400 monthly fee.</a:t>
            </a:r>
          </a:p>
        </p:txBody>
      </p:sp>
      <p:sp>
        <p:nvSpPr>
          <p:cNvPr id="8" name="Rectangle 7"/>
          <p:cNvSpPr/>
          <p:nvPr/>
        </p:nvSpPr>
        <p:spPr>
          <a:xfrm>
            <a:off x="6233007" y="1554480"/>
            <a:ext cx="5501487" cy="4389120"/>
          </a:xfrm>
          <a:prstGeom prst="rect">
            <a:avLst/>
          </a:prstGeom>
          <a:solidFill>
            <a:srgbClr val="EEF5F0"/>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9" name="TextBox 8"/>
          <p:cNvSpPr txBox="1"/>
          <p:nvPr/>
        </p:nvSpPr>
        <p:spPr>
          <a:xfrm>
            <a:off x="6461607" y="1691640"/>
            <a:ext cx="5044287" cy="365760"/>
          </a:xfrm>
          <a:prstGeom prst="rect">
            <a:avLst/>
          </a:prstGeom>
          <a:noFill/>
        </p:spPr>
        <p:txBody>
          <a:bodyPr wrap="square">
            <a:spAutoFit/>
          </a:bodyPr>
          <a:lstStyle/>
          <a:p>
            <a:pPr>
              <a:defRPr>
                <a:latin typeface="Roboto"/>
              </a:defRPr>
            </a:pPr>
            <a:r>
              <a:rPr sz="1100" b="1">
                <a:solidFill>
                  <a:srgbClr val="5F6F63"/>
                </a:solidFill>
                <a:latin typeface="Roboto"/>
              </a:rPr>
              <a:t>WHAT YOU'D DO ABOUT IT</a:t>
            </a:r>
          </a:p>
        </p:txBody>
      </p:sp>
      <p:sp>
        <p:nvSpPr>
          <p:cNvPr id="10" name="TextBox 9"/>
          <p:cNvSpPr txBox="1"/>
          <p:nvPr/>
        </p:nvSpPr>
        <p:spPr>
          <a:xfrm>
            <a:off x="6461607" y="2103120"/>
            <a:ext cx="5044287" cy="3749039"/>
          </a:xfrm>
          <a:prstGeom prst="rect">
            <a:avLst/>
          </a:prstGeom>
          <a:noFill/>
        </p:spPr>
        <p:txBody>
          <a:bodyPr wrap="square">
            <a:spAutoFit/>
          </a:bodyPr>
          <a:lstStyle/>
          <a:p>
            <a:pPr>
              <a:defRPr>
                <a:latin typeface="Roboto"/>
              </a:defRPr>
            </a:pPr>
            <a:r>
              <a:rPr sz="1600" b="0">
                <a:solidFill>
                  <a:srgbClr val="25342A"/>
                </a:solidFill>
                <a:latin typeface="Roboto"/>
              </a:rPr>
              <a:t>The Kangaroo Point townhouses contract: 58.2% gross margin, 27.1 points clear of the 31.1% overheads need. Maintenance contracts overall: 59.5% gross margin.</a:t>
            </a:r>
          </a:p>
        </p:txBody>
      </p:sp>
      <p:sp>
        <p:nvSpPr>
          <p:cNvPr id="11" name="TextBox 10"/>
          <p:cNvSpPr txBox="1"/>
          <p:nvPr/>
        </p:nvSpPr>
        <p:spPr>
          <a:xfrm>
            <a:off x="457200" y="6492240"/>
            <a:ext cx="3657600" cy="274320"/>
          </a:xfrm>
          <a:prstGeom prst="rect">
            <a:avLst/>
          </a:prstGeom>
          <a:noFill/>
        </p:spPr>
        <p:txBody>
          <a:bodyPr wrap="square">
            <a:spAutoFit/>
          </a:bodyPr>
          <a:lstStyle/>
          <a:p>
            <a:pPr>
              <a:defRPr>
                <a:latin typeface="Roboto"/>
              </a:defRPr>
            </a:pPr>
            <a:r>
              <a:rPr sz="900" b="0">
                <a:solidFill>
                  <a:srgbClr val="5F6F63"/>
                </a:solidFill>
                <a:latin typeface="Roboto"/>
              </a:rPr>
              <a:t>job-margins.pptx</a:t>
            </a:r>
          </a:p>
        </p:txBody>
      </p:sp>
      <p:sp>
        <p:nvSpPr>
          <p:cNvPr id="12" name="TextBox 11"/>
          <p:cNvSpPr txBox="1"/>
          <p:nvPr/>
        </p:nvSpPr>
        <p:spPr>
          <a:xfrm>
            <a:off x="4297680" y="6492240"/>
            <a:ext cx="3657600" cy="274320"/>
          </a:xfrm>
          <a:prstGeom prst="rect">
            <a:avLst/>
          </a:prstGeom>
          <a:noFill/>
        </p:spPr>
        <p:txBody>
          <a:bodyPr wrap="square">
            <a:spAutoFit/>
          </a:bodyPr>
          <a:lstStyle/>
          <a:p>
            <a:pPr algn="ctr">
              <a:defRPr>
                <a:latin typeface="Roboto"/>
              </a:defRPr>
            </a:pPr>
            <a:r>
              <a:rPr sz="900" b="0">
                <a:solidFill>
                  <a:srgbClr val="5F6F63"/>
                </a:solidFill>
                <a:latin typeface="Roboto"/>
              </a:rPr>
              <a:t>Data retrieved 2pm, Tue 6 Oct 2026 · Sample data</a:t>
            </a:r>
          </a:p>
        </p:txBody>
      </p:sp>
      <p:sp>
        <p:nvSpPr>
          <p:cNvPr id="13" name="TextBox 12"/>
          <p:cNvSpPr txBox="1"/>
          <p:nvPr/>
        </p:nvSpPr>
        <p:spPr>
          <a:xfrm>
            <a:off x="8503920" y="6492240"/>
            <a:ext cx="3200400" cy="274320"/>
          </a:xfrm>
          <a:prstGeom prst="rect">
            <a:avLst/>
          </a:prstGeom>
          <a:noFill/>
        </p:spPr>
        <p:txBody>
          <a:bodyPr wrap="square">
            <a:spAutoFit/>
          </a:bodyPr>
          <a:lstStyle/>
          <a:p>
            <a:pPr algn="r">
              <a:defRPr>
                <a:latin typeface="Roboto"/>
              </a:defRPr>
            </a:pPr>
            <a:r>
              <a:rPr sz="900" b="0">
                <a:solidFill>
                  <a:srgbClr val="5F6F63"/>
                </a:solidFill>
                <a:latin typeface="Roboto"/>
              </a:rPr>
              <a:t>Slide 11 of 21</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2F7A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3" name="TextBox 2"/>
          <p:cNvSpPr txBox="1"/>
          <p:nvPr/>
        </p:nvSpPr>
        <p:spPr>
          <a:xfrm>
            <a:off x="457200" y="164592"/>
            <a:ext cx="7315200" cy="274320"/>
          </a:xfrm>
          <a:prstGeom prst="rect">
            <a:avLst/>
          </a:prstGeom>
          <a:noFill/>
        </p:spPr>
        <p:txBody>
          <a:bodyPr wrap="square">
            <a:spAutoFit/>
          </a:bodyPr>
          <a:lstStyle/>
          <a:p>
            <a:pPr>
              <a:defRPr>
                <a:latin typeface="Roboto"/>
              </a:defRPr>
            </a:pPr>
            <a:r>
              <a:rPr sz="1000" b="0">
                <a:solidFill>
                  <a:srgbClr val="5F6F63"/>
                </a:solidFill>
                <a:latin typeface="Roboto"/>
              </a:rPr>
              <a:t>Sample Electrical &amp; Air Pty Ltd · Which jobs actually make money?</a:t>
            </a:r>
          </a:p>
        </p:txBody>
      </p:sp>
      <p:sp>
        <p:nvSpPr>
          <p:cNvPr id="4" name="TextBox 3"/>
          <p:cNvSpPr txBox="1"/>
          <p:nvPr/>
        </p:nvSpPr>
        <p:spPr>
          <a:xfrm>
            <a:off x="457200" y="411480"/>
            <a:ext cx="11247120" cy="548640"/>
          </a:xfrm>
          <a:prstGeom prst="rect">
            <a:avLst/>
          </a:prstGeom>
          <a:noFill/>
        </p:spPr>
        <p:txBody>
          <a:bodyPr wrap="square">
            <a:spAutoFit/>
          </a:bodyPr>
          <a:lstStyle/>
          <a:p>
            <a:pPr>
              <a:defRPr>
                <a:latin typeface="Roboto"/>
              </a:defRPr>
            </a:pPr>
            <a:r>
              <a:rPr sz="2400" b="1">
                <a:solidFill>
                  <a:srgbClr val="25342A"/>
                </a:solidFill>
                <a:latin typeface="Roboto"/>
              </a:rPr>
              <a:t>Headline numbers · Type of job: Installations</a:t>
            </a:r>
          </a:p>
        </p:txBody>
      </p:sp>
      <p:sp>
        <p:nvSpPr>
          <p:cNvPr id="5" name="Rectangle 4"/>
          <p:cNvSpPr/>
          <p:nvPr/>
        </p:nvSpPr>
        <p:spPr>
          <a:xfrm>
            <a:off x="457200" y="1645920"/>
            <a:ext cx="11277295" cy="2011680"/>
          </a:xfrm>
          <a:prstGeom prst="rect">
            <a:avLst/>
          </a:prstGeom>
          <a:solidFill>
            <a:srgbClr val="F7FAF7"/>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6" name="TextBox 5"/>
          <p:cNvSpPr txBox="1"/>
          <p:nvPr/>
        </p:nvSpPr>
        <p:spPr>
          <a:xfrm>
            <a:off x="640080" y="1783080"/>
            <a:ext cx="10911535" cy="457200"/>
          </a:xfrm>
          <a:prstGeom prst="rect">
            <a:avLst/>
          </a:prstGeom>
          <a:noFill/>
        </p:spPr>
        <p:txBody>
          <a:bodyPr wrap="square">
            <a:spAutoFit/>
          </a:bodyPr>
          <a:lstStyle/>
          <a:p>
            <a:pPr>
              <a:defRPr>
                <a:latin typeface="Roboto"/>
              </a:defRPr>
            </a:pPr>
            <a:r>
              <a:rPr sz="1200" b="0">
                <a:solidFill>
                  <a:srgbClr val="5F6F63"/>
                </a:solidFill>
                <a:latin typeface="Roboto"/>
              </a:rPr>
              <a:t>Job gross margin, September · Installations</a:t>
            </a:r>
          </a:p>
        </p:txBody>
      </p:sp>
      <p:sp>
        <p:nvSpPr>
          <p:cNvPr id="7" name="TextBox 6"/>
          <p:cNvSpPr txBox="1"/>
          <p:nvPr/>
        </p:nvSpPr>
        <p:spPr>
          <a:xfrm>
            <a:off x="640080" y="2240280"/>
            <a:ext cx="10911535" cy="731520"/>
          </a:xfrm>
          <a:prstGeom prst="rect">
            <a:avLst/>
          </a:prstGeom>
          <a:noFill/>
        </p:spPr>
        <p:txBody>
          <a:bodyPr wrap="square">
            <a:spAutoFit/>
          </a:bodyPr>
          <a:lstStyle/>
          <a:p>
            <a:pPr>
              <a:defRPr>
                <a:latin typeface="Roboto"/>
              </a:defRPr>
            </a:pPr>
            <a:r>
              <a:rPr sz="3000" b="1">
                <a:solidFill>
                  <a:srgbClr val="2F7A5D"/>
                </a:solidFill>
                <a:latin typeface="Roboto"/>
              </a:rPr>
              <a:t>27.0%</a:t>
            </a:r>
          </a:p>
        </p:txBody>
      </p:sp>
      <p:sp>
        <p:nvSpPr>
          <p:cNvPr id="8" name="TextBox 7"/>
          <p:cNvSpPr txBox="1"/>
          <p:nvPr/>
        </p:nvSpPr>
        <p:spPr>
          <a:xfrm>
            <a:off x="640080" y="3017520"/>
            <a:ext cx="10911535" cy="548640"/>
          </a:xfrm>
          <a:prstGeom prst="rect">
            <a:avLst/>
          </a:prstGeom>
          <a:noFill/>
        </p:spPr>
        <p:txBody>
          <a:bodyPr wrap="square">
            <a:spAutoFit/>
          </a:bodyPr>
          <a:lstStyle/>
          <a:p>
            <a:pPr>
              <a:defRPr>
                <a:latin typeface="Roboto"/>
              </a:defRPr>
            </a:pPr>
            <a:r>
              <a:rPr sz="1100" b="0">
                <a:solidFill>
                  <a:srgbClr val="5F6F63"/>
                </a:solidFill>
                <a:latin typeface="Roboto"/>
              </a:rPr>
              <a:t>August 33.6%</a:t>
            </a:r>
          </a:p>
        </p:txBody>
      </p:sp>
      <p:sp>
        <p:nvSpPr>
          <p:cNvPr id="9" name="TextBox 8"/>
          <p:cNvSpPr txBox="1"/>
          <p:nvPr/>
        </p:nvSpPr>
        <p:spPr>
          <a:xfrm>
            <a:off x="457200" y="6492240"/>
            <a:ext cx="3657600" cy="274320"/>
          </a:xfrm>
          <a:prstGeom prst="rect">
            <a:avLst/>
          </a:prstGeom>
          <a:noFill/>
        </p:spPr>
        <p:txBody>
          <a:bodyPr wrap="square">
            <a:spAutoFit/>
          </a:bodyPr>
          <a:lstStyle/>
          <a:p>
            <a:pPr>
              <a:defRPr>
                <a:latin typeface="Roboto"/>
              </a:defRPr>
            </a:pPr>
            <a:r>
              <a:rPr sz="900" b="0">
                <a:solidFill>
                  <a:srgbClr val="5F6F63"/>
                </a:solidFill>
                <a:latin typeface="Roboto"/>
              </a:rPr>
              <a:t>job-margins.pptx</a:t>
            </a:r>
          </a:p>
        </p:txBody>
      </p:sp>
      <p:sp>
        <p:nvSpPr>
          <p:cNvPr id="10" name="TextBox 9"/>
          <p:cNvSpPr txBox="1"/>
          <p:nvPr/>
        </p:nvSpPr>
        <p:spPr>
          <a:xfrm>
            <a:off x="4297680" y="6492240"/>
            <a:ext cx="3657600" cy="274320"/>
          </a:xfrm>
          <a:prstGeom prst="rect">
            <a:avLst/>
          </a:prstGeom>
          <a:noFill/>
        </p:spPr>
        <p:txBody>
          <a:bodyPr wrap="square">
            <a:spAutoFit/>
          </a:bodyPr>
          <a:lstStyle/>
          <a:p>
            <a:pPr algn="ctr">
              <a:defRPr>
                <a:latin typeface="Roboto"/>
              </a:defRPr>
            </a:pPr>
            <a:r>
              <a:rPr sz="900" b="0">
                <a:solidFill>
                  <a:srgbClr val="5F6F63"/>
                </a:solidFill>
                <a:latin typeface="Roboto"/>
              </a:rPr>
              <a:t>Data retrieved 2pm, Tue 6 Oct 2026 · Sample data</a:t>
            </a:r>
          </a:p>
        </p:txBody>
      </p:sp>
      <p:sp>
        <p:nvSpPr>
          <p:cNvPr id="11" name="TextBox 10"/>
          <p:cNvSpPr txBox="1"/>
          <p:nvPr/>
        </p:nvSpPr>
        <p:spPr>
          <a:xfrm>
            <a:off x="8503920" y="6492240"/>
            <a:ext cx="3200400" cy="274320"/>
          </a:xfrm>
          <a:prstGeom prst="rect">
            <a:avLst/>
          </a:prstGeom>
          <a:noFill/>
        </p:spPr>
        <p:txBody>
          <a:bodyPr wrap="square">
            <a:spAutoFit/>
          </a:bodyPr>
          <a:lstStyle/>
          <a:p>
            <a:pPr algn="r">
              <a:defRPr>
                <a:latin typeface="Roboto"/>
              </a:defRPr>
            </a:pPr>
            <a:r>
              <a:rPr sz="900" b="0">
                <a:solidFill>
                  <a:srgbClr val="5F6F63"/>
                </a:solidFill>
                <a:latin typeface="Roboto"/>
              </a:rPr>
              <a:t>Slide 12 of 21</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2F7A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3" name="TextBox 2"/>
          <p:cNvSpPr txBox="1"/>
          <p:nvPr/>
        </p:nvSpPr>
        <p:spPr>
          <a:xfrm>
            <a:off x="457200" y="164592"/>
            <a:ext cx="7315200" cy="274320"/>
          </a:xfrm>
          <a:prstGeom prst="rect">
            <a:avLst/>
          </a:prstGeom>
          <a:noFill/>
        </p:spPr>
        <p:txBody>
          <a:bodyPr wrap="square">
            <a:spAutoFit/>
          </a:bodyPr>
          <a:lstStyle/>
          <a:p>
            <a:pPr>
              <a:defRPr>
                <a:latin typeface="Roboto"/>
              </a:defRPr>
            </a:pPr>
            <a:r>
              <a:rPr sz="1000" b="0">
                <a:solidFill>
                  <a:srgbClr val="5F6F63"/>
                </a:solidFill>
                <a:latin typeface="Roboto"/>
              </a:rPr>
              <a:t>Sample Electrical &amp; Air Pty Ltd · Which jobs actually make money?</a:t>
            </a:r>
          </a:p>
        </p:txBody>
      </p:sp>
      <p:sp>
        <p:nvSpPr>
          <p:cNvPr id="4" name="TextBox 3"/>
          <p:cNvSpPr txBox="1"/>
          <p:nvPr/>
        </p:nvSpPr>
        <p:spPr>
          <a:xfrm>
            <a:off x="457200" y="411480"/>
            <a:ext cx="11247120" cy="548640"/>
          </a:xfrm>
          <a:prstGeom prst="rect">
            <a:avLst/>
          </a:prstGeom>
          <a:noFill/>
        </p:spPr>
        <p:txBody>
          <a:bodyPr wrap="square">
            <a:spAutoFit/>
          </a:bodyPr>
          <a:lstStyle/>
          <a:p>
            <a:pPr>
              <a:defRPr>
                <a:latin typeface="Roboto"/>
              </a:defRPr>
            </a:pPr>
            <a:r>
              <a:rPr sz="2400" b="1">
                <a:solidFill>
                  <a:srgbClr val="25342A"/>
                </a:solidFill>
                <a:latin typeface="Roboto"/>
              </a:rPr>
              <a:t>Job gross margin on each installation invoiced in September 2026 · Gross margin % · Type of job: Installations</a:t>
            </a:r>
          </a:p>
        </p:txBody>
      </p:sp>
      <p:sp>
        <p:nvSpPr>
          <p:cNvPr id="5" name="TextBox 4"/>
          <p:cNvSpPr txBox="1"/>
          <p:nvPr/>
        </p:nvSpPr>
        <p:spPr>
          <a:xfrm>
            <a:off x="457200" y="960120"/>
            <a:ext cx="11247120" cy="457200"/>
          </a:xfrm>
          <a:prstGeom prst="rect">
            <a:avLst/>
          </a:prstGeom>
          <a:noFill/>
        </p:spPr>
        <p:txBody>
          <a:bodyPr wrap="square">
            <a:spAutoFit/>
          </a:bodyPr>
          <a:lstStyle/>
          <a:p>
            <a:pPr>
              <a:defRPr>
                <a:latin typeface="Roboto"/>
              </a:defRPr>
            </a:pPr>
            <a:r>
              <a:rPr sz="1200" b="0">
                <a:solidFill>
                  <a:srgbClr val="5F6F63"/>
                </a:solidFill>
                <a:latin typeface="Roboto"/>
              </a:rPr>
              <a:t>Whole job, recognised when invoiced: revenue less materials, subcontractors and technician time at $68/hour. Before overheads: not profit. One 35.0% target for every job for now.</a:t>
            </a:r>
          </a:p>
        </p:txBody>
      </p:sp>
      <p:graphicFrame>
        <p:nvGraphicFramePr>
          <p:cNvPr id="6" name="Chart 5"/>
          <p:cNvGraphicFramePr>
            <a:graphicFrameLocks noGrp="1"/>
          </p:cNvGraphicFramePr>
          <p:nvPr/>
        </p:nvGraphicFramePr>
        <p:xfrm>
          <a:off x="457200" y="1463040"/>
          <a:ext cx="11247120" cy="4754880"/>
        </p:xfrm>
        <a:graphic>
          <a:graphicData uri="http://schemas.openxmlformats.org/drawingml/2006/chart">
            <c:chart xmlns:c="http://schemas.openxmlformats.org/drawingml/2006/chart" r:id="rId2"/>
          </a:graphicData>
        </a:graphic>
      </p:graphicFrame>
      <p:sp>
        <p:nvSpPr>
          <p:cNvPr id="7" name="TextBox 6"/>
          <p:cNvSpPr txBox="1"/>
          <p:nvPr/>
        </p:nvSpPr>
        <p:spPr>
          <a:xfrm>
            <a:off x="457200" y="6172200"/>
            <a:ext cx="10972800" cy="274320"/>
          </a:xfrm>
          <a:prstGeom prst="rect">
            <a:avLst/>
          </a:prstGeom>
          <a:noFill/>
        </p:spPr>
        <p:txBody>
          <a:bodyPr wrap="square">
            <a:spAutoFit/>
          </a:bodyPr>
          <a:lstStyle/>
          <a:p>
            <a:pPr>
              <a:defRPr>
                <a:latin typeface="Roboto"/>
              </a:defRPr>
            </a:pPr>
            <a:r>
              <a:rPr sz="1000" b="0">
                <a:solidFill>
                  <a:srgbClr val="5F6F63"/>
                </a:solidFill>
                <a:latin typeface="Roboto"/>
              </a:rPr>
              <a:t>Target 35.0%  ·  grey = below target</a:t>
            </a:r>
          </a:p>
        </p:txBody>
      </p:sp>
      <p:sp>
        <p:nvSpPr>
          <p:cNvPr id="8" name="TextBox 7"/>
          <p:cNvSpPr txBox="1"/>
          <p:nvPr/>
        </p:nvSpPr>
        <p:spPr>
          <a:xfrm>
            <a:off x="457200" y="6492240"/>
            <a:ext cx="3657600" cy="274320"/>
          </a:xfrm>
          <a:prstGeom prst="rect">
            <a:avLst/>
          </a:prstGeom>
          <a:noFill/>
        </p:spPr>
        <p:txBody>
          <a:bodyPr wrap="square">
            <a:spAutoFit/>
          </a:bodyPr>
          <a:lstStyle/>
          <a:p>
            <a:pPr>
              <a:defRPr>
                <a:latin typeface="Roboto"/>
              </a:defRPr>
            </a:pPr>
            <a:r>
              <a:rPr sz="900" b="0">
                <a:solidFill>
                  <a:srgbClr val="5F6F63"/>
                </a:solidFill>
                <a:latin typeface="Roboto"/>
              </a:rPr>
              <a:t>job-margins.pptx</a:t>
            </a:r>
          </a:p>
        </p:txBody>
      </p:sp>
      <p:sp>
        <p:nvSpPr>
          <p:cNvPr id="9" name="TextBox 8"/>
          <p:cNvSpPr txBox="1"/>
          <p:nvPr/>
        </p:nvSpPr>
        <p:spPr>
          <a:xfrm>
            <a:off x="4297680" y="6492240"/>
            <a:ext cx="3657600" cy="274320"/>
          </a:xfrm>
          <a:prstGeom prst="rect">
            <a:avLst/>
          </a:prstGeom>
          <a:noFill/>
        </p:spPr>
        <p:txBody>
          <a:bodyPr wrap="square">
            <a:spAutoFit/>
          </a:bodyPr>
          <a:lstStyle/>
          <a:p>
            <a:pPr algn="ctr">
              <a:defRPr>
                <a:latin typeface="Roboto"/>
              </a:defRPr>
            </a:pPr>
            <a:r>
              <a:rPr sz="900" b="0">
                <a:solidFill>
                  <a:srgbClr val="5F6F63"/>
                </a:solidFill>
                <a:latin typeface="Roboto"/>
              </a:rPr>
              <a:t>Data retrieved 2pm, Tue 6 Oct 2026 · Sample data</a:t>
            </a:r>
          </a:p>
        </p:txBody>
      </p:sp>
      <p:sp>
        <p:nvSpPr>
          <p:cNvPr id="10" name="TextBox 9"/>
          <p:cNvSpPr txBox="1"/>
          <p:nvPr/>
        </p:nvSpPr>
        <p:spPr>
          <a:xfrm>
            <a:off x="8503920" y="6492240"/>
            <a:ext cx="3200400" cy="274320"/>
          </a:xfrm>
          <a:prstGeom prst="rect">
            <a:avLst/>
          </a:prstGeom>
          <a:noFill/>
        </p:spPr>
        <p:txBody>
          <a:bodyPr wrap="square">
            <a:spAutoFit/>
          </a:bodyPr>
          <a:lstStyle/>
          <a:p>
            <a:pPr algn="r">
              <a:defRPr>
                <a:latin typeface="Roboto"/>
              </a:defRPr>
            </a:pPr>
            <a:r>
              <a:rPr sz="900" b="0">
                <a:solidFill>
                  <a:srgbClr val="5F6F63"/>
                </a:solidFill>
                <a:latin typeface="Roboto"/>
              </a:rPr>
              <a:t>Slide 13 of 21</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2F7A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3" name="TextBox 2"/>
          <p:cNvSpPr txBox="1"/>
          <p:nvPr/>
        </p:nvSpPr>
        <p:spPr>
          <a:xfrm>
            <a:off x="457200" y="164592"/>
            <a:ext cx="7315200" cy="274320"/>
          </a:xfrm>
          <a:prstGeom prst="rect">
            <a:avLst/>
          </a:prstGeom>
          <a:noFill/>
        </p:spPr>
        <p:txBody>
          <a:bodyPr wrap="square">
            <a:spAutoFit/>
          </a:bodyPr>
          <a:lstStyle/>
          <a:p>
            <a:pPr>
              <a:defRPr>
                <a:latin typeface="Roboto"/>
              </a:defRPr>
            </a:pPr>
            <a:r>
              <a:rPr sz="1000" b="0">
                <a:solidFill>
                  <a:srgbClr val="5F6F63"/>
                </a:solidFill>
                <a:latin typeface="Roboto"/>
              </a:rPr>
              <a:t>Sample Electrical &amp; Air Pty Ltd · Which jobs actually make money?</a:t>
            </a:r>
          </a:p>
        </p:txBody>
      </p:sp>
      <p:sp>
        <p:nvSpPr>
          <p:cNvPr id="4" name="TextBox 3"/>
          <p:cNvSpPr txBox="1"/>
          <p:nvPr/>
        </p:nvSpPr>
        <p:spPr>
          <a:xfrm>
            <a:off x="457200" y="411480"/>
            <a:ext cx="11247120" cy="548640"/>
          </a:xfrm>
          <a:prstGeom prst="rect">
            <a:avLst/>
          </a:prstGeom>
          <a:noFill/>
        </p:spPr>
        <p:txBody>
          <a:bodyPr wrap="square">
            <a:spAutoFit/>
          </a:bodyPr>
          <a:lstStyle/>
          <a:p>
            <a:pPr>
              <a:defRPr>
                <a:latin typeface="Roboto"/>
              </a:defRPr>
            </a:pPr>
            <a:r>
              <a:rPr sz="2400" b="1">
                <a:solidFill>
                  <a:srgbClr val="25342A"/>
                </a:solidFill>
                <a:latin typeface="Roboto"/>
              </a:rPr>
              <a:t>Job gross margin on each installation invoiced in September 2026 · Gross margin $ · Type of job: Installations</a:t>
            </a:r>
          </a:p>
        </p:txBody>
      </p:sp>
      <p:sp>
        <p:nvSpPr>
          <p:cNvPr id="5" name="TextBox 4"/>
          <p:cNvSpPr txBox="1"/>
          <p:nvPr/>
        </p:nvSpPr>
        <p:spPr>
          <a:xfrm>
            <a:off x="457200" y="960120"/>
            <a:ext cx="11247120" cy="457200"/>
          </a:xfrm>
          <a:prstGeom prst="rect">
            <a:avLst/>
          </a:prstGeom>
          <a:noFill/>
        </p:spPr>
        <p:txBody>
          <a:bodyPr wrap="square">
            <a:spAutoFit/>
          </a:bodyPr>
          <a:lstStyle/>
          <a:p>
            <a:pPr>
              <a:defRPr>
                <a:latin typeface="Roboto"/>
              </a:defRPr>
            </a:pPr>
            <a:r>
              <a:rPr sz="1200" b="0">
                <a:solidFill>
                  <a:srgbClr val="5F6F63"/>
                </a:solidFill>
                <a:latin typeface="Roboto"/>
              </a:rPr>
              <a:t>Whole job, recognised when invoiced: revenue less materials, subcontractors and technician time at $68/hour. Before overheads: not profit. One 35.0% target for every job for now.</a:t>
            </a:r>
          </a:p>
        </p:txBody>
      </p:sp>
      <p:graphicFrame>
        <p:nvGraphicFramePr>
          <p:cNvPr id="6" name="Chart 5"/>
          <p:cNvGraphicFramePr>
            <a:graphicFrameLocks noGrp="1"/>
          </p:cNvGraphicFramePr>
          <p:nvPr/>
        </p:nvGraphicFramePr>
        <p:xfrm>
          <a:off x="457200" y="1463040"/>
          <a:ext cx="11247120" cy="4754880"/>
        </p:xfrm>
        <a:graphic>
          <a:graphicData uri="http://schemas.openxmlformats.org/drawingml/2006/chart">
            <c:chart xmlns:c="http://schemas.openxmlformats.org/drawingml/2006/chart" r:id="rId2"/>
          </a:graphicData>
        </a:graphic>
      </p:graphicFrame>
      <p:sp>
        <p:nvSpPr>
          <p:cNvPr id="7" name="TextBox 6"/>
          <p:cNvSpPr txBox="1"/>
          <p:nvPr/>
        </p:nvSpPr>
        <p:spPr>
          <a:xfrm>
            <a:off x="457200" y="6492240"/>
            <a:ext cx="3657600" cy="274320"/>
          </a:xfrm>
          <a:prstGeom prst="rect">
            <a:avLst/>
          </a:prstGeom>
          <a:noFill/>
        </p:spPr>
        <p:txBody>
          <a:bodyPr wrap="square">
            <a:spAutoFit/>
          </a:bodyPr>
          <a:lstStyle/>
          <a:p>
            <a:pPr>
              <a:defRPr>
                <a:latin typeface="Roboto"/>
              </a:defRPr>
            </a:pPr>
            <a:r>
              <a:rPr sz="900" b="0">
                <a:solidFill>
                  <a:srgbClr val="5F6F63"/>
                </a:solidFill>
                <a:latin typeface="Roboto"/>
              </a:rPr>
              <a:t>job-margins.pptx</a:t>
            </a:r>
          </a:p>
        </p:txBody>
      </p:sp>
      <p:sp>
        <p:nvSpPr>
          <p:cNvPr id="8" name="TextBox 7"/>
          <p:cNvSpPr txBox="1"/>
          <p:nvPr/>
        </p:nvSpPr>
        <p:spPr>
          <a:xfrm>
            <a:off x="4297680" y="6492240"/>
            <a:ext cx="3657600" cy="274320"/>
          </a:xfrm>
          <a:prstGeom prst="rect">
            <a:avLst/>
          </a:prstGeom>
          <a:noFill/>
        </p:spPr>
        <p:txBody>
          <a:bodyPr wrap="square">
            <a:spAutoFit/>
          </a:bodyPr>
          <a:lstStyle/>
          <a:p>
            <a:pPr algn="ctr">
              <a:defRPr>
                <a:latin typeface="Roboto"/>
              </a:defRPr>
            </a:pPr>
            <a:r>
              <a:rPr sz="900" b="0">
                <a:solidFill>
                  <a:srgbClr val="5F6F63"/>
                </a:solidFill>
                <a:latin typeface="Roboto"/>
              </a:rPr>
              <a:t>Data retrieved 2pm, Tue 6 Oct 2026 · Sample data</a:t>
            </a:r>
          </a:p>
        </p:txBody>
      </p:sp>
      <p:sp>
        <p:nvSpPr>
          <p:cNvPr id="9" name="TextBox 8"/>
          <p:cNvSpPr txBox="1"/>
          <p:nvPr/>
        </p:nvSpPr>
        <p:spPr>
          <a:xfrm>
            <a:off x="8503920" y="6492240"/>
            <a:ext cx="3200400" cy="274320"/>
          </a:xfrm>
          <a:prstGeom prst="rect">
            <a:avLst/>
          </a:prstGeom>
          <a:noFill/>
        </p:spPr>
        <p:txBody>
          <a:bodyPr wrap="square">
            <a:spAutoFit/>
          </a:bodyPr>
          <a:lstStyle/>
          <a:p>
            <a:pPr algn="r">
              <a:defRPr>
                <a:latin typeface="Roboto"/>
              </a:defRPr>
            </a:pPr>
            <a:r>
              <a:rPr sz="900" b="0">
                <a:solidFill>
                  <a:srgbClr val="5F6F63"/>
                </a:solidFill>
                <a:latin typeface="Roboto"/>
              </a:rPr>
              <a:t>Slide 14 of 21</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2F7A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3" name="TextBox 2"/>
          <p:cNvSpPr txBox="1"/>
          <p:nvPr/>
        </p:nvSpPr>
        <p:spPr>
          <a:xfrm>
            <a:off x="457200" y="164592"/>
            <a:ext cx="7315200" cy="274320"/>
          </a:xfrm>
          <a:prstGeom prst="rect">
            <a:avLst/>
          </a:prstGeom>
          <a:noFill/>
        </p:spPr>
        <p:txBody>
          <a:bodyPr wrap="square">
            <a:spAutoFit/>
          </a:bodyPr>
          <a:lstStyle/>
          <a:p>
            <a:pPr>
              <a:defRPr>
                <a:latin typeface="Roboto"/>
              </a:defRPr>
            </a:pPr>
            <a:r>
              <a:rPr sz="1000" b="0">
                <a:solidFill>
                  <a:srgbClr val="5F6F63"/>
                </a:solidFill>
                <a:latin typeface="Roboto"/>
              </a:rPr>
              <a:t>Sample Electrical &amp; Air Pty Ltd · Which jobs actually make money?</a:t>
            </a:r>
          </a:p>
        </p:txBody>
      </p:sp>
      <p:sp>
        <p:nvSpPr>
          <p:cNvPr id="4" name="TextBox 3"/>
          <p:cNvSpPr txBox="1"/>
          <p:nvPr/>
        </p:nvSpPr>
        <p:spPr>
          <a:xfrm>
            <a:off x="457200" y="411480"/>
            <a:ext cx="11247120" cy="548640"/>
          </a:xfrm>
          <a:prstGeom prst="rect">
            <a:avLst/>
          </a:prstGeom>
          <a:noFill/>
        </p:spPr>
        <p:txBody>
          <a:bodyPr wrap="square">
            <a:spAutoFit/>
          </a:bodyPr>
          <a:lstStyle/>
          <a:p>
            <a:pPr>
              <a:defRPr>
                <a:latin typeface="Roboto"/>
              </a:defRPr>
            </a:pPr>
            <a:r>
              <a:rPr sz="2400" b="1">
                <a:solidFill>
                  <a:srgbClr val="25342A"/>
                </a:solidFill>
                <a:latin typeface="Roboto"/>
              </a:rPr>
              <a:t>What it shows · Type of job: Installations</a:t>
            </a:r>
          </a:p>
        </p:txBody>
      </p:sp>
      <p:sp>
        <p:nvSpPr>
          <p:cNvPr id="5" name="Rectangle 4"/>
          <p:cNvSpPr/>
          <p:nvPr/>
        </p:nvSpPr>
        <p:spPr>
          <a:xfrm>
            <a:off x="457200" y="1554480"/>
            <a:ext cx="5501487" cy="4389120"/>
          </a:xfrm>
          <a:prstGeom prst="rect">
            <a:avLst/>
          </a:prstGeom>
          <a:solidFill>
            <a:srgbClr val="FFFFFF"/>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6" name="TextBox 5"/>
          <p:cNvSpPr txBox="1"/>
          <p:nvPr/>
        </p:nvSpPr>
        <p:spPr>
          <a:xfrm>
            <a:off x="685800" y="1691640"/>
            <a:ext cx="5044287" cy="365760"/>
          </a:xfrm>
          <a:prstGeom prst="rect">
            <a:avLst/>
          </a:prstGeom>
          <a:noFill/>
        </p:spPr>
        <p:txBody>
          <a:bodyPr wrap="square">
            <a:spAutoFit/>
          </a:bodyPr>
          <a:lstStyle/>
          <a:p>
            <a:pPr>
              <a:defRPr>
                <a:latin typeface="Roboto"/>
              </a:defRPr>
            </a:pPr>
            <a:r>
              <a:rPr sz="1100" b="1">
                <a:solidFill>
                  <a:srgbClr val="5F6F63"/>
                </a:solidFill>
                <a:latin typeface="Roboto"/>
              </a:rPr>
              <a:t>WHAT IT SHOWS</a:t>
            </a:r>
          </a:p>
        </p:txBody>
      </p:sp>
      <p:sp>
        <p:nvSpPr>
          <p:cNvPr id="7" name="TextBox 6"/>
          <p:cNvSpPr txBox="1"/>
          <p:nvPr/>
        </p:nvSpPr>
        <p:spPr>
          <a:xfrm>
            <a:off x="685800" y="2103120"/>
            <a:ext cx="5044287" cy="3749039"/>
          </a:xfrm>
          <a:prstGeom prst="rect">
            <a:avLst/>
          </a:prstGeom>
          <a:noFill/>
        </p:spPr>
        <p:txBody>
          <a:bodyPr wrap="square">
            <a:spAutoFit/>
          </a:bodyPr>
          <a:lstStyle/>
          <a:p>
            <a:pPr>
              <a:defRPr>
                <a:latin typeface="Roboto"/>
              </a:defRPr>
            </a:pPr>
            <a:r>
              <a:rPr sz="1600" b="0">
                <a:solidFill>
                  <a:srgbClr val="25342A"/>
                </a:solidFill>
                <a:latin typeface="Roboto"/>
              </a:rPr>
              <a:t>3 of the 6 installation jobs invoiced in September made less than the 35.0% job gross margin target. The Wacol warehouse switchboard made a 13.5% job gross margin: 150.0 h of technician time ($10,200) and $7,400 of subcontractors on a $46,800 job. Jobs need 31.1% gross margin just to cover overheads.</a:t>
            </a:r>
          </a:p>
        </p:txBody>
      </p:sp>
      <p:sp>
        <p:nvSpPr>
          <p:cNvPr id="8" name="Rectangle 7"/>
          <p:cNvSpPr/>
          <p:nvPr/>
        </p:nvSpPr>
        <p:spPr>
          <a:xfrm>
            <a:off x="6233007" y="1554480"/>
            <a:ext cx="5501487" cy="4389120"/>
          </a:xfrm>
          <a:prstGeom prst="rect">
            <a:avLst/>
          </a:prstGeom>
          <a:solidFill>
            <a:srgbClr val="EEF5F0"/>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9" name="TextBox 8"/>
          <p:cNvSpPr txBox="1"/>
          <p:nvPr/>
        </p:nvSpPr>
        <p:spPr>
          <a:xfrm>
            <a:off x="6461607" y="1691640"/>
            <a:ext cx="5044287" cy="365760"/>
          </a:xfrm>
          <a:prstGeom prst="rect">
            <a:avLst/>
          </a:prstGeom>
          <a:noFill/>
        </p:spPr>
        <p:txBody>
          <a:bodyPr wrap="square">
            <a:spAutoFit/>
          </a:bodyPr>
          <a:lstStyle/>
          <a:p>
            <a:pPr>
              <a:defRPr>
                <a:latin typeface="Roboto"/>
              </a:defRPr>
            </a:pPr>
            <a:r>
              <a:rPr sz="1100" b="1">
                <a:solidFill>
                  <a:srgbClr val="5F6F63"/>
                </a:solidFill>
                <a:latin typeface="Roboto"/>
              </a:rPr>
              <a:t>WHAT YOU'D DO ABOUT IT</a:t>
            </a:r>
          </a:p>
        </p:txBody>
      </p:sp>
      <p:sp>
        <p:nvSpPr>
          <p:cNvPr id="10" name="TextBox 9"/>
          <p:cNvSpPr txBox="1"/>
          <p:nvPr/>
        </p:nvSpPr>
        <p:spPr>
          <a:xfrm>
            <a:off x="6461607" y="2103120"/>
            <a:ext cx="5044287" cy="3749039"/>
          </a:xfrm>
          <a:prstGeom prst="rect">
            <a:avLst/>
          </a:prstGeom>
          <a:noFill/>
        </p:spPr>
        <p:txBody>
          <a:bodyPr wrap="square">
            <a:spAutoFit/>
          </a:bodyPr>
          <a:lstStyle/>
          <a:p>
            <a:pPr>
              <a:defRPr>
                <a:latin typeface="Roboto"/>
              </a:defRPr>
            </a:pPr>
            <a:r>
              <a:rPr sz="1600" b="0">
                <a:solidFill>
                  <a:srgbClr val="25342A"/>
                </a:solidFill>
                <a:latin typeface="Roboto"/>
              </a:rPr>
              <a:t>Below the 31.1% overheads need: Carindale solar and battery (26.9%), Wacol warehouse switchboard (13.5%). Most profitable: Bulimba EV chargers (45.2%).</a:t>
            </a:r>
          </a:p>
        </p:txBody>
      </p:sp>
      <p:sp>
        <p:nvSpPr>
          <p:cNvPr id="11" name="TextBox 10"/>
          <p:cNvSpPr txBox="1"/>
          <p:nvPr/>
        </p:nvSpPr>
        <p:spPr>
          <a:xfrm>
            <a:off x="457200" y="6492240"/>
            <a:ext cx="3657600" cy="274320"/>
          </a:xfrm>
          <a:prstGeom prst="rect">
            <a:avLst/>
          </a:prstGeom>
          <a:noFill/>
        </p:spPr>
        <p:txBody>
          <a:bodyPr wrap="square">
            <a:spAutoFit/>
          </a:bodyPr>
          <a:lstStyle/>
          <a:p>
            <a:pPr>
              <a:defRPr>
                <a:latin typeface="Roboto"/>
              </a:defRPr>
            </a:pPr>
            <a:r>
              <a:rPr sz="900" b="0">
                <a:solidFill>
                  <a:srgbClr val="5F6F63"/>
                </a:solidFill>
                <a:latin typeface="Roboto"/>
              </a:rPr>
              <a:t>job-margins.pptx</a:t>
            </a:r>
          </a:p>
        </p:txBody>
      </p:sp>
      <p:sp>
        <p:nvSpPr>
          <p:cNvPr id="12" name="TextBox 11"/>
          <p:cNvSpPr txBox="1"/>
          <p:nvPr/>
        </p:nvSpPr>
        <p:spPr>
          <a:xfrm>
            <a:off x="4297680" y="6492240"/>
            <a:ext cx="3657600" cy="274320"/>
          </a:xfrm>
          <a:prstGeom prst="rect">
            <a:avLst/>
          </a:prstGeom>
          <a:noFill/>
        </p:spPr>
        <p:txBody>
          <a:bodyPr wrap="square">
            <a:spAutoFit/>
          </a:bodyPr>
          <a:lstStyle/>
          <a:p>
            <a:pPr algn="ctr">
              <a:defRPr>
                <a:latin typeface="Roboto"/>
              </a:defRPr>
            </a:pPr>
            <a:r>
              <a:rPr sz="900" b="0">
                <a:solidFill>
                  <a:srgbClr val="5F6F63"/>
                </a:solidFill>
                <a:latin typeface="Roboto"/>
              </a:rPr>
              <a:t>Data retrieved 2pm, Tue 6 Oct 2026 · Sample data</a:t>
            </a:r>
          </a:p>
        </p:txBody>
      </p:sp>
      <p:sp>
        <p:nvSpPr>
          <p:cNvPr id="13" name="TextBox 12"/>
          <p:cNvSpPr txBox="1"/>
          <p:nvPr/>
        </p:nvSpPr>
        <p:spPr>
          <a:xfrm>
            <a:off x="8503920" y="6492240"/>
            <a:ext cx="3200400" cy="274320"/>
          </a:xfrm>
          <a:prstGeom prst="rect">
            <a:avLst/>
          </a:prstGeom>
          <a:noFill/>
        </p:spPr>
        <p:txBody>
          <a:bodyPr wrap="square">
            <a:spAutoFit/>
          </a:bodyPr>
          <a:lstStyle/>
          <a:p>
            <a:pPr algn="r">
              <a:defRPr>
                <a:latin typeface="Roboto"/>
              </a:defRPr>
            </a:pPr>
            <a:r>
              <a:rPr sz="900" b="0">
                <a:solidFill>
                  <a:srgbClr val="5F6F63"/>
                </a:solidFill>
                <a:latin typeface="Roboto"/>
              </a:rPr>
              <a:t>Slide 15 of 21</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2F7A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3" name="TextBox 2"/>
          <p:cNvSpPr txBox="1"/>
          <p:nvPr/>
        </p:nvSpPr>
        <p:spPr>
          <a:xfrm>
            <a:off x="457200" y="164592"/>
            <a:ext cx="7315200" cy="274320"/>
          </a:xfrm>
          <a:prstGeom prst="rect">
            <a:avLst/>
          </a:prstGeom>
          <a:noFill/>
        </p:spPr>
        <p:txBody>
          <a:bodyPr wrap="square">
            <a:spAutoFit/>
          </a:bodyPr>
          <a:lstStyle/>
          <a:p>
            <a:pPr>
              <a:defRPr>
                <a:latin typeface="Roboto"/>
              </a:defRPr>
            </a:pPr>
            <a:r>
              <a:rPr sz="1000" b="0">
                <a:solidFill>
                  <a:srgbClr val="5F6F63"/>
                </a:solidFill>
                <a:latin typeface="Roboto"/>
              </a:rPr>
              <a:t>Sample Electrical &amp; Air Pty Ltd · Which jobs actually make money?</a:t>
            </a:r>
          </a:p>
        </p:txBody>
      </p:sp>
      <p:sp>
        <p:nvSpPr>
          <p:cNvPr id="4" name="TextBox 3"/>
          <p:cNvSpPr txBox="1"/>
          <p:nvPr/>
        </p:nvSpPr>
        <p:spPr>
          <a:xfrm>
            <a:off x="457200" y="411480"/>
            <a:ext cx="11247120" cy="548640"/>
          </a:xfrm>
          <a:prstGeom prst="rect">
            <a:avLst/>
          </a:prstGeom>
          <a:noFill/>
        </p:spPr>
        <p:txBody>
          <a:bodyPr wrap="square">
            <a:spAutoFit/>
          </a:bodyPr>
          <a:lstStyle/>
          <a:p>
            <a:pPr>
              <a:defRPr>
                <a:latin typeface="Roboto"/>
              </a:defRPr>
            </a:pPr>
            <a:r>
              <a:rPr sz="2400" b="1">
                <a:solidFill>
                  <a:srgbClr val="25342A"/>
                </a:solidFill>
                <a:latin typeface="Roboto"/>
              </a:rPr>
              <a:t>Headline numbers · Type of job: Call-outs and repairs</a:t>
            </a:r>
          </a:p>
        </p:txBody>
      </p:sp>
      <p:sp>
        <p:nvSpPr>
          <p:cNvPr id="5" name="Rectangle 4"/>
          <p:cNvSpPr/>
          <p:nvPr/>
        </p:nvSpPr>
        <p:spPr>
          <a:xfrm>
            <a:off x="457200" y="1645920"/>
            <a:ext cx="3576218" cy="2011680"/>
          </a:xfrm>
          <a:prstGeom prst="rect">
            <a:avLst/>
          </a:prstGeom>
          <a:solidFill>
            <a:srgbClr val="F7FAF7"/>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6" name="TextBox 5"/>
          <p:cNvSpPr txBox="1"/>
          <p:nvPr/>
        </p:nvSpPr>
        <p:spPr>
          <a:xfrm>
            <a:off x="640080" y="1783080"/>
            <a:ext cx="3210458" cy="457200"/>
          </a:xfrm>
          <a:prstGeom prst="rect">
            <a:avLst/>
          </a:prstGeom>
          <a:noFill/>
        </p:spPr>
        <p:txBody>
          <a:bodyPr wrap="square">
            <a:spAutoFit/>
          </a:bodyPr>
          <a:lstStyle/>
          <a:p>
            <a:pPr>
              <a:defRPr>
                <a:latin typeface="Roboto"/>
              </a:defRPr>
            </a:pPr>
            <a:r>
              <a:rPr sz="1200" b="0">
                <a:solidFill>
                  <a:srgbClr val="5F6F63"/>
                </a:solidFill>
                <a:latin typeface="Roboto"/>
              </a:rPr>
              <a:t>Job gross margin, September · Call-outs and repairs</a:t>
            </a:r>
          </a:p>
        </p:txBody>
      </p:sp>
      <p:sp>
        <p:nvSpPr>
          <p:cNvPr id="7" name="TextBox 6"/>
          <p:cNvSpPr txBox="1"/>
          <p:nvPr/>
        </p:nvSpPr>
        <p:spPr>
          <a:xfrm>
            <a:off x="640080" y="2240280"/>
            <a:ext cx="3210458" cy="731520"/>
          </a:xfrm>
          <a:prstGeom prst="rect">
            <a:avLst/>
          </a:prstGeom>
          <a:noFill/>
        </p:spPr>
        <p:txBody>
          <a:bodyPr wrap="square">
            <a:spAutoFit/>
          </a:bodyPr>
          <a:lstStyle/>
          <a:p>
            <a:pPr>
              <a:defRPr>
                <a:latin typeface="Roboto"/>
              </a:defRPr>
            </a:pPr>
            <a:r>
              <a:rPr sz="3000" b="1">
                <a:solidFill>
                  <a:srgbClr val="2F7A5D"/>
                </a:solidFill>
                <a:latin typeface="Roboto"/>
              </a:rPr>
              <a:t>43.9%</a:t>
            </a:r>
          </a:p>
        </p:txBody>
      </p:sp>
      <p:sp>
        <p:nvSpPr>
          <p:cNvPr id="8" name="TextBox 7"/>
          <p:cNvSpPr txBox="1"/>
          <p:nvPr/>
        </p:nvSpPr>
        <p:spPr>
          <a:xfrm>
            <a:off x="640080" y="3017520"/>
            <a:ext cx="3210458" cy="548640"/>
          </a:xfrm>
          <a:prstGeom prst="rect">
            <a:avLst/>
          </a:prstGeom>
          <a:noFill/>
        </p:spPr>
        <p:txBody>
          <a:bodyPr wrap="square">
            <a:spAutoFit/>
          </a:bodyPr>
          <a:lstStyle/>
          <a:p>
            <a:pPr>
              <a:defRPr>
                <a:latin typeface="Roboto"/>
              </a:defRPr>
            </a:pPr>
            <a:r>
              <a:rPr sz="1100" b="0">
                <a:solidFill>
                  <a:srgbClr val="5F6F63"/>
                </a:solidFill>
                <a:latin typeface="Roboto"/>
              </a:rPr>
              <a:t>August 43.7%</a:t>
            </a:r>
          </a:p>
        </p:txBody>
      </p:sp>
      <p:sp>
        <p:nvSpPr>
          <p:cNvPr id="9" name="Rectangle 8"/>
          <p:cNvSpPr/>
          <p:nvPr/>
        </p:nvSpPr>
        <p:spPr>
          <a:xfrm>
            <a:off x="4307738" y="1645920"/>
            <a:ext cx="3576218" cy="2011680"/>
          </a:xfrm>
          <a:prstGeom prst="rect">
            <a:avLst/>
          </a:prstGeom>
          <a:solidFill>
            <a:srgbClr val="F7FAF7"/>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10" name="TextBox 9"/>
          <p:cNvSpPr txBox="1"/>
          <p:nvPr/>
        </p:nvSpPr>
        <p:spPr>
          <a:xfrm>
            <a:off x="4490618" y="1783080"/>
            <a:ext cx="3210458" cy="457200"/>
          </a:xfrm>
          <a:prstGeom prst="rect">
            <a:avLst/>
          </a:prstGeom>
          <a:noFill/>
        </p:spPr>
        <p:txBody>
          <a:bodyPr wrap="square">
            <a:spAutoFit/>
          </a:bodyPr>
          <a:lstStyle/>
          <a:p>
            <a:pPr>
              <a:defRPr>
                <a:latin typeface="Roboto"/>
              </a:defRPr>
            </a:pPr>
            <a:r>
              <a:rPr sz="1200" b="0">
                <a:solidFill>
                  <a:srgbClr val="5F6F63"/>
                </a:solidFill>
                <a:latin typeface="Roboto"/>
              </a:rPr>
              <a:t>Technician time charged, September</a:t>
            </a:r>
          </a:p>
        </p:txBody>
      </p:sp>
      <p:sp>
        <p:nvSpPr>
          <p:cNvPr id="11" name="TextBox 10"/>
          <p:cNvSpPr txBox="1"/>
          <p:nvPr/>
        </p:nvSpPr>
        <p:spPr>
          <a:xfrm>
            <a:off x="4490618" y="2240280"/>
            <a:ext cx="3210458" cy="731520"/>
          </a:xfrm>
          <a:prstGeom prst="rect">
            <a:avLst/>
          </a:prstGeom>
          <a:noFill/>
        </p:spPr>
        <p:txBody>
          <a:bodyPr wrap="square">
            <a:spAutoFit/>
          </a:bodyPr>
          <a:lstStyle/>
          <a:p>
            <a:pPr>
              <a:defRPr>
                <a:latin typeface="Roboto"/>
              </a:defRPr>
            </a:pPr>
            <a:r>
              <a:rPr sz="3000" b="1">
                <a:solidFill>
                  <a:srgbClr val="2F7A5D"/>
                </a:solidFill>
                <a:latin typeface="Roboto"/>
              </a:rPr>
              <a:t>$21,543</a:t>
            </a:r>
          </a:p>
        </p:txBody>
      </p:sp>
      <p:sp>
        <p:nvSpPr>
          <p:cNvPr id="12" name="TextBox 11"/>
          <p:cNvSpPr txBox="1"/>
          <p:nvPr/>
        </p:nvSpPr>
        <p:spPr>
          <a:xfrm>
            <a:off x="4490618" y="3017520"/>
            <a:ext cx="3210458" cy="548640"/>
          </a:xfrm>
          <a:prstGeom prst="rect">
            <a:avLst/>
          </a:prstGeom>
          <a:noFill/>
        </p:spPr>
        <p:txBody>
          <a:bodyPr wrap="square">
            <a:spAutoFit/>
          </a:bodyPr>
          <a:lstStyle/>
          <a:p>
            <a:pPr>
              <a:defRPr>
                <a:latin typeface="Roboto"/>
              </a:defRPr>
            </a:pPr>
            <a:r>
              <a:rPr sz="1100" b="0">
                <a:solidFill>
                  <a:srgbClr val="5F6F63"/>
                </a:solidFill>
                <a:latin typeface="Roboto"/>
              </a:rPr>
              <a:t>69.2% of call-out revenue</a:t>
            </a:r>
          </a:p>
        </p:txBody>
      </p:sp>
      <p:sp>
        <p:nvSpPr>
          <p:cNvPr id="13" name="Rectangle 12"/>
          <p:cNvSpPr/>
          <p:nvPr/>
        </p:nvSpPr>
        <p:spPr>
          <a:xfrm>
            <a:off x="8158276" y="1645920"/>
            <a:ext cx="3576218" cy="2011680"/>
          </a:xfrm>
          <a:prstGeom prst="rect">
            <a:avLst/>
          </a:prstGeom>
          <a:solidFill>
            <a:srgbClr val="F7FAF7"/>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14" name="TextBox 13"/>
          <p:cNvSpPr txBox="1"/>
          <p:nvPr/>
        </p:nvSpPr>
        <p:spPr>
          <a:xfrm>
            <a:off x="8341156" y="1783080"/>
            <a:ext cx="3210458" cy="457200"/>
          </a:xfrm>
          <a:prstGeom prst="rect">
            <a:avLst/>
          </a:prstGeom>
          <a:noFill/>
        </p:spPr>
        <p:txBody>
          <a:bodyPr wrap="square">
            <a:spAutoFit/>
          </a:bodyPr>
          <a:lstStyle/>
          <a:p>
            <a:pPr>
              <a:defRPr>
                <a:latin typeface="Roboto"/>
              </a:defRPr>
            </a:pPr>
            <a:r>
              <a:rPr sz="1200" b="0">
                <a:solidFill>
                  <a:srgbClr val="5F6F63"/>
                </a:solidFill>
                <a:latin typeface="Roboto"/>
              </a:rPr>
              <a:t>Materials charged, September</a:t>
            </a:r>
          </a:p>
        </p:txBody>
      </p:sp>
      <p:sp>
        <p:nvSpPr>
          <p:cNvPr id="15" name="TextBox 14"/>
          <p:cNvSpPr txBox="1"/>
          <p:nvPr/>
        </p:nvSpPr>
        <p:spPr>
          <a:xfrm>
            <a:off x="8341156" y="2240280"/>
            <a:ext cx="3210458" cy="731520"/>
          </a:xfrm>
          <a:prstGeom prst="rect">
            <a:avLst/>
          </a:prstGeom>
          <a:noFill/>
        </p:spPr>
        <p:txBody>
          <a:bodyPr wrap="square">
            <a:spAutoFit/>
          </a:bodyPr>
          <a:lstStyle/>
          <a:p>
            <a:pPr>
              <a:defRPr>
                <a:latin typeface="Roboto"/>
              </a:defRPr>
            </a:pPr>
            <a:r>
              <a:rPr sz="3000" b="1">
                <a:solidFill>
                  <a:srgbClr val="2F7A5D"/>
                </a:solidFill>
                <a:latin typeface="Roboto"/>
              </a:rPr>
              <a:t>$9,594</a:t>
            </a:r>
          </a:p>
        </p:txBody>
      </p:sp>
      <p:sp>
        <p:nvSpPr>
          <p:cNvPr id="16" name="TextBox 15"/>
          <p:cNvSpPr txBox="1"/>
          <p:nvPr/>
        </p:nvSpPr>
        <p:spPr>
          <a:xfrm>
            <a:off x="8341156" y="3017520"/>
            <a:ext cx="3210458" cy="548640"/>
          </a:xfrm>
          <a:prstGeom prst="rect">
            <a:avLst/>
          </a:prstGeom>
          <a:noFill/>
        </p:spPr>
        <p:txBody>
          <a:bodyPr wrap="square">
            <a:spAutoFit/>
          </a:bodyPr>
          <a:lstStyle/>
          <a:p>
            <a:pPr>
              <a:defRPr>
                <a:latin typeface="Roboto"/>
              </a:defRPr>
            </a:pPr>
            <a:r>
              <a:rPr sz="1100" b="0">
                <a:solidFill>
                  <a:srgbClr val="5F6F63"/>
                </a:solidFill>
                <a:latin typeface="Roboto"/>
              </a:rPr>
              <a:t>$7,380 at cost, plus 30%</a:t>
            </a:r>
          </a:p>
        </p:txBody>
      </p:sp>
      <p:sp>
        <p:nvSpPr>
          <p:cNvPr id="17" name="TextBox 16"/>
          <p:cNvSpPr txBox="1"/>
          <p:nvPr/>
        </p:nvSpPr>
        <p:spPr>
          <a:xfrm>
            <a:off x="457200" y="6492240"/>
            <a:ext cx="3657600" cy="274320"/>
          </a:xfrm>
          <a:prstGeom prst="rect">
            <a:avLst/>
          </a:prstGeom>
          <a:noFill/>
        </p:spPr>
        <p:txBody>
          <a:bodyPr wrap="square">
            <a:spAutoFit/>
          </a:bodyPr>
          <a:lstStyle/>
          <a:p>
            <a:pPr>
              <a:defRPr>
                <a:latin typeface="Roboto"/>
              </a:defRPr>
            </a:pPr>
            <a:r>
              <a:rPr sz="900" b="0">
                <a:solidFill>
                  <a:srgbClr val="5F6F63"/>
                </a:solidFill>
                <a:latin typeface="Roboto"/>
              </a:rPr>
              <a:t>job-margins.pptx</a:t>
            </a:r>
          </a:p>
        </p:txBody>
      </p:sp>
      <p:sp>
        <p:nvSpPr>
          <p:cNvPr id="18" name="TextBox 17"/>
          <p:cNvSpPr txBox="1"/>
          <p:nvPr/>
        </p:nvSpPr>
        <p:spPr>
          <a:xfrm>
            <a:off x="4297680" y="6492240"/>
            <a:ext cx="3657600" cy="274320"/>
          </a:xfrm>
          <a:prstGeom prst="rect">
            <a:avLst/>
          </a:prstGeom>
          <a:noFill/>
        </p:spPr>
        <p:txBody>
          <a:bodyPr wrap="square">
            <a:spAutoFit/>
          </a:bodyPr>
          <a:lstStyle/>
          <a:p>
            <a:pPr algn="ctr">
              <a:defRPr>
                <a:latin typeface="Roboto"/>
              </a:defRPr>
            </a:pPr>
            <a:r>
              <a:rPr sz="900" b="0">
                <a:solidFill>
                  <a:srgbClr val="5F6F63"/>
                </a:solidFill>
                <a:latin typeface="Roboto"/>
              </a:rPr>
              <a:t>Data retrieved 2pm, Tue 6 Oct 2026 · Sample data</a:t>
            </a:r>
          </a:p>
        </p:txBody>
      </p:sp>
      <p:sp>
        <p:nvSpPr>
          <p:cNvPr id="19" name="TextBox 18"/>
          <p:cNvSpPr txBox="1"/>
          <p:nvPr/>
        </p:nvSpPr>
        <p:spPr>
          <a:xfrm>
            <a:off x="8503920" y="6492240"/>
            <a:ext cx="3200400" cy="274320"/>
          </a:xfrm>
          <a:prstGeom prst="rect">
            <a:avLst/>
          </a:prstGeom>
          <a:noFill/>
        </p:spPr>
        <p:txBody>
          <a:bodyPr wrap="square">
            <a:spAutoFit/>
          </a:bodyPr>
          <a:lstStyle/>
          <a:p>
            <a:pPr algn="r">
              <a:defRPr>
                <a:latin typeface="Roboto"/>
              </a:defRPr>
            </a:pPr>
            <a:r>
              <a:rPr sz="900" b="0">
                <a:solidFill>
                  <a:srgbClr val="5F6F63"/>
                </a:solidFill>
                <a:latin typeface="Roboto"/>
              </a:rPr>
              <a:t>Slide 16 of 21</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2F7A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3" name="TextBox 2"/>
          <p:cNvSpPr txBox="1"/>
          <p:nvPr/>
        </p:nvSpPr>
        <p:spPr>
          <a:xfrm>
            <a:off x="457200" y="164592"/>
            <a:ext cx="7315200" cy="274320"/>
          </a:xfrm>
          <a:prstGeom prst="rect">
            <a:avLst/>
          </a:prstGeom>
          <a:noFill/>
        </p:spPr>
        <p:txBody>
          <a:bodyPr wrap="square">
            <a:spAutoFit/>
          </a:bodyPr>
          <a:lstStyle/>
          <a:p>
            <a:pPr>
              <a:defRPr>
                <a:latin typeface="Roboto"/>
              </a:defRPr>
            </a:pPr>
            <a:r>
              <a:rPr sz="1000" b="0">
                <a:solidFill>
                  <a:srgbClr val="5F6F63"/>
                </a:solidFill>
                <a:latin typeface="Roboto"/>
              </a:rPr>
              <a:t>Sample Electrical &amp; Air Pty Ltd · Which jobs actually make money?</a:t>
            </a:r>
          </a:p>
        </p:txBody>
      </p:sp>
      <p:sp>
        <p:nvSpPr>
          <p:cNvPr id="4" name="TextBox 3"/>
          <p:cNvSpPr txBox="1"/>
          <p:nvPr/>
        </p:nvSpPr>
        <p:spPr>
          <a:xfrm>
            <a:off x="457200" y="411480"/>
            <a:ext cx="11247120" cy="548640"/>
          </a:xfrm>
          <a:prstGeom prst="rect">
            <a:avLst/>
          </a:prstGeom>
          <a:noFill/>
        </p:spPr>
        <p:txBody>
          <a:bodyPr wrap="square">
            <a:spAutoFit/>
          </a:bodyPr>
          <a:lstStyle/>
          <a:p>
            <a:pPr>
              <a:defRPr>
                <a:latin typeface="Roboto"/>
              </a:defRPr>
            </a:pPr>
            <a:r>
              <a:rPr sz="2400" b="1">
                <a:solidFill>
                  <a:srgbClr val="25342A"/>
                </a:solidFill>
                <a:latin typeface="Roboto"/>
              </a:rPr>
              <a:t>Job gross margin on call-outs by length, September 2026 · Gross margin % · Type of job: Call-outs and repairs</a:t>
            </a:r>
          </a:p>
        </p:txBody>
      </p:sp>
      <p:sp>
        <p:nvSpPr>
          <p:cNvPr id="5" name="TextBox 4"/>
          <p:cNvSpPr txBox="1"/>
          <p:nvPr/>
        </p:nvSpPr>
        <p:spPr>
          <a:xfrm>
            <a:off x="457200" y="960120"/>
            <a:ext cx="11247120" cy="457200"/>
          </a:xfrm>
          <a:prstGeom prst="rect">
            <a:avLst/>
          </a:prstGeom>
          <a:noFill/>
        </p:spPr>
        <p:txBody>
          <a:bodyPr wrap="square">
            <a:spAutoFit/>
          </a:bodyPr>
          <a:lstStyle/>
          <a:p>
            <a:pPr>
              <a:defRPr>
                <a:latin typeface="Roboto"/>
              </a:defRPr>
            </a:pPr>
            <a:r>
              <a:rPr sz="1200" b="0">
                <a:solidFill>
                  <a:srgbClr val="5F6F63"/>
                </a:solidFill>
                <a:latin typeface="Roboto"/>
              </a:rPr>
              <a:t>Charged at $145/hour plus materials at cost × 1.3; technician time at $68/hour.</a:t>
            </a:r>
          </a:p>
        </p:txBody>
      </p:sp>
      <p:graphicFrame>
        <p:nvGraphicFramePr>
          <p:cNvPr id="6" name="Chart 5"/>
          <p:cNvGraphicFramePr>
            <a:graphicFrameLocks noGrp="1"/>
          </p:cNvGraphicFramePr>
          <p:nvPr/>
        </p:nvGraphicFramePr>
        <p:xfrm>
          <a:off x="457200" y="1463040"/>
          <a:ext cx="11247120" cy="4754880"/>
        </p:xfrm>
        <a:graphic>
          <a:graphicData uri="http://schemas.openxmlformats.org/drawingml/2006/chart">
            <c:chart xmlns:c="http://schemas.openxmlformats.org/drawingml/2006/chart" r:id="rId2"/>
          </a:graphicData>
        </a:graphic>
      </p:graphicFrame>
      <p:sp>
        <p:nvSpPr>
          <p:cNvPr id="7" name="TextBox 6"/>
          <p:cNvSpPr txBox="1"/>
          <p:nvPr/>
        </p:nvSpPr>
        <p:spPr>
          <a:xfrm>
            <a:off x="457200" y="6172200"/>
            <a:ext cx="10972800" cy="274320"/>
          </a:xfrm>
          <a:prstGeom prst="rect">
            <a:avLst/>
          </a:prstGeom>
          <a:noFill/>
        </p:spPr>
        <p:txBody>
          <a:bodyPr wrap="square">
            <a:spAutoFit/>
          </a:bodyPr>
          <a:lstStyle/>
          <a:p>
            <a:pPr>
              <a:defRPr>
                <a:latin typeface="Roboto"/>
              </a:defRPr>
            </a:pPr>
            <a:r>
              <a:rPr sz="1000" b="0">
                <a:solidFill>
                  <a:srgbClr val="5F6F63"/>
                </a:solidFill>
                <a:latin typeface="Roboto"/>
              </a:rPr>
              <a:t>Target 35.0%  ·  grey = below target</a:t>
            </a:r>
          </a:p>
        </p:txBody>
      </p:sp>
      <p:sp>
        <p:nvSpPr>
          <p:cNvPr id="8" name="TextBox 7"/>
          <p:cNvSpPr txBox="1"/>
          <p:nvPr/>
        </p:nvSpPr>
        <p:spPr>
          <a:xfrm>
            <a:off x="457200" y="6492240"/>
            <a:ext cx="3657600" cy="274320"/>
          </a:xfrm>
          <a:prstGeom prst="rect">
            <a:avLst/>
          </a:prstGeom>
          <a:noFill/>
        </p:spPr>
        <p:txBody>
          <a:bodyPr wrap="square">
            <a:spAutoFit/>
          </a:bodyPr>
          <a:lstStyle/>
          <a:p>
            <a:pPr>
              <a:defRPr>
                <a:latin typeface="Roboto"/>
              </a:defRPr>
            </a:pPr>
            <a:r>
              <a:rPr sz="900" b="0">
                <a:solidFill>
                  <a:srgbClr val="5F6F63"/>
                </a:solidFill>
                <a:latin typeface="Roboto"/>
              </a:rPr>
              <a:t>job-margins.pptx</a:t>
            </a:r>
          </a:p>
        </p:txBody>
      </p:sp>
      <p:sp>
        <p:nvSpPr>
          <p:cNvPr id="9" name="TextBox 8"/>
          <p:cNvSpPr txBox="1"/>
          <p:nvPr/>
        </p:nvSpPr>
        <p:spPr>
          <a:xfrm>
            <a:off x="4297680" y="6492240"/>
            <a:ext cx="3657600" cy="274320"/>
          </a:xfrm>
          <a:prstGeom prst="rect">
            <a:avLst/>
          </a:prstGeom>
          <a:noFill/>
        </p:spPr>
        <p:txBody>
          <a:bodyPr wrap="square">
            <a:spAutoFit/>
          </a:bodyPr>
          <a:lstStyle/>
          <a:p>
            <a:pPr algn="ctr">
              <a:defRPr>
                <a:latin typeface="Roboto"/>
              </a:defRPr>
            </a:pPr>
            <a:r>
              <a:rPr sz="900" b="0">
                <a:solidFill>
                  <a:srgbClr val="5F6F63"/>
                </a:solidFill>
                <a:latin typeface="Roboto"/>
              </a:rPr>
              <a:t>Data retrieved 2pm, Tue 6 Oct 2026 · Sample data</a:t>
            </a:r>
          </a:p>
        </p:txBody>
      </p:sp>
      <p:sp>
        <p:nvSpPr>
          <p:cNvPr id="10" name="TextBox 9"/>
          <p:cNvSpPr txBox="1"/>
          <p:nvPr/>
        </p:nvSpPr>
        <p:spPr>
          <a:xfrm>
            <a:off x="8503920" y="6492240"/>
            <a:ext cx="3200400" cy="274320"/>
          </a:xfrm>
          <a:prstGeom prst="rect">
            <a:avLst/>
          </a:prstGeom>
          <a:noFill/>
        </p:spPr>
        <p:txBody>
          <a:bodyPr wrap="square">
            <a:spAutoFit/>
          </a:bodyPr>
          <a:lstStyle/>
          <a:p>
            <a:pPr algn="r">
              <a:defRPr>
                <a:latin typeface="Roboto"/>
              </a:defRPr>
            </a:pPr>
            <a:r>
              <a:rPr sz="900" b="0">
                <a:solidFill>
                  <a:srgbClr val="5F6F63"/>
                </a:solidFill>
                <a:latin typeface="Roboto"/>
              </a:rPr>
              <a:t>Slide 17 of 21</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2F7A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3" name="TextBox 2"/>
          <p:cNvSpPr txBox="1"/>
          <p:nvPr/>
        </p:nvSpPr>
        <p:spPr>
          <a:xfrm>
            <a:off x="457200" y="164592"/>
            <a:ext cx="7315200" cy="274320"/>
          </a:xfrm>
          <a:prstGeom prst="rect">
            <a:avLst/>
          </a:prstGeom>
          <a:noFill/>
        </p:spPr>
        <p:txBody>
          <a:bodyPr wrap="square">
            <a:spAutoFit/>
          </a:bodyPr>
          <a:lstStyle/>
          <a:p>
            <a:pPr>
              <a:defRPr>
                <a:latin typeface="Roboto"/>
              </a:defRPr>
            </a:pPr>
            <a:r>
              <a:rPr sz="1000" b="0">
                <a:solidFill>
                  <a:srgbClr val="5F6F63"/>
                </a:solidFill>
                <a:latin typeface="Roboto"/>
              </a:rPr>
              <a:t>Sample Electrical &amp; Air Pty Ltd · Which jobs actually make money?</a:t>
            </a:r>
          </a:p>
        </p:txBody>
      </p:sp>
      <p:sp>
        <p:nvSpPr>
          <p:cNvPr id="4" name="TextBox 3"/>
          <p:cNvSpPr txBox="1"/>
          <p:nvPr/>
        </p:nvSpPr>
        <p:spPr>
          <a:xfrm>
            <a:off x="457200" y="411480"/>
            <a:ext cx="11247120" cy="548640"/>
          </a:xfrm>
          <a:prstGeom prst="rect">
            <a:avLst/>
          </a:prstGeom>
          <a:noFill/>
        </p:spPr>
        <p:txBody>
          <a:bodyPr wrap="square">
            <a:spAutoFit/>
          </a:bodyPr>
          <a:lstStyle/>
          <a:p>
            <a:pPr>
              <a:defRPr>
                <a:latin typeface="Roboto"/>
              </a:defRPr>
            </a:pPr>
            <a:r>
              <a:rPr sz="2400" b="1">
                <a:solidFill>
                  <a:srgbClr val="25342A"/>
                </a:solidFill>
                <a:latin typeface="Roboto"/>
              </a:rPr>
              <a:t>Job gross margin on call-outs by length, September 2026 · Gross margin $ · Type of job: Call-outs and repairs</a:t>
            </a:r>
          </a:p>
        </p:txBody>
      </p:sp>
      <p:sp>
        <p:nvSpPr>
          <p:cNvPr id="5" name="TextBox 4"/>
          <p:cNvSpPr txBox="1"/>
          <p:nvPr/>
        </p:nvSpPr>
        <p:spPr>
          <a:xfrm>
            <a:off x="457200" y="960120"/>
            <a:ext cx="11247120" cy="457200"/>
          </a:xfrm>
          <a:prstGeom prst="rect">
            <a:avLst/>
          </a:prstGeom>
          <a:noFill/>
        </p:spPr>
        <p:txBody>
          <a:bodyPr wrap="square">
            <a:spAutoFit/>
          </a:bodyPr>
          <a:lstStyle/>
          <a:p>
            <a:pPr>
              <a:defRPr>
                <a:latin typeface="Roboto"/>
              </a:defRPr>
            </a:pPr>
            <a:r>
              <a:rPr sz="1200" b="0">
                <a:solidFill>
                  <a:srgbClr val="5F6F63"/>
                </a:solidFill>
                <a:latin typeface="Roboto"/>
              </a:rPr>
              <a:t>Charged at $145/hour plus materials at cost × 1.3; technician time at $68/hour.</a:t>
            </a:r>
          </a:p>
        </p:txBody>
      </p:sp>
      <p:graphicFrame>
        <p:nvGraphicFramePr>
          <p:cNvPr id="6" name="Chart 5"/>
          <p:cNvGraphicFramePr>
            <a:graphicFrameLocks noGrp="1"/>
          </p:cNvGraphicFramePr>
          <p:nvPr/>
        </p:nvGraphicFramePr>
        <p:xfrm>
          <a:off x="457200" y="1463040"/>
          <a:ext cx="11247120" cy="4754880"/>
        </p:xfrm>
        <a:graphic>
          <a:graphicData uri="http://schemas.openxmlformats.org/drawingml/2006/chart">
            <c:chart xmlns:c="http://schemas.openxmlformats.org/drawingml/2006/chart" r:id="rId2"/>
          </a:graphicData>
        </a:graphic>
      </p:graphicFrame>
      <p:sp>
        <p:nvSpPr>
          <p:cNvPr id="7" name="TextBox 6"/>
          <p:cNvSpPr txBox="1"/>
          <p:nvPr/>
        </p:nvSpPr>
        <p:spPr>
          <a:xfrm>
            <a:off x="457200" y="6492240"/>
            <a:ext cx="3657600" cy="274320"/>
          </a:xfrm>
          <a:prstGeom prst="rect">
            <a:avLst/>
          </a:prstGeom>
          <a:noFill/>
        </p:spPr>
        <p:txBody>
          <a:bodyPr wrap="square">
            <a:spAutoFit/>
          </a:bodyPr>
          <a:lstStyle/>
          <a:p>
            <a:pPr>
              <a:defRPr>
                <a:latin typeface="Roboto"/>
              </a:defRPr>
            </a:pPr>
            <a:r>
              <a:rPr sz="900" b="0">
                <a:solidFill>
                  <a:srgbClr val="5F6F63"/>
                </a:solidFill>
                <a:latin typeface="Roboto"/>
              </a:rPr>
              <a:t>job-margins.pptx</a:t>
            </a:r>
          </a:p>
        </p:txBody>
      </p:sp>
      <p:sp>
        <p:nvSpPr>
          <p:cNvPr id="8" name="TextBox 7"/>
          <p:cNvSpPr txBox="1"/>
          <p:nvPr/>
        </p:nvSpPr>
        <p:spPr>
          <a:xfrm>
            <a:off x="4297680" y="6492240"/>
            <a:ext cx="3657600" cy="274320"/>
          </a:xfrm>
          <a:prstGeom prst="rect">
            <a:avLst/>
          </a:prstGeom>
          <a:noFill/>
        </p:spPr>
        <p:txBody>
          <a:bodyPr wrap="square">
            <a:spAutoFit/>
          </a:bodyPr>
          <a:lstStyle/>
          <a:p>
            <a:pPr algn="ctr">
              <a:defRPr>
                <a:latin typeface="Roboto"/>
              </a:defRPr>
            </a:pPr>
            <a:r>
              <a:rPr sz="900" b="0">
                <a:solidFill>
                  <a:srgbClr val="5F6F63"/>
                </a:solidFill>
                <a:latin typeface="Roboto"/>
              </a:rPr>
              <a:t>Data retrieved 2pm, Tue 6 Oct 2026 · Sample data</a:t>
            </a:r>
          </a:p>
        </p:txBody>
      </p:sp>
      <p:sp>
        <p:nvSpPr>
          <p:cNvPr id="9" name="TextBox 8"/>
          <p:cNvSpPr txBox="1"/>
          <p:nvPr/>
        </p:nvSpPr>
        <p:spPr>
          <a:xfrm>
            <a:off x="8503920" y="6492240"/>
            <a:ext cx="3200400" cy="274320"/>
          </a:xfrm>
          <a:prstGeom prst="rect">
            <a:avLst/>
          </a:prstGeom>
          <a:noFill/>
        </p:spPr>
        <p:txBody>
          <a:bodyPr wrap="square">
            <a:spAutoFit/>
          </a:bodyPr>
          <a:lstStyle/>
          <a:p>
            <a:pPr algn="r">
              <a:defRPr>
                <a:latin typeface="Roboto"/>
              </a:defRPr>
            </a:pPr>
            <a:r>
              <a:rPr sz="900" b="0">
                <a:solidFill>
                  <a:srgbClr val="5F6F63"/>
                </a:solidFill>
                <a:latin typeface="Roboto"/>
              </a:rPr>
              <a:t>Slide 18 of 21</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2F7A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3" name="TextBox 2"/>
          <p:cNvSpPr txBox="1"/>
          <p:nvPr/>
        </p:nvSpPr>
        <p:spPr>
          <a:xfrm>
            <a:off x="457200" y="164592"/>
            <a:ext cx="7315200" cy="274320"/>
          </a:xfrm>
          <a:prstGeom prst="rect">
            <a:avLst/>
          </a:prstGeom>
          <a:noFill/>
        </p:spPr>
        <p:txBody>
          <a:bodyPr wrap="square">
            <a:spAutoFit/>
          </a:bodyPr>
          <a:lstStyle/>
          <a:p>
            <a:pPr>
              <a:defRPr>
                <a:latin typeface="Roboto"/>
              </a:defRPr>
            </a:pPr>
            <a:r>
              <a:rPr sz="1000" b="0">
                <a:solidFill>
                  <a:srgbClr val="5F6F63"/>
                </a:solidFill>
                <a:latin typeface="Roboto"/>
              </a:rPr>
              <a:t>Sample Electrical &amp; Air Pty Ltd · Which jobs actually make money?</a:t>
            </a:r>
          </a:p>
        </p:txBody>
      </p:sp>
      <p:sp>
        <p:nvSpPr>
          <p:cNvPr id="4" name="TextBox 3"/>
          <p:cNvSpPr txBox="1"/>
          <p:nvPr/>
        </p:nvSpPr>
        <p:spPr>
          <a:xfrm>
            <a:off x="457200" y="411480"/>
            <a:ext cx="11247120" cy="548640"/>
          </a:xfrm>
          <a:prstGeom prst="rect">
            <a:avLst/>
          </a:prstGeom>
          <a:noFill/>
        </p:spPr>
        <p:txBody>
          <a:bodyPr wrap="square">
            <a:spAutoFit/>
          </a:bodyPr>
          <a:lstStyle/>
          <a:p>
            <a:pPr>
              <a:defRPr>
                <a:latin typeface="Roboto"/>
              </a:defRPr>
            </a:pPr>
            <a:r>
              <a:rPr sz="2400" b="1">
                <a:solidFill>
                  <a:srgbClr val="25342A"/>
                </a:solidFill>
                <a:latin typeface="Roboto"/>
              </a:rPr>
              <a:t>What it shows · Type of job: Call-outs and repairs</a:t>
            </a:r>
          </a:p>
        </p:txBody>
      </p:sp>
      <p:sp>
        <p:nvSpPr>
          <p:cNvPr id="5" name="Rectangle 4"/>
          <p:cNvSpPr/>
          <p:nvPr/>
        </p:nvSpPr>
        <p:spPr>
          <a:xfrm>
            <a:off x="457200" y="1554480"/>
            <a:ext cx="5501487" cy="4389120"/>
          </a:xfrm>
          <a:prstGeom prst="rect">
            <a:avLst/>
          </a:prstGeom>
          <a:solidFill>
            <a:srgbClr val="FFFFFF"/>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6" name="TextBox 5"/>
          <p:cNvSpPr txBox="1"/>
          <p:nvPr/>
        </p:nvSpPr>
        <p:spPr>
          <a:xfrm>
            <a:off x="685800" y="1691640"/>
            <a:ext cx="5044287" cy="365760"/>
          </a:xfrm>
          <a:prstGeom prst="rect">
            <a:avLst/>
          </a:prstGeom>
          <a:noFill/>
        </p:spPr>
        <p:txBody>
          <a:bodyPr wrap="square">
            <a:spAutoFit/>
          </a:bodyPr>
          <a:lstStyle/>
          <a:p>
            <a:pPr>
              <a:defRPr>
                <a:latin typeface="Roboto"/>
              </a:defRPr>
            </a:pPr>
            <a:r>
              <a:rPr sz="1100" b="1">
                <a:solidFill>
                  <a:srgbClr val="5F6F63"/>
                </a:solidFill>
                <a:latin typeface="Roboto"/>
              </a:rPr>
              <a:t>WHAT IT SHOWS</a:t>
            </a:r>
          </a:p>
        </p:txBody>
      </p:sp>
      <p:sp>
        <p:nvSpPr>
          <p:cNvPr id="7" name="TextBox 6"/>
          <p:cNvSpPr txBox="1"/>
          <p:nvPr/>
        </p:nvSpPr>
        <p:spPr>
          <a:xfrm>
            <a:off x="685800" y="2103120"/>
            <a:ext cx="5044287" cy="3749039"/>
          </a:xfrm>
          <a:prstGeom prst="rect">
            <a:avLst/>
          </a:prstGeom>
          <a:noFill/>
        </p:spPr>
        <p:txBody>
          <a:bodyPr wrap="square">
            <a:spAutoFit/>
          </a:bodyPr>
          <a:lstStyle/>
          <a:p>
            <a:pPr>
              <a:defRPr>
                <a:latin typeface="Roboto"/>
              </a:defRPr>
            </a:pPr>
            <a:r>
              <a:rPr sz="1600" b="0">
                <a:solidFill>
                  <a:srgbClr val="25342A"/>
                </a:solidFill>
                <a:latin typeface="Roboto"/>
              </a:rPr>
              <a:t>64 call-outs in September billed $21,543 of technician time and $9,594 of materials ($7,380 at cost plus 30%), and made a 43.9% job gross margin between them. Gross margins run from 37.6% to 47.1% by length: the hourly rate covers technician time comfortably, so the gross margin mostly moves with how much material goes on the van.</a:t>
            </a:r>
          </a:p>
        </p:txBody>
      </p:sp>
      <p:sp>
        <p:nvSpPr>
          <p:cNvPr id="8" name="Rectangle 7"/>
          <p:cNvSpPr/>
          <p:nvPr/>
        </p:nvSpPr>
        <p:spPr>
          <a:xfrm>
            <a:off x="6233007" y="1554480"/>
            <a:ext cx="5501487" cy="4389120"/>
          </a:xfrm>
          <a:prstGeom prst="rect">
            <a:avLst/>
          </a:prstGeom>
          <a:solidFill>
            <a:srgbClr val="EEF5F0"/>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9" name="TextBox 8"/>
          <p:cNvSpPr txBox="1"/>
          <p:nvPr/>
        </p:nvSpPr>
        <p:spPr>
          <a:xfrm>
            <a:off x="6461607" y="1691640"/>
            <a:ext cx="5044287" cy="365760"/>
          </a:xfrm>
          <a:prstGeom prst="rect">
            <a:avLst/>
          </a:prstGeom>
          <a:noFill/>
        </p:spPr>
        <p:txBody>
          <a:bodyPr wrap="square">
            <a:spAutoFit/>
          </a:bodyPr>
          <a:lstStyle/>
          <a:p>
            <a:pPr>
              <a:defRPr>
                <a:latin typeface="Roboto"/>
              </a:defRPr>
            </a:pPr>
            <a:r>
              <a:rPr sz="1100" b="1">
                <a:solidFill>
                  <a:srgbClr val="5F6F63"/>
                </a:solidFill>
                <a:latin typeface="Roboto"/>
              </a:rPr>
              <a:t>WHAT YOU'D DO ABOUT IT</a:t>
            </a:r>
          </a:p>
        </p:txBody>
      </p:sp>
      <p:sp>
        <p:nvSpPr>
          <p:cNvPr id="10" name="TextBox 9"/>
          <p:cNvSpPr txBox="1"/>
          <p:nvPr/>
        </p:nvSpPr>
        <p:spPr>
          <a:xfrm>
            <a:off x="6461607" y="2103120"/>
            <a:ext cx="5044287" cy="3749039"/>
          </a:xfrm>
          <a:prstGeom prst="rect">
            <a:avLst/>
          </a:prstGeom>
          <a:noFill/>
        </p:spPr>
        <p:txBody>
          <a:bodyPr wrap="square">
            <a:spAutoFit/>
          </a:bodyPr>
          <a:lstStyle/>
          <a:p>
            <a:pPr>
              <a:defRPr>
                <a:latin typeface="Roboto"/>
              </a:defRPr>
            </a:pPr>
            <a:r>
              <a:rPr sz="1600" b="0">
                <a:solidFill>
                  <a:srgbClr val="25342A"/>
                </a:solidFill>
                <a:latin typeface="Roboto"/>
              </a:rPr>
              <a:t>Call-outs: 43.9% gross margin, 12.7 points clear of the 31.1% overheads need.</a:t>
            </a:r>
          </a:p>
        </p:txBody>
      </p:sp>
      <p:sp>
        <p:nvSpPr>
          <p:cNvPr id="11" name="TextBox 10"/>
          <p:cNvSpPr txBox="1"/>
          <p:nvPr/>
        </p:nvSpPr>
        <p:spPr>
          <a:xfrm>
            <a:off x="457200" y="6492240"/>
            <a:ext cx="3657600" cy="274320"/>
          </a:xfrm>
          <a:prstGeom prst="rect">
            <a:avLst/>
          </a:prstGeom>
          <a:noFill/>
        </p:spPr>
        <p:txBody>
          <a:bodyPr wrap="square">
            <a:spAutoFit/>
          </a:bodyPr>
          <a:lstStyle/>
          <a:p>
            <a:pPr>
              <a:defRPr>
                <a:latin typeface="Roboto"/>
              </a:defRPr>
            </a:pPr>
            <a:r>
              <a:rPr sz="900" b="0">
                <a:solidFill>
                  <a:srgbClr val="5F6F63"/>
                </a:solidFill>
                <a:latin typeface="Roboto"/>
              </a:rPr>
              <a:t>job-margins.pptx</a:t>
            </a:r>
          </a:p>
        </p:txBody>
      </p:sp>
      <p:sp>
        <p:nvSpPr>
          <p:cNvPr id="12" name="TextBox 11"/>
          <p:cNvSpPr txBox="1"/>
          <p:nvPr/>
        </p:nvSpPr>
        <p:spPr>
          <a:xfrm>
            <a:off x="4297680" y="6492240"/>
            <a:ext cx="3657600" cy="274320"/>
          </a:xfrm>
          <a:prstGeom prst="rect">
            <a:avLst/>
          </a:prstGeom>
          <a:noFill/>
        </p:spPr>
        <p:txBody>
          <a:bodyPr wrap="square">
            <a:spAutoFit/>
          </a:bodyPr>
          <a:lstStyle/>
          <a:p>
            <a:pPr algn="ctr">
              <a:defRPr>
                <a:latin typeface="Roboto"/>
              </a:defRPr>
            </a:pPr>
            <a:r>
              <a:rPr sz="900" b="0">
                <a:solidFill>
                  <a:srgbClr val="5F6F63"/>
                </a:solidFill>
                <a:latin typeface="Roboto"/>
              </a:rPr>
              <a:t>Data retrieved 2pm, Tue 6 Oct 2026 · Sample data</a:t>
            </a:r>
          </a:p>
        </p:txBody>
      </p:sp>
      <p:sp>
        <p:nvSpPr>
          <p:cNvPr id="13" name="TextBox 12"/>
          <p:cNvSpPr txBox="1"/>
          <p:nvPr/>
        </p:nvSpPr>
        <p:spPr>
          <a:xfrm>
            <a:off x="8503920" y="6492240"/>
            <a:ext cx="3200400" cy="274320"/>
          </a:xfrm>
          <a:prstGeom prst="rect">
            <a:avLst/>
          </a:prstGeom>
          <a:noFill/>
        </p:spPr>
        <p:txBody>
          <a:bodyPr wrap="square">
            <a:spAutoFit/>
          </a:bodyPr>
          <a:lstStyle/>
          <a:p>
            <a:pPr algn="r">
              <a:defRPr>
                <a:latin typeface="Roboto"/>
              </a:defRPr>
            </a:pPr>
            <a:r>
              <a:rPr sz="900" b="0">
                <a:solidFill>
                  <a:srgbClr val="5F6F63"/>
                </a:solidFill>
                <a:latin typeface="Roboto"/>
              </a:rPr>
              <a:t>Slide 19 of 21</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2F7A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3" name="TextBox 2"/>
          <p:cNvSpPr txBox="1"/>
          <p:nvPr/>
        </p:nvSpPr>
        <p:spPr>
          <a:xfrm>
            <a:off x="457200" y="164592"/>
            <a:ext cx="7315200" cy="274320"/>
          </a:xfrm>
          <a:prstGeom prst="rect">
            <a:avLst/>
          </a:prstGeom>
          <a:noFill/>
        </p:spPr>
        <p:txBody>
          <a:bodyPr wrap="square">
            <a:spAutoFit/>
          </a:bodyPr>
          <a:lstStyle/>
          <a:p>
            <a:pPr>
              <a:defRPr>
                <a:latin typeface="Roboto"/>
              </a:defRPr>
            </a:pPr>
            <a:r>
              <a:rPr sz="1000" b="0">
                <a:solidFill>
                  <a:srgbClr val="5F6F63"/>
                </a:solidFill>
                <a:latin typeface="Roboto"/>
              </a:rPr>
              <a:t>Sample Electrical &amp; Air Pty Ltd · Which jobs actually make money?</a:t>
            </a:r>
          </a:p>
        </p:txBody>
      </p:sp>
      <p:sp>
        <p:nvSpPr>
          <p:cNvPr id="4" name="TextBox 3"/>
          <p:cNvSpPr txBox="1"/>
          <p:nvPr/>
        </p:nvSpPr>
        <p:spPr>
          <a:xfrm>
            <a:off x="457200" y="411480"/>
            <a:ext cx="11247120" cy="548640"/>
          </a:xfrm>
          <a:prstGeom prst="rect">
            <a:avLst/>
          </a:prstGeom>
          <a:noFill/>
        </p:spPr>
        <p:txBody>
          <a:bodyPr wrap="square">
            <a:spAutoFit/>
          </a:bodyPr>
          <a:lstStyle/>
          <a:p>
            <a:pPr>
              <a:defRPr>
                <a:latin typeface="Roboto"/>
              </a:defRPr>
            </a:pPr>
            <a:r>
              <a:rPr sz="2400" b="1">
                <a:solidFill>
                  <a:srgbClr val="25342A"/>
                </a:solidFill>
                <a:latin typeface="Roboto"/>
              </a:rPr>
              <a:t>Job gross margin by month · Gross margin % · Every type of job at once</a:t>
            </a:r>
          </a:p>
        </p:txBody>
      </p:sp>
      <p:sp>
        <p:nvSpPr>
          <p:cNvPr id="5" name="TextBox 4"/>
          <p:cNvSpPr txBox="1"/>
          <p:nvPr/>
        </p:nvSpPr>
        <p:spPr>
          <a:xfrm>
            <a:off x="457200" y="960120"/>
            <a:ext cx="11247120" cy="457200"/>
          </a:xfrm>
          <a:prstGeom prst="rect">
            <a:avLst/>
          </a:prstGeom>
          <a:noFill/>
        </p:spPr>
        <p:txBody>
          <a:bodyPr wrap="square">
            <a:spAutoFit/>
          </a:bodyPr>
          <a:lstStyle/>
          <a:p>
            <a:pPr>
              <a:defRPr>
                <a:latin typeface="Roboto"/>
              </a:defRPr>
            </a:pPr>
            <a:r>
              <a:rPr sz="1200" b="0">
                <a:solidFill>
                  <a:srgbClr val="5F6F63"/>
                </a:solidFill>
                <a:latin typeface="Roboto"/>
              </a:rPr>
              <a:t>Tap a month for its workings.</a:t>
            </a:r>
          </a:p>
        </p:txBody>
      </p:sp>
      <p:graphicFrame>
        <p:nvGraphicFramePr>
          <p:cNvPr id="6" name="Chart 5"/>
          <p:cNvGraphicFramePr>
            <a:graphicFrameLocks noGrp="1"/>
          </p:cNvGraphicFramePr>
          <p:nvPr/>
        </p:nvGraphicFramePr>
        <p:xfrm>
          <a:off x="457200" y="1463040"/>
          <a:ext cx="11247120" cy="4754880"/>
        </p:xfrm>
        <a:graphic>
          <a:graphicData uri="http://schemas.openxmlformats.org/drawingml/2006/chart">
            <c:chart xmlns:c="http://schemas.openxmlformats.org/drawingml/2006/chart" r:id="rId2"/>
          </a:graphicData>
        </a:graphic>
      </p:graphicFrame>
      <p:sp>
        <p:nvSpPr>
          <p:cNvPr id="7" name="TextBox 6"/>
          <p:cNvSpPr txBox="1"/>
          <p:nvPr/>
        </p:nvSpPr>
        <p:spPr>
          <a:xfrm>
            <a:off x="457200" y="6492240"/>
            <a:ext cx="3657600" cy="274320"/>
          </a:xfrm>
          <a:prstGeom prst="rect">
            <a:avLst/>
          </a:prstGeom>
          <a:noFill/>
        </p:spPr>
        <p:txBody>
          <a:bodyPr wrap="square">
            <a:spAutoFit/>
          </a:bodyPr>
          <a:lstStyle/>
          <a:p>
            <a:pPr>
              <a:defRPr>
                <a:latin typeface="Roboto"/>
              </a:defRPr>
            </a:pPr>
            <a:r>
              <a:rPr sz="900" b="0">
                <a:solidFill>
                  <a:srgbClr val="5F6F63"/>
                </a:solidFill>
                <a:latin typeface="Roboto"/>
              </a:rPr>
              <a:t>job-margins.pptx</a:t>
            </a:r>
          </a:p>
        </p:txBody>
      </p:sp>
      <p:sp>
        <p:nvSpPr>
          <p:cNvPr id="8" name="TextBox 7"/>
          <p:cNvSpPr txBox="1"/>
          <p:nvPr/>
        </p:nvSpPr>
        <p:spPr>
          <a:xfrm>
            <a:off x="4297680" y="6492240"/>
            <a:ext cx="3657600" cy="274320"/>
          </a:xfrm>
          <a:prstGeom prst="rect">
            <a:avLst/>
          </a:prstGeom>
          <a:noFill/>
        </p:spPr>
        <p:txBody>
          <a:bodyPr wrap="square">
            <a:spAutoFit/>
          </a:bodyPr>
          <a:lstStyle/>
          <a:p>
            <a:pPr algn="ctr">
              <a:defRPr>
                <a:latin typeface="Roboto"/>
              </a:defRPr>
            </a:pPr>
            <a:r>
              <a:rPr sz="900" b="0">
                <a:solidFill>
                  <a:srgbClr val="5F6F63"/>
                </a:solidFill>
                <a:latin typeface="Roboto"/>
              </a:rPr>
              <a:t>Data retrieved 2pm, Tue 6 Oct 2026 · Sample data</a:t>
            </a:r>
          </a:p>
        </p:txBody>
      </p:sp>
      <p:sp>
        <p:nvSpPr>
          <p:cNvPr id="9" name="TextBox 8"/>
          <p:cNvSpPr txBox="1"/>
          <p:nvPr/>
        </p:nvSpPr>
        <p:spPr>
          <a:xfrm>
            <a:off x="8503920" y="6492240"/>
            <a:ext cx="3200400" cy="274320"/>
          </a:xfrm>
          <a:prstGeom prst="rect">
            <a:avLst/>
          </a:prstGeom>
          <a:noFill/>
        </p:spPr>
        <p:txBody>
          <a:bodyPr wrap="square">
            <a:spAutoFit/>
          </a:bodyPr>
          <a:lstStyle/>
          <a:p>
            <a:pPr algn="r">
              <a:defRPr>
                <a:latin typeface="Roboto"/>
              </a:defRPr>
            </a:pPr>
            <a:r>
              <a:rPr sz="900" b="0">
                <a:solidFill>
                  <a:srgbClr val="5F6F63"/>
                </a:solidFill>
                <a:latin typeface="Roboto"/>
              </a:rPr>
              <a:t>Slide 20 of 21</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2F7A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3" name="TextBox 2"/>
          <p:cNvSpPr txBox="1"/>
          <p:nvPr/>
        </p:nvSpPr>
        <p:spPr>
          <a:xfrm>
            <a:off x="457200" y="164592"/>
            <a:ext cx="7315200" cy="274320"/>
          </a:xfrm>
          <a:prstGeom prst="rect">
            <a:avLst/>
          </a:prstGeom>
          <a:noFill/>
        </p:spPr>
        <p:txBody>
          <a:bodyPr wrap="square">
            <a:spAutoFit/>
          </a:bodyPr>
          <a:lstStyle/>
          <a:p>
            <a:pPr>
              <a:defRPr>
                <a:latin typeface="Roboto"/>
              </a:defRPr>
            </a:pPr>
            <a:r>
              <a:rPr sz="1000" b="0">
                <a:solidFill>
                  <a:srgbClr val="5F6F63"/>
                </a:solidFill>
                <a:latin typeface="Roboto"/>
              </a:rPr>
              <a:t>Sample Electrical &amp; Air Pty Ltd · Which jobs actually make money?</a:t>
            </a:r>
          </a:p>
        </p:txBody>
      </p:sp>
      <p:sp>
        <p:nvSpPr>
          <p:cNvPr id="4" name="TextBox 3"/>
          <p:cNvSpPr txBox="1"/>
          <p:nvPr/>
        </p:nvSpPr>
        <p:spPr>
          <a:xfrm>
            <a:off x="457200" y="411480"/>
            <a:ext cx="11247120" cy="548640"/>
          </a:xfrm>
          <a:prstGeom prst="rect">
            <a:avLst/>
          </a:prstGeom>
          <a:noFill/>
        </p:spPr>
        <p:txBody>
          <a:bodyPr wrap="square">
            <a:spAutoFit/>
          </a:bodyPr>
          <a:lstStyle/>
          <a:p>
            <a:pPr>
              <a:defRPr>
                <a:latin typeface="Roboto"/>
              </a:defRPr>
            </a:pPr>
            <a:r>
              <a:rPr sz="2400" b="1">
                <a:solidFill>
                  <a:srgbClr val="25342A"/>
                </a:solidFill>
                <a:latin typeface="Roboto"/>
              </a:rPr>
              <a:t>Job gross margin by month · Gross margin $ · Every type of job at once</a:t>
            </a:r>
          </a:p>
        </p:txBody>
      </p:sp>
      <p:sp>
        <p:nvSpPr>
          <p:cNvPr id="5" name="TextBox 4"/>
          <p:cNvSpPr txBox="1"/>
          <p:nvPr/>
        </p:nvSpPr>
        <p:spPr>
          <a:xfrm>
            <a:off x="457200" y="960120"/>
            <a:ext cx="11247120" cy="457200"/>
          </a:xfrm>
          <a:prstGeom prst="rect">
            <a:avLst/>
          </a:prstGeom>
          <a:noFill/>
        </p:spPr>
        <p:txBody>
          <a:bodyPr wrap="square">
            <a:spAutoFit/>
          </a:bodyPr>
          <a:lstStyle/>
          <a:p>
            <a:pPr>
              <a:defRPr>
                <a:latin typeface="Roboto"/>
              </a:defRPr>
            </a:pPr>
            <a:r>
              <a:rPr sz="1200" b="0">
                <a:solidFill>
                  <a:srgbClr val="5F6F63"/>
                </a:solidFill>
                <a:latin typeface="Roboto"/>
              </a:rPr>
              <a:t>Tap a month for its workings.</a:t>
            </a:r>
          </a:p>
        </p:txBody>
      </p:sp>
      <p:graphicFrame>
        <p:nvGraphicFramePr>
          <p:cNvPr id="6" name="Chart 5"/>
          <p:cNvGraphicFramePr>
            <a:graphicFrameLocks noGrp="1"/>
          </p:cNvGraphicFramePr>
          <p:nvPr/>
        </p:nvGraphicFramePr>
        <p:xfrm>
          <a:off x="457200" y="1463040"/>
          <a:ext cx="11247120" cy="4754880"/>
        </p:xfrm>
        <a:graphic>
          <a:graphicData uri="http://schemas.openxmlformats.org/drawingml/2006/chart">
            <c:chart xmlns:c="http://schemas.openxmlformats.org/drawingml/2006/chart" r:id="rId2"/>
          </a:graphicData>
        </a:graphic>
      </p:graphicFrame>
      <p:sp>
        <p:nvSpPr>
          <p:cNvPr id="7" name="TextBox 6"/>
          <p:cNvSpPr txBox="1"/>
          <p:nvPr/>
        </p:nvSpPr>
        <p:spPr>
          <a:xfrm>
            <a:off x="457200" y="6492240"/>
            <a:ext cx="3657600" cy="274320"/>
          </a:xfrm>
          <a:prstGeom prst="rect">
            <a:avLst/>
          </a:prstGeom>
          <a:noFill/>
        </p:spPr>
        <p:txBody>
          <a:bodyPr wrap="square">
            <a:spAutoFit/>
          </a:bodyPr>
          <a:lstStyle/>
          <a:p>
            <a:pPr>
              <a:defRPr>
                <a:latin typeface="Roboto"/>
              </a:defRPr>
            </a:pPr>
            <a:r>
              <a:rPr sz="900" b="0">
                <a:solidFill>
                  <a:srgbClr val="5F6F63"/>
                </a:solidFill>
                <a:latin typeface="Roboto"/>
              </a:rPr>
              <a:t>job-margins.pptx</a:t>
            </a:r>
          </a:p>
        </p:txBody>
      </p:sp>
      <p:sp>
        <p:nvSpPr>
          <p:cNvPr id="8" name="TextBox 7"/>
          <p:cNvSpPr txBox="1"/>
          <p:nvPr/>
        </p:nvSpPr>
        <p:spPr>
          <a:xfrm>
            <a:off x="4297680" y="6492240"/>
            <a:ext cx="3657600" cy="274320"/>
          </a:xfrm>
          <a:prstGeom prst="rect">
            <a:avLst/>
          </a:prstGeom>
          <a:noFill/>
        </p:spPr>
        <p:txBody>
          <a:bodyPr wrap="square">
            <a:spAutoFit/>
          </a:bodyPr>
          <a:lstStyle/>
          <a:p>
            <a:pPr algn="ctr">
              <a:defRPr>
                <a:latin typeface="Roboto"/>
              </a:defRPr>
            </a:pPr>
            <a:r>
              <a:rPr sz="900" b="0">
                <a:solidFill>
                  <a:srgbClr val="5F6F63"/>
                </a:solidFill>
                <a:latin typeface="Roboto"/>
              </a:rPr>
              <a:t>Data retrieved 2pm, Tue 6 Oct 2026 · Sample data</a:t>
            </a:r>
          </a:p>
        </p:txBody>
      </p:sp>
      <p:sp>
        <p:nvSpPr>
          <p:cNvPr id="9" name="TextBox 8"/>
          <p:cNvSpPr txBox="1"/>
          <p:nvPr/>
        </p:nvSpPr>
        <p:spPr>
          <a:xfrm>
            <a:off x="8503920" y="6492240"/>
            <a:ext cx="3200400" cy="274320"/>
          </a:xfrm>
          <a:prstGeom prst="rect">
            <a:avLst/>
          </a:prstGeom>
          <a:noFill/>
        </p:spPr>
        <p:txBody>
          <a:bodyPr wrap="square">
            <a:spAutoFit/>
          </a:bodyPr>
          <a:lstStyle/>
          <a:p>
            <a:pPr algn="r">
              <a:defRPr>
                <a:latin typeface="Roboto"/>
              </a:defRPr>
            </a:pPr>
            <a:r>
              <a:rPr sz="900" b="0">
                <a:solidFill>
                  <a:srgbClr val="5F6F63"/>
                </a:solidFill>
                <a:latin typeface="Roboto"/>
              </a:rPr>
              <a:t>Slide 21 of 21</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