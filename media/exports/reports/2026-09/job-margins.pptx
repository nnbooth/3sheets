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27.0</c:v>
                </c:pt>
                <c:pt idx="1">
                  <c:v>43.9</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35332</c:v>
                </c:pt>
                <c:pt idx="1">
                  <c:v>13659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Wacol warehouse switchboard</c:v>
                </c:pt>
                <c:pt idx="1">
                  <c:v>Carindale solar and battery</c:v>
                </c:pt>
                <c:pt idx="2">
                  <c:v>West End cafe air-con</c:v>
                </c:pt>
                <c:pt idx="3">
                  <c:v>Chermside clinic cabling</c:v>
                </c:pt>
                <c:pt idx="4">
                  <c:v>Milton office LED lighting</c:v>
                </c:pt>
                <c:pt idx="5">
                  <c:v>Bulimba EV chargers</c:v>
                </c:pt>
              </c:strCache>
            </c:strRef>
          </c:cat>
          <c:val>
            <c:numRef>
              <c:f>Sheet1!$B$2:$B$7</c:f>
              <c:numCache>
                <c:formatCode>0.0"%";[Red](0.0"%")</c:formatCode>
                <c:ptCount val="6"/>
                <c:pt idx="0">
                  <c:v>13.5</c:v>
                </c:pt>
                <c:pt idx="1">
                  <c:v>26.9</c:v>
                </c:pt>
                <c:pt idx="2">
                  <c:v>33.5</c:v>
                </c:pt>
                <c:pt idx="3">
                  <c:v>36.6</c:v>
                </c:pt>
                <c:pt idx="4">
                  <c:v>39.5</c:v>
                </c:pt>
                <c:pt idx="5">
                  <c:v>45.2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Wacol warehouse switchboard</c:v>
                </c:pt>
                <c:pt idx="1">
                  <c:v>Carindale solar and battery</c:v>
                </c:pt>
                <c:pt idx="2">
                  <c:v>West End cafe air-con</c:v>
                </c:pt>
                <c:pt idx="3">
                  <c:v>Chermside clinic cabling</c:v>
                </c:pt>
                <c:pt idx="4">
                  <c:v>Milton office LED lighting</c:v>
                </c:pt>
                <c:pt idx="5">
                  <c:v>Bulimba EV chargers</c:v>
                </c:pt>
              </c:strCache>
            </c:strRef>
          </c:cat>
          <c:val>
            <c:numRef>
              <c:f>Sheet1!$B$2:$B$7</c:f>
              <c:numCache>
                <c:formatCode>$#,##0;[Red]($#,##0);"-"</c:formatCode>
                <c:ptCount val="6"/>
                <c:pt idx="0">
                  <c:v>6300</c:v>
                </c:pt>
                <c:pt idx="1">
                  <c:v>7372</c:v>
                </c:pt>
                <c:pt idx="2">
                  <c:v>4316</c:v>
                </c:pt>
                <c:pt idx="3">
                  <c:v>5564</c:v>
                </c:pt>
                <c:pt idx="4">
                  <c:v>7348</c:v>
                </c:pt>
                <c:pt idx="5">
                  <c:v>4432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(13)</c:v>
                </c:pt>
                <c:pt idx="2">
                  <c:v>2-hour call-outs (17)</c:v>
                </c:pt>
                <c:pt idx="3">
                  <c:v>2.5-hour call-outs (8)</c:v>
                </c:pt>
                <c:pt idx="4">
                  <c:v>3-hour call-outs (11)</c:v>
                </c:pt>
                <c:pt idx="5">
                  <c:v>4-hour call-outs (9)</c:v>
                </c:pt>
              </c:strCache>
            </c:strRef>
          </c:cat>
          <c:val>
            <c:numRef>
              <c:f>Sheet1!$B$2:$B$7</c:f>
              <c:numCache>
                <c:formatCode>0.0"%";[Red](0.0"%")</c:formatCode>
                <c:ptCount val="6"/>
                <c:pt idx="0">
                  <c:v>37.6</c:v>
                </c:pt>
                <c:pt idx="1">
                  <c:v>41.4</c:v>
                </c:pt>
                <c:pt idx="2">
                  <c:v>42.1</c:v>
                </c:pt>
                <c:pt idx="3">
                  <c:v>44.9</c:v>
                </c:pt>
                <c:pt idx="4">
                  <c:v>45.7</c:v>
                </c:pt>
                <c:pt idx="5">
                  <c:v>47.1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(13)</c:v>
                </c:pt>
                <c:pt idx="2">
                  <c:v>2-hour call-outs (17)</c:v>
                </c:pt>
                <c:pt idx="3">
                  <c:v>2.5-hour call-outs (8)</c:v>
                </c:pt>
                <c:pt idx="4">
                  <c:v>3-hour call-outs (11)</c:v>
                </c:pt>
                <c:pt idx="5">
                  <c:v>4-hour call-outs (9)</c:v>
                </c:pt>
              </c:strCache>
            </c:strRef>
          </c:cat>
          <c:val>
            <c:numRef>
              <c:f>Sheet1!$B$2:$B$7</c:f>
              <c:numCache>
                <c:formatCode>$#,##0;[Red]($#,##0);"-"</c:formatCode>
                <c:ptCount val="6"/>
                <c:pt idx="0">
                  <c:v>675</c:v>
                </c:pt>
                <c:pt idx="1">
                  <c:v>1931</c:v>
                </c:pt>
                <c:pt idx="2">
                  <c:v>3278</c:v>
                </c:pt>
                <c:pt idx="3">
                  <c:v>1796</c:v>
                </c:pt>
                <c:pt idx="4">
                  <c:v>2904</c:v>
                </c:pt>
                <c:pt idx="5">
                  <c:v>3075</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pt idx="23">
                  <c:v>36.1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pt idx="22">
                  <c:v>73637</c:v>
                </c:pt>
                <c:pt idx="23">
                  <c:v>73107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September 2026. Every job's gross margin: revenue less materials, subcontractors and technician time at $68 an hour (fully loaded: wages and all on-costs).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$73,107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$51,170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$3,430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$69,677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$202,337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All jobs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36.1%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All jobs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41.1%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(September)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September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September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September maintenance contracts made a 59.5% job gross margin, installations made a 27.0% job gross margin, call-outs and repairs made a 43.9% job gross margin (technician time at $68 an hour, wages and all on-costs). Jobs need 31.1%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27.0% gross margin, 8.0 points under the 35.0% target: about $10,413 on $130,700 of revenue in September. It's below the 31.1% needed to cover overheads, too. Maintenance contracts: 59.5% gross margin, 24.5 points over the 35.0% target ($9,941 ahead on $40,500 in September).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Maintenance contracts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Maintenance contracts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(September)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September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September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thinnest, Kangaroo Point townhouses: 58.2% gross margin, 23.3 points over the 35.0% target ($558 ahead on $2,400 in September). All maintenance contracts: 59.5% gross margin, 24.5 points over the 35.0% target ($9,941 ahead on $40,500 in September).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Installations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Installations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33.6%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(September)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September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September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6 installation jobs invoiced in September made less than the 35.0% job gross margin target. The Wacol warehouse switchboard made a 13.5% job gross margin: 150.0 h of technician time ($10,200) and $7,400 of subcontractors on a $46,800 job. Jobs need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installations under the 35.0% target, worth about $12,497 between them on $87,100 of revenue. The biggest gap, Wacol warehouse switchboard: 13.5% gross margin, 21.5 points under the 35.0% target: about $10,080 on $46,800 of revenue in September. It's below the 31.1%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Call-outs and repairs</a:t>
            </a:r>
          </a:p>
        </p:txBody>
      </p:sp>
      <p:sp>
        <p:nvSpPr>
          <p:cNvPr id="7" name="TextBox 6"/>
          <p:cNvSpPr txBox="1"/>
          <p:nvPr/>
        </p:nvSpPr>
        <p:spPr>
          <a:xfrm>
            <a:off x="640080"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43.9%</a:t>
            </a:r>
          </a:p>
        </p:txBody>
      </p:sp>
      <p:sp>
        <p:nvSpPr>
          <p:cNvPr id="8" name="TextBox 7"/>
          <p:cNvSpPr txBox="1"/>
          <p:nvPr/>
        </p:nvSpPr>
        <p:spPr>
          <a:xfrm>
            <a:off x="640080"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2767523"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2950403"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Call-outs and repairs</a:t>
            </a:r>
          </a:p>
        </p:txBody>
      </p:sp>
      <p:sp>
        <p:nvSpPr>
          <p:cNvPr id="11" name="TextBox 10"/>
          <p:cNvSpPr txBox="1"/>
          <p:nvPr/>
        </p:nvSpPr>
        <p:spPr>
          <a:xfrm>
            <a:off x="2950403"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2" name="TextBox 11"/>
          <p:cNvSpPr txBox="1"/>
          <p:nvPr/>
        </p:nvSpPr>
        <p:spPr>
          <a:xfrm>
            <a:off x="2950403"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5077846"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5260726"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5260726"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31.1%</a:t>
            </a:r>
          </a:p>
        </p:txBody>
      </p:sp>
      <p:sp>
        <p:nvSpPr>
          <p:cNvPr id="16" name="TextBox 15"/>
          <p:cNvSpPr txBox="1"/>
          <p:nvPr/>
        </p:nvSpPr>
        <p:spPr>
          <a:xfrm>
            <a:off x="5260726"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(September)</a:t>
            </a:r>
          </a:p>
        </p:txBody>
      </p:sp>
      <p:sp>
        <p:nvSpPr>
          <p:cNvPr id="17" name="Rectangle 16"/>
          <p:cNvSpPr/>
          <p:nvPr/>
        </p:nvSpPr>
        <p:spPr>
          <a:xfrm>
            <a:off x="7388169"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7571049"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September</a:t>
            </a:r>
          </a:p>
        </p:txBody>
      </p:sp>
      <p:sp>
        <p:nvSpPr>
          <p:cNvPr id="19" name="TextBox 18"/>
          <p:cNvSpPr txBox="1"/>
          <p:nvPr/>
        </p:nvSpPr>
        <p:spPr>
          <a:xfrm>
            <a:off x="7571049"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$21,543</a:t>
            </a:r>
          </a:p>
        </p:txBody>
      </p:sp>
      <p:sp>
        <p:nvSpPr>
          <p:cNvPr id="20" name="TextBox 19"/>
          <p:cNvSpPr txBox="1"/>
          <p:nvPr/>
        </p:nvSpPr>
        <p:spPr>
          <a:xfrm>
            <a:off x="7571049"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69.2% of call-out revenue</a:t>
            </a:r>
          </a:p>
        </p:txBody>
      </p:sp>
      <p:sp>
        <p:nvSpPr>
          <p:cNvPr id="21" name="Rectangle 20"/>
          <p:cNvSpPr/>
          <p:nvPr/>
        </p:nvSpPr>
        <p:spPr>
          <a:xfrm>
            <a:off x="9698492"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2" name="TextBox 21"/>
          <p:cNvSpPr txBox="1"/>
          <p:nvPr/>
        </p:nvSpPr>
        <p:spPr>
          <a:xfrm>
            <a:off x="9881372"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Materials charged, September</a:t>
            </a:r>
          </a:p>
        </p:txBody>
      </p:sp>
      <p:sp>
        <p:nvSpPr>
          <p:cNvPr id="23" name="TextBox 22"/>
          <p:cNvSpPr txBox="1"/>
          <p:nvPr/>
        </p:nvSpPr>
        <p:spPr>
          <a:xfrm>
            <a:off x="9881372"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$9,594</a:t>
            </a:r>
          </a:p>
        </p:txBody>
      </p:sp>
      <p:sp>
        <p:nvSpPr>
          <p:cNvPr id="24" name="TextBox 23"/>
          <p:cNvSpPr txBox="1"/>
          <p:nvPr/>
        </p:nvSpPr>
        <p:spPr>
          <a:xfrm>
            <a:off x="9881372"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$7,380 at cost, plus 30%</a:t>
            </a:r>
          </a:p>
        </p:txBody>
      </p:sp>
      <p:sp>
        <p:nvSpPr>
          <p:cNvPr id="25" name="TextBox 24"/>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26" name="TextBox 25"/>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7" name="TextBox 26"/>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September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September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64 call-outs in September billed $21,543 of technician time and $9,594 of materials ($7,380 at cost plus 30%), and made a 43.9% job gross margin between them. Gross margins run from 37.6% to 47.1%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call-outs: 43.9% gross margin, 8.9 points over the 35.0% target ($2,761 ahead on $31,137 in September).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