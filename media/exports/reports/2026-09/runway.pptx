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Sheet1!$A$2:$A$62</c:f>
              <c:strCache>
                <c:ptCount val="6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</c:strCache>
            </c:strRef>
          </c:cat>
          <c:val>
            <c:numRef>
              <c:f>Sheet1!$B$2:$B$62</c:f>
              <c:numCache>
                <c:formatCode>$#,##0;[Red]($#,##0);"-"</c:formatCode>
                <c:ptCount val="61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  <c:pt idx="31">
                  <c:v>550048</c:v>
                </c:pt>
                <c:pt idx="32">
                  <c:v>552702</c:v>
                </c:pt>
                <c:pt idx="33">
                  <c:v>518023</c:v>
                </c:pt>
                <c:pt idx="34">
                  <c:v>520677</c:v>
                </c:pt>
                <c:pt idx="35">
                  <c:v>520677</c:v>
                </c:pt>
                <c:pt idx="36">
                  <c:v>520677</c:v>
                </c:pt>
                <c:pt idx="37">
                  <c:v>523330</c:v>
                </c:pt>
                <c:pt idx="38">
                  <c:v>525983</c:v>
                </c:pt>
                <c:pt idx="39">
                  <c:v>528636</c:v>
                </c:pt>
                <c:pt idx="40">
                  <c:v>531289</c:v>
                </c:pt>
                <c:pt idx="41">
                  <c:v>533942</c:v>
                </c:pt>
                <c:pt idx="42">
                  <c:v>533942</c:v>
                </c:pt>
                <c:pt idx="43">
                  <c:v>533942</c:v>
                </c:pt>
                <c:pt idx="44">
                  <c:v>536595</c:v>
                </c:pt>
                <c:pt idx="45">
                  <c:v>513659</c:v>
                </c:pt>
                <c:pt idx="46">
                  <c:v>516312</c:v>
                </c:pt>
                <c:pt idx="47">
                  <c:v>481632</c:v>
                </c:pt>
                <c:pt idx="48">
                  <c:v>484285</c:v>
                </c:pt>
                <c:pt idx="49">
                  <c:v>484285</c:v>
                </c:pt>
                <c:pt idx="50">
                  <c:v>484285</c:v>
                </c:pt>
                <c:pt idx="51">
                  <c:v>532698</c:v>
                </c:pt>
                <c:pt idx="52">
                  <c:v>535351</c:v>
                </c:pt>
                <c:pt idx="53">
                  <c:v>538004</c:v>
                </c:pt>
                <c:pt idx="54">
                  <c:v>540657</c:v>
                </c:pt>
                <c:pt idx="55">
                  <c:v>543310</c:v>
                </c:pt>
                <c:pt idx="56">
                  <c:v>543310</c:v>
                </c:pt>
                <c:pt idx="57">
                  <c:v>543310</c:v>
                </c:pt>
                <c:pt idx="58">
                  <c:v>545963</c:v>
                </c:pt>
                <c:pt idx="59">
                  <c:v>548616</c:v>
                </c:pt>
                <c:pt idx="60">
                  <c:v>527060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7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September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1.9 months; Target: 3.0 months; Gap: $183,263; Runway in August: 1.9 months. Unrestricted cash ($305,437, after setting aside unspent grant money) would cover 1.9 months of spending at September's rate of spending, short of the 3.0 months target by $183,263.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30 Sep)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$183,263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August's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55960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681640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$710,323: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($305,437, after setting aside unspent grant money) would cover 1.9 months of spending at September's rate of spending, short of the 3.0 months target by $183,263.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