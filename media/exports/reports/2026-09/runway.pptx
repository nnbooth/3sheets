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Sheet1!$A$2:$A$62</c:f>
              <c:strCache>
                <c:ptCount val="61"/>
                <c:pt idx="0">
                  <c:v>1 Aug</c:v>
                </c:pt>
                <c:pt idx="1">
                  <c:v>2 Aug</c:v>
                </c:pt>
                <c:pt idx="2">
                  <c:v>3 Aug</c:v>
                </c:pt>
                <c:pt idx="3">
                  <c:v>4 Aug</c:v>
                </c:pt>
                <c:pt idx="4">
                  <c:v>5 Aug</c:v>
                </c:pt>
                <c:pt idx="5">
                  <c:v>6 Aug</c:v>
                </c:pt>
                <c:pt idx="6">
                  <c:v>7 Aug</c:v>
                </c:pt>
                <c:pt idx="7">
                  <c:v>8 Aug</c:v>
                </c:pt>
                <c:pt idx="8">
                  <c:v>9 Aug</c:v>
                </c:pt>
                <c:pt idx="9">
                  <c:v>10 Aug</c:v>
                </c:pt>
                <c:pt idx="10">
                  <c:v>11 Aug</c:v>
                </c:pt>
                <c:pt idx="11">
                  <c:v>12 Aug</c:v>
                </c:pt>
                <c:pt idx="12">
                  <c:v>13 Aug</c:v>
                </c:pt>
                <c:pt idx="13">
                  <c:v>14 Aug</c:v>
                </c:pt>
                <c:pt idx="14">
                  <c:v>15 Aug</c:v>
                </c:pt>
                <c:pt idx="15">
                  <c:v>16 Aug</c:v>
                </c:pt>
                <c:pt idx="16">
                  <c:v>17 Aug</c:v>
                </c:pt>
                <c:pt idx="17">
                  <c:v>18 Aug</c:v>
                </c:pt>
                <c:pt idx="18">
                  <c:v>19 Aug</c:v>
                </c:pt>
                <c:pt idx="19">
                  <c:v>20 Aug</c:v>
                </c:pt>
                <c:pt idx="20">
                  <c:v>21 Aug</c:v>
                </c:pt>
                <c:pt idx="21">
                  <c:v>22 Aug</c:v>
                </c:pt>
                <c:pt idx="22">
                  <c:v>23 Aug</c:v>
                </c:pt>
                <c:pt idx="23">
                  <c:v>24 Aug</c:v>
                </c:pt>
                <c:pt idx="24">
                  <c:v>25 Aug</c:v>
                </c:pt>
                <c:pt idx="25">
                  <c:v>26 Aug</c:v>
                </c:pt>
                <c:pt idx="26">
                  <c:v>27 Aug</c:v>
                </c:pt>
                <c:pt idx="27">
                  <c:v>28 Aug</c:v>
                </c:pt>
                <c:pt idx="28">
                  <c:v>29 Aug</c:v>
                </c:pt>
                <c:pt idx="29">
                  <c:v>30 Aug</c:v>
                </c:pt>
                <c:pt idx="30">
                  <c:v>31 Aug</c:v>
                </c:pt>
                <c:pt idx="31">
                  <c:v>1 Sep</c:v>
                </c:pt>
                <c:pt idx="32">
                  <c:v>2 Sep</c:v>
                </c:pt>
                <c:pt idx="33">
                  <c:v>3 Sep</c:v>
                </c:pt>
                <c:pt idx="34">
                  <c:v>4 Sep</c:v>
                </c:pt>
                <c:pt idx="35">
                  <c:v>5 Sep</c:v>
                </c:pt>
                <c:pt idx="36">
                  <c:v>6 Sep</c:v>
                </c:pt>
                <c:pt idx="37">
                  <c:v>7 Sep</c:v>
                </c:pt>
                <c:pt idx="38">
                  <c:v>8 Sep</c:v>
                </c:pt>
                <c:pt idx="39">
                  <c:v>9 Sep</c:v>
                </c:pt>
                <c:pt idx="40">
                  <c:v>10 Sep</c:v>
                </c:pt>
                <c:pt idx="41">
                  <c:v>11 Sep</c:v>
                </c:pt>
                <c:pt idx="42">
                  <c:v>12 Sep</c:v>
                </c:pt>
                <c:pt idx="43">
                  <c:v>13 Sep</c:v>
                </c:pt>
                <c:pt idx="44">
                  <c:v>14 Sep</c:v>
                </c:pt>
                <c:pt idx="45">
                  <c:v>15 Sep</c:v>
                </c:pt>
                <c:pt idx="46">
                  <c:v>16 Sep</c:v>
                </c:pt>
                <c:pt idx="47">
                  <c:v>17 Sep</c:v>
                </c:pt>
                <c:pt idx="48">
                  <c:v>18 Sep</c:v>
                </c:pt>
                <c:pt idx="49">
                  <c:v>19 Sep</c:v>
                </c:pt>
                <c:pt idx="50">
                  <c:v>20 Sep</c:v>
                </c:pt>
                <c:pt idx="51">
                  <c:v>21 Sep</c:v>
                </c:pt>
                <c:pt idx="52">
                  <c:v>22 Sep</c:v>
                </c:pt>
                <c:pt idx="53">
                  <c:v>23 Sep</c:v>
                </c:pt>
                <c:pt idx="54">
                  <c:v>24 Sep</c:v>
                </c:pt>
                <c:pt idx="55">
                  <c:v>25 Sep</c:v>
                </c:pt>
                <c:pt idx="56">
                  <c:v>26 Sep</c:v>
                </c:pt>
                <c:pt idx="57">
                  <c:v>27 Sep</c:v>
                </c:pt>
                <c:pt idx="58">
                  <c:v>28 Sep</c:v>
                </c:pt>
                <c:pt idx="59">
                  <c:v>29 Sep</c:v>
                </c:pt>
                <c:pt idx="60">
                  <c:v>30 Sep</c:v>
                </c:pt>
              </c:strCache>
            </c:strRef>
          </c:cat>
          <c:val>
            <c:numRef>
              <c:f>Sheet1!$B$2:$B$62</c:f>
              <c:numCache>
                <c:formatCode>$#,##0;[Red]($#,##0);"-"</c:formatCode>
                <c:ptCount val="61"/>
                <c:pt idx="0">
                  <c:v>610594</c:v>
                </c:pt>
                <c:pt idx="1">
                  <c:v>611188</c:v>
                </c:pt>
                <c:pt idx="2">
                  <c:v>613087</c:v>
                </c:pt>
                <c:pt idx="3">
                  <c:v>614986</c:v>
                </c:pt>
                <c:pt idx="4">
                  <c:v>616885</c:v>
                </c:pt>
                <c:pt idx="5">
                  <c:v>571896</c:v>
                </c:pt>
                <c:pt idx="6">
                  <c:v>573795</c:v>
                </c:pt>
                <c:pt idx="7">
                  <c:v>574389</c:v>
                </c:pt>
                <c:pt idx="8">
                  <c:v>574983</c:v>
                </c:pt>
                <c:pt idx="9">
                  <c:v>576882</c:v>
                </c:pt>
                <c:pt idx="10">
                  <c:v>578781</c:v>
                </c:pt>
                <c:pt idx="11">
                  <c:v>579375</c:v>
                </c:pt>
                <c:pt idx="12">
                  <c:v>581274</c:v>
                </c:pt>
                <c:pt idx="13">
                  <c:v>583173</c:v>
                </c:pt>
                <c:pt idx="14">
                  <c:v>583767</c:v>
                </c:pt>
                <c:pt idx="15">
                  <c:v>584361</c:v>
                </c:pt>
                <c:pt idx="16">
                  <c:v>568010</c:v>
                </c:pt>
                <c:pt idx="17">
                  <c:v>569908</c:v>
                </c:pt>
                <c:pt idx="18">
                  <c:v>571806</c:v>
                </c:pt>
                <c:pt idx="19">
                  <c:v>526817</c:v>
                </c:pt>
                <c:pt idx="20">
                  <c:v>528715</c:v>
                </c:pt>
                <c:pt idx="21">
                  <c:v>529308</c:v>
                </c:pt>
                <c:pt idx="22">
                  <c:v>529901</c:v>
                </c:pt>
                <c:pt idx="23">
                  <c:v>531799</c:v>
                </c:pt>
                <c:pt idx="24">
                  <c:v>533697</c:v>
                </c:pt>
                <c:pt idx="25">
                  <c:v>535595</c:v>
                </c:pt>
                <c:pt idx="26">
                  <c:v>537493</c:v>
                </c:pt>
                <c:pt idx="27">
                  <c:v>539391</c:v>
                </c:pt>
                <c:pt idx="28">
                  <c:v>539984</c:v>
                </c:pt>
                <c:pt idx="29">
                  <c:v>540577</c:v>
                </c:pt>
                <c:pt idx="30">
                  <c:v>525675</c:v>
                </c:pt>
                <c:pt idx="31">
                  <c:v>527865</c:v>
                </c:pt>
                <c:pt idx="32">
                  <c:v>530055</c:v>
                </c:pt>
                <c:pt idx="33">
                  <c:v>483769</c:v>
                </c:pt>
                <c:pt idx="34">
                  <c:v>485958</c:v>
                </c:pt>
                <c:pt idx="35">
                  <c:v>486888</c:v>
                </c:pt>
                <c:pt idx="36">
                  <c:v>487818</c:v>
                </c:pt>
                <c:pt idx="37">
                  <c:v>490007</c:v>
                </c:pt>
                <c:pt idx="38">
                  <c:v>492196</c:v>
                </c:pt>
                <c:pt idx="39">
                  <c:v>494385</c:v>
                </c:pt>
                <c:pt idx="40">
                  <c:v>496574</c:v>
                </c:pt>
                <c:pt idx="41">
                  <c:v>498763</c:v>
                </c:pt>
                <c:pt idx="42">
                  <c:v>499693</c:v>
                </c:pt>
                <c:pt idx="43">
                  <c:v>500623</c:v>
                </c:pt>
                <c:pt idx="44">
                  <c:v>502812</c:v>
                </c:pt>
                <c:pt idx="45">
                  <c:v>481738</c:v>
                </c:pt>
                <c:pt idx="46">
                  <c:v>483927</c:v>
                </c:pt>
                <c:pt idx="47">
                  <c:v>437641</c:v>
                </c:pt>
                <c:pt idx="48">
                  <c:v>439830</c:v>
                </c:pt>
                <c:pt idx="49">
                  <c:v>482360</c:v>
                </c:pt>
                <c:pt idx="50">
                  <c:v>483290</c:v>
                </c:pt>
                <c:pt idx="51">
                  <c:v>485479</c:v>
                </c:pt>
                <c:pt idx="52">
                  <c:v>487668</c:v>
                </c:pt>
                <c:pt idx="53">
                  <c:v>489857</c:v>
                </c:pt>
                <c:pt idx="54">
                  <c:v>492046</c:v>
                </c:pt>
                <c:pt idx="55">
                  <c:v>494235</c:v>
                </c:pt>
                <c:pt idx="56">
                  <c:v>495165</c:v>
                </c:pt>
                <c:pt idx="57">
                  <c:v>496095</c:v>
                </c:pt>
                <c:pt idx="58">
                  <c:v>498284</c:v>
                </c:pt>
                <c:pt idx="59">
                  <c:v>500473</c:v>
                </c:pt>
                <c:pt idx="60">
                  <c:v>480780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months of runway do we have?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September 2026. How long the organisation could keep going on its own money: cash at bank, less unspent grant money (which belongs to the funders' programs), divided by a month's spending.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months of runway do we have?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1358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478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Runway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2478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2.0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2478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345103" y="1645920"/>
            <a:ext cx="261358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527983" y="1783080"/>
            <a:ext cx="22478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983" y="2240280"/>
            <a:ext cx="22478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3.0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7983" y="3017520"/>
            <a:ext cx="22478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reserves target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645920"/>
            <a:ext cx="261358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15887" y="1783080"/>
            <a:ext cx="22478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2240280"/>
            <a:ext cx="22478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$164,020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7" y="3017520"/>
            <a:ext cx="22478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to reach the target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20911" y="1645920"/>
            <a:ext cx="2613583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303791" y="1783080"/>
            <a:ext cx="22478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Runway in August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3791" y="2240280"/>
            <a:ext cx="22478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3000" b="1">
                <a:solidFill>
                  <a:srgbClr val="2F7A5D"/>
                </a:solidFill>
                <a:latin typeface="Roboto"/>
              </a:rPr>
              <a:t>2.2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3791" y="3017520"/>
            <a:ext cx="224782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at August's rate of spending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months of runway do we have?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it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Unrestricted cash ($324,680, after setting aside unspent grant money) would cover 2.0 months of spending at September's rate of spending, short of the 3.0 months target by $164,020.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25342A"/>
                </a:solidFill>
                <a:latin typeface="Roboto"/>
              </a:rPr>
              <a:t>A reserves plan is the usual next step: how much of each month's surplus goes to reserves, and by when the gap is closed.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months of runway do we have?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Cash at bank, every day (1 Aug to 30 Sep) · Cash at bank 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Cash at bank includes unspent grant money. The daily cash data starts 1 August 2026 (after the opening balance).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runway.pptx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