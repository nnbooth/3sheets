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253</c:v>
                </c:pt>
                <c:pt idx="1">
                  <c:v>255</c:v>
                </c:pt>
                <c:pt idx="2">
                  <c:v>211</c:v>
                </c:pt>
                <c:pt idx="3">
                  <c:v>200</c:v>
                </c:pt>
                <c:pt idx="4">
                  <c:v>246</c:v>
                </c:pt>
                <c:pt idx="5">
                  <c:v>247</c:v>
                </c:pt>
                <c:pt idx="6">
                  <c:v>280</c:v>
                </c:pt>
                <c:pt idx="7">
                  <c:v>271</c:v>
                </c:pt>
                <c:pt idx="8">
                  <c:v>263</c:v>
                </c:pt>
                <c:pt idx="9">
                  <c:v>300</c:v>
                </c:pt>
                <c:pt idx="10">
                  <c:v>233</c:v>
                </c:pt>
                <c:pt idx="11">
                  <c:v>269</c:v>
                </c:pt>
                <c:pt idx="12">
                  <c:v>261</c:v>
                </c:pt>
                <c:pt idx="13">
                  <c:v>227</c:v>
                </c:pt>
                <c:pt idx="14">
                  <c:v>173</c:v>
                </c:pt>
                <c:pt idx="15">
                  <c:v>182</c:v>
                </c:pt>
                <c:pt idx="16">
                  <c:v>221</c:v>
                </c:pt>
                <c:pt idx="17">
                  <c:v>227</c:v>
                </c:pt>
                <c:pt idx="18">
                  <c:v>240</c:v>
                </c:pt>
                <c:pt idx="19">
                  <c:v>233</c:v>
                </c:pt>
                <c:pt idx="20">
                  <c:v>215</c:v>
                </c:pt>
                <c:pt idx="21">
                  <c:v>263</c:v>
                </c:pt>
                <c:pt idx="22">
                  <c:v>205</c:v>
                </c:pt>
                <c:pt idx="23">
                  <c:v>162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#,##0;[Red](#,##0)</c:formatCode>
                <c:ptCount val="24"/>
                <c:pt idx="0">
                  <c:v>34</c:v>
                </c:pt>
                <c:pt idx="1">
                  <c:v>33</c:v>
                </c:pt>
                <c:pt idx="2">
                  <c:v>37</c:v>
                </c:pt>
                <c:pt idx="3">
                  <c:v>40</c:v>
                </c:pt>
                <c:pt idx="4">
                  <c:v>35</c:v>
                </c:pt>
                <c:pt idx="5">
                  <c:v>34</c:v>
                </c:pt>
                <c:pt idx="6">
                  <c:v>30</c:v>
                </c:pt>
                <c:pt idx="7">
                  <c:v>31</c:v>
                </c:pt>
                <c:pt idx="8">
                  <c:v>32</c:v>
                </c:pt>
                <c:pt idx="9">
                  <c:v>28</c:v>
                </c:pt>
                <c:pt idx="10">
                  <c:v>36</c:v>
                </c:pt>
                <c:pt idx="11">
                  <c:v>32</c:v>
                </c:pt>
                <c:pt idx="12">
                  <c:v>33</c:v>
                </c:pt>
                <c:pt idx="13">
                  <c:v>37</c:v>
                </c:pt>
                <c:pt idx="14">
                  <c:v>45</c:v>
                </c:pt>
                <c:pt idx="15">
                  <c:v>44</c:v>
                </c:pt>
                <c:pt idx="16">
                  <c:v>39</c:v>
                </c:pt>
                <c:pt idx="17">
                  <c:v>37</c:v>
                </c:pt>
                <c:pt idx="18">
                  <c:v>35</c:v>
                </c:pt>
                <c:pt idx="19">
                  <c:v>36</c:v>
                </c:pt>
                <c:pt idx="20">
                  <c:v>39</c:v>
                </c:pt>
                <c:pt idx="21">
                  <c:v>32</c:v>
                </c:pt>
                <c:pt idx="22">
                  <c:v>41</c:v>
                </c:pt>
                <c:pt idx="23">
                  <c:v>47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FFFFFF"/>
                </a:solidFill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25342A"/>
                </a:solidFill>
                <a:latin typeface="Arial"/>
              </a:rPr>
              <a:t>The 4th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7A52"/>
                </a:solidFill>
                <a:latin typeface="Arial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5342A"/>
                </a:solidFill>
                <a:latin typeface="Arial"/>
              </a:rPr>
              <a:t>What does it cost to win a customer?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F6F63"/>
                </a:solidFill>
                <a:latin typeface="Arial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5342A"/>
                </a:solidFill>
                <a:latin typeface="Arial"/>
              </a:rPr>
              <a:t>Period: September 2026. Marketing spend divided by the customers it actually brought in (a customer's first ever job), month by month.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How final is this data?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August 2026: Locked. August 2026 is locked (closed 2 Sep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September 2026: Locked. September 2026 is locked (closed 2 Oct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cost-to-win.pptx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 of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Electrical &amp; Air Pty Ltd · What does it cost to win a customer?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Headline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$162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August $205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07738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90618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September last year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$269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32 new customers from $8,600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58276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41156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Year to date (Jul to Sep 2026)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1156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$203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1156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(23.1%) on the same period last year ($265)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cost-to-win.pptx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2 of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Electrical &amp; Air Pty Ltd · What does it cost to win a customer?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Cost to win a customer, by month · $ per new customer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Customers are counted in the month of their first job.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cost-to-win.pptx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3 of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Electrical &amp; Air Pty Ltd · What does it cost to win a customer?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Cost to win a customer, by month · New customers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Customers are counted in the month of their first job.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cost-to-win.pptx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4 of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Electrical &amp; Air Pty Ltd · What does it cost to win a customer?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47 new customers came from $7,600 of marketing in September, against 41 from $8,400 in August: $162 each, down from $205.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A lower cost per customer with steady spend usually means the marketing mix is working. Recording where each new customer came from shows the cost per channel.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cost-to-win.pptx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5 of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