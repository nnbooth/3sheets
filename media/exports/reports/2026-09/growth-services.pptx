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103550</c:v>
                </c:pt>
                <c:pt idx="1">
                  <c:v>118390</c:v>
                </c:pt>
                <c:pt idx="2">
                  <c:v>125715</c:v>
                </c:pt>
                <c:pt idx="3">
                  <c:v>96560</c:v>
                </c:pt>
                <c:pt idx="4">
                  <c:v>121275</c:v>
                </c:pt>
                <c:pt idx="5">
                  <c:v>84340</c:v>
                </c:pt>
                <c:pt idx="6">
                  <c:v>69985</c:v>
                </c:pt>
                <c:pt idx="7">
                  <c:v>104970</c:v>
                </c:pt>
                <c:pt idx="8">
                  <c:v>99060</c:v>
                </c:pt>
                <c:pt idx="9">
                  <c:v>94805</c:v>
                </c:pt>
                <c:pt idx="10">
                  <c:v>67745</c:v>
                </c:pt>
                <c:pt idx="11">
                  <c:v>65650</c:v>
                </c:pt>
                <c:pt idx="12">
                  <c:v>78550</c:v>
                </c:pt>
                <c:pt idx="13">
                  <c:v>92575</c:v>
                </c:pt>
                <c:pt idx="14">
                  <c:v>76600</c:v>
                </c:pt>
                <c:pt idx="15">
                  <c:v>102350</c:v>
                </c:pt>
                <c:pt idx="16">
                  <c:v>110835</c:v>
                </c:pt>
                <c:pt idx="17">
                  <c:v>121215</c:v>
                </c:pt>
                <c:pt idx="18">
                  <c:v>88665</c:v>
                </c:pt>
                <c:pt idx="19">
                  <c:v>84920</c:v>
                </c:pt>
                <c:pt idx="20">
                  <c:v>127580</c:v>
                </c:pt>
                <c:pt idx="21">
                  <c:v>133455</c:v>
                </c:pt>
                <c:pt idx="22">
                  <c:v>126500</c:v>
                </c:pt>
                <c:pt idx="23">
                  <c:v>145330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0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77350</c:v>
                </c:pt>
                <c:pt idx="1">
                  <c:v>96790</c:v>
                </c:pt>
                <c:pt idx="2">
                  <c:v>103515</c:v>
                </c:pt>
                <c:pt idx="3">
                  <c:v>73060</c:v>
                </c:pt>
                <c:pt idx="4">
                  <c:v>92075</c:v>
                </c:pt>
                <c:pt idx="5">
                  <c:v>53340</c:v>
                </c:pt>
                <c:pt idx="6">
                  <c:v>40885</c:v>
                </c:pt>
                <c:pt idx="7">
                  <c:v>65570</c:v>
                </c:pt>
                <c:pt idx="8">
                  <c:v>70760</c:v>
                </c:pt>
                <c:pt idx="9">
                  <c:v>71205</c:v>
                </c:pt>
                <c:pt idx="10">
                  <c:v>42845</c:v>
                </c:pt>
                <c:pt idx="11">
                  <c:v>42050</c:v>
                </c:pt>
                <c:pt idx="12">
                  <c:v>50650</c:v>
                </c:pt>
                <c:pt idx="13">
                  <c:v>51775</c:v>
                </c:pt>
                <c:pt idx="14">
                  <c:v>32800</c:v>
                </c:pt>
                <c:pt idx="15">
                  <c:v>66950</c:v>
                </c:pt>
                <c:pt idx="16">
                  <c:v>70035</c:v>
                </c:pt>
                <c:pt idx="17">
                  <c:v>83115</c:v>
                </c:pt>
                <c:pt idx="18">
                  <c:v>51865</c:v>
                </c:pt>
                <c:pt idx="19">
                  <c:v>48120</c:v>
                </c:pt>
                <c:pt idx="20">
                  <c:v>84880</c:v>
                </c:pt>
                <c:pt idx="21">
                  <c:v>88055</c:v>
                </c:pt>
                <c:pt idx="22">
                  <c:v>83800</c:v>
                </c:pt>
                <c:pt idx="23">
                  <c:v>94830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2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16500</c:v>
                </c:pt>
                <c:pt idx="1">
                  <c:v>16500</c:v>
                </c:pt>
                <c:pt idx="2">
                  <c:v>16500</c:v>
                </c:pt>
                <c:pt idx="3">
                  <c:v>16500</c:v>
                </c:pt>
                <c:pt idx="4">
                  <c:v>16500</c:v>
                </c:pt>
                <c:pt idx="5">
                  <c:v>24000</c:v>
                </c:pt>
                <c:pt idx="6">
                  <c:v>24000</c:v>
                </c:pt>
                <c:pt idx="7">
                  <c:v>24000</c:v>
                </c:pt>
                <c:pt idx="8">
                  <c:v>24000</c:v>
                </c:pt>
                <c:pt idx="9">
                  <c:v>17900</c:v>
                </c:pt>
                <c:pt idx="10">
                  <c:v>17900</c:v>
                </c:pt>
                <c:pt idx="11">
                  <c:v>17900</c:v>
                </c:pt>
                <c:pt idx="12">
                  <c:v>17900</c:v>
                </c:pt>
                <c:pt idx="13">
                  <c:v>31100</c:v>
                </c:pt>
                <c:pt idx="14">
                  <c:v>31100</c:v>
                </c:pt>
                <c:pt idx="15">
                  <c:v>31100</c:v>
                </c:pt>
                <c:pt idx="16">
                  <c:v>31100</c:v>
                </c:pt>
                <c:pt idx="17">
                  <c:v>31100</c:v>
                </c:pt>
                <c:pt idx="18">
                  <c:v>31100</c:v>
                </c:pt>
                <c:pt idx="19">
                  <c:v>31100</c:v>
                </c:pt>
                <c:pt idx="20">
                  <c:v>35700</c:v>
                </c:pt>
                <c:pt idx="21">
                  <c:v>35700</c:v>
                </c:pt>
                <c:pt idx="22">
                  <c:v>35700</c:v>
                </c:pt>
                <c:pt idx="23">
                  <c:v>35700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9700</c:v>
                </c:pt>
                <c:pt idx="1">
                  <c:v>5100</c:v>
                </c:pt>
                <c:pt idx="2">
                  <c:v>5700</c:v>
                </c:pt>
                <c:pt idx="3">
                  <c:v>7000</c:v>
                </c:pt>
                <c:pt idx="4">
                  <c:v>12700</c:v>
                </c:pt>
                <c:pt idx="5">
                  <c:v>7000</c:v>
                </c:pt>
                <c:pt idx="6">
                  <c:v>5100</c:v>
                </c:pt>
                <c:pt idx="7">
                  <c:v>15400</c:v>
                </c:pt>
                <c:pt idx="8">
                  <c:v>4300</c:v>
                </c:pt>
                <c:pt idx="9">
                  <c:v>5700</c:v>
                </c:pt>
                <c:pt idx="10">
                  <c:v>7000</c:v>
                </c:pt>
                <c:pt idx="11">
                  <c:v>5700</c:v>
                </c:pt>
                <c:pt idx="12">
                  <c:v>10000</c:v>
                </c:pt>
                <c:pt idx="13">
                  <c:v>9700</c:v>
                </c:pt>
                <c:pt idx="14">
                  <c:v>12700</c:v>
                </c:pt>
                <c:pt idx="15">
                  <c:v>4300</c:v>
                </c:pt>
                <c:pt idx="16">
                  <c:v>9700</c:v>
                </c:pt>
                <c:pt idx="17">
                  <c:v>7000</c:v>
                </c:pt>
                <c:pt idx="18">
                  <c:v>5700</c:v>
                </c:pt>
                <c:pt idx="19">
                  <c:v>5700</c:v>
                </c:pt>
                <c:pt idx="20">
                  <c:v>7000</c:v>
                </c:pt>
                <c:pt idx="21">
                  <c:v>9700</c:v>
                </c:pt>
                <c:pt idx="22">
                  <c:v>7000</c:v>
                </c:pt>
                <c:pt idx="23">
                  <c:v>14800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products and services are growing?. Sample Advisory Pty Ltd. Period: September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All. September against September last year: 121.4%; Year to date against the same period last year: 77.6%; Gross margin, year to date: 61.1%. Revenue is 77.6% up on the same period last year, year to date ($405,285 against $228,200). Retainers make the highest gross margin (63.4%); Projects the lowest (60.0%). The business needs 45.8% gross margin just to cover overheads. Projects: 60.0% gross margin, 20.0 points over the 40.0% target ($53,451 ahead on $266,685 this financial year to date). Retainers: 63.4% gross margin, 23.4 points over the 40.0% target ($25,080 ahead on $107,100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Projects. September against September last year: 125.5%; Year to date against the same period last year: 70.8%; Gross margin, year to date: 60.0%. Projects brought in $266,685 this financial year to date, 70.8% on the same period last year (slower than the business as a whole, 77.6%), at a 60.0% gross margin (below the 61.1% overall). Projects: 60.0% gross margin, 20.0 points over the 40.0% target ($53,451 ahead on $266,685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Retainers. September against September last year: 99.4%; Year to date against the same period last year: 99.4%; Gross margin, year to date: 63.4%. Retainers brought in $107,100 this financial year to date, 99.4% on the same period last year (faster than the business as a whole, 77.6%), at a 63.4% gross margin (above the 61.1% overall). Retainers: 63.4% gross margin, 23.4 points over the 40.0% target ($25,080 ahead on $107,100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Training. September against September last year: 159.6%; Year to date against the same period last year: 71.2%; Gross margin, year to date: 61.9%. Training brought in $31,500 this financial year to date, 71.2% on the same period last year (slower than the business as a whole, 77.6%), at a 61.9% gross margin (above the 61.1% overall). Training: 61.9% gross margin, 21.9 points over the 40.0% target ($6,900 ahead on $31,500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type of work: financial year to date (Jul to Sep 2026) against the same period last year · Services. From gross margin to profit: September's client work made $81,890 gross margin (56.3%). Consultant time not charged to client work took $14,352 and overheads $52,140, leaving $15,398 profit before tax (10.6% of revenue). To cover overheads, client work needs a 45.8%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products and services are growing?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Advisory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September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All.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against September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121.4%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$145,330 against $65,650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77.6%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$405,285 against $228,200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61.1%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$247,545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Revenue is 77.6% up on the same period last year, year to date ($405,285 against $228,200). Retainers make the highest gross margin (63.4%); Projects the lowest (60.0%). The business needs 45.8% gross margin just to cover overheads.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Projects: 60.0% gross margin, 20.0 points over the 40.0% target ($53,451 ahead on $266,685 this financial year to date). Retainers: 63.4% gross margin, 23.4 points over the 40.0% target ($25,080 ahead on $107,100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Projects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Projects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against September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125.5%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$94,830 against $42,050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70.8%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$266,685 against $156,100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60.0%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$160,125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 brought in $266,685 this financial year to date, 70.8% on the same period last year (slower than the business as a whole, 77.6%), at a 60.0% gross margin (below the 61.1%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Projects: 60.0% gross margin, 20.0 points over the 40.0% target ($53,451 ahead on $266,685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Retainers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Retainers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against September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99.4%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$35,700 against $17,900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99.4%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$107,100 against $53,700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$67,920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Retainers brought in $107,100 this financial year to date, 99.4% on the same period last year (faster than the business as a whole, 77.6%), at a 63.4% gross margin (above the 61.1%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Retainers: 63.4% gross margin, 23.4 points over the 40.0% target ($25,080 ahead on $107,100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Training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Training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against September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159.6%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$14,800 against $5,700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71.2%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$31,500 against $18,400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61.9%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$19,500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Training brought in $31,500 this financial year to date, 71.2% on the same period last year (slower than the business as a whole, 77.6%), at a 61.9% gross margin (above the 61.1%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Training: 61.9% gross margin, 21.9 points over the 40.0% target ($6,900 ahead on $31,500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7193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By type of work: financial year to date (Jul to Sep 2026) against the same period last year · Services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5824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From gross margin to profit: September's client work made $81,890 gross margin (56.3%). Consultant time not charged to client work took $14,352 and overheads $52,140, leaving $15,398 profit before tax (10.6% of revenue). To cover overheads, client work needs a 45.8%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712976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Year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Same period last year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Growth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Projects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$266,685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$156,100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70.8%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$160,125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$107,100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$53,700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99.4%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$67,920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63.4%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$31,500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$18,400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71.2%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$19,500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61.9%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$405,285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$228,200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77.6%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$247,545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61.1%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