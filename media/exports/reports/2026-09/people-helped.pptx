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Share reached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7D8790"/>
              </a:solidFill>
            </c:spPr>
          </c:dPt>
          <c:dPt>
            <c:idx val="3"/>
            <c:spPr>
              <a:solidFill>
                <a:srgbClr val="7D8790"/>
              </a:solidFill>
            </c:spPr>
          </c:dPt>
          <c:dPt>
            <c:idx val="4"/>
            <c:spPr>
              <a:solidFill>
                <a:srgbClr val="7D8790"/>
              </a:solidFill>
            </c:spPr>
          </c:dPt>
          <c:cat>
            <c:strRef>
              <c:f>Sheet1!$A$2:$A$6</c:f>
              <c:strCache>
                <c:ptCount val="5"/>
                <c:pt idx="0">
                  <c:v>Digital literacy</c:v>
                </c:pt>
                <c:pt idx="1">
                  <c:v>Housing support</c:v>
                </c:pt>
                <c:pt idx="2">
                  <c:v>Youth outreach</c:v>
                </c:pt>
                <c:pt idx="3">
                  <c:v>Mental health first aid</c:v>
                </c:pt>
                <c:pt idx="4">
                  <c:v>Community meals</c:v>
                </c:pt>
              </c:strCache>
            </c:strRef>
          </c:cat>
          <c:val>
            <c:numRef>
              <c:f>Sheet1!$B$2:$B$6</c:f>
              <c:numCache>
                <c:formatCode>0.0"%";[Red](0.0"%")</c:formatCode>
                <c:ptCount val="5"/>
                <c:pt idx="0">
                  <c:v>81.2</c:v>
                </c:pt>
                <c:pt idx="1">
                  <c:v>83.5</c:v>
                </c:pt>
                <c:pt idx="2">
                  <c:v>84.2</c:v>
                </c:pt>
                <c:pt idx="3">
                  <c:v>84.6</c:v>
                </c:pt>
                <c:pt idx="4">
                  <c:v>86.3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3.499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People helped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#,##0;[Red](#,##0)</c:formatCode>
                <c:ptCount val="24"/>
                <c:pt idx="0">
                  <c:v>175</c:v>
                </c:pt>
                <c:pt idx="1">
                  <c:v>211</c:v>
                </c:pt>
                <c:pt idx="2">
                  <c:v>195</c:v>
                </c:pt>
                <c:pt idx="3">
                  <c:v>308</c:v>
                </c:pt>
                <c:pt idx="4">
                  <c:v>297</c:v>
                </c:pt>
                <c:pt idx="5">
                  <c:v>278</c:v>
                </c:pt>
                <c:pt idx="6">
                  <c:v>314</c:v>
                </c:pt>
                <c:pt idx="7">
                  <c:v>305</c:v>
                </c:pt>
                <c:pt idx="8">
                  <c:v>265</c:v>
                </c:pt>
                <c:pt idx="9">
                  <c:v>425</c:v>
                </c:pt>
                <c:pt idx="10">
                  <c:v>446</c:v>
                </c:pt>
                <c:pt idx="11">
                  <c:v>474</c:v>
                </c:pt>
                <c:pt idx="12">
                  <c:v>506</c:v>
                </c:pt>
                <c:pt idx="13">
                  <c:v>495</c:v>
                </c:pt>
                <c:pt idx="14">
                  <c:v>521</c:v>
                </c:pt>
                <c:pt idx="15">
                  <c:v>427</c:v>
                </c:pt>
                <c:pt idx="16">
                  <c:v>396</c:v>
                </c:pt>
                <c:pt idx="17">
                  <c:v>412</c:v>
                </c:pt>
                <c:pt idx="18">
                  <c:v>491</c:v>
                </c:pt>
                <c:pt idx="19">
                  <c:v>487</c:v>
                </c:pt>
                <c:pt idx="20">
                  <c:v>490</c:v>
                </c:pt>
                <c:pt idx="21">
                  <c:v>497</c:v>
                </c:pt>
                <c:pt idx="22">
                  <c:v>522</c:v>
                </c:pt>
                <c:pt idx="23">
                  <c:v>548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6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we help this month, and how many couldn't we reach?. Sample Community Services Ltd. Period: September 2026.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we help this month, and how many couldn't we reach?. People helped, September: 548; Couldn't reach, September: 100; Share reached, September: 84.6%. 548 people were helped in September, and 100 came to a program but couldn't be helped: 84.6% reached (target 90.0%), against 84.9% in August. Digital literacy reached the smallest share: 81.2% (12 couldn't be helped). The main reason: program at capacity (45 people).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People helped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people couldn't be helped, September 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people did we help this month, and how many couldn't we reach?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September 2026.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145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How many people did we help this month, and how many couldn't we reach?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344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Share of people reached, by program, September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People helped, September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548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August 522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Couldn't reach, September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8A6D3B"/>
                </a:solidFill>
                <a:latin typeface="Roboto"/>
              </a:rPr>
              <a:t>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August 93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Share reached, September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84.6%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90.0%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543556"/>
          <a:ext cx="11277295" cy="25770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9528067" y="2620868"/>
            <a:ext cx="0" cy="2267834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430787" y="488870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90.0%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440680"/>
            <a:ext cx="5501487" cy="914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594360" y="54955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769864"/>
            <a:ext cx="5227167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548 people were helped in September, and 100 came to a program but couldn't be helped: 84.6% reached (target 90.0%), against 84.9% in August.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3007" y="5440680"/>
            <a:ext cx="5501487" cy="914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370167" y="54955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5769864"/>
            <a:ext cx="5227167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Digital literacy reached the smallest share: 81.2% (12 couldn't be helped). The main reason: program at capacity (45 people).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People helped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people couldn't be helped, September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Main reason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People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Program at capacity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Waitlist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Outside the service area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Not eligible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Couldn't make contact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