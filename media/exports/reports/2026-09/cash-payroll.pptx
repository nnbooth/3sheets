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11"/>
          <c:y val="0.05"/>
          <c:w val="0.86"/>
          <c:h val="0.8"/>
        </c:manualLayout>
      </c:layout>
      <c:areaChart>
        <c:grouping val="standard"/>
        <c:varyColors val="0"/>
        <c:ser>
          <c:idx val="0"/>
          <c:order val="0"/>
          <c:tx>
            <c:strRef>
              <c:f>Sheet1!$B$1</c:f>
              <c:strCache>
                <c:ptCount val="1"/>
                <c:pt idx="0">
                  <c:v>Cash at bank $</c:v>
                </c:pt>
              </c:strCache>
            </c:strRef>
          </c:tx>
          <c:spPr>
            <a:solidFill>
              <a:srgbClr val="0E9F6E">
                <a:alpha val="25000"/>
              </a:srgbClr>
            </a:solidFill>
            <a:ln w="31750">
              <a:solidFill>
                <a:srgbClr val="0E9F6E"/>
              </a:solidFill>
            </a:ln>
          </c:spPr>
          <c:cat>
            <c:strRef>
              <c:f>Sheet1!$A$2:$A$153</c:f>
              <c:strCache>
                <c:ptCount val="152"/>
                <c:pt idx="0">
                  <c:v>1 Aug</c:v>
                </c:pt>
                <c:pt idx="1">
                  <c:v>2 Aug</c:v>
                </c:pt>
                <c:pt idx="2">
                  <c:v>3 Aug</c:v>
                </c:pt>
                <c:pt idx="3">
                  <c:v>4 Aug</c:v>
                </c:pt>
                <c:pt idx="4">
                  <c:v>5 Aug</c:v>
                </c:pt>
                <c:pt idx="5">
                  <c:v>6 Aug</c:v>
                </c:pt>
                <c:pt idx="6">
                  <c:v>7 Aug</c:v>
                </c:pt>
                <c:pt idx="7">
                  <c:v>8 Aug</c:v>
                </c:pt>
                <c:pt idx="8">
                  <c:v>9 Aug</c:v>
                </c:pt>
                <c:pt idx="9">
                  <c:v>10 Aug</c:v>
                </c:pt>
                <c:pt idx="10">
                  <c:v>11 Aug</c:v>
                </c:pt>
                <c:pt idx="11">
                  <c:v>12 Aug</c:v>
                </c:pt>
                <c:pt idx="12">
                  <c:v>13 Aug</c:v>
                </c:pt>
                <c:pt idx="13">
                  <c:v>14 Aug</c:v>
                </c:pt>
                <c:pt idx="14">
                  <c:v>15 Aug</c:v>
                </c:pt>
                <c:pt idx="15">
                  <c:v>16 Aug</c:v>
                </c:pt>
                <c:pt idx="16">
                  <c:v>17 Aug</c:v>
                </c:pt>
                <c:pt idx="17">
                  <c:v>18 Aug</c:v>
                </c:pt>
                <c:pt idx="18">
                  <c:v>19 Aug</c:v>
                </c:pt>
                <c:pt idx="19">
                  <c:v>20 Aug</c:v>
                </c:pt>
                <c:pt idx="20">
                  <c:v>21 Aug</c:v>
                </c:pt>
                <c:pt idx="21">
                  <c:v>22 Aug</c:v>
                </c:pt>
                <c:pt idx="22">
                  <c:v>23 Aug</c:v>
                </c:pt>
                <c:pt idx="23">
                  <c:v>24 Aug</c:v>
                </c:pt>
                <c:pt idx="24">
                  <c:v>25 Aug</c:v>
                </c:pt>
                <c:pt idx="25">
                  <c:v>26 Aug</c:v>
                </c:pt>
                <c:pt idx="26">
                  <c:v>27 Aug</c:v>
                </c:pt>
                <c:pt idx="27">
                  <c:v>28 Aug</c:v>
                </c:pt>
                <c:pt idx="28">
                  <c:v>29 Aug</c:v>
                </c:pt>
                <c:pt idx="29">
                  <c:v>30 Aug</c:v>
                </c:pt>
                <c:pt idx="30">
                  <c:v>31 Aug</c:v>
                </c:pt>
                <c:pt idx="31">
                  <c:v>1 Sep</c:v>
                </c:pt>
                <c:pt idx="32">
                  <c:v>2 Sep</c:v>
                </c:pt>
                <c:pt idx="33">
                  <c:v>3 Sep</c:v>
                </c:pt>
                <c:pt idx="34">
                  <c:v>4 Sep</c:v>
                </c:pt>
                <c:pt idx="35">
                  <c:v>5 Sep</c:v>
                </c:pt>
                <c:pt idx="36">
                  <c:v>6 Sep</c:v>
                </c:pt>
                <c:pt idx="37">
                  <c:v>7 Sep</c:v>
                </c:pt>
                <c:pt idx="38">
                  <c:v>8 Sep</c:v>
                </c:pt>
                <c:pt idx="39">
                  <c:v>9 Sep</c:v>
                </c:pt>
                <c:pt idx="40">
                  <c:v>10 Sep</c:v>
                </c:pt>
                <c:pt idx="41">
                  <c:v>11 Sep</c:v>
                </c:pt>
                <c:pt idx="42">
                  <c:v>12 Sep</c:v>
                </c:pt>
                <c:pt idx="43">
                  <c:v>13 Sep</c:v>
                </c:pt>
                <c:pt idx="44">
                  <c:v>14 Sep</c:v>
                </c:pt>
                <c:pt idx="45">
                  <c:v>15 Sep</c:v>
                </c:pt>
                <c:pt idx="46">
                  <c:v>16 Sep</c:v>
                </c:pt>
                <c:pt idx="47">
                  <c:v>17 Sep</c:v>
                </c:pt>
                <c:pt idx="48">
                  <c:v>18 Sep</c:v>
                </c:pt>
                <c:pt idx="49">
                  <c:v>19 Sep</c:v>
                </c:pt>
                <c:pt idx="50">
                  <c:v>20 Sep</c:v>
                </c:pt>
                <c:pt idx="51">
                  <c:v>21 Sep</c:v>
                </c:pt>
                <c:pt idx="52">
                  <c:v>22 Sep</c:v>
                </c:pt>
                <c:pt idx="53">
                  <c:v>23 Sep</c:v>
                </c:pt>
                <c:pt idx="54">
                  <c:v>24 Sep</c:v>
                </c:pt>
                <c:pt idx="55">
                  <c:v>25 Sep</c:v>
                </c:pt>
                <c:pt idx="56">
                  <c:v>26 Sep</c:v>
                </c:pt>
                <c:pt idx="57">
                  <c:v>27 Sep</c:v>
                </c:pt>
                <c:pt idx="58">
                  <c:v>28 Sep</c:v>
                </c:pt>
                <c:pt idx="59">
                  <c:v>29 Sep</c:v>
                </c:pt>
                <c:pt idx="60">
                  <c:v>30 Sep</c:v>
                </c:pt>
                <c:pt idx="61">
                  <c:v>1 Oct</c:v>
                </c:pt>
                <c:pt idx="62">
                  <c:v>2 Oct</c:v>
                </c:pt>
                <c:pt idx="63">
                  <c:v>3 Oct</c:v>
                </c:pt>
                <c:pt idx="64">
                  <c:v>4 Oct</c:v>
                </c:pt>
                <c:pt idx="65">
                  <c:v>5 Oct</c:v>
                </c:pt>
                <c:pt idx="66">
                  <c:v>6 Oct</c:v>
                </c:pt>
                <c:pt idx="67">
                  <c:v>7 Oct</c:v>
                </c:pt>
                <c:pt idx="68">
                  <c:v>8 Oct</c:v>
                </c:pt>
                <c:pt idx="69">
                  <c:v>9 Oct</c:v>
                </c:pt>
                <c:pt idx="70">
                  <c:v>10 Oct</c:v>
                </c:pt>
                <c:pt idx="71">
                  <c:v>11 Oct</c:v>
                </c:pt>
                <c:pt idx="72">
                  <c:v>12 Oct</c:v>
                </c:pt>
                <c:pt idx="73">
                  <c:v>13 Oct</c:v>
                </c:pt>
                <c:pt idx="74">
                  <c:v>14 Oct</c:v>
                </c:pt>
                <c:pt idx="75">
                  <c:v>15 Oct</c:v>
                </c:pt>
                <c:pt idx="76">
                  <c:v>16 Oct</c:v>
                </c:pt>
                <c:pt idx="77">
                  <c:v>17 Oct</c:v>
                </c:pt>
                <c:pt idx="78">
                  <c:v>18 Oct</c:v>
                </c:pt>
                <c:pt idx="79">
                  <c:v>19 Oct</c:v>
                </c:pt>
                <c:pt idx="80">
                  <c:v>20 Oct</c:v>
                </c:pt>
                <c:pt idx="81">
                  <c:v>21 Oct</c:v>
                </c:pt>
                <c:pt idx="82">
                  <c:v>22 Oct</c:v>
                </c:pt>
                <c:pt idx="83">
                  <c:v>23 Oct</c:v>
                </c:pt>
                <c:pt idx="84">
                  <c:v>24 Oct</c:v>
                </c:pt>
                <c:pt idx="85">
                  <c:v>25 Oct</c:v>
                </c:pt>
                <c:pt idx="86">
                  <c:v>26 Oct</c:v>
                </c:pt>
                <c:pt idx="87">
                  <c:v>27 Oct</c:v>
                </c:pt>
                <c:pt idx="88">
                  <c:v>28 Oct</c:v>
                </c:pt>
                <c:pt idx="89">
                  <c:v>29 Oct</c:v>
                </c:pt>
                <c:pt idx="90">
                  <c:v>30 Oct</c:v>
                </c:pt>
                <c:pt idx="91">
                  <c:v>31 Oct</c:v>
                </c:pt>
                <c:pt idx="92">
                  <c:v>1 Nov</c:v>
                </c:pt>
                <c:pt idx="93">
                  <c:v>2 Nov</c:v>
                </c:pt>
                <c:pt idx="94">
                  <c:v>3 Nov</c:v>
                </c:pt>
                <c:pt idx="95">
                  <c:v>4 Nov</c:v>
                </c:pt>
                <c:pt idx="96">
                  <c:v>5 Nov</c:v>
                </c:pt>
                <c:pt idx="97">
                  <c:v>6 Nov</c:v>
                </c:pt>
                <c:pt idx="98">
                  <c:v>7 Nov</c:v>
                </c:pt>
                <c:pt idx="99">
                  <c:v>8 Nov</c:v>
                </c:pt>
                <c:pt idx="100">
                  <c:v>9 Nov</c:v>
                </c:pt>
                <c:pt idx="101">
                  <c:v>10 Nov</c:v>
                </c:pt>
                <c:pt idx="102">
                  <c:v>11 Nov</c:v>
                </c:pt>
                <c:pt idx="103">
                  <c:v>12 Nov</c:v>
                </c:pt>
                <c:pt idx="104">
                  <c:v>13 Nov</c:v>
                </c:pt>
                <c:pt idx="105">
                  <c:v>14 Nov</c:v>
                </c:pt>
                <c:pt idx="106">
                  <c:v>15 Nov</c:v>
                </c:pt>
                <c:pt idx="107">
                  <c:v>16 Nov</c:v>
                </c:pt>
                <c:pt idx="108">
                  <c:v>17 Nov</c:v>
                </c:pt>
                <c:pt idx="109">
                  <c:v>18 Nov</c:v>
                </c:pt>
                <c:pt idx="110">
                  <c:v>19 Nov</c:v>
                </c:pt>
                <c:pt idx="111">
                  <c:v>20 Nov</c:v>
                </c:pt>
                <c:pt idx="112">
                  <c:v>21 Nov</c:v>
                </c:pt>
                <c:pt idx="113">
                  <c:v>22 Nov</c:v>
                </c:pt>
                <c:pt idx="114">
                  <c:v>23 Nov</c:v>
                </c:pt>
                <c:pt idx="115">
                  <c:v>24 Nov</c:v>
                </c:pt>
                <c:pt idx="116">
                  <c:v>25 Nov</c:v>
                </c:pt>
                <c:pt idx="117">
                  <c:v>26 Nov</c:v>
                </c:pt>
                <c:pt idx="118">
                  <c:v>27 Nov</c:v>
                </c:pt>
                <c:pt idx="119">
                  <c:v>28 Nov</c:v>
                </c:pt>
                <c:pt idx="120">
                  <c:v>29 Nov</c:v>
                </c:pt>
                <c:pt idx="121">
                  <c:v>30 Nov</c:v>
                </c:pt>
                <c:pt idx="122">
                  <c:v>1 Dec</c:v>
                </c:pt>
                <c:pt idx="123">
                  <c:v>2 Dec</c:v>
                </c:pt>
                <c:pt idx="124">
                  <c:v>3 Dec</c:v>
                </c:pt>
                <c:pt idx="125">
                  <c:v>4 Dec</c:v>
                </c:pt>
                <c:pt idx="126">
                  <c:v>5 Dec</c:v>
                </c:pt>
                <c:pt idx="127">
                  <c:v>6 Dec</c:v>
                </c:pt>
                <c:pt idx="128">
                  <c:v>7 Dec</c:v>
                </c:pt>
                <c:pt idx="129">
                  <c:v>8 Dec</c:v>
                </c:pt>
                <c:pt idx="130">
                  <c:v>9 Dec</c:v>
                </c:pt>
                <c:pt idx="131">
                  <c:v>10 Dec</c:v>
                </c:pt>
                <c:pt idx="132">
                  <c:v>11 Dec</c:v>
                </c:pt>
                <c:pt idx="133">
                  <c:v>12 Dec</c:v>
                </c:pt>
                <c:pt idx="134">
                  <c:v>13 Dec</c:v>
                </c:pt>
                <c:pt idx="135">
                  <c:v>14 Dec</c:v>
                </c:pt>
                <c:pt idx="136">
                  <c:v>15 Dec</c:v>
                </c:pt>
                <c:pt idx="137">
                  <c:v>16 Dec</c:v>
                </c:pt>
                <c:pt idx="138">
                  <c:v>17 Dec</c:v>
                </c:pt>
                <c:pt idx="139">
                  <c:v>18 Dec</c:v>
                </c:pt>
                <c:pt idx="140">
                  <c:v>19 Dec</c:v>
                </c:pt>
                <c:pt idx="141">
                  <c:v>20 Dec</c:v>
                </c:pt>
                <c:pt idx="142">
                  <c:v>21 Dec</c:v>
                </c:pt>
                <c:pt idx="143">
                  <c:v>22 Dec</c:v>
                </c:pt>
                <c:pt idx="144">
                  <c:v>23 Dec</c:v>
                </c:pt>
                <c:pt idx="145">
                  <c:v>24 Dec</c:v>
                </c:pt>
                <c:pt idx="146">
                  <c:v>25 Dec</c:v>
                </c:pt>
                <c:pt idx="147">
                  <c:v>26 Dec</c:v>
                </c:pt>
                <c:pt idx="148">
                  <c:v>27 Dec</c:v>
                </c:pt>
                <c:pt idx="149">
                  <c:v>28 Dec</c:v>
                </c:pt>
                <c:pt idx="150">
                  <c:v>29 Dec</c:v>
                </c:pt>
                <c:pt idx="151">
                  <c:v>30 Dec</c:v>
                </c:pt>
              </c:strCache>
            </c:strRef>
          </c:cat>
          <c:val>
            <c:numRef>
              <c:f>Sheet1!$B$2:$B$153</c:f>
              <c:numCache>
                <c:formatCode>$#,##0;[Red]($#,##0);"-"</c:formatCode>
                <c:ptCount val="152"/>
                <c:pt idx="0">
                  <c:v>88000</c:v>
                </c:pt>
                <c:pt idx="1">
                  <c:v>88000</c:v>
                </c:pt>
                <c:pt idx="2">
                  <c:v>132701</c:v>
                </c:pt>
                <c:pt idx="3">
                  <c:v>151542</c:v>
                </c:pt>
                <c:pt idx="4">
                  <c:v>152596</c:v>
                </c:pt>
                <c:pt idx="5">
                  <c:v>155460</c:v>
                </c:pt>
                <c:pt idx="6">
                  <c:v>155919</c:v>
                </c:pt>
                <c:pt idx="7">
                  <c:v>155919</c:v>
                </c:pt>
                <c:pt idx="8">
                  <c:v>155919</c:v>
                </c:pt>
                <c:pt idx="9">
                  <c:v>185269</c:v>
                </c:pt>
                <c:pt idx="10">
                  <c:v>187001</c:v>
                </c:pt>
                <c:pt idx="11">
                  <c:v>187001</c:v>
                </c:pt>
                <c:pt idx="12">
                  <c:v>188241</c:v>
                </c:pt>
                <c:pt idx="13">
                  <c:v>189402</c:v>
                </c:pt>
                <c:pt idx="14">
                  <c:v>189402</c:v>
                </c:pt>
                <c:pt idx="15">
                  <c:v>189402</c:v>
                </c:pt>
                <c:pt idx="16">
                  <c:v>139498</c:v>
                </c:pt>
                <c:pt idx="17">
                  <c:v>141308</c:v>
                </c:pt>
                <c:pt idx="18">
                  <c:v>142555</c:v>
                </c:pt>
                <c:pt idx="19">
                  <c:v>106665</c:v>
                </c:pt>
                <c:pt idx="20">
                  <c:v>106665</c:v>
                </c:pt>
                <c:pt idx="21">
                  <c:v>106665</c:v>
                </c:pt>
                <c:pt idx="22">
                  <c:v>106665</c:v>
                </c:pt>
                <c:pt idx="23">
                  <c:v>112651</c:v>
                </c:pt>
                <c:pt idx="24">
                  <c:v>113267</c:v>
                </c:pt>
                <c:pt idx="25">
                  <c:v>134548</c:v>
                </c:pt>
                <c:pt idx="26">
                  <c:v>135343</c:v>
                </c:pt>
                <c:pt idx="27">
                  <c:v>132018</c:v>
                </c:pt>
                <c:pt idx="28">
                  <c:v>132018</c:v>
                </c:pt>
                <c:pt idx="29">
                  <c:v>132018</c:v>
                </c:pt>
                <c:pt idx="30">
                  <c:v>92859</c:v>
                </c:pt>
                <c:pt idx="31">
                  <c:v>93905</c:v>
                </c:pt>
                <c:pt idx="32">
                  <c:v>95545</c:v>
                </c:pt>
                <c:pt idx="33">
                  <c:v>72037</c:v>
                </c:pt>
                <c:pt idx="34">
                  <c:v>74714</c:v>
                </c:pt>
                <c:pt idx="35">
                  <c:v>74714</c:v>
                </c:pt>
                <c:pt idx="36">
                  <c:v>74714</c:v>
                </c:pt>
                <c:pt idx="37">
                  <c:v>149281</c:v>
                </c:pt>
                <c:pt idx="38">
                  <c:v>156941</c:v>
                </c:pt>
                <c:pt idx="39">
                  <c:v>178156</c:v>
                </c:pt>
                <c:pt idx="40">
                  <c:v>165845</c:v>
                </c:pt>
                <c:pt idx="41">
                  <c:v>167171</c:v>
                </c:pt>
                <c:pt idx="42">
                  <c:v>167171</c:v>
                </c:pt>
                <c:pt idx="43">
                  <c:v>167171</c:v>
                </c:pt>
                <c:pt idx="44">
                  <c:v>196325</c:v>
                </c:pt>
                <c:pt idx="45">
                  <c:v>146575</c:v>
                </c:pt>
                <c:pt idx="46">
                  <c:v>146973</c:v>
                </c:pt>
                <c:pt idx="47">
                  <c:v>111700</c:v>
                </c:pt>
                <c:pt idx="48">
                  <c:v>112080</c:v>
                </c:pt>
                <c:pt idx="49">
                  <c:v>112080</c:v>
                </c:pt>
                <c:pt idx="50">
                  <c:v>112080</c:v>
                </c:pt>
                <c:pt idx="51">
                  <c:v>114578</c:v>
                </c:pt>
                <c:pt idx="52">
                  <c:v>116248</c:v>
                </c:pt>
                <c:pt idx="53">
                  <c:v>117244</c:v>
                </c:pt>
                <c:pt idx="54">
                  <c:v>118893</c:v>
                </c:pt>
                <c:pt idx="55">
                  <c:v>119230</c:v>
                </c:pt>
                <c:pt idx="56">
                  <c:v>119230</c:v>
                </c:pt>
                <c:pt idx="57">
                  <c:v>119230</c:v>
                </c:pt>
                <c:pt idx="58">
                  <c:v>136867</c:v>
                </c:pt>
                <c:pt idx="59">
                  <c:v>172419</c:v>
                </c:pt>
                <c:pt idx="60">
                  <c:v>120228</c:v>
                </c:pt>
                <c:pt idx="61">
                  <c:v>132057</c:v>
                </c:pt>
                <c:pt idx="62">
                  <c:v>133401</c:v>
                </c:pt>
                <c:pt idx="63">
                  <c:v>133401</c:v>
                </c:pt>
                <c:pt idx="64">
                  <c:v>133401</c:v>
                </c:pt>
                <c:pt idx="65">
                  <c:v>133401</c:v>
                </c:pt>
                <c:pt idx="66">
                  <c:v>194170</c:v>
                </c:pt>
                <c:pt idx="67">
                  <c:v>202904</c:v>
                </c:pt>
                <c:pt idx="68">
                  <c:v>202904</c:v>
                </c:pt>
                <c:pt idx="69">
                  <c:v>225784</c:v>
                </c:pt>
                <c:pt idx="70">
                  <c:v>225784</c:v>
                </c:pt>
                <c:pt idx="71">
                  <c:v>225784</c:v>
                </c:pt>
                <c:pt idx="72">
                  <c:v>230478</c:v>
                </c:pt>
                <c:pt idx="73">
                  <c:v>232043</c:v>
                </c:pt>
                <c:pt idx="74">
                  <c:v>232043</c:v>
                </c:pt>
                <c:pt idx="75">
                  <c:v>134844</c:v>
                </c:pt>
                <c:pt idx="76">
                  <c:v>136409</c:v>
                </c:pt>
                <c:pt idx="77">
                  <c:v>136409</c:v>
                </c:pt>
                <c:pt idx="78">
                  <c:v>136409</c:v>
                </c:pt>
                <c:pt idx="79">
                  <c:v>156943</c:v>
                </c:pt>
                <c:pt idx="80">
                  <c:v>158508</c:v>
                </c:pt>
                <c:pt idx="81">
                  <c:v>158508</c:v>
                </c:pt>
                <c:pt idx="82">
                  <c:v>158508</c:v>
                </c:pt>
                <c:pt idx="83">
                  <c:v>172172</c:v>
                </c:pt>
                <c:pt idx="84">
                  <c:v>172172</c:v>
                </c:pt>
                <c:pt idx="85">
                  <c:v>172172</c:v>
                </c:pt>
                <c:pt idx="86">
                  <c:v>176866</c:v>
                </c:pt>
                <c:pt idx="87">
                  <c:v>178431</c:v>
                </c:pt>
                <c:pt idx="88">
                  <c:v>87178</c:v>
                </c:pt>
                <c:pt idx="89">
                  <c:v>69267</c:v>
                </c:pt>
                <c:pt idx="90">
                  <c:v>70832</c:v>
                </c:pt>
                <c:pt idx="91">
                  <c:v>70832</c:v>
                </c:pt>
                <c:pt idx="92">
                  <c:v>70832</c:v>
                </c:pt>
                <c:pt idx="93">
                  <c:v>77691</c:v>
                </c:pt>
                <c:pt idx="94">
                  <c:v>79256</c:v>
                </c:pt>
                <c:pt idx="95">
                  <c:v>79256</c:v>
                </c:pt>
                <c:pt idx="96">
                  <c:v>86230</c:v>
                </c:pt>
                <c:pt idx="97">
                  <c:v>94768</c:v>
                </c:pt>
                <c:pt idx="98">
                  <c:v>94768</c:v>
                </c:pt>
                <c:pt idx="99">
                  <c:v>94768</c:v>
                </c:pt>
                <c:pt idx="100">
                  <c:v>113410</c:v>
                </c:pt>
                <c:pt idx="101">
                  <c:v>114975</c:v>
                </c:pt>
                <c:pt idx="102">
                  <c:v>121949</c:v>
                </c:pt>
                <c:pt idx="103">
                  <c:v>92312</c:v>
                </c:pt>
                <c:pt idx="104">
                  <c:v>100851</c:v>
                </c:pt>
                <c:pt idx="105">
                  <c:v>100851</c:v>
                </c:pt>
                <c:pt idx="106">
                  <c:v>100851</c:v>
                </c:pt>
                <c:pt idx="107">
                  <c:v>58905</c:v>
                </c:pt>
                <c:pt idx="108">
                  <c:v>60469</c:v>
                </c:pt>
                <c:pt idx="109">
                  <c:v>67443</c:v>
                </c:pt>
                <c:pt idx="110">
                  <c:v>74417</c:v>
                </c:pt>
                <c:pt idx="111">
                  <c:v>82956</c:v>
                </c:pt>
                <c:pt idx="112">
                  <c:v>82956</c:v>
                </c:pt>
                <c:pt idx="113">
                  <c:v>82956</c:v>
                </c:pt>
                <c:pt idx="114">
                  <c:v>101598</c:v>
                </c:pt>
                <c:pt idx="115">
                  <c:v>103163</c:v>
                </c:pt>
                <c:pt idx="116">
                  <c:v>110137</c:v>
                </c:pt>
                <c:pt idx="117">
                  <c:v>80500</c:v>
                </c:pt>
                <c:pt idx="118">
                  <c:v>89039</c:v>
                </c:pt>
                <c:pt idx="119">
                  <c:v>89039</c:v>
                </c:pt>
                <c:pt idx="120">
                  <c:v>89039</c:v>
                </c:pt>
                <c:pt idx="121">
                  <c:v>41013</c:v>
                </c:pt>
                <c:pt idx="122">
                  <c:v>92462</c:v>
                </c:pt>
                <c:pt idx="123">
                  <c:v>99436</c:v>
                </c:pt>
                <c:pt idx="124">
                  <c:v>106410</c:v>
                </c:pt>
                <c:pt idx="125">
                  <c:v>114949</c:v>
                </c:pt>
                <c:pt idx="126">
                  <c:v>114949</c:v>
                </c:pt>
                <c:pt idx="127">
                  <c:v>114949</c:v>
                </c:pt>
                <c:pt idx="128">
                  <c:v>133591</c:v>
                </c:pt>
                <c:pt idx="129">
                  <c:v>135156</c:v>
                </c:pt>
                <c:pt idx="130">
                  <c:v>142130</c:v>
                </c:pt>
                <c:pt idx="131">
                  <c:v>112493</c:v>
                </c:pt>
                <c:pt idx="132">
                  <c:v>121032</c:v>
                </c:pt>
                <c:pt idx="133">
                  <c:v>121032</c:v>
                </c:pt>
                <c:pt idx="134">
                  <c:v>121032</c:v>
                </c:pt>
                <c:pt idx="135">
                  <c:v>139674</c:v>
                </c:pt>
                <c:pt idx="136">
                  <c:v>80650</c:v>
                </c:pt>
                <c:pt idx="137">
                  <c:v>87624</c:v>
                </c:pt>
                <c:pt idx="138">
                  <c:v>94598</c:v>
                </c:pt>
                <c:pt idx="139">
                  <c:v>103137</c:v>
                </c:pt>
                <c:pt idx="140">
                  <c:v>103137</c:v>
                </c:pt>
                <c:pt idx="141">
                  <c:v>103137</c:v>
                </c:pt>
                <c:pt idx="142">
                  <c:v>121779</c:v>
                </c:pt>
                <c:pt idx="143">
                  <c:v>123344</c:v>
                </c:pt>
                <c:pt idx="144">
                  <c:v>130318</c:v>
                </c:pt>
                <c:pt idx="145">
                  <c:v>100681</c:v>
                </c:pt>
                <c:pt idx="146">
                  <c:v>100681</c:v>
                </c:pt>
                <c:pt idx="147">
                  <c:v>100681</c:v>
                </c:pt>
                <c:pt idx="148">
                  <c:v>100681</c:v>
                </c:pt>
                <c:pt idx="149">
                  <c:v>100681</c:v>
                </c:pt>
                <c:pt idx="150">
                  <c:v>122862</c:v>
                </c:pt>
                <c:pt idx="151">
                  <c:v>129836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tickLblSkip val="17"/>
        <c:noMultiLvlLbl val="0"/>
      </c:catAx>
      <c:valAx>
        <c:axId val="-2100718248"/>
        <c:scaling>
          <c:orientation val="minMax"/>
          <c:max val="250000.0"/>
          <c:min val="0.0"/>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majorUnit val="50000.0"/>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3"/>
          <c:y val="0.03"/>
          <c:w val="0.58"/>
          <c:h val="0.88"/>
        </c:manualLayout>
      </c:layout>
      <c:barChart>
        <c:barDir val="bar"/>
        <c:grouping val="clustered"/>
        <c:ser>
          <c:idx val="0"/>
          <c:order val="0"/>
          <c:tx>
            <c:strRef>
              <c:f>Sheet1!$B$1</c:f>
              <c:strCache>
                <c:ptCount val="1"/>
                <c:pt idx="0">
                  <c:v>October: where the cash comes from and goes (forecast)</c:v>
                </c:pt>
              </c:strCache>
            </c:strRef>
          </c:tx>
          <c:dPt>
            <c:idx val="0"/>
            <c:spPr>
              <a:solidFill>
                <a:srgbClr val="B42318"/>
              </a:solidFill>
            </c:spPr>
          </c:dPt>
          <c:dPt>
            <c:idx val="1"/>
            <c:spPr>
              <a:solidFill>
                <a:srgbClr val="B42318"/>
              </a:solidFill>
            </c:spPr>
          </c:dPt>
          <c:dPt>
            <c:idx val="2"/>
            <c:spPr>
              <a:solidFill>
                <a:srgbClr val="B42318"/>
              </a:solidFill>
            </c:spPr>
          </c:dPt>
          <c:dPt>
            <c:idx val="3"/>
            <c:spPr>
              <a:solidFill>
                <a:srgbClr val="B42318"/>
              </a:solidFill>
            </c:spPr>
          </c:dPt>
          <c:dPt>
            <c:idx val="4"/>
            <c:spPr>
              <a:solidFill>
                <a:srgbClr val="0E9F6E"/>
              </a:solidFill>
            </c:spPr>
          </c:dPt>
          <c:dPt>
            <c:idx val="5"/>
            <c:spPr>
              <a:solidFill>
                <a:srgbClr val="0E9F6E"/>
              </a:solidFill>
            </c:spPr>
          </c:dPt>
          <c:cat>
            <c:strRef>
              <c:f>Sheet1!$A$2:$A$7</c:f>
              <c:strCache>
                <c:ptCount val="6"/>
                <c:pt idx="0">
                  <c:v>Pay runs (3)</c:v>
                </c:pt>
                <c:pt idx="1">
                  <c:v>BAS (GST and PAYG)</c:v>
                </c:pt>
                <c:pt idx="2">
                  <c:v>Suppliers and overheads</c:v>
                </c:pt>
                <c:pt idx="3">
                  <c:v>Interest and equipment finance</c:v>
                </c:pt>
                <c:pt idx="4">
                  <c:v>New work collected</c:v>
                </c:pt>
                <c:pt idx="5">
                  <c:v>Unpaid invoices collected</c:v>
                </c:pt>
              </c:strCache>
            </c:strRef>
          </c:cat>
          <c:val>
            <c:numRef>
              <c:f>Sheet1!$B$2:$B$7</c:f>
              <c:numCache>
                <c:formatCode>$#,##0;[Red]($#,##0);"-"</c:formatCode>
                <c:ptCount val="6"/>
                <c:pt idx="0">
                  <c:v>-109833</c:v>
                </c:pt>
                <c:pt idx="1">
                  <c:v>-86253</c:v>
                </c:pt>
                <c:pt idx="2">
                  <c:v>-60588</c:v>
                </c:pt>
                <c:pt idx="3">
                  <c:v>-5000</c:v>
                </c:pt>
                <c:pt idx="4">
                  <c:v>26600</c:v>
                </c:pt>
                <c:pt idx="5">
                  <c:v>185678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max val="213529.69999999998"/>
          <c:min val="-126307.95"/>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Sample Electrical &amp; Air Pty Ltd. Period: September 2026. A 13-week cash forecast from 30 September: cash at bank, plus what customers owe on their usual payment dates and new work at its recent rate, less pay runs, supplier bills, the BAS and finance on their due dates. Every day opens its workings.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 cash cover payroll next month?. Cash at bank, 30 Sep: $120,228; Paid to employees in October: $109,833; After the tightest pay run, 29 Oct: $69,267; Lowest point, next 13 weeks: $41,013. Cash at bank was $120,228 at 30 September. October has 3 pay runs ($109,833). The tightest is 29 October: $69,267 left after paying wages, $32,656 more than a pay run in reserve. The lowest point in the 13 weeks is $41,013 on 30 November. 15 invoices ($8,734) are already past the customer's usual payment date; the forecast assumes they arrive within a week. Without them, the lowest point would be $32,279. October is one of the two months a year with three pay runs: $36,611 more than a usual month. The July to September BAS ($86,253) is due 28 October: GST $32,817, PAYG withheld $47,754 and the PAYG instalment $5,682.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where the cash comes from and goes (forecast). Money in, and money out in brackets. Includes GST.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weeks, week by week. Lowest in the week: amber below one pay run ($36,611), red below zero. Amounts include GST.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($8,734): the forecast assumes these arrive within a week (1 of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past the customer's usual payment date ($8,734): the forecast assumes these arrive within a week (2 of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965960"/>
            <a:ext cx="11277295" cy="1097280"/>
          </a:xfrm>
        </p:spPr>
        <p:txBody>
          <a:bodyPr wrap="square"/>
          <a:lstStyle/>
          <a:p>
            <a:pPr algn="l">
              <a:defRPr>
                <a:latin typeface="Roboto"/>
              </a:defRPr>
            </a:pPr>
            <a:r>
              <a:rPr sz="3400" b="1">
                <a:solidFill>
                  <a:srgbClr val="25342A"/>
                </a:solidFill>
                <a:latin typeface="Roboto"/>
              </a:rPr>
              <a:t>Will cash cover payroll next month?</a:t>
            </a:r>
          </a:p>
        </p:txBody>
      </p:sp>
      <p:sp>
        <p:nvSpPr>
          <p:cNvPr id="3" name="Rectangle 2"/>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4" name="TextBox 3"/>
          <p:cNvSpPr txBox="1"/>
          <p:nvPr/>
        </p:nvSpPr>
        <p:spPr>
          <a:xfrm>
            <a:off x="1234440" y="658368"/>
            <a:ext cx="5486400" cy="457200"/>
          </a:xfrm>
          <a:prstGeom prst="rect">
            <a:avLst/>
          </a:prstGeom>
          <a:noFill/>
        </p:spPr>
        <p:txBody>
          <a:bodyPr wrap="square" lIns="45720" rIns="45720">
            <a:spAutoFit/>
          </a:bodyPr>
          <a:lstStyle/>
          <a:p>
            <a:pPr>
              <a:defRPr>
                <a:latin typeface="Roboto"/>
              </a:defRPr>
            </a:pPr>
            <a:r>
              <a:rPr sz="1800" b="1">
                <a:solidFill>
                  <a:srgbClr val="25342A"/>
                </a:solidFill>
                <a:latin typeface="Roboto"/>
              </a:rPr>
              <a:t>The Fourth Sheet</a:t>
            </a:r>
          </a:p>
        </p:txBody>
      </p:sp>
      <p:sp>
        <p:nvSpPr>
          <p:cNvPr id="5" name="TextBox 4"/>
          <p:cNvSpPr txBox="1"/>
          <p:nvPr/>
        </p:nvSpPr>
        <p:spPr>
          <a:xfrm>
            <a:off x="457200" y="1554480"/>
            <a:ext cx="10972800" cy="365760"/>
          </a:xfrm>
          <a:prstGeom prst="rect">
            <a:avLst/>
          </a:prstGeom>
          <a:noFill/>
        </p:spPr>
        <p:txBody>
          <a:bodyPr wrap="square" lIns="45720" rIns="45720">
            <a:spAutoFit/>
          </a:bodyPr>
          <a:lstStyle/>
          <a:p>
            <a:pPr>
              <a:defRPr>
                <a:latin typeface="Roboto"/>
              </a:defRPr>
            </a:pPr>
            <a:r>
              <a:rPr sz="1100" b="1">
                <a:solidFill>
                  <a:srgbClr val="8A7A52"/>
                </a:solidFill>
                <a:latin typeface="Roboto"/>
              </a:rPr>
              <a:t>SAMPLE DATA · invented figures for demonstration</a:t>
            </a:r>
          </a:p>
        </p:txBody>
      </p:sp>
      <p:sp>
        <p:nvSpPr>
          <p:cNvPr id="6" name="TextBox 5"/>
          <p:cNvSpPr txBox="1"/>
          <p:nvPr/>
        </p:nvSpPr>
        <p:spPr>
          <a:xfrm>
            <a:off x="457200" y="3154680"/>
            <a:ext cx="11277295" cy="457200"/>
          </a:xfrm>
          <a:prstGeom prst="rect">
            <a:avLst/>
          </a:prstGeom>
          <a:noFill/>
        </p:spPr>
        <p:txBody>
          <a:bodyPr wrap="square" lIns="45720" rIns="45720">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77295" cy="758190"/>
          </a:xfrm>
          <a:prstGeom prst="rect">
            <a:avLst/>
          </a:prstGeom>
          <a:noFill/>
        </p:spPr>
        <p:txBody>
          <a:bodyPr wrap="square" lIns="45720" rIns="45720">
            <a:spAutoFit/>
          </a:bodyPr>
          <a:lstStyle/>
          <a:p>
            <a:pPr>
              <a:defRPr>
                <a:latin typeface="Roboto"/>
              </a:defRPr>
            </a:pPr>
            <a:r>
              <a:rPr sz="1400" b="0">
                <a:solidFill>
                  <a:srgbClr val="25342A"/>
                </a:solidFill>
                <a:latin typeface="Roboto"/>
              </a:rPr>
              <a:t>Period: September 2026. A 13-week cash forecast from 30 September: cash at bank, plus what customers owe on their usual payment dates and new work at its recent rate, less pay runs, supplier bills, the BAS and finance on their due dates. Every day opens its workings.</a:t>
            </a:r>
          </a:p>
        </p:txBody>
      </p:sp>
      <p:sp>
        <p:nvSpPr>
          <p:cNvPr id="8" name="TextBox 7"/>
          <p:cNvSpPr txBox="1"/>
          <p:nvPr/>
        </p:nvSpPr>
        <p:spPr>
          <a:xfrm>
            <a:off x="457200" y="4552950"/>
            <a:ext cx="11277295" cy="1097280"/>
          </a:xfrm>
          <a:prstGeom prst="rect">
            <a:avLst/>
          </a:prstGeom>
          <a:noFill/>
        </p:spPr>
        <p:txBody>
          <a:bodyPr wrap="square" lIns="45720" rIns="45720">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August 2026: Locked. August 2026 is locked (closed 2 Sep 2026). These numbers won't change.</a:t>
            </a:r>
          </a:p>
          <a:p>
            <a:pPr>
              <a:defRPr>
                <a:latin typeface="Roboto"/>
              </a:defRPr>
            </a:pPr>
            <a:r>
              <a:rPr sz="1100" b="0">
                <a:solidFill>
                  <a:srgbClr val="5F6F63"/>
                </a:solidFill>
                <a:latin typeface="Roboto"/>
              </a:rPr>
              <a:t>September 2026: Locked. September 2026 is locked (closed 2 Oct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10" name="TextBox 9"/>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11" name="TextBox 10"/>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1 of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Will cash cover payroll next month?</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Cash at bank, every day: actual to 30 Sep, then forecast to 30 Dec</a:t>
            </a:r>
          </a:p>
        </p:txBody>
      </p:sp>
      <p:sp>
        <p:nvSpPr>
          <p:cNvPr id="6" name="Rectangle 5"/>
          <p:cNvSpPr/>
          <p:nvPr/>
        </p:nvSpPr>
        <p:spPr>
          <a:xfrm>
            <a:off x="457200"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7" name="TextBox 6"/>
          <p:cNvSpPr txBox="1"/>
          <p:nvPr/>
        </p:nvSpPr>
        <p:spPr>
          <a:xfrm>
            <a:off x="594360"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Cash at bank, 30 Sep</a:t>
            </a:r>
          </a:p>
        </p:txBody>
      </p:sp>
      <p:sp>
        <p:nvSpPr>
          <p:cNvPr id="8" name="TextBox 7"/>
          <p:cNvSpPr txBox="1"/>
          <p:nvPr/>
        </p:nvSpPr>
        <p:spPr>
          <a:xfrm>
            <a:off x="594360"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$120,228</a:t>
            </a:r>
          </a:p>
        </p:txBody>
      </p:sp>
      <p:sp>
        <p:nvSpPr>
          <p:cNvPr id="9" name="TextBox 8"/>
          <p:cNvSpPr txBox="1"/>
          <p:nvPr/>
        </p:nvSpPr>
        <p:spPr>
          <a:xfrm>
            <a:off x="594360"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end of the day</a:t>
            </a:r>
          </a:p>
        </p:txBody>
      </p:sp>
      <p:sp>
        <p:nvSpPr>
          <p:cNvPr id="10" name="Rectangle 9"/>
          <p:cNvSpPr/>
          <p:nvPr/>
        </p:nvSpPr>
        <p:spPr>
          <a:xfrm>
            <a:off x="3333673"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1" name="TextBox 10"/>
          <p:cNvSpPr txBox="1"/>
          <p:nvPr/>
        </p:nvSpPr>
        <p:spPr>
          <a:xfrm>
            <a:off x="3470833"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Paid to employees in October</a:t>
            </a:r>
          </a:p>
        </p:txBody>
      </p:sp>
      <p:sp>
        <p:nvSpPr>
          <p:cNvPr id="12" name="TextBox 11"/>
          <p:cNvSpPr txBox="1"/>
          <p:nvPr/>
        </p:nvSpPr>
        <p:spPr>
          <a:xfrm>
            <a:off x="3470833"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$109,833</a:t>
            </a:r>
          </a:p>
        </p:txBody>
      </p:sp>
      <p:sp>
        <p:nvSpPr>
          <p:cNvPr id="13" name="TextBox 12"/>
          <p:cNvSpPr txBox="1"/>
          <p:nvPr/>
        </p:nvSpPr>
        <p:spPr>
          <a:xfrm>
            <a:off x="3470833"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 fortnightly pay runs, net pay + super</a:t>
            </a:r>
          </a:p>
        </p:txBody>
      </p:sp>
      <p:sp>
        <p:nvSpPr>
          <p:cNvPr id="14" name="Rectangle 13"/>
          <p:cNvSpPr/>
          <p:nvPr/>
        </p:nvSpPr>
        <p:spPr>
          <a:xfrm>
            <a:off x="6210147"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5" name="TextBox 14"/>
          <p:cNvSpPr txBox="1"/>
          <p:nvPr/>
        </p:nvSpPr>
        <p:spPr>
          <a:xfrm>
            <a:off x="6347307"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After the tightest pay run, 29 Oct</a:t>
            </a:r>
          </a:p>
        </p:txBody>
      </p:sp>
      <p:sp>
        <p:nvSpPr>
          <p:cNvPr id="16" name="TextBox 15"/>
          <p:cNvSpPr txBox="1"/>
          <p:nvPr/>
        </p:nvSpPr>
        <p:spPr>
          <a:xfrm>
            <a:off x="6347307"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$69,267</a:t>
            </a:r>
          </a:p>
        </p:txBody>
      </p:sp>
      <p:sp>
        <p:nvSpPr>
          <p:cNvPr id="17" name="TextBox 16"/>
          <p:cNvSpPr txBox="1"/>
          <p:nvPr/>
        </p:nvSpPr>
        <p:spPr>
          <a:xfrm>
            <a:off x="6347307"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buffer: one pay run, $36,611</a:t>
            </a:r>
          </a:p>
        </p:txBody>
      </p:sp>
      <p:sp>
        <p:nvSpPr>
          <p:cNvPr id="18" name="Rectangle 17"/>
          <p:cNvSpPr/>
          <p:nvPr/>
        </p:nvSpPr>
        <p:spPr>
          <a:xfrm>
            <a:off x="9086621" y="1278636"/>
            <a:ext cx="2647873" cy="118872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9" name="TextBox 18"/>
          <p:cNvSpPr txBox="1"/>
          <p:nvPr/>
        </p:nvSpPr>
        <p:spPr>
          <a:xfrm>
            <a:off x="9223781" y="1351788"/>
            <a:ext cx="2373553" cy="384048"/>
          </a:xfrm>
          <a:prstGeom prst="rect">
            <a:avLst/>
          </a:prstGeom>
          <a:noFill/>
        </p:spPr>
        <p:txBody>
          <a:bodyPr wrap="square" lIns="45720" rIns="45720">
            <a:spAutoFit/>
          </a:bodyPr>
          <a:lstStyle/>
          <a:p>
            <a:pPr>
              <a:defRPr>
                <a:latin typeface="Roboto"/>
              </a:defRPr>
            </a:pPr>
            <a:r>
              <a:rPr sz="1100" b="0">
                <a:solidFill>
                  <a:srgbClr val="5F6F63"/>
                </a:solidFill>
                <a:latin typeface="Roboto"/>
              </a:rPr>
              <a:t>Lowest point, next 13 weeks</a:t>
            </a:r>
          </a:p>
        </p:txBody>
      </p:sp>
      <p:sp>
        <p:nvSpPr>
          <p:cNvPr id="20" name="TextBox 19"/>
          <p:cNvSpPr txBox="1"/>
          <p:nvPr/>
        </p:nvSpPr>
        <p:spPr>
          <a:xfrm>
            <a:off x="9223781" y="1717548"/>
            <a:ext cx="2373553" cy="502920"/>
          </a:xfrm>
          <a:prstGeom prst="rect">
            <a:avLst/>
          </a:prstGeom>
          <a:noFill/>
        </p:spPr>
        <p:txBody>
          <a:bodyPr wrap="square" lIns="45720" rIns="45720">
            <a:spAutoFit/>
          </a:bodyPr>
          <a:lstStyle/>
          <a:p>
            <a:pPr>
              <a:defRPr>
                <a:latin typeface="Roboto"/>
              </a:defRPr>
            </a:pPr>
            <a:r>
              <a:rPr sz="2200" b="1">
                <a:solidFill>
                  <a:srgbClr val="2F7A5D"/>
                </a:solidFill>
                <a:latin typeface="Roboto"/>
              </a:rPr>
              <a:t>$41,013</a:t>
            </a:r>
          </a:p>
        </p:txBody>
      </p:sp>
      <p:sp>
        <p:nvSpPr>
          <p:cNvPr id="21" name="TextBox 20"/>
          <p:cNvSpPr txBox="1"/>
          <p:nvPr/>
        </p:nvSpPr>
        <p:spPr>
          <a:xfrm>
            <a:off x="9223781" y="2083308"/>
            <a:ext cx="2373553" cy="329184"/>
          </a:xfrm>
          <a:prstGeom prst="rect">
            <a:avLst/>
          </a:prstGeom>
          <a:noFill/>
        </p:spPr>
        <p:txBody>
          <a:bodyPr wrap="square" lIns="45720" rIns="45720">
            <a:spAutoFit/>
          </a:bodyPr>
          <a:lstStyle/>
          <a:p>
            <a:pPr>
              <a:defRPr>
                <a:latin typeface="Roboto"/>
              </a:defRPr>
            </a:pPr>
            <a:r>
              <a:rPr sz="1000" b="0">
                <a:solidFill>
                  <a:srgbClr val="5F6F63"/>
                </a:solidFill>
                <a:latin typeface="Roboto"/>
              </a:rPr>
              <a:t>30 November</a:t>
            </a:r>
          </a:p>
        </p:txBody>
      </p:sp>
      <p:graphicFrame>
        <p:nvGraphicFramePr>
          <p:cNvPr id="22" name="Chart 21"/>
          <p:cNvGraphicFramePr>
            <a:graphicFrameLocks noGrp="1"/>
          </p:cNvGraphicFramePr>
          <p:nvPr/>
        </p:nvGraphicFramePr>
        <p:xfrm>
          <a:off x="457200" y="2604516"/>
          <a:ext cx="11277295" cy="1921764"/>
        </p:xfrm>
        <a:graphic>
          <a:graphicData uri="http://schemas.openxmlformats.org/drawingml/2006/chart">
            <c:chart xmlns:c="http://schemas.openxmlformats.org/drawingml/2006/chart" r:id="rId3"/>
          </a:graphicData>
        </a:graphic>
      </p:graphicFrame>
      <p:cxnSp>
        <p:nvCxnSpPr>
          <p:cNvPr id="23" name="Connector 22"/>
          <p:cNvCxnSpPr/>
          <p:nvPr/>
        </p:nvCxnSpPr>
        <p:spPr>
          <a:xfrm>
            <a:off x="1697702" y="4012870"/>
            <a:ext cx="9698474" cy="0"/>
          </a:xfrm>
          <a:prstGeom prst="line">
            <a:avLst/>
          </a:prstGeom>
          <a:ln w="19050">
            <a:solidFill>
              <a:srgbClr val="25342A"/>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776" y="3738550"/>
            <a:ext cx="5486400" cy="237744"/>
          </a:xfrm>
          <a:prstGeom prst="rect">
            <a:avLst/>
          </a:prstGeom>
          <a:noFill/>
        </p:spPr>
        <p:txBody>
          <a:bodyPr wrap="square" lIns="45720" rIns="45720">
            <a:spAutoFit/>
          </a:bodyPr>
          <a:lstStyle/>
          <a:p>
            <a:pPr algn="r">
              <a:defRPr>
                <a:latin typeface="Roboto"/>
              </a:defRPr>
            </a:pPr>
            <a:r>
              <a:rPr sz="1000" b="1">
                <a:solidFill>
                  <a:srgbClr val="25342A"/>
                </a:solidFill>
                <a:latin typeface="Roboto"/>
              </a:rPr>
              <a:t>Buffer: one pay run, $36,611</a:t>
            </a:r>
          </a:p>
        </p:txBody>
      </p:sp>
      <p:sp>
        <p:nvSpPr>
          <p:cNvPr id="25" name="Rectangle 24"/>
          <p:cNvSpPr/>
          <p:nvPr/>
        </p:nvSpPr>
        <p:spPr>
          <a:xfrm>
            <a:off x="457200" y="4617720"/>
            <a:ext cx="5501487" cy="169164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6" name="TextBox 25"/>
          <p:cNvSpPr txBox="1"/>
          <p:nvPr/>
        </p:nvSpPr>
        <p:spPr>
          <a:xfrm>
            <a:off x="594360" y="467258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IT SHOWS</a:t>
            </a:r>
          </a:p>
        </p:txBody>
      </p:sp>
      <p:sp>
        <p:nvSpPr>
          <p:cNvPr id="27" name="TextBox 26"/>
          <p:cNvSpPr txBox="1"/>
          <p:nvPr/>
        </p:nvSpPr>
        <p:spPr>
          <a:xfrm>
            <a:off x="594360" y="4946904"/>
            <a:ext cx="5227167" cy="1325880"/>
          </a:xfrm>
          <a:prstGeom prst="rect">
            <a:avLst/>
          </a:prstGeom>
          <a:noFill/>
        </p:spPr>
        <p:txBody>
          <a:bodyPr wrap="square" lIns="45720" rIns="45720">
            <a:spAutoFit/>
          </a:bodyPr>
          <a:lstStyle/>
          <a:p>
            <a:pPr>
              <a:defRPr>
                <a:latin typeface="Roboto"/>
              </a:defRPr>
            </a:pPr>
            <a:r>
              <a:rPr sz="1200" b="0">
                <a:solidFill>
                  <a:srgbClr val="25342A"/>
                </a:solidFill>
                <a:latin typeface="Roboto"/>
              </a:rPr>
              <a:t>Cash at bank was $120,228 at 30 September. October has 3 pay runs ($109,833). The tightest is 29 October: $69,267 left after paying wages, $32,656 more than a pay run in reserve. The lowest point in the 13 weeks is $41,013 on 30 November.</a:t>
            </a:r>
          </a:p>
        </p:txBody>
      </p:sp>
      <p:sp>
        <p:nvSpPr>
          <p:cNvPr id="28" name="Rectangle 27"/>
          <p:cNvSpPr/>
          <p:nvPr/>
        </p:nvSpPr>
        <p:spPr>
          <a:xfrm>
            <a:off x="6233007" y="4617720"/>
            <a:ext cx="5501487" cy="169164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29" name="TextBox 28"/>
          <p:cNvSpPr txBox="1"/>
          <p:nvPr/>
        </p:nvSpPr>
        <p:spPr>
          <a:xfrm>
            <a:off x="6370167" y="4672584"/>
            <a:ext cx="5227167" cy="274320"/>
          </a:xfrm>
          <a:prstGeom prst="rect">
            <a:avLst/>
          </a:prstGeom>
          <a:noFill/>
        </p:spPr>
        <p:txBody>
          <a:bodyPr wrap="square" lIns="45720" rIns="45720">
            <a:spAutoFit/>
          </a:bodyPr>
          <a:lstStyle/>
          <a:p>
            <a:pPr>
              <a:defRPr>
                <a:latin typeface="Roboto"/>
              </a:defRPr>
            </a:pPr>
            <a:r>
              <a:rPr sz="1000" b="1">
                <a:solidFill>
                  <a:srgbClr val="5F6F63"/>
                </a:solidFill>
                <a:latin typeface="Roboto"/>
              </a:rPr>
              <a:t>WHAT YOU'D DO ABOUT IT</a:t>
            </a:r>
          </a:p>
        </p:txBody>
      </p:sp>
      <p:sp>
        <p:nvSpPr>
          <p:cNvPr id="30" name="TextBox 29"/>
          <p:cNvSpPr txBox="1"/>
          <p:nvPr/>
        </p:nvSpPr>
        <p:spPr>
          <a:xfrm>
            <a:off x="6370167" y="4946904"/>
            <a:ext cx="5227167" cy="1325880"/>
          </a:xfrm>
          <a:prstGeom prst="rect">
            <a:avLst/>
          </a:prstGeom>
          <a:noFill/>
        </p:spPr>
        <p:txBody>
          <a:bodyPr wrap="square" lIns="45720" rIns="45720">
            <a:spAutoFit/>
          </a:bodyPr>
          <a:lstStyle/>
          <a:p>
            <a:pPr>
              <a:defRPr>
                <a:latin typeface="Roboto"/>
              </a:defRPr>
            </a:pPr>
            <a:r>
              <a:rPr sz="1200" b="0">
                <a:solidFill>
                  <a:srgbClr val="25342A"/>
                </a:solidFill>
                <a:latin typeface="Roboto"/>
              </a:rPr>
              <a:t>15 invoices ($8,734) are already past the customer's usual payment date; the forecast assumes they arrive within a week. Without them, the lowest point would be $32,279. October is one of the two months a year with three pay runs: $36,611 more than a usual month. The July to September BAS ($86,253) is due 28 October: GST $32,817, PAYG withheld $47,754 and the PAYG instalment $5,682.</a:t>
            </a:r>
          </a:p>
        </p:txBody>
      </p:sp>
      <p:sp>
        <p:nvSpPr>
          <p:cNvPr id="31" name="TextBox 30"/>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32" name="TextBox 31"/>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33" name="TextBox 32"/>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2 of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October: where the cash comes from and goes (forecast)</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Money in, and money out in brackets. Includes GST.</a:t>
            </a:r>
          </a:p>
        </p:txBody>
      </p:sp>
      <p:graphicFrame>
        <p:nvGraphicFramePr>
          <p:cNvPr id="6" name="Chart 5"/>
          <p:cNvGraphicFramePr>
            <a:graphicFrameLocks noGrp="1"/>
          </p:cNvGraphicFramePr>
          <p:nvPr/>
        </p:nvGraphicFramePr>
        <p:xfrm>
          <a:off x="457200" y="1278636"/>
          <a:ext cx="11277295" cy="4527804"/>
        </p:xfrm>
        <a:graphic>
          <a:graphicData uri="http://schemas.openxmlformats.org/drawingml/2006/chart">
            <c:chart xmlns:c="http://schemas.openxmlformats.org/drawingml/2006/chart" r:id="rId3"/>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3 of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475488"/>
          </a:xfrm>
        </p:spPr>
        <p:txBody>
          <a:bodyPr wrap="square" lIns="45720" rIns="45720" tIns="0" bIns="0" anchor="t"/>
          <a:lstStyle/>
          <a:p>
            <a:pPr algn="l">
              <a:defRPr>
                <a:latin typeface="Roboto"/>
              </a:defRPr>
            </a:pPr>
            <a:r>
              <a:rPr sz="2400" b="1">
                <a:solidFill>
                  <a:srgbClr val="25342A"/>
                </a:solidFill>
                <a:latin typeface="Roboto"/>
              </a:rPr>
              <a:t>13 weeks, week by week</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sp>
        <p:nvSpPr>
          <p:cNvPr id="5" name="TextBox 4"/>
          <p:cNvSpPr txBox="1"/>
          <p:nvPr/>
        </p:nvSpPr>
        <p:spPr>
          <a:xfrm>
            <a:off x="457200" y="914400"/>
            <a:ext cx="11277295" cy="263652"/>
          </a:xfrm>
          <a:prstGeom prst="rect">
            <a:avLst/>
          </a:prstGeom>
          <a:noFill/>
        </p:spPr>
        <p:txBody>
          <a:bodyPr wrap="square" lIns="45720" rIns="45720">
            <a:spAutoFit/>
          </a:bodyPr>
          <a:lstStyle/>
          <a:p>
            <a:pPr>
              <a:defRPr>
                <a:latin typeface="Roboto"/>
              </a:defRPr>
            </a:pPr>
            <a:r>
              <a:rPr sz="1200" b="0">
                <a:solidFill>
                  <a:srgbClr val="5F6F63"/>
                </a:solidFill>
                <a:latin typeface="Roboto"/>
              </a:rPr>
              <a:t>Lowest in the week: amber below one pay run ($36,611), red below zero. Amounts include GST.</a:t>
            </a:r>
          </a:p>
        </p:txBody>
      </p:sp>
      <p:graphicFrame>
        <p:nvGraphicFramePr>
          <p:cNvPr id="6" name="Table 5"/>
          <p:cNvGraphicFramePr>
            <a:graphicFrameLocks noGrp="1"/>
          </p:cNvGraphicFramePr>
          <p:nvPr/>
        </p:nvGraphicFramePr>
        <p:xfrm>
          <a:off x="457200" y="1278636"/>
          <a:ext cx="11277295" cy="4352544"/>
        </p:xfrm>
        <a:graphic>
          <a:graphicData uri="http://schemas.openxmlformats.org/drawingml/2006/table">
            <a:tbl>
              <a:tblPr firstRow="1" bandRow="1">
                <a:tableStyleId>{5C22544A-7EE6-4342-B048-85BDC9FD1C3A}</a:tableStyleId>
              </a:tblPr>
              <a:tblGrid>
                <a:gridCol w="1127729"/>
                <a:gridCol w="1127729"/>
                <a:gridCol w="1127729"/>
                <a:gridCol w="1127729"/>
                <a:gridCol w="1127729"/>
                <a:gridCol w="1127729"/>
                <a:gridCol w="1127729"/>
                <a:gridCol w="1127729"/>
                <a:gridCol w="1127729"/>
                <a:gridCol w="1127734"/>
              </a:tblGrid>
              <a:tr h="310896">
                <a:tc>
                  <a:txBody>
                    <a:bodyPr/>
                    <a:lstStyle/>
                    <a:p>
                      <a:pPr algn="l">
                        <a:defRPr>
                          <a:latin typeface="Roboto"/>
                        </a:defRPr>
                      </a:pPr>
                      <a:r>
                        <a:rPr sz="1100" b="1">
                          <a:solidFill>
                            <a:srgbClr val="FFFFFF"/>
                          </a:solidFill>
                          <a:latin typeface="Roboto"/>
                        </a:rPr>
                        <a:t>Week ending</a:t>
                      </a:r>
                    </a:p>
                  </a:txBody>
                  <a:tcPr>
                    <a:solidFill>
                      <a:srgbClr val="2F7A5D"/>
                    </a:solidFill>
                  </a:tcPr>
                </a:tc>
                <a:tc>
                  <a:txBody>
                    <a:bodyPr/>
                    <a:lstStyle/>
                    <a:p>
                      <a:pPr algn="r">
                        <a:defRPr>
                          <a:latin typeface="Roboto"/>
                        </a:defRPr>
                      </a:pPr>
                      <a:r>
                        <a:rPr sz="1100" b="1">
                          <a:solidFill>
                            <a:srgbClr val="FFFFFF"/>
                          </a:solidFill>
                          <a:latin typeface="Roboto"/>
                        </a:rPr>
                        <a:t>Cash at start</a:t>
                      </a:r>
                    </a:p>
                  </a:txBody>
                  <a:tcPr>
                    <a:solidFill>
                      <a:srgbClr val="2F7A5D"/>
                    </a:solidFill>
                  </a:tcPr>
                </a:tc>
                <a:tc>
                  <a:txBody>
                    <a:bodyPr/>
                    <a:lstStyle/>
                    <a:p>
                      <a:pPr algn="r">
                        <a:defRPr>
                          <a:latin typeface="Roboto"/>
                        </a:defRPr>
                      </a:pPr>
                      <a:r>
                        <a:rPr sz="1100" b="1">
                          <a:solidFill>
                            <a:srgbClr val="FFFFFF"/>
                          </a:solidFill>
                          <a:latin typeface="Roboto"/>
                        </a:rPr>
                        <a:t>Unpaid invoices collected</a:t>
                      </a:r>
                    </a:p>
                  </a:txBody>
                  <a:tcPr>
                    <a:solidFill>
                      <a:srgbClr val="2F7A5D"/>
                    </a:solidFill>
                  </a:tcPr>
                </a:tc>
                <a:tc>
                  <a:txBody>
                    <a:bodyPr/>
                    <a:lstStyle/>
                    <a:p>
                      <a:pPr algn="r">
                        <a:defRPr>
                          <a:latin typeface="Roboto"/>
                        </a:defRPr>
                      </a:pPr>
                      <a:r>
                        <a:rPr sz="1100" b="1">
                          <a:solidFill>
                            <a:srgbClr val="FFFFFF"/>
                          </a:solidFill>
                          <a:latin typeface="Roboto"/>
                        </a:rPr>
                        <a:t>New work collected</a:t>
                      </a:r>
                    </a:p>
                  </a:txBody>
                  <a:tcPr>
                    <a:solidFill>
                      <a:srgbClr val="2F7A5D"/>
                    </a:solidFill>
                  </a:tcPr>
                </a:tc>
                <a:tc>
                  <a:txBody>
                    <a:bodyPr/>
                    <a:lstStyle/>
                    <a:p>
                      <a:pPr algn="r">
                        <a:defRPr>
                          <a:latin typeface="Roboto"/>
                        </a:defRPr>
                      </a:pPr>
                      <a:r>
                        <a:rPr sz="1100" b="1">
                          <a:solidFill>
                            <a:srgbClr val="FFFFFF"/>
                          </a:solidFill>
                          <a:latin typeface="Roboto"/>
                        </a:rPr>
                        <a:t>Pay runs</a:t>
                      </a:r>
                    </a:p>
                  </a:txBody>
                  <a:tcPr>
                    <a:solidFill>
                      <a:srgbClr val="2F7A5D"/>
                    </a:solidFill>
                  </a:tcPr>
                </a:tc>
                <a:tc>
                  <a:txBody>
                    <a:bodyPr/>
                    <a:lstStyle/>
                    <a:p>
                      <a:pPr algn="r">
                        <a:defRPr>
                          <a:latin typeface="Roboto"/>
                        </a:defRPr>
                      </a:pPr>
                      <a:r>
                        <a:rPr sz="1100" b="1">
                          <a:solidFill>
                            <a:srgbClr val="FFFFFF"/>
                          </a:solidFill>
                          <a:latin typeface="Roboto"/>
                        </a:rPr>
                        <a:t>Suppliers and overheads</a:t>
                      </a:r>
                    </a:p>
                  </a:txBody>
                  <a:tcPr>
                    <a:solidFill>
                      <a:srgbClr val="2F7A5D"/>
                    </a:solidFill>
                  </a:tcPr>
                </a:tc>
                <a:tc>
                  <a:txBody>
                    <a:bodyPr/>
                    <a:lstStyle/>
                    <a:p>
                      <a:pPr algn="r">
                        <a:defRPr>
                          <a:latin typeface="Roboto"/>
                        </a:defRPr>
                      </a:pPr>
                      <a:r>
                        <a:rPr sz="1100" b="1">
                          <a:solidFill>
                            <a:srgbClr val="FFFFFF"/>
                          </a:solidFill>
                          <a:latin typeface="Roboto"/>
                        </a:rPr>
                        <a:t>BAS (GST and PAYG)</a:t>
                      </a:r>
                    </a:p>
                  </a:txBody>
                  <a:tcPr>
                    <a:solidFill>
                      <a:srgbClr val="2F7A5D"/>
                    </a:solidFill>
                  </a:tcPr>
                </a:tc>
                <a:tc>
                  <a:txBody>
                    <a:bodyPr/>
                    <a:lstStyle/>
                    <a:p>
                      <a:pPr algn="r">
                        <a:defRPr>
                          <a:latin typeface="Roboto"/>
                        </a:defRPr>
                      </a:pPr>
                      <a:r>
                        <a:rPr sz="1100" b="1">
                          <a:solidFill>
                            <a:srgbClr val="FFFFFF"/>
                          </a:solidFill>
                          <a:latin typeface="Roboto"/>
                        </a:rPr>
                        <a:t>Interest and finance</a:t>
                      </a:r>
                    </a:p>
                  </a:txBody>
                  <a:tcPr>
                    <a:solidFill>
                      <a:srgbClr val="2F7A5D"/>
                    </a:solidFill>
                  </a:tcPr>
                </a:tc>
                <a:tc>
                  <a:txBody>
                    <a:bodyPr/>
                    <a:lstStyle/>
                    <a:p>
                      <a:pPr algn="r">
                        <a:defRPr>
                          <a:latin typeface="Roboto"/>
                        </a:defRPr>
                      </a:pPr>
                      <a:r>
                        <a:rPr sz="1100" b="1">
                          <a:solidFill>
                            <a:srgbClr val="FFFFFF"/>
                          </a:solidFill>
                          <a:latin typeface="Roboto"/>
                        </a:rPr>
                        <a:t>Cash at end</a:t>
                      </a:r>
                    </a:p>
                  </a:txBody>
                  <a:tcPr>
                    <a:solidFill>
                      <a:srgbClr val="2F7A5D"/>
                    </a:solidFill>
                  </a:tcPr>
                </a:tc>
                <a:tc>
                  <a:txBody>
                    <a:bodyPr/>
                    <a:lstStyle/>
                    <a:p>
                      <a:pPr algn="r">
                        <a:defRPr>
                          <a:latin typeface="Roboto"/>
                        </a:defRPr>
                      </a:pPr>
                      <a:r>
                        <a:rPr sz="1100" b="1">
                          <a:solidFill>
                            <a:srgbClr val="FFFFFF"/>
                          </a:solidFill>
                          <a:latin typeface="Roboto"/>
                        </a:rPr>
                        <a:t>Lowest in the week</a:t>
                      </a:r>
                    </a:p>
                  </a:txBody>
                  <a:tcPr>
                    <a:solidFill>
                      <a:srgbClr val="2F7A5D"/>
                    </a:solidFill>
                  </a:tcPr>
                </a:tc>
              </a:tr>
              <a:tr h="310896">
                <a:tc>
                  <a:txBody>
                    <a:bodyPr/>
                    <a:lstStyle/>
                    <a:p>
                      <a:pPr algn="l">
                        <a:defRPr>
                          <a:latin typeface="Roboto"/>
                        </a:defRPr>
                      </a:pPr>
                      <a:r>
                        <a:rPr sz="1050">
                          <a:solidFill>
                            <a:srgbClr val="25342A"/>
                          </a:solidFill>
                          <a:latin typeface="Roboto"/>
                        </a:rPr>
                        <a:t>7 Oct</a:t>
                      </a:r>
                    </a:p>
                  </a:txBody>
                  <a:tcPr>
                    <a:solidFill>
                      <a:srgbClr val="FFFFFF"/>
                    </a:solidFill>
                  </a:tcPr>
                </a:tc>
                <a:tc>
                  <a:txBody>
                    <a:bodyPr/>
                    <a:lstStyle/>
                    <a:p>
                      <a:pPr algn="r">
                        <a:defRPr>
                          <a:latin typeface="Roboto"/>
                        </a:defRPr>
                      </a:pPr>
                      <a:r>
                        <a:rPr sz="1050">
                          <a:solidFill>
                            <a:srgbClr val="25342A"/>
                          </a:solidFill>
                          <a:latin typeface="Roboto"/>
                        </a:rPr>
                        <a:t>$120,228</a:t>
                      </a:r>
                    </a:p>
                  </a:txBody>
                  <a:tcPr>
                    <a:solidFill>
                      <a:srgbClr val="FFFFFF"/>
                    </a:solidFill>
                  </a:tcPr>
                </a:tc>
                <a:tc>
                  <a:txBody>
                    <a:bodyPr/>
                    <a:lstStyle/>
                    <a:p>
                      <a:pPr algn="r">
                        <a:defRPr>
                          <a:latin typeface="Roboto"/>
                        </a:defRPr>
                      </a:pPr>
                      <a:r>
                        <a:rPr sz="1050">
                          <a:solidFill>
                            <a:srgbClr val="25342A"/>
                          </a:solidFill>
                          <a:latin typeface="Roboto"/>
                        </a:rPr>
                        <a:t>$116,158</a:t>
                      </a:r>
                    </a:p>
                  </a:txBody>
                  <a:tcPr>
                    <a:solidFill>
                      <a:srgbClr val="FFFFFF"/>
                    </a:solidFill>
                  </a:tcPr>
                </a:tc>
                <a:tc>
                  <a:txBody>
                    <a:bodyPr/>
                    <a:lstStyle/>
                    <a:p>
                      <a:pPr algn="r">
                        <a:defRPr>
                          <a:latin typeface="Roboto"/>
                        </a:defRPr>
                      </a:pPr>
                      <a:r>
                        <a:rPr sz="1050">
                          <a:solidFill>
                            <a:srgbClr val="25342A"/>
                          </a:solidFill>
                          <a:latin typeface="Roboto"/>
                        </a:rPr>
                        <a:t>$3,129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$202,904</a:t>
                      </a:r>
                    </a:p>
                  </a:txBody>
                  <a:tcPr>
                    <a:solidFill>
                      <a:srgbClr val="FFFFFF"/>
                    </a:solidFill>
                  </a:tcPr>
                </a:tc>
                <a:tc>
                  <a:txBody>
                    <a:bodyPr/>
                    <a:lstStyle/>
                    <a:p>
                      <a:pPr algn="r">
                        <a:defRPr>
                          <a:latin typeface="Roboto"/>
                        </a:defRPr>
                      </a:pPr>
                      <a:r>
                        <a:rPr sz="1050">
                          <a:solidFill>
                            <a:srgbClr val="25342A"/>
                          </a:solidFill>
                          <a:latin typeface="Roboto"/>
                        </a:rPr>
                        <a:t>$132,057</a:t>
                      </a:r>
                    </a:p>
                  </a:txBody>
                  <a:tcPr>
                    <a:solidFill>
                      <a:srgbClr val="FFFFFF"/>
                    </a:solidFill>
                  </a:tcPr>
                </a:tc>
              </a:tr>
              <a:tr h="310896">
                <a:tc>
                  <a:txBody>
                    <a:bodyPr/>
                    <a:lstStyle/>
                    <a:p>
                      <a:pPr algn="l">
                        <a:defRPr>
                          <a:latin typeface="Roboto"/>
                        </a:defRPr>
                      </a:pPr>
                      <a:r>
                        <a:rPr sz="1050">
                          <a:solidFill>
                            <a:srgbClr val="25342A"/>
                          </a:solidFill>
                          <a:latin typeface="Roboto"/>
                        </a:rPr>
                        <a:t>14 Oct</a:t>
                      </a:r>
                    </a:p>
                  </a:txBody>
                  <a:tcPr>
                    <a:solidFill>
                      <a:srgbClr val="F7FAF7"/>
                    </a:solidFill>
                  </a:tcPr>
                </a:tc>
                <a:tc>
                  <a:txBody>
                    <a:bodyPr/>
                    <a:lstStyle/>
                    <a:p>
                      <a:pPr algn="r">
                        <a:defRPr>
                          <a:latin typeface="Roboto"/>
                        </a:defRPr>
                      </a:pPr>
                      <a:r>
                        <a:rPr sz="1050">
                          <a:solidFill>
                            <a:srgbClr val="25342A"/>
                          </a:solidFill>
                          <a:latin typeface="Roboto"/>
                        </a:rPr>
                        <a:t>$202,904</a:t>
                      </a:r>
                    </a:p>
                  </a:txBody>
                  <a:tcPr>
                    <a:solidFill>
                      <a:srgbClr val="F7FAF7"/>
                    </a:solidFill>
                  </a:tcPr>
                </a:tc>
                <a:tc>
                  <a:txBody>
                    <a:bodyPr/>
                    <a:lstStyle/>
                    <a:p>
                      <a:pPr algn="r">
                        <a:defRPr>
                          <a:latin typeface="Roboto"/>
                        </a:defRPr>
                      </a:pPr>
                      <a:r>
                        <a:rPr sz="1050">
                          <a:solidFill>
                            <a:srgbClr val="25342A"/>
                          </a:solidFill>
                          <a:latin typeface="Roboto"/>
                        </a:rPr>
                        <a:t>$22,880</a:t>
                      </a:r>
                    </a:p>
                  </a:txBody>
                  <a:tcPr>
                    <a:solidFill>
                      <a:srgbClr val="F7FAF7"/>
                    </a:solidFill>
                  </a:tcPr>
                </a:tc>
                <a:tc>
                  <a:txBody>
                    <a:bodyPr/>
                    <a:lstStyle/>
                    <a:p>
                      <a:pPr algn="r">
                        <a:defRPr>
                          <a:latin typeface="Roboto"/>
                        </a:defRPr>
                      </a:pPr>
                      <a:r>
                        <a:rPr sz="1050">
                          <a:solidFill>
                            <a:srgbClr val="25342A"/>
                          </a:solidFill>
                          <a:latin typeface="Roboto"/>
                        </a:rPr>
                        <a:t>$6,259</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$232,043</a:t>
                      </a:r>
                    </a:p>
                  </a:txBody>
                  <a:tcPr>
                    <a:solidFill>
                      <a:srgbClr val="F7FAF7"/>
                    </a:solidFill>
                  </a:tcPr>
                </a:tc>
                <a:tc>
                  <a:txBody>
                    <a:bodyPr/>
                    <a:lstStyle/>
                    <a:p>
                      <a:pPr algn="r">
                        <a:defRPr>
                          <a:latin typeface="Roboto"/>
                        </a:defRPr>
                      </a:pPr>
                      <a:r>
                        <a:rPr sz="1050">
                          <a:solidFill>
                            <a:srgbClr val="25342A"/>
                          </a:solidFill>
                          <a:latin typeface="Roboto"/>
                        </a:rPr>
                        <a:t>$202,904</a:t>
                      </a:r>
                    </a:p>
                  </a:txBody>
                  <a:tcPr>
                    <a:solidFill>
                      <a:srgbClr val="F7FAF7"/>
                    </a:solidFill>
                  </a:tcPr>
                </a:tc>
              </a:tr>
              <a:tr h="310896">
                <a:tc>
                  <a:txBody>
                    <a:bodyPr/>
                    <a:lstStyle/>
                    <a:p>
                      <a:pPr algn="l">
                        <a:defRPr>
                          <a:latin typeface="Roboto"/>
                        </a:defRPr>
                      </a:pPr>
                      <a:r>
                        <a:rPr sz="1050">
                          <a:solidFill>
                            <a:srgbClr val="25342A"/>
                          </a:solidFill>
                          <a:latin typeface="Roboto"/>
                        </a:rPr>
                        <a:t>21 Oct</a:t>
                      </a:r>
                    </a:p>
                  </a:txBody>
                  <a:tcPr>
                    <a:solidFill>
                      <a:srgbClr val="FFFFFF"/>
                    </a:solidFill>
                  </a:tcPr>
                </a:tc>
                <a:tc>
                  <a:txBody>
                    <a:bodyPr/>
                    <a:lstStyle/>
                    <a:p>
                      <a:pPr algn="r">
                        <a:defRPr>
                          <a:latin typeface="Roboto"/>
                        </a:defRPr>
                      </a:pPr>
                      <a:r>
                        <a:rPr sz="1050">
                          <a:solidFill>
                            <a:srgbClr val="25342A"/>
                          </a:solidFill>
                          <a:latin typeface="Roboto"/>
                        </a:rPr>
                        <a:t>$232,043</a:t>
                      </a:r>
                    </a:p>
                  </a:txBody>
                  <a:tcPr>
                    <a:solidFill>
                      <a:srgbClr val="FFFFFF"/>
                    </a:solidFill>
                  </a:tcPr>
                </a:tc>
                <a:tc>
                  <a:txBody>
                    <a:bodyPr/>
                    <a:lstStyle/>
                    <a:p>
                      <a:pPr algn="r">
                        <a:defRPr>
                          <a:latin typeface="Roboto"/>
                        </a:defRPr>
                      </a:pPr>
                      <a:r>
                        <a:rPr sz="1050">
                          <a:solidFill>
                            <a:srgbClr val="25342A"/>
                          </a:solidFill>
                          <a:latin typeface="Roboto"/>
                        </a:rPr>
                        <a:t>$15,840</a:t>
                      </a:r>
                    </a:p>
                  </a:txBody>
                  <a:tcPr>
                    <a:solidFill>
                      <a:srgbClr val="FFFFFF"/>
                    </a:solidFill>
                  </a:tcPr>
                </a:tc>
                <a:tc>
                  <a:txBody>
                    <a:bodyPr/>
                    <a:lstStyle/>
                    <a:p>
                      <a:pPr algn="r">
                        <a:defRPr>
                          <a:latin typeface="Roboto"/>
                        </a:defRPr>
                      </a:pPr>
                      <a:r>
                        <a:rPr sz="1050">
                          <a:solidFill>
                            <a:srgbClr val="25342A"/>
                          </a:solidFill>
                          <a:latin typeface="Roboto"/>
                        </a:rPr>
                        <a:t>$7,824</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$158,508</a:t>
                      </a:r>
                    </a:p>
                  </a:txBody>
                  <a:tcPr>
                    <a:solidFill>
                      <a:srgbClr val="FFFFFF"/>
                    </a:solidFill>
                  </a:tcPr>
                </a:tc>
                <a:tc>
                  <a:txBody>
                    <a:bodyPr/>
                    <a:lstStyle/>
                    <a:p>
                      <a:pPr algn="r">
                        <a:defRPr>
                          <a:latin typeface="Roboto"/>
                        </a:defRPr>
                      </a:pPr>
                      <a:r>
                        <a:rPr sz="1050">
                          <a:solidFill>
                            <a:srgbClr val="25342A"/>
                          </a:solidFill>
                          <a:latin typeface="Roboto"/>
                        </a:rPr>
                        <a:t>$134,844</a:t>
                      </a:r>
                    </a:p>
                  </a:txBody>
                  <a:tcPr>
                    <a:solidFill>
                      <a:srgbClr val="FFFFFF"/>
                    </a:solidFill>
                  </a:tcPr>
                </a:tc>
              </a:tr>
              <a:tr h="310896">
                <a:tc>
                  <a:txBody>
                    <a:bodyPr/>
                    <a:lstStyle/>
                    <a:p>
                      <a:pPr algn="l">
                        <a:defRPr>
                          <a:latin typeface="Roboto"/>
                        </a:defRPr>
                      </a:pPr>
                      <a:r>
                        <a:rPr sz="1050">
                          <a:solidFill>
                            <a:srgbClr val="25342A"/>
                          </a:solidFill>
                          <a:latin typeface="Roboto"/>
                        </a:rPr>
                        <a:t>28 Oct</a:t>
                      </a:r>
                    </a:p>
                  </a:txBody>
                  <a:tcPr>
                    <a:solidFill>
                      <a:srgbClr val="F7FAF7"/>
                    </a:solidFill>
                  </a:tcPr>
                </a:tc>
                <a:tc>
                  <a:txBody>
                    <a:bodyPr/>
                    <a:lstStyle/>
                    <a:p>
                      <a:pPr algn="r">
                        <a:defRPr>
                          <a:latin typeface="Roboto"/>
                        </a:defRPr>
                      </a:pPr>
                      <a:r>
                        <a:rPr sz="1050">
                          <a:solidFill>
                            <a:srgbClr val="25342A"/>
                          </a:solidFill>
                          <a:latin typeface="Roboto"/>
                        </a:rPr>
                        <a:t>$158,508</a:t>
                      </a:r>
                    </a:p>
                  </a:txBody>
                  <a:tcPr>
                    <a:solidFill>
                      <a:srgbClr val="F7FAF7"/>
                    </a:solidFill>
                  </a:tcPr>
                </a:tc>
                <a:tc>
                  <a:txBody>
                    <a:bodyPr/>
                    <a:lstStyle/>
                    <a:p>
                      <a:pPr algn="r">
                        <a:defRPr>
                          <a:latin typeface="Roboto"/>
                        </a:defRPr>
                      </a:pPr>
                      <a:r>
                        <a:rPr sz="1050">
                          <a:solidFill>
                            <a:srgbClr val="25342A"/>
                          </a:solidFill>
                          <a:latin typeface="Roboto"/>
                        </a:rPr>
                        <a:t>$12,100</a:t>
                      </a:r>
                    </a:p>
                  </a:txBody>
                  <a:tcPr>
                    <a:solidFill>
                      <a:srgbClr val="F7FAF7"/>
                    </a:solidFill>
                  </a:tcPr>
                </a:tc>
                <a:tc>
                  <a:txBody>
                    <a:bodyPr/>
                    <a:lstStyle/>
                    <a:p>
                      <a:pPr algn="r">
                        <a:defRPr>
                          <a:latin typeface="Roboto"/>
                        </a:defRPr>
                      </a:pPr>
                      <a:r>
                        <a:rPr sz="1050">
                          <a:solidFill>
                            <a:srgbClr val="25342A"/>
                          </a:solidFill>
                          <a:latin typeface="Roboto"/>
                        </a:rPr>
                        <a:t>$7,823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B42318"/>
                          </a:solidFill>
                          <a:latin typeface="Roboto"/>
                        </a:rPr>
                        <a:t>($86,253)</a:t>
                      </a:r>
                    </a:p>
                  </a:txBody>
                  <a:tcPr>
                    <a:solidFill>
                      <a:srgbClr val="F7FAF7"/>
                    </a:solidFill>
                  </a:tcPr>
                </a:tc>
                <a:tc>
                  <a:txBody>
                    <a:bodyPr/>
                    <a:lstStyle/>
                    <a:p>
                      <a:pPr algn="r">
                        <a:defRPr>
                          <a:latin typeface="Roboto"/>
                        </a:defRPr>
                      </a:pPr>
                      <a:r>
                        <a:rPr sz="1050">
                          <a:solidFill>
                            <a:srgbClr val="B42318"/>
                          </a:solidFill>
                          <a:latin typeface="Roboto"/>
                        </a:rPr>
                        <a:t>($5,000)</a:t>
                      </a:r>
                    </a:p>
                  </a:txBody>
                  <a:tcPr>
                    <a:solidFill>
                      <a:srgbClr val="F7FAF7"/>
                    </a:solidFill>
                  </a:tcPr>
                </a:tc>
                <a:tc>
                  <a:txBody>
                    <a:bodyPr/>
                    <a:lstStyle/>
                    <a:p>
                      <a:pPr algn="r">
                        <a:defRPr>
                          <a:latin typeface="Roboto"/>
                        </a:defRPr>
                      </a:pPr>
                      <a:r>
                        <a:rPr sz="1050">
                          <a:solidFill>
                            <a:srgbClr val="25342A"/>
                          </a:solidFill>
                          <a:latin typeface="Roboto"/>
                        </a:rPr>
                        <a:t>$87,178</a:t>
                      </a:r>
                    </a:p>
                  </a:txBody>
                  <a:tcPr>
                    <a:solidFill>
                      <a:srgbClr val="F7FAF7"/>
                    </a:solidFill>
                  </a:tcPr>
                </a:tc>
                <a:tc>
                  <a:txBody>
                    <a:bodyPr/>
                    <a:lstStyle/>
                    <a:p>
                      <a:pPr algn="r">
                        <a:defRPr>
                          <a:latin typeface="Roboto"/>
                        </a:defRPr>
                      </a:pPr>
                      <a:r>
                        <a:rPr sz="1050">
                          <a:solidFill>
                            <a:srgbClr val="25342A"/>
                          </a:solidFill>
                          <a:latin typeface="Roboto"/>
                        </a:rPr>
                        <a:t>$87,178</a:t>
                      </a:r>
                    </a:p>
                  </a:txBody>
                  <a:tcPr>
                    <a:solidFill>
                      <a:srgbClr val="F7FAF7"/>
                    </a:solidFill>
                  </a:tcPr>
                </a:tc>
              </a:tr>
              <a:tr h="310896">
                <a:tc>
                  <a:txBody>
                    <a:bodyPr/>
                    <a:lstStyle/>
                    <a:p>
                      <a:pPr algn="l">
                        <a:defRPr>
                          <a:latin typeface="Roboto"/>
                        </a:defRPr>
                      </a:pPr>
                      <a:r>
                        <a:rPr sz="1050">
                          <a:solidFill>
                            <a:srgbClr val="25342A"/>
                          </a:solidFill>
                          <a:latin typeface="Roboto"/>
                        </a:rPr>
                        <a:t>4 Nov</a:t>
                      </a:r>
                    </a:p>
                  </a:txBody>
                  <a:tcPr>
                    <a:solidFill>
                      <a:srgbClr val="FFFFFF"/>
                    </a:solidFill>
                  </a:tcPr>
                </a:tc>
                <a:tc>
                  <a:txBody>
                    <a:bodyPr/>
                    <a:lstStyle/>
                    <a:p>
                      <a:pPr algn="r">
                        <a:defRPr>
                          <a:latin typeface="Roboto"/>
                        </a:defRPr>
                      </a:pPr>
                      <a:r>
                        <a:rPr sz="1050">
                          <a:solidFill>
                            <a:srgbClr val="25342A"/>
                          </a:solidFill>
                          <a:latin typeface="Roboto"/>
                        </a:rPr>
                        <a:t>$87,178</a:t>
                      </a:r>
                    </a:p>
                  </a:txBody>
                  <a:tcPr>
                    <a:solidFill>
                      <a:srgbClr val="FFFFFF"/>
                    </a:solidFill>
                  </a:tcPr>
                </a:tc>
                <a:tc>
                  <a:txBody>
                    <a:bodyPr/>
                    <a:lstStyle/>
                    <a:p>
                      <a:pPr algn="r">
                        <a:defRPr>
                          <a:latin typeface="Roboto"/>
                        </a:defRPr>
                      </a:pPr>
                      <a:r>
                        <a:rPr sz="1050">
                          <a:solidFill>
                            <a:srgbClr val="25342A"/>
                          </a:solidFill>
                          <a:latin typeface="Roboto"/>
                        </a:rPr>
                        <a:t>$18,700</a:t>
                      </a:r>
                    </a:p>
                  </a:txBody>
                  <a:tcPr>
                    <a:solidFill>
                      <a:srgbClr val="FFFFFF"/>
                    </a:solidFill>
                  </a:tcPr>
                </a:tc>
                <a:tc>
                  <a:txBody>
                    <a:bodyPr/>
                    <a:lstStyle/>
                    <a:p>
                      <a:pPr algn="r">
                        <a:defRPr>
                          <a:latin typeface="Roboto"/>
                        </a:defRPr>
                      </a:pPr>
                      <a:r>
                        <a:rPr sz="1050">
                          <a:solidFill>
                            <a:srgbClr val="25342A"/>
                          </a:solidFill>
                          <a:latin typeface="Roboto"/>
                        </a:rPr>
                        <a:t>$71,657</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($1,080)</a:t>
                      </a:r>
                    </a:p>
                  </a:txBody>
                  <a:tcPr>
                    <a:solidFill>
                      <a:srgbClr val="FFFFFF"/>
                    </a:solidFill>
                  </a:tcPr>
                </a:tc>
                <a:tc>
                  <a:txBody>
                    <a:bodyPr/>
                    <a:lstStyle/>
                    <a:p>
                      <a:pPr algn="r">
                        <a:defRPr>
                          <a:latin typeface="Roboto"/>
                        </a:defRPr>
                      </a:pPr>
                      <a:r>
                        <a:rPr sz="1050">
                          <a:solidFill>
                            <a:srgbClr val="25342A"/>
                          </a:solidFill>
                          <a:latin typeface="Roboto"/>
                        </a:rPr>
                        <a:t>$79,256</a:t>
                      </a:r>
                    </a:p>
                  </a:txBody>
                  <a:tcPr>
                    <a:solidFill>
                      <a:srgbClr val="FFFFFF"/>
                    </a:solidFill>
                  </a:tcPr>
                </a:tc>
                <a:tc>
                  <a:txBody>
                    <a:bodyPr/>
                    <a:lstStyle/>
                    <a:p>
                      <a:pPr algn="r">
                        <a:defRPr>
                          <a:latin typeface="Roboto"/>
                        </a:defRPr>
                      </a:pPr>
                      <a:r>
                        <a:rPr sz="1050">
                          <a:solidFill>
                            <a:srgbClr val="25342A"/>
                          </a:solidFill>
                          <a:latin typeface="Roboto"/>
                        </a:rPr>
                        <a:t>$69,267</a:t>
                      </a:r>
                    </a:p>
                  </a:txBody>
                  <a:tcPr>
                    <a:solidFill>
                      <a:srgbClr val="FFFFFF"/>
                    </a:solidFill>
                  </a:tcPr>
                </a:tc>
              </a:tr>
              <a:tr h="310896">
                <a:tc>
                  <a:txBody>
                    <a:bodyPr/>
                    <a:lstStyle/>
                    <a:p>
                      <a:pPr algn="l">
                        <a:defRPr>
                          <a:latin typeface="Roboto"/>
                        </a:defRPr>
                      </a:pPr>
                      <a:r>
                        <a:rPr sz="1050">
                          <a:solidFill>
                            <a:srgbClr val="25342A"/>
                          </a:solidFill>
                          <a:latin typeface="Roboto"/>
                        </a:rPr>
                        <a:t>11 Nov</a:t>
                      </a:r>
                    </a:p>
                  </a:txBody>
                  <a:tcPr>
                    <a:solidFill>
                      <a:srgbClr val="F7FAF7"/>
                    </a:solidFill>
                  </a:tcPr>
                </a:tc>
                <a:tc>
                  <a:txBody>
                    <a:bodyPr/>
                    <a:lstStyle/>
                    <a:p>
                      <a:pPr algn="r">
                        <a:defRPr>
                          <a:latin typeface="Roboto"/>
                        </a:defRPr>
                      </a:pPr>
                      <a:r>
                        <a:rPr sz="1050">
                          <a:solidFill>
                            <a:srgbClr val="25342A"/>
                          </a:solidFill>
                          <a:latin typeface="Roboto"/>
                        </a:rPr>
                        <a:t>$79,256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$121,949</a:t>
                      </a:r>
                    </a:p>
                  </a:txBody>
                  <a:tcPr>
                    <a:solidFill>
                      <a:srgbClr val="F7FAF7"/>
                    </a:solidFill>
                  </a:tcPr>
                </a:tc>
                <a:tc>
                  <a:txBody>
                    <a:bodyPr/>
                    <a:lstStyle/>
                    <a:p>
                      <a:pPr algn="r">
                        <a:defRPr>
                          <a:latin typeface="Roboto"/>
                        </a:defRPr>
                      </a:pPr>
                      <a:r>
                        <a:rPr sz="1050">
                          <a:solidFill>
                            <a:srgbClr val="25342A"/>
                          </a:solidFill>
                          <a:latin typeface="Roboto"/>
                        </a:rPr>
                        <a:t>$86,230</a:t>
                      </a:r>
                    </a:p>
                  </a:txBody>
                  <a:tcPr>
                    <a:solidFill>
                      <a:srgbClr val="F7FAF7"/>
                    </a:solidFill>
                  </a:tcPr>
                </a:tc>
              </a:tr>
              <a:tr h="310896">
                <a:tc>
                  <a:txBody>
                    <a:bodyPr/>
                    <a:lstStyle/>
                    <a:p>
                      <a:pPr algn="l">
                        <a:defRPr>
                          <a:latin typeface="Roboto"/>
                        </a:defRPr>
                      </a:pPr>
                      <a:r>
                        <a:rPr sz="1050">
                          <a:solidFill>
                            <a:srgbClr val="25342A"/>
                          </a:solidFill>
                          <a:latin typeface="Roboto"/>
                        </a:rPr>
                        <a:t>18 Nov</a:t>
                      </a:r>
                    </a:p>
                  </a:txBody>
                  <a:tcPr>
                    <a:solidFill>
                      <a:srgbClr val="FFFFFF"/>
                    </a:solidFill>
                  </a:tcPr>
                </a:tc>
                <a:tc>
                  <a:txBody>
                    <a:bodyPr/>
                    <a:lstStyle/>
                    <a:p>
                      <a:pPr algn="r">
                        <a:defRPr>
                          <a:latin typeface="Roboto"/>
                        </a:defRPr>
                      </a:pPr>
                      <a:r>
                        <a:rPr sz="1050">
                          <a:solidFill>
                            <a:srgbClr val="25342A"/>
                          </a:solidFill>
                          <a:latin typeface="Roboto"/>
                        </a:rPr>
                        <a:t>$121,949</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$42,693</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$67,443</a:t>
                      </a:r>
                    </a:p>
                  </a:txBody>
                  <a:tcPr>
                    <a:solidFill>
                      <a:srgbClr val="FFFFFF"/>
                    </a:solidFill>
                  </a:tcPr>
                </a:tc>
                <a:tc>
                  <a:txBody>
                    <a:bodyPr/>
                    <a:lstStyle/>
                    <a:p>
                      <a:pPr algn="r">
                        <a:defRPr>
                          <a:latin typeface="Roboto"/>
                        </a:defRPr>
                      </a:pPr>
                      <a:r>
                        <a:rPr sz="1050">
                          <a:solidFill>
                            <a:srgbClr val="25342A"/>
                          </a:solidFill>
                          <a:latin typeface="Roboto"/>
                        </a:rPr>
                        <a:t>$58,905</a:t>
                      </a:r>
                    </a:p>
                  </a:txBody>
                  <a:tcPr>
                    <a:solidFill>
                      <a:srgbClr val="FFFFFF"/>
                    </a:solidFill>
                  </a:tcPr>
                </a:tc>
              </a:tr>
              <a:tr h="310896">
                <a:tc>
                  <a:txBody>
                    <a:bodyPr/>
                    <a:lstStyle/>
                    <a:p>
                      <a:pPr algn="l">
                        <a:defRPr>
                          <a:latin typeface="Roboto"/>
                        </a:defRPr>
                      </a:pPr>
                      <a:r>
                        <a:rPr sz="1050">
                          <a:solidFill>
                            <a:srgbClr val="25342A"/>
                          </a:solidFill>
                          <a:latin typeface="Roboto"/>
                        </a:rPr>
                        <a:t>25 Nov</a:t>
                      </a:r>
                    </a:p>
                  </a:txBody>
                  <a:tcPr>
                    <a:solidFill>
                      <a:srgbClr val="F7FAF7"/>
                    </a:solidFill>
                  </a:tcPr>
                </a:tc>
                <a:tc>
                  <a:txBody>
                    <a:bodyPr/>
                    <a:lstStyle/>
                    <a:p>
                      <a:pPr algn="r">
                        <a:defRPr>
                          <a:latin typeface="Roboto"/>
                        </a:defRPr>
                      </a:pPr>
                      <a:r>
                        <a:rPr sz="1050">
                          <a:solidFill>
                            <a:srgbClr val="25342A"/>
                          </a:solidFill>
                          <a:latin typeface="Roboto"/>
                        </a:rPr>
                        <a:t>$67,443</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$110,137</a:t>
                      </a:r>
                    </a:p>
                  </a:txBody>
                  <a:tcPr>
                    <a:solidFill>
                      <a:srgbClr val="F7FAF7"/>
                    </a:solidFill>
                  </a:tcPr>
                </a:tc>
                <a:tc>
                  <a:txBody>
                    <a:bodyPr/>
                    <a:lstStyle/>
                    <a:p>
                      <a:pPr algn="r">
                        <a:defRPr>
                          <a:latin typeface="Roboto"/>
                        </a:defRPr>
                      </a:pPr>
                      <a:r>
                        <a:rPr sz="1050">
                          <a:solidFill>
                            <a:srgbClr val="25342A"/>
                          </a:solidFill>
                          <a:latin typeface="Roboto"/>
                        </a:rPr>
                        <a:t>$74,417</a:t>
                      </a:r>
                    </a:p>
                  </a:txBody>
                  <a:tcPr>
                    <a:solidFill>
                      <a:srgbClr val="F7FAF7"/>
                    </a:solidFill>
                  </a:tcPr>
                </a:tc>
              </a:tr>
              <a:tr h="310896">
                <a:tc>
                  <a:txBody>
                    <a:bodyPr/>
                    <a:lstStyle/>
                    <a:p>
                      <a:pPr algn="l">
                        <a:defRPr>
                          <a:latin typeface="Roboto"/>
                        </a:defRPr>
                      </a:pPr>
                      <a:r>
                        <a:rPr sz="1050">
                          <a:solidFill>
                            <a:srgbClr val="25342A"/>
                          </a:solidFill>
                          <a:latin typeface="Roboto"/>
                        </a:rPr>
                        <a:t>2 Dec</a:t>
                      </a:r>
                    </a:p>
                  </a:txBody>
                  <a:tcPr>
                    <a:solidFill>
                      <a:srgbClr val="FFFFFF"/>
                    </a:solidFill>
                  </a:tcPr>
                </a:tc>
                <a:tc>
                  <a:txBody>
                    <a:bodyPr/>
                    <a:lstStyle/>
                    <a:p>
                      <a:pPr algn="r">
                        <a:defRPr>
                          <a:latin typeface="Roboto"/>
                        </a:defRPr>
                      </a:pPr>
                      <a:r>
                        <a:rPr sz="1050">
                          <a:solidFill>
                            <a:srgbClr val="25342A"/>
                          </a:solidFill>
                          <a:latin typeface="Roboto"/>
                        </a:rPr>
                        <a:t>$110,137</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$92,578</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($6,080)</a:t>
                      </a:r>
                    </a:p>
                  </a:txBody>
                  <a:tcPr>
                    <a:solidFill>
                      <a:srgbClr val="FFFFFF"/>
                    </a:solidFill>
                  </a:tcPr>
                </a:tc>
                <a:tc>
                  <a:txBody>
                    <a:bodyPr/>
                    <a:lstStyle/>
                    <a:p>
                      <a:pPr algn="r">
                        <a:defRPr>
                          <a:latin typeface="Roboto"/>
                        </a:defRPr>
                      </a:pPr>
                      <a:r>
                        <a:rPr sz="1050">
                          <a:solidFill>
                            <a:srgbClr val="25342A"/>
                          </a:solidFill>
                          <a:latin typeface="Roboto"/>
                        </a:rPr>
                        <a:t>$99,436</a:t>
                      </a:r>
                    </a:p>
                  </a:txBody>
                  <a:tcPr>
                    <a:solidFill>
                      <a:srgbClr val="FFFFFF"/>
                    </a:solidFill>
                  </a:tcPr>
                </a:tc>
                <a:tc>
                  <a:txBody>
                    <a:bodyPr/>
                    <a:lstStyle/>
                    <a:p>
                      <a:pPr algn="r">
                        <a:defRPr>
                          <a:latin typeface="Roboto"/>
                        </a:defRPr>
                      </a:pPr>
                      <a:r>
                        <a:rPr sz="1050">
                          <a:solidFill>
                            <a:srgbClr val="25342A"/>
                          </a:solidFill>
                          <a:latin typeface="Roboto"/>
                        </a:rPr>
                        <a:t>$41,013</a:t>
                      </a:r>
                    </a:p>
                  </a:txBody>
                  <a:tcPr>
                    <a:solidFill>
                      <a:srgbClr val="FFFFFF"/>
                    </a:solidFill>
                  </a:tcPr>
                </a:tc>
              </a:tr>
              <a:tr h="310896">
                <a:tc>
                  <a:txBody>
                    <a:bodyPr/>
                    <a:lstStyle/>
                    <a:p>
                      <a:pPr algn="l">
                        <a:defRPr>
                          <a:latin typeface="Roboto"/>
                        </a:defRPr>
                      </a:pPr>
                      <a:r>
                        <a:rPr sz="1050">
                          <a:solidFill>
                            <a:srgbClr val="25342A"/>
                          </a:solidFill>
                          <a:latin typeface="Roboto"/>
                        </a:rPr>
                        <a:t>9 Dec</a:t>
                      </a:r>
                    </a:p>
                  </a:txBody>
                  <a:tcPr>
                    <a:solidFill>
                      <a:srgbClr val="F7FAF7"/>
                    </a:solidFill>
                  </a:tcPr>
                </a:tc>
                <a:tc>
                  <a:txBody>
                    <a:bodyPr/>
                    <a:lstStyle/>
                    <a:p>
                      <a:pPr algn="r">
                        <a:defRPr>
                          <a:latin typeface="Roboto"/>
                        </a:defRPr>
                      </a:pPr>
                      <a:r>
                        <a:rPr sz="1050">
                          <a:solidFill>
                            <a:srgbClr val="25342A"/>
                          </a:solidFill>
                          <a:latin typeface="Roboto"/>
                        </a:rPr>
                        <a:t>$99,436</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$142,130</a:t>
                      </a:r>
                    </a:p>
                  </a:txBody>
                  <a:tcPr>
                    <a:solidFill>
                      <a:srgbClr val="F7FAF7"/>
                    </a:solidFill>
                  </a:tcPr>
                </a:tc>
                <a:tc>
                  <a:txBody>
                    <a:bodyPr/>
                    <a:lstStyle/>
                    <a:p>
                      <a:pPr algn="r">
                        <a:defRPr>
                          <a:latin typeface="Roboto"/>
                        </a:defRPr>
                      </a:pPr>
                      <a:r>
                        <a:rPr sz="1050">
                          <a:solidFill>
                            <a:srgbClr val="25342A"/>
                          </a:solidFill>
                          <a:latin typeface="Roboto"/>
                        </a:rPr>
                        <a:t>$106,410</a:t>
                      </a:r>
                    </a:p>
                  </a:txBody>
                  <a:tcPr>
                    <a:solidFill>
                      <a:srgbClr val="F7FAF7"/>
                    </a:solidFill>
                  </a:tcPr>
                </a:tc>
              </a:tr>
              <a:tr h="310896">
                <a:tc>
                  <a:txBody>
                    <a:bodyPr/>
                    <a:lstStyle/>
                    <a:p>
                      <a:pPr algn="l">
                        <a:defRPr>
                          <a:latin typeface="Roboto"/>
                        </a:defRPr>
                      </a:pPr>
                      <a:r>
                        <a:rPr sz="1050">
                          <a:solidFill>
                            <a:srgbClr val="25342A"/>
                          </a:solidFill>
                          <a:latin typeface="Roboto"/>
                        </a:rPr>
                        <a:t>16 Dec</a:t>
                      </a:r>
                    </a:p>
                  </a:txBody>
                  <a:tcPr>
                    <a:solidFill>
                      <a:srgbClr val="FFFFFF"/>
                    </a:solidFill>
                  </a:tcPr>
                </a:tc>
                <a:tc>
                  <a:txBody>
                    <a:bodyPr/>
                    <a:lstStyle/>
                    <a:p>
                      <a:pPr algn="r">
                        <a:defRPr>
                          <a:latin typeface="Roboto"/>
                        </a:defRPr>
                      </a:pPr>
                      <a:r>
                        <a:rPr sz="1050">
                          <a:solidFill>
                            <a:srgbClr val="25342A"/>
                          </a:solidFill>
                          <a:latin typeface="Roboto"/>
                        </a:rPr>
                        <a:t>$142,130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$42,693</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B42318"/>
                          </a:solidFill>
                          <a:latin typeface="Roboto"/>
                        </a:rPr>
                        <a:t>($60,588)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$87,624</a:t>
                      </a:r>
                    </a:p>
                  </a:txBody>
                  <a:tcPr>
                    <a:solidFill>
                      <a:srgbClr val="FFFFFF"/>
                    </a:solidFill>
                  </a:tcPr>
                </a:tc>
                <a:tc>
                  <a:txBody>
                    <a:bodyPr/>
                    <a:lstStyle/>
                    <a:p>
                      <a:pPr algn="r">
                        <a:defRPr>
                          <a:latin typeface="Roboto"/>
                        </a:defRPr>
                      </a:pPr>
                      <a:r>
                        <a:rPr sz="1050">
                          <a:solidFill>
                            <a:srgbClr val="25342A"/>
                          </a:solidFill>
                          <a:latin typeface="Roboto"/>
                        </a:rPr>
                        <a:t>$80,650</a:t>
                      </a:r>
                    </a:p>
                  </a:txBody>
                  <a:tcPr>
                    <a:solidFill>
                      <a:srgbClr val="FFFFFF"/>
                    </a:solidFill>
                  </a:tcPr>
                </a:tc>
              </a:tr>
              <a:tr h="310896">
                <a:tc>
                  <a:txBody>
                    <a:bodyPr/>
                    <a:lstStyle/>
                    <a:p>
                      <a:pPr algn="l">
                        <a:defRPr>
                          <a:latin typeface="Roboto"/>
                        </a:defRPr>
                      </a:pPr>
                      <a:r>
                        <a:rPr sz="1050">
                          <a:solidFill>
                            <a:srgbClr val="25342A"/>
                          </a:solidFill>
                          <a:latin typeface="Roboto"/>
                        </a:rPr>
                        <a:t>23 Dec</a:t>
                      </a:r>
                    </a:p>
                  </a:txBody>
                  <a:tcPr>
                    <a:solidFill>
                      <a:srgbClr val="F7FAF7"/>
                    </a:solidFill>
                  </a:tcPr>
                </a:tc>
                <a:tc>
                  <a:txBody>
                    <a:bodyPr/>
                    <a:lstStyle/>
                    <a:p>
                      <a:pPr algn="r">
                        <a:defRPr>
                          <a:latin typeface="Roboto"/>
                        </a:defRPr>
                      </a:pPr>
                      <a:r>
                        <a:rPr sz="1050">
                          <a:solidFill>
                            <a:srgbClr val="25342A"/>
                          </a:solidFill>
                          <a:latin typeface="Roboto"/>
                        </a:rPr>
                        <a:t>$87,624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$42,694</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$0</a:t>
                      </a:r>
                    </a:p>
                  </a:txBody>
                  <a:tcPr>
                    <a:solidFill>
                      <a:srgbClr val="F7FAF7"/>
                    </a:solidFill>
                  </a:tcPr>
                </a:tc>
                <a:tc>
                  <a:txBody>
                    <a:bodyPr/>
                    <a:lstStyle/>
                    <a:p>
                      <a:pPr algn="r">
                        <a:defRPr>
                          <a:latin typeface="Roboto"/>
                        </a:defRPr>
                      </a:pPr>
                      <a:r>
                        <a:rPr sz="1050">
                          <a:solidFill>
                            <a:srgbClr val="25342A"/>
                          </a:solidFill>
                          <a:latin typeface="Roboto"/>
                        </a:rPr>
                        <a:t>$130,318</a:t>
                      </a:r>
                    </a:p>
                  </a:txBody>
                  <a:tcPr>
                    <a:solidFill>
                      <a:srgbClr val="F7FAF7"/>
                    </a:solidFill>
                  </a:tcPr>
                </a:tc>
                <a:tc>
                  <a:txBody>
                    <a:bodyPr/>
                    <a:lstStyle/>
                    <a:p>
                      <a:pPr algn="r">
                        <a:defRPr>
                          <a:latin typeface="Roboto"/>
                        </a:defRPr>
                      </a:pPr>
                      <a:r>
                        <a:rPr sz="1050">
                          <a:solidFill>
                            <a:srgbClr val="25342A"/>
                          </a:solidFill>
                          <a:latin typeface="Roboto"/>
                        </a:rPr>
                        <a:t>$94,598</a:t>
                      </a:r>
                    </a:p>
                  </a:txBody>
                  <a:tcPr>
                    <a:solidFill>
                      <a:srgbClr val="F7FAF7"/>
                    </a:solidFill>
                  </a:tcPr>
                </a:tc>
              </a:tr>
              <a:tr h="310896">
                <a:tc>
                  <a:txBody>
                    <a:bodyPr/>
                    <a:lstStyle/>
                    <a:p>
                      <a:pPr algn="l">
                        <a:defRPr>
                          <a:latin typeface="Roboto"/>
                        </a:defRPr>
                      </a:pPr>
                      <a:r>
                        <a:rPr sz="1050">
                          <a:solidFill>
                            <a:srgbClr val="25342A"/>
                          </a:solidFill>
                          <a:latin typeface="Roboto"/>
                        </a:rPr>
                        <a:t>30 Dec</a:t>
                      </a:r>
                    </a:p>
                  </a:txBody>
                  <a:tcPr>
                    <a:solidFill>
                      <a:srgbClr val="FFFFFF"/>
                    </a:solidFill>
                  </a:tcPr>
                </a:tc>
                <a:tc>
                  <a:txBody>
                    <a:bodyPr/>
                    <a:lstStyle/>
                    <a:p>
                      <a:pPr algn="r">
                        <a:defRPr>
                          <a:latin typeface="Roboto"/>
                        </a:defRPr>
                      </a:pPr>
                      <a:r>
                        <a:rPr sz="1050">
                          <a:solidFill>
                            <a:srgbClr val="25342A"/>
                          </a:solidFill>
                          <a:latin typeface="Roboto"/>
                        </a:rPr>
                        <a:t>$130,318</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$41,129</a:t>
                      </a:r>
                    </a:p>
                  </a:txBody>
                  <a:tcPr>
                    <a:solidFill>
                      <a:srgbClr val="FFFFFF"/>
                    </a:solidFill>
                  </a:tcPr>
                </a:tc>
                <a:tc>
                  <a:txBody>
                    <a:bodyPr/>
                    <a:lstStyle/>
                    <a:p>
                      <a:pPr algn="r">
                        <a:defRPr>
                          <a:latin typeface="Roboto"/>
                        </a:defRPr>
                      </a:pPr>
                      <a:r>
                        <a:rPr sz="1050">
                          <a:solidFill>
                            <a:srgbClr val="B42318"/>
                          </a:solidFill>
                          <a:latin typeface="Roboto"/>
                        </a:rPr>
                        <a:t>($36,611)</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25342A"/>
                          </a:solidFill>
                          <a:latin typeface="Roboto"/>
                        </a:rPr>
                        <a:t>$0</a:t>
                      </a:r>
                    </a:p>
                  </a:txBody>
                  <a:tcPr>
                    <a:solidFill>
                      <a:srgbClr val="FFFFFF"/>
                    </a:solidFill>
                  </a:tcPr>
                </a:tc>
                <a:tc>
                  <a:txBody>
                    <a:bodyPr/>
                    <a:lstStyle/>
                    <a:p>
                      <a:pPr algn="r">
                        <a:defRPr>
                          <a:latin typeface="Roboto"/>
                        </a:defRPr>
                      </a:pPr>
                      <a:r>
                        <a:rPr sz="1050">
                          <a:solidFill>
                            <a:srgbClr val="B42318"/>
                          </a:solidFill>
                          <a:latin typeface="Roboto"/>
                        </a:rPr>
                        <a:t>($5,000)</a:t>
                      </a:r>
                    </a:p>
                  </a:txBody>
                  <a:tcPr>
                    <a:solidFill>
                      <a:srgbClr val="FFFFFF"/>
                    </a:solidFill>
                  </a:tcPr>
                </a:tc>
                <a:tc>
                  <a:txBody>
                    <a:bodyPr/>
                    <a:lstStyle/>
                    <a:p>
                      <a:pPr algn="r">
                        <a:defRPr>
                          <a:latin typeface="Roboto"/>
                        </a:defRPr>
                      </a:pPr>
                      <a:r>
                        <a:rPr sz="1050">
                          <a:solidFill>
                            <a:srgbClr val="25342A"/>
                          </a:solidFill>
                          <a:latin typeface="Roboto"/>
                        </a:rPr>
                        <a:t>$129,836</a:t>
                      </a:r>
                    </a:p>
                  </a:txBody>
                  <a:tcPr>
                    <a:solidFill>
                      <a:srgbClr val="FFFFFF"/>
                    </a:solidFill>
                  </a:tcPr>
                </a:tc>
                <a:tc>
                  <a:txBody>
                    <a:bodyPr/>
                    <a:lstStyle/>
                    <a:p>
                      <a:pPr algn="r">
                        <a:defRPr>
                          <a:latin typeface="Roboto"/>
                        </a:defRPr>
                      </a:pPr>
                      <a:r>
                        <a:rPr sz="1050">
                          <a:solidFill>
                            <a:srgbClr val="25342A"/>
                          </a:solidFill>
                          <a:latin typeface="Roboto"/>
                        </a:rPr>
                        <a:t>$100,681</a:t>
                      </a:r>
                    </a:p>
                  </a:txBody>
                  <a:tcPr>
                    <a:solidFill>
                      <a:srgbClr val="FFFFFF"/>
                    </a:solidFill>
                  </a:tcPr>
                </a:tc>
              </a:tr>
            </a:tbl>
          </a:graphicData>
        </a:graphic>
      </p:graphicFrame>
      <p:sp>
        <p:nvSpPr>
          <p:cNvPr id="7" name="TextBox 6"/>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8" name="TextBox 7"/>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9" name="TextBox 8"/>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4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($8,734): the forecast assumes these arrive within a week (1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466344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CO-49240</a:t>
                      </a:r>
                    </a:p>
                  </a:txBody>
                  <a:tcPr>
                    <a:solidFill>
                      <a:srgbClr val="FFFFFF"/>
                    </a:solidFill>
                  </a:tcPr>
                </a:tc>
                <a:tc>
                  <a:txBody>
                    <a:bodyPr/>
                    <a:lstStyle/>
                    <a:p>
                      <a:pPr algn="l">
                        <a:defRPr>
                          <a:latin typeface="Roboto"/>
                        </a:defRPr>
                      </a:pPr>
                      <a:r>
                        <a:rPr sz="1050">
                          <a:solidFill>
                            <a:srgbClr val="25342A"/>
                          </a:solidFill>
                          <a:latin typeface="Roboto"/>
                        </a:rPr>
                        <a:t>15 Sep</a:t>
                      </a:r>
                    </a:p>
                  </a:txBody>
                  <a:tcPr>
                    <a:solidFill>
                      <a:srgbClr val="FFFFFF"/>
                    </a:solidFill>
                  </a:tcPr>
                </a:tc>
                <a:tc>
                  <a:txBody>
                    <a:bodyPr/>
                    <a:lstStyle/>
                    <a:p>
                      <a:pPr algn="r">
                        <a:defRPr>
                          <a:latin typeface="Roboto"/>
                        </a:defRPr>
                      </a:pPr>
                      <a:r>
                        <a:rPr sz="1050">
                          <a:solidFill>
                            <a:srgbClr val="25342A"/>
                          </a:solidFill>
                          <a:latin typeface="Roboto"/>
                        </a:rPr>
                        <a:t>$932</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15</a:t>
                      </a:r>
                    </a:p>
                  </a:txBody>
                  <a:tcPr>
                    <a:solidFill>
                      <a:srgbClr val="FFFFFF"/>
                    </a:solidFill>
                  </a:tcPr>
                </a:tc>
              </a:tr>
              <a:tr h="310896">
                <a:tc>
                  <a:txBody>
                    <a:bodyPr/>
                    <a:lstStyle/>
                    <a:p>
                      <a:pPr algn="l">
                        <a:defRPr>
                          <a:latin typeface="Roboto"/>
                        </a:defRPr>
                      </a:pPr>
                      <a:r>
                        <a:rPr sz="1050">
                          <a:solidFill>
                            <a:srgbClr val="25342A"/>
                          </a:solidFill>
                          <a:latin typeface="Roboto"/>
                        </a:rPr>
                        <a:t>Call-out CO-49233</a:t>
                      </a:r>
                    </a:p>
                  </a:txBody>
                  <a:tcPr>
                    <a:solidFill>
                      <a:srgbClr val="F7FAF7"/>
                    </a:solidFill>
                  </a:tcPr>
                </a:tc>
                <a:tc>
                  <a:txBody>
                    <a:bodyPr/>
                    <a:lstStyle/>
                    <a:p>
                      <a:pPr algn="l">
                        <a:defRPr>
                          <a:latin typeface="Roboto"/>
                        </a:defRPr>
                      </a:pPr>
                      <a:r>
                        <a:rPr sz="1050">
                          <a:solidFill>
                            <a:srgbClr val="25342A"/>
                          </a:solidFill>
                          <a:latin typeface="Roboto"/>
                        </a:rPr>
                        <a:t>22 Sep</a:t>
                      </a:r>
                    </a:p>
                  </a:txBody>
                  <a:tcPr>
                    <a:solidFill>
                      <a:srgbClr val="F7FAF7"/>
                    </a:solidFill>
                  </a:tcPr>
                </a:tc>
                <a:tc>
                  <a:txBody>
                    <a:bodyPr/>
                    <a:lstStyle/>
                    <a:p>
                      <a:pPr algn="r">
                        <a:defRPr>
                          <a:latin typeface="Roboto"/>
                        </a:defRPr>
                      </a:pPr>
                      <a:r>
                        <a:rPr sz="1050">
                          <a:solidFill>
                            <a:srgbClr val="25342A"/>
                          </a:solidFill>
                          <a:latin typeface="Roboto"/>
                        </a:rPr>
                        <a:t>$917</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8</a:t>
                      </a:r>
                    </a:p>
                  </a:txBody>
                  <a:tcPr>
                    <a:solidFill>
                      <a:srgbClr val="F7FAF7"/>
                    </a:solidFill>
                  </a:tcPr>
                </a:tc>
              </a:tr>
              <a:tr h="310896">
                <a:tc>
                  <a:txBody>
                    <a:bodyPr/>
                    <a:lstStyle/>
                    <a:p>
                      <a:pPr algn="l">
                        <a:defRPr>
                          <a:latin typeface="Roboto"/>
                        </a:defRPr>
                      </a:pPr>
                      <a:r>
                        <a:rPr sz="1050">
                          <a:solidFill>
                            <a:srgbClr val="25342A"/>
                          </a:solidFill>
                          <a:latin typeface="Roboto"/>
                        </a:rPr>
                        <a:t>Call-out CO-49269</a:t>
                      </a:r>
                    </a:p>
                  </a:txBody>
                  <a:tcPr>
                    <a:solidFill>
                      <a:srgbClr val="FFFFFF"/>
                    </a:solidFill>
                  </a:tcPr>
                </a:tc>
                <a:tc>
                  <a:txBody>
                    <a:bodyPr/>
                    <a:lstStyle/>
                    <a:p>
                      <a:pPr algn="l">
                        <a:defRPr>
                          <a:latin typeface="Roboto"/>
                        </a:defRPr>
                      </a:pPr>
                      <a:r>
                        <a:rPr sz="1050">
                          <a:solidFill>
                            <a:srgbClr val="25342A"/>
                          </a:solidFill>
                          <a:latin typeface="Roboto"/>
                        </a:rPr>
                        <a:t>1 Sep</a:t>
                      </a:r>
                    </a:p>
                  </a:txBody>
                  <a:tcPr>
                    <a:solidFill>
                      <a:srgbClr val="FFFFFF"/>
                    </a:solidFill>
                  </a:tcPr>
                </a:tc>
                <a:tc>
                  <a:txBody>
                    <a:bodyPr/>
                    <a:lstStyle/>
                    <a:p>
                      <a:pPr algn="r">
                        <a:defRPr>
                          <a:latin typeface="Roboto"/>
                        </a:defRPr>
                      </a:pPr>
                      <a:r>
                        <a:rPr sz="1050">
                          <a:solidFill>
                            <a:srgbClr val="25342A"/>
                          </a:solidFill>
                          <a:latin typeface="Roboto"/>
                        </a:rPr>
                        <a:t>$735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29</a:t>
                      </a:r>
                    </a:p>
                  </a:txBody>
                  <a:tcPr>
                    <a:solidFill>
                      <a:srgbClr val="FFFFFF"/>
                    </a:solidFill>
                  </a:tcPr>
                </a:tc>
              </a:tr>
              <a:tr h="310896">
                <a:tc>
                  <a:txBody>
                    <a:bodyPr/>
                    <a:lstStyle/>
                    <a:p>
                      <a:pPr algn="l">
                        <a:defRPr>
                          <a:latin typeface="Roboto"/>
                        </a:defRPr>
                      </a:pPr>
                      <a:r>
                        <a:rPr sz="1050">
                          <a:solidFill>
                            <a:srgbClr val="25342A"/>
                          </a:solidFill>
                          <a:latin typeface="Roboto"/>
                        </a:rPr>
                        <a:t>Call-out CO-49260</a:t>
                      </a:r>
                    </a:p>
                  </a:txBody>
                  <a:tcPr>
                    <a:solidFill>
                      <a:srgbClr val="F7FAF7"/>
                    </a:solidFill>
                  </a:tcPr>
                </a:tc>
                <a:tc>
                  <a:txBody>
                    <a:bodyPr/>
                    <a:lstStyle/>
                    <a:p>
                      <a:pPr algn="l">
                        <a:defRPr>
                          <a:latin typeface="Roboto"/>
                        </a:defRPr>
                      </a:pPr>
                      <a:r>
                        <a:rPr sz="1050">
                          <a:solidFill>
                            <a:srgbClr val="25342A"/>
                          </a:solidFill>
                          <a:latin typeface="Roboto"/>
                        </a:rPr>
                        <a:t>21 Sep</a:t>
                      </a:r>
                    </a:p>
                  </a:txBody>
                  <a:tcPr>
                    <a:solidFill>
                      <a:srgbClr val="F7FAF7"/>
                    </a:solidFill>
                  </a:tcPr>
                </a:tc>
                <a:tc>
                  <a:txBody>
                    <a:bodyPr/>
                    <a:lstStyle/>
                    <a:p>
                      <a:pPr algn="r">
                        <a:defRPr>
                          <a:latin typeface="Roboto"/>
                        </a:defRPr>
                      </a:pPr>
                      <a:r>
                        <a:rPr sz="1050">
                          <a:solidFill>
                            <a:srgbClr val="25342A"/>
                          </a:solidFill>
                          <a:latin typeface="Roboto"/>
                        </a:rPr>
                        <a:t>$706</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9</a:t>
                      </a:r>
                    </a:p>
                  </a:txBody>
                  <a:tcPr>
                    <a:solidFill>
                      <a:srgbClr val="F7FAF7"/>
                    </a:solidFill>
                  </a:tcPr>
                </a:tc>
              </a:tr>
              <a:tr h="310896">
                <a:tc>
                  <a:txBody>
                    <a:bodyPr/>
                    <a:lstStyle/>
                    <a:p>
                      <a:pPr algn="l">
                        <a:defRPr>
                          <a:latin typeface="Roboto"/>
                        </a:defRPr>
                      </a:pPr>
                      <a:r>
                        <a:rPr sz="1050">
                          <a:solidFill>
                            <a:srgbClr val="25342A"/>
                          </a:solidFill>
                          <a:latin typeface="Roboto"/>
                        </a:rPr>
                        <a:t>Call-out CO-49255</a:t>
                      </a:r>
                    </a:p>
                  </a:txBody>
                  <a:tcPr>
                    <a:solidFill>
                      <a:srgbClr val="FFFFFF"/>
                    </a:solidFill>
                  </a:tcPr>
                </a:tc>
                <a:tc>
                  <a:txBody>
                    <a:bodyPr/>
                    <a:lstStyle/>
                    <a:p>
                      <a:pPr algn="l">
                        <a:defRPr>
                          <a:latin typeface="Roboto"/>
                        </a:defRPr>
                      </a:pPr>
                      <a:r>
                        <a:rPr sz="1050">
                          <a:solidFill>
                            <a:srgbClr val="25342A"/>
                          </a:solidFill>
                          <a:latin typeface="Roboto"/>
                        </a:rPr>
                        <a:t>25 Sep</a:t>
                      </a:r>
                    </a:p>
                  </a:txBody>
                  <a:tcPr>
                    <a:solidFill>
                      <a:srgbClr val="FFFFFF"/>
                    </a:solidFill>
                  </a:tcPr>
                </a:tc>
                <a:tc>
                  <a:txBody>
                    <a:bodyPr/>
                    <a:lstStyle/>
                    <a:p>
                      <a:pPr algn="r">
                        <a:defRPr>
                          <a:latin typeface="Roboto"/>
                        </a:defRPr>
                      </a:pPr>
                      <a:r>
                        <a:rPr sz="1050">
                          <a:solidFill>
                            <a:srgbClr val="25342A"/>
                          </a:solidFill>
                          <a:latin typeface="Roboto"/>
                        </a:rPr>
                        <a:t>$659</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5</a:t>
                      </a:r>
                    </a:p>
                  </a:txBody>
                  <a:tcPr>
                    <a:solidFill>
                      <a:srgbClr val="FFFFFF"/>
                    </a:solidFill>
                  </a:tcPr>
                </a:tc>
              </a:tr>
              <a:tr h="310896">
                <a:tc>
                  <a:txBody>
                    <a:bodyPr/>
                    <a:lstStyle/>
                    <a:p>
                      <a:pPr algn="l">
                        <a:defRPr>
                          <a:latin typeface="Roboto"/>
                        </a:defRPr>
                      </a:pPr>
                      <a:r>
                        <a:rPr sz="1050">
                          <a:solidFill>
                            <a:srgbClr val="25342A"/>
                          </a:solidFill>
                          <a:latin typeface="Roboto"/>
                        </a:rPr>
                        <a:t>Call-out CO-49235</a:t>
                      </a:r>
                    </a:p>
                  </a:txBody>
                  <a:tcPr>
                    <a:solidFill>
                      <a:srgbClr val="F7FAF7"/>
                    </a:solidFill>
                  </a:tcPr>
                </a:tc>
                <a:tc>
                  <a:txBody>
                    <a:bodyPr/>
                    <a:lstStyle/>
                    <a:p>
                      <a:pPr algn="l">
                        <a:defRPr>
                          <a:latin typeface="Roboto"/>
                        </a:defRPr>
                      </a:pPr>
                      <a:r>
                        <a:rPr sz="1050">
                          <a:solidFill>
                            <a:srgbClr val="25342A"/>
                          </a:solidFill>
                          <a:latin typeface="Roboto"/>
                        </a:rPr>
                        <a:t>24 Sep</a:t>
                      </a:r>
                    </a:p>
                  </a:txBody>
                  <a:tcPr>
                    <a:solidFill>
                      <a:srgbClr val="F7FAF7"/>
                    </a:solidFill>
                  </a:tcPr>
                </a:tc>
                <a:tc>
                  <a:txBody>
                    <a:bodyPr/>
                    <a:lstStyle/>
                    <a:p>
                      <a:pPr algn="r">
                        <a:defRPr>
                          <a:latin typeface="Roboto"/>
                        </a:defRPr>
                      </a:pPr>
                      <a:r>
                        <a:rPr sz="1050">
                          <a:solidFill>
                            <a:srgbClr val="25342A"/>
                          </a:solidFill>
                          <a:latin typeface="Roboto"/>
                        </a:rPr>
                        <a:t>$638</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CO-49296</a:t>
                      </a:r>
                    </a:p>
                  </a:txBody>
                  <a:tcPr>
                    <a:solidFill>
                      <a:srgbClr val="FFFFFF"/>
                    </a:solidFill>
                  </a:tcPr>
                </a:tc>
                <a:tc>
                  <a:txBody>
                    <a:bodyPr/>
                    <a:lstStyle/>
                    <a:p>
                      <a:pPr algn="l">
                        <a:defRPr>
                          <a:latin typeface="Roboto"/>
                        </a:defRPr>
                      </a:pPr>
                      <a:r>
                        <a:rPr sz="1050">
                          <a:solidFill>
                            <a:srgbClr val="25342A"/>
                          </a:solidFill>
                          <a:latin typeface="Roboto"/>
                        </a:rPr>
                        <a:t>15 Sep</a:t>
                      </a:r>
                    </a:p>
                  </a:txBody>
                  <a:tcPr>
                    <a:solidFill>
                      <a:srgbClr val="FFFFFF"/>
                    </a:solidFill>
                  </a:tcPr>
                </a:tc>
                <a:tc>
                  <a:txBody>
                    <a:bodyPr/>
                    <a:lstStyle/>
                    <a:p>
                      <a:pPr algn="r">
                        <a:defRPr>
                          <a:latin typeface="Roboto"/>
                        </a:defRPr>
                      </a:pPr>
                      <a:r>
                        <a:rPr sz="1050">
                          <a:solidFill>
                            <a:srgbClr val="25342A"/>
                          </a:solidFill>
                          <a:latin typeface="Roboto"/>
                        </a:rPr>
                        <a:t>$635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15</a:t>
                      </a:r>
                    </a:p>
                  </a:txBody>
                  <a:tcPr>
                    <a:solidFill>
                      <a:srgbClr val="FFFFFF"/>
                    </a:solidFill>
                  </a:tcPr>
                </a:tc>
              </a:tr>
              <a:tr h="310896">
                <a:tc>
                  <a:txBody>
                    <a:bodyPr/>
                    <a:lstStyle/>
                    <a:p>
                      <a:pPr algn="l">
                        <a:defRPr>
                          <a:latin typeface="Roboto"/>
                        </a:defRPr>
                      </a:pPr>
                      <a:r>
                        <a:rPr sz="1050">
                          <a:solidFill>
                            <a:srgbClr val="25342A"/>
                          </a:solidFill>
                          <a:latin typeface="Roboto"/>
                        </a:rPr>
                        <a:t>Call-out CO-49247</a:t>
                      </a:r>
                    </a:p>
                  </a:txBody>
                  <a:tcPr>
                    <a:solidFill>
                      <a:srgbClr val="F7FAF7"/>
                    </a:solidFill>
                  </a:tcPr>
                </a:tc>
                <a:tc>
                  <a:txBody>
                    <a:bodyPr/>
                    <a:lstStyle/>
                    <a:p>
                      <a:pPr algn="l">
                        <a:defRPr>
                          <a:latin typeface="Roboto"/>
                        </a:defRPr>
                      </a:pPr>
                      <a:r>
                        <a:rPr sz="1050">
                          <a:solidFill>
                            <a:srgbClr val="25342A"/>
                          </a:solidFill>
                          <a:latin typeface="Roboto"/>
                        </a:rPr>
                        <a:t>25 Sep</a:t>
                      </a:r>
                    </a:p>
                  </a:txBody>
                  <a:tcPr>
                    <a:solidFill>
                      <a:srgbClr val="F7FAF7"/>
                    </a:solidFill>
                  </a:tcPr>
                </a:tc>
                <a:tc>
                  <a:txBody>
                    <a:bodyPr/>
                    <a:lstStyle/>
                    <a:p>
                      <a:pPr algn="r">
                        <a:defRPr>
                          <a:latin typeface="Roboto"/>
                        </a:defRPr>
                      </a:pPr>
                      <a:r>
                        <a:rPr sz="1050">
                          <a:solidFill>
                            <a:srgbClr val="25342A"/>
                          </a:solidFill>
                          <a:latin typeface="Roboto"/>
                        </a:rPr>
                        <a:t>$567</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5</a:t>
                      </a:r>
                    </a:p>
                  </a:txBody>
                  <a:tcPr>
                    <a:solidFill>
                      <a:srgbClr val="F7FAF7"/>
                    </a:solidFill>
                  </a:tcPr>
                </a:tc>
              </a:tr>
              <a:tr h="310896">
                <a:tc>
                  <a:txBody>
                    <a:bodyPr/>
                    <a:lstStyle/>
                    <a:p>
                      <a:pPr algn="l">
                        <a:defRPr>
                          <a:latin typeface="Roboto"/>
                        </a:defRPr>
                      </a:pPr>
                      <a:r>
                        <a:rPr sz="1050">
                          <a:solidFill>
                            <a:srgbClr val="25342A"/>
                          </a:solidFill>
                          <a:latin typeface="Roboto"/>
                        </a:rPr>
                        <a:t>Call-out CO-49248</a:t>
                      </a:r>
                    </a:p>
                  </a:txBody>
                  <a:tcPr>
                    <a:solidFill>
                      <a:srgbClr val="FFFFFF"/>
                    </a:solidFill>
                  </a:tcPr>
                </a:tc>
                <a:tc>
                  <a:txBody>
                    <a:bodyPr/>
                    <a:lstStyle/>
                    <a:p>
                      <a:pPr algn="l">
                        <a:defRPr>
                          <a:latin typeface="Roboto"/>
                        </a:defRPr>
                      </a:pPr>
                      <a:r>
                        <a:rPr sz="1050">
                          <a:solidFill>
                            <a:srgbClr val="25342A"/>
                          </a:solidFill>
                          <a:latin typeface="Roboto"/>
                        </a:rPr>
                        <a:t>17 Sep</a:t>
                      </a:r>
                    </a:p>
                  </a:txBody>
                  <a:tcPr>
                    <a:solidFill>
                      <a:srgbClr val="FFFFFF"/>
                    </a:solidFill>
                  </a:tcPr>
                </a:tc>
                <a:tc>
                  <a:txBody>
                    <a:bodyPr/>
                    <a:lstStyle/>
                    <a:p>
                      <a:pPr algn="r">
                        <a:defRPr>
                          <a:latin typeface="Roboto"/>
                        </a:defRPr>
                      </a:pPr>
                      <a:r>
                        <a:rPr sz="1050">
                          <a:solidFill>
                            <a:srgbClr val="25342A"/>
                          </a:solidFill>
                          <a:latin typeface="Roboto"/>
                        </a:rPr>
                        <a:t>$535</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13</a:t>
                      </a:r>
                    </a:p>
                  </a:txBody>
                  <a:tcPr>
                    <a:solidFill>
                      <a:srgbClr val="FFFFFF"/>
                    </a:solidFill>
                  </a:tcPr>
                </a:tc>
              </a:tr>
              <a:tr h="310896">
                <a:tc>
                  <a:txBody>
                    <a:bodyPr/>
                    <a:lstStyle/>
                    <a:p>
                      <a:pPr algn="l">
                        <a:defRPr>
                          <a:latin typeface="Roboto"/>
                        </a:defRPr>
                      </a:pPr>
                      <a:r>
                        <a:rPr sz="1050">
                          <a:solidFill>
                            <a:srgbClr val="25342A"/>
                          </a:solidFill>
                          <a:latin typeface="Roboto"/>
                        </a:rPr>
                        <a:t>Call-out CO-49267</a:t>
                      </a:r>
                    </a:p>
                  </a:txBody>
                  <a:tcPr>
                    <a:solidFill>
                      <a:srgbClr val="F7FAF7"/>
                    </a:solidFill>
                  </a:tcPr>
                </a:tc>
                <a:tc>
                  <a:txBody>
                    <a:bodyPr/>
                    <a:lstStyle/>
                    <a:p>
                      <a:pPr algn="l">
                        <a:defRPr>
                          <a:latin typeface="Roboto"/>
                        </a:defRPr>
                      </a:pPr>
                      <a:r>
                        <a:rPr sz="1050">
                          <a:solidFill>
                            <a:srgbClr val="25342A"/>
                          </a:solidFill>
                          <a:latin typeface="Roboto"/>
                        </a:rPr>
                        <a:t>23 Sep</a:t>
                      </a:r>
                    </a:p>
                  </a:txBody>
                  <a:tcPr>
                    <a:solidFill>
                      <a:srgbClr val="F7FAF7"/>
                    </a:solidFill>
                  </a:tcPr>
                </a:tc>
                <a:tc>
                  <a:txBody>
                    <a:bodyPr/>
                    <a:lstStyle/>
                    <a:p>
                      <a:pPr algn="r">
                        <a:defRPr>
                          <a:latin typeface="Roboto"/>
                        </a:defRPr>
                      </a:pPr>
                      <a:r>
                        <a:rPr sz="1050">
                          <a:solidFill>
                            <a:srgbClr val="25342A"/>
                          </a:solidFill>
                          <a:latin typeface="Roboto"/>
                        </a:rPr>
                        <a:t>$459</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7</a:t>
                      </a:r>
                    </a:p>
                  </a:txBody>
                  <a:tcPr>
                    <a:solidFill>
                      <a:srgbClr val="F7FAF7"/>
                    </a:solidFill>
                  </a:tcPr>
                </a:tc>
              </a:tr>
              <a:tr h="310896">
                <a:tc>
                  <a:txBody>
                    <a:bodyPr/>
                    <a:lstStyle/>
                    <a:p>
                      <a:pPr algn="l">
                        <a:defRPr>
                          <a:latin typeface="Roboto"/>
                        </a:defRPr>
                      </a:pPr>
                      <a:r>
                        <a:rPr sz="1050">
                          <a:solidFill>
                            <a:srgbClr val="25342A"/>
                          </a:solidFill>
                          <a:latin typeface="Roboto"/>
                        </a:rPr>
                        <a:t>Call-out CO-49253</a:t>
                      </a:r>
                    </a:p>
                  </a:txBody>
                  <a:tcPr>
                    <a:solidFill>
                      <a:srgbClr val="FFFFFF"/>
                    </a:solidFill>
                  </a:tcPr>
                </a:tc>
                <a:tc>
                  <a:txBody>
                    <a:bodyPr/>
                    <a:lstStyle/>
                    <a:p>
                      <a:pPr algn="l">
                        <a:defRPr>
                          <a:latin typeface="Roboto"/>
                        </a:defRPr>
                      </a:pPr>
                      <a:r>
                        <a:rPr sz="1050">
                          <a:solidFill>
                            <a:srgbClr val="25342A"/>
                          </a:solidFill>
                          <a:latin typeface="Roboto"/>
                        </a:rPr>
                        <a:t>26 Sep</a:t>
                      </a:r>
                    </a:p>
                  </a:txBody>
                  <a:tcPr>
                    <a:solidFill>
                      <a:srgbClr val="FFFFFF"/>
                    </a:solidFill>
                  </a:tcPr>
                </a:tc>
                <a:tc>
                  <a:txBody>
                    <a:bodyPr/>
                    <a:lstStyle/>
                    <a:p>
                      <a:pPr algn="r">
                        <a:defRPr>
                          <a:latin typeface="Roboto"/>
                        </a:defRPr>
                      </a:pPr>
                      <a:r>
                        <a:rPr sz="1050">
                          <a:solidFill>
                            <a:srgbClr val="25342A"/>
                          </a:solidFill>
                          <a:latin typeface="Roboto"/>
                        </a:rPr>
                        <a:t>$441</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r>
              <a:tr h="310896">
                <a:tc>
                  <a:txBody>
                    <a:bodyPr/>
                    <a:lstStyle/>
                    <a:p>
                      <a:pPr algn="l">
                        <a:defRPr>
                          <a:latin typeface="Roboto"/>
                        </a:defRPr>
                      </a:pPr>
                      <a:r>
                        <a:rPr sz="1050">
                          <a:solidFill>
                            <a:srgbClr val="25342A"/>
                          </a:solidFill>
                          <a:latin typeface="Roboto"/>
                        </a:rPr>
                        <a:t>Call-out CO-49246</a:t>
                      </a:r>
                    </a:p>
                  </a:txBody>
                  <a:tcPr>
                    <a:solidFill>
                      <a:srgbClr val="F7FAF7"/>
                    </a:solidFill>
                  </a:tcPr>
                </a:tc>
                <a:tc>
                  <a:txBody>
                    <a:bodyPr/>
                    <a:lstStyle/>
                    <a:p>
                      <a:pPr algn="l">
                        <a:defRPr>
                          <a:latin typeface="Roboto"/>
                        </a:defRPr>
                      </a:pPr>
                      <a:r>
                        <a:rPr sz="1050">
                          <a:solidFill>
                            <a:srgbClr val="25342A"/>
                          </a:solidFill>
                          <a:latin typeface="Roboto"/>
                        </a:rPr>
                        <a:t>24 Sep</a:t>
                      </a:r>
                    </a:p>
                  </a:txBody>
                  <a:tcPr>
                    <a:solidFill>
                      <a:srgbClr val="F7FAF7"/>
                    </a:solidFill>
                  </a:tcPr>
                </a:tc>
                <a:tc>
                  <a:txBody>
                    <a:bodyPr/>
                    <a:lstStyle/>
                    <a:p>
                      <a:pPr algn="r">
                        <a:defRPr>
                          <a:latin typeface="Roboto"/>
                        </a:defRPr>
                      </a:pPr>
                      <a:r>
                        <a:rPr sz="1050">
                          <a:solidFill>
                            <a:srgbClr val="25342A"/>
                          </a:solidFill>
                          <a:latin typeface="Roboto"/>
                        </a:rPr>
                        <a:t>$416</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6</a:t>
                      </a:r>
                    </a:p>
                  </a:txBody>
                  <a:tcPr>
                    <a:solidFill>
                      <a:srgbClr val="F7FAF7"/>
                    </a:solidFill>
                  </a:tcPr>
                </a:tc>
              </a:tr>
              <a:tr h="310896">
                <a:tc>
                  <a:txBody>
                    <a:bodyPr/>
                    <a:lstStyle/>
                    <a:p>
                      <a:pPr algn="l">
                        <a:defRPr>
                          <a:latin typeface="Roboto"/>
                        </a:defRPr>
                      </a:pPr>
                      <a:r>
                        <a:rPr sz="1050">
                          <a:solidFill>
                            <a:srgbClr val="25342A"/>
                          </a:solidFill>
                          <a:latin typeface="Roboto"/>
                        </a:rPr>
                        <a:t>Call-out CO-49259</a:t>
                      </a:r>
                    </a:p>
                  </a:txBody>
                  <a:tcPr>
                    <a:solidFill>
                      <a:srgbClr val="FFFFFF"/>
                    </a:solidFill>
                  </a:tcPr>
                </a:tc>
                <a:tc>
                  <a:txBody>
                    <a:bodyPr/>
                    <a:lstStyle/>
                    <a:p>
                      <a:pPr algn="l">
                        <a:defRPr>
                          <a:latin typeface="Roboto"/>
                        </a:defRPr>
                      </a:pPr>
                      <a:r>
                        <a:rPr sz="1050">
                          <a:solidFill>
                            <a:srgbClr val="25342A"/>
                          </a:solidFill>
                          <a:latin typeface="Roboto"/>
                        </a:rPr>
                        <a:t>13 Sep</a:t>
                      </a:r>
                    </a:p>
                  </a:txBody>
                  <a:tcPr>
                    <a:solidFill>
                      <a:srgbClr val="FFFFFF"/>
                    </a:solidFill>
                  </a:tcPr>
                </a:tc>
                <a:tc>
                  <a:txBody>
                    <a:bodyPr/>
                    <a:lstStyle/>
                    <a:p>
                      <a:pPr algn="r">
                        <a:defRPr>
                          <a:latin typeface="Roboto"/>
                        </a:defRPr>
                      </a:pPr>
                      <a:r>
                        <a:rPr sz="1050">
                          <a:solidFill>
                            <a:srgbClr val="25342A"/>
                          </a:solidFill>
                          <a:latin typeface="Roboto"/>
                        </a:rPr>
                        <a:t>$416</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17</a:t>
                      </a:r>
                    </a:p>
                  </a:txBody>
                  <a:tcPr>
                    <a:solidFill>
                      <a:srgbClr val="FFFFFF"/>
                    </a:solidFill>
                  </a:tcPr>
                </a:tc>
              </a:tr>
              <a:tr h="310896">
                <a:tc>
                  <a:txBody>
                    <a:bodyPr/>
                    <a:lstStyle/>
                    <a:p>
                      <a:pPr algn="l">
                        <a:defRPr>
                          <a:latin typeface="Roboto"/>
                        </a:defRPr>
                      </a:pPr>
                      <a:r>
                        <a:rPr sz="1050">
                          <a:solidFill>
                            <a:srgbClr val="25342A"/>
                          </a:solidFill>
                          <a:latin typeface="Roboto"/>
                        </a:rPr>
                        <a:t>Call-out CO-49294</a:t>
                      </a:r>
                    </a:p>
                  </a:txBody>
                  <a:tcPr>
                    <a:solidFill>
                      <a:srgbClr val="F7FAF7"/>
                    </a:solidFill>
                  </a:tcPr>
                </a:tc>
                <a:tc>
                  <a:txBody>
                    <a:bodyPr/>
                    <a:lstStyle/>
                    <a:p>
                      <a:pPr algn="l">
                        <a:defRPr>
                          <a:latin typeface="Roboto"/>
                        </a:defRPr>
                      </a:pPr>
                      <a:r>
                        <a:rPr sz="1050">
                          <a:solidFill>
                            <a:srgbClr val="25342A"/>
                          </a:solidFill>
                          <a:latin typeface="Roboto"/>
                        </a:rPr>
                        <a:t>19 Sep</a:t>
                      </a:r>
                    </a:p>
                  </a:txBody>
                  <a:tcPr>
                    <a:solidFill>
                      <a:srgbClr val="F7FAF7"/>
                    </a:solidFill>
                  </a:tcPr>
                </a:tc>
                <a:tc>
                  <a:txBody>
                    <a:bodyPr/>
                    <a:lstStyle/>
                    <a:p>
                      <a:pPr algn="r">
                        <a:defRPr>
                          <a:latin typeface="Roboto"/>
                        </a:defRPr>
                      </a:pPr>
                      <a:r>
                        <a:rPr sz="1050">
                          <a:solidFill>
                            <a:srgbClr val="25342A"/>
                          </a:solidFill>
                          <a:latin typeface="Roboto"/>
                        </a:rPr>
                        <a:t>$351</a:t>
                      </a:r>
                    </a:p>
                  </a:txBody>
                  <a:tcPr>
                    <a:solidFill>
                      <a:srgbClr val="F7FAF7"/>
                    </a:solidFill>
                  </a:tcPr>
                </a:tc>
                <a:tc>
                  <a:txBody>
                    <a:bodyPr/>
                    <a:lstStyle/>
                    <a:p>
                      <a:pPr algn="r">
                        <a:defRPr>
                          <a:latin typeface="Roboto"/>
                        </a:defRPr>
                      </a:pPr>
                      <a:r>
                        <a:rPr sz="1050">
                          <a:solidFill>
                            <a:srgbClr val="25342A"/>
                          </a:solidFill>
                          <a:latin typeface="Roboto"/>
                        </a:rPr>
                        <a:t>4</a:t>
                      </a:r>
                    </a:p>
                  </a:txBody>
                  <a:tcPr>
                    <a:solidFill>
                      <a:srgbClr val="F7FAF7"/>
                    </a:solidFill>
                  </a:tcPr>
                </a:tc>
                <a:tc>
                  <a:txBody>
                    <a:bodyPr/>
                    <a:lstStyle/>
                    <a:p>
                      <a:pPr algn="r">
                        <a:defRPr>
                          <a:latin typeface="Roboto"/>
                        </a:defRPr>
                      </a:pPr>
                      <a:r>
                        <a:rPr sz="1050">
                          <a:solidFill>
                            <a:srgbClr val="25342A"/>
                          </a:solidFill>
                          <a:latin typeface="Roboto"/>
                        </a:rPr>
                        <a:t>11</a:t>
                      </a:r>
                    </a:p>
                  </a:txBody>
                  <a:tcPr>
                    <a:solidFill>
                      <a:srgbClr val="F7FAF7"/>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5 of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384048"/>
            <a:ext cx="11277295" cy="719328"/>
          </a:xfrm>
        </p:spPr>
        <p:txBody>
          <a:bodyPr wrap="square" lIns="45720" rIns="45720" tIns="0" bIns="0" anchor="t"/>
          <a:lstStyle/>
          <a:p>
            <a:pPr algn="l">
              <a:defRPr>
                <a:latin typeface="Roboto"/>
              </a:defRPr>
            </a:pPr>
            <a:r>
              <a:rPr sz="2000" b="1">
                <a:solidFill>
                  <a:srgbClr val="25342A"/>
                </a:solidFill>
                <a:latin typeface="Roboto"/>
              </a:rPr>
              <a:t>Invoices past the customer's usual payment date ($8,734): the forecast assumes these arrive within a week (2 of 2)</a:t>
            </a:r>
          </a:p>
        </p:txBody>
      </p:sp>
      <p:sp>
        <p:nvSpPr>
          <p:cNvPr id="3" name="Rectangle 2"/>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4" name="TextBox 3"/>
          <p:cNvSpPr txBox="1"/>
          <p:nvPr/>
        </p:nvSpPr>
        <p:spPr>
          <a:xfrm>
            <a:off x="457200" y="146304"/>
            <a:ext cx="8229600" cy="256032"/>
          </a:xfrm>
          <a:prstGeom prst="rect">
            <a:avLst/>
          </a:prstGeom>
          <a:noFill/>
        </p:spPr>
        <p:txBody>
          <a:bodyPr wrap="square" lIns="45720" rIns="45720">
            <a:spAutoFit/>
          </a:bodyPr>
          <a:lstStyle/>
          <a:p>
            <a:pPr>
              <a:defRPr>
                <a:latin typeface="Roboto"/>
              </a:defRPr>
            </a:pPr>
            <a:r>
              <a:rPr sz="1000" b="0">
                <a:solidFill>
                  <a:srgbClr val="5F6F63"/>
                </a:solidFill>
                <a:latin typeface="Roboto"/>
              </a:rPr>
              <a:t>Sample Electrical &amp; Air Pty Ltd · Will cash cover payroll next month?</a:t>
            </a:r>
          </a:p>
        </p:txBody>
      </p:sp>
      <p:graphicFrame>
        <p:nvGraphicFramePr>
          <p:cNvPr id="5" name="Table 4"/>
          <p:cNvGraphicFramePr>
            <a:graphicFrameLocks noGrp="1"/>
          </p:cNvGraphicFramePr>
          <p:nvPr/>
        </p:nvGraphicFramePr>
        <p:xfrm>
          <a:off x="457200" y="1203960"/>
          <a:ext cx="11277295" cy="621792"/>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10896">
                <a:tc>
                  <a:txBody>
                    <a:bodyPr/>
                    <a:lstStyle/>
                    <a:p>
                      <a:pPr algn="l">
                        <a:defRPr>
                          <a:latin typeface="Roboto"/>
                        </a:defRPr>
                      </a:pPr>
                      <a:r>
                        <a:rPr sz="1100" b="1">
                          <a:solidFill>
                            <a:srgbClr val="FFFFFF"/>
                          </a:solidFill>
                          <a:latin typeface="Roboto"/>
                        </a:rPr>
                        <a:t>Customer or job</a:t>
                      </a:r>
                    </a:p>
                  </a:txBody>
                  <a:tcPr>
                    <a:solidFill>
                      <a:srgbClr val="2F7A5D"/>
                    </a:solidFill>
                  </a:tcPr>
                </a:tc>
                <a:tc>
                  <a:txBody>
                    <a:bodyPr/>
                    <a:lstStyle/>
                    <a:p>
                      <a:pPr algn="l">
                        <a:defRPr>
                          <a:latin typeface="Roboto"/>
                        </a:defRPr>
                      </a:pPr>
                      <a:r>
                        <a:rPr sz="1100" b="1">
                          <a:solidFill>
                            <a:srgbClr val="FFFFFF"/>
                          </a:solidFill>
                          <a:latin typeface="Roboto"/>
                        </a:rPr>
                        <a:t>Invoiced</a:t>
                      </a:r>
                    </a:p>
                  </a:txBody>
                  <a:tcPr>
                    <a:solidFill>
                      <a:srgbClr val="2F7A5D"/>
                    </a:solidFill>
                  </a:tcPr>
                </a:tc>
                <a:tc>
                  <a:txBody>
                    <a:bodyPr/>
                    <a:lstStyle/>
                    <a:p>
                      <a:pPr algn="r">
                        <a:defRPr>
                          <a:latin typeface="Roboto"/>
                        </a:defRPr>
                      </a:pPr>
                      <a:r>
                        <a:rPr sz="1100" b="1">
                          <a:solidFill>
                            <a:srgbClr val="FFFFFF"/>
                          </a:solidFill>
                          <a:latin typeface="Roboto"/>
                        </a:rPr>
                        <a:t>Amount (incl. GST)</a:t>
                      </a:r>
                    </a:p>
                  </a:txBody>
                  <a:tcPr>
                    <a:solidFill>
                      <a:srgbClr val="2F7A5D"/>
                    </a:solidFill>
                  </a:tcPr>
                </a:tc>
                <a:tc>
                  <a:txBody>
                    <a:bodyPr/>
                    <a:lstStyle/>
                    <a:p>
                      <a:pPr algn="r">
                        <a:defRPr>
                          <a:latin typeface="Roboto"/>
                        </a:defRPr>
                      </a:pPr>
                      <a:r>
                        <a:rPr sz="1100" b="1">
                          <a:solidFill>
                            <a:srgbClr val="FFFFFF"/>
                          </a:solidFill>
                          <a:latin typeface="Roboto"/>
                        </a:rPr>
                        <a:t>Usually pays in (days)</a:t>
                      </a:r>
                    </a:p>
                  </a:txBody>
                  <a:tcPr>
                    <a:solidFill>
                      <a:srgbClr val="2F7A5D"/>
                    </a:solidFill>
                  </a:tcPr>
                </a:tc>
                <a:tc>
                  <a:txBody>
                    <a:bodyPr/>
                    <a:lstStyle/>
                    <a:p>
                      <a:pPr algn="r">
                        <a:defRPr>
                          <a:latin typeface="Roboto"/>
                        </a:defRPr>
                      </a:pPr>
                      <a:r>
                        <a:rPr sz="1100" b="1">
                          <a:solidFill>
                            <a:srgbClr val="FFFFFF"/>
                          </a:solidFill>
                          <a:latin typeface="Roboto"/>
                        </a:rPr>
                        <a:t>Days since invoiced</a:t>
                      </a:r>
                    </a:p>
                  </a:txBody>
                  <a:tcPr>
                    <a:solidFill>
                      <a:srgbClr val="2F7A5D"/>
                    </a:solidFill>
                  </a:tcPr>
                </a:tc>
              </a:tr>
              <a:tr h="310896">
                <a:tc>
                  <a:txBody>
                    <a:bodyPr/>
                    <a:lstStyle/>
                    <a:p>
                      <a:pPr algn="l">
                        <a:defRPr>
                          <a:latin typeface="Roboto"/>
                        </a:defRPr>
                      </a:pPr>
                      <a:r>
                        <a:rPr sz="1050">
                          <a:solidFill>
                            <a:srgbClr val="25342A"/>
                          </a:solidFill>
                          <a:latin typeface="Roboto"/>
                        </a:rPr>
                        <a:t>Call-out CO-49273</a:t>
                      </a:r>
                    </a:p>
                  </a:txBody>
                  <a:tcPr>
                    <a:solidFill>
                      <a:srgbClr val="FFFFFF"/>
                    </a:solidFill>
                  </a:tcPr>
                </a:tc>
                <a:tc>
                  <a:txBody>
                    <a:bodyPr/>
                    <a:lstStyle/>
                    <a:p>
                      <a:pPr algn="l">
                        <a:defRPr>
                          <a:latin typeface="Roboto"/>
                        </a:defRPr>
                      </a:pPr>
                      <a:r>
                        <a:rPr sz="1050">
                          <a:solidFill>
                            <a:srgbClr val="25342A"/>
                          </a:solidFill>
                          <a:latin typeface="Roboto"/>
                        </a:rPr>
                        <a:t>16 Sep</a:t>
                      </a:r>
                    </a:p>
                  </a:txBody>
                  <a:tcPr>
                    <a:solidFill>
                      <a:srgbClr val="FFFFFF"/>
                    </a:solidFill>
                  </a:tcPr>
                </a:tc>
                <a:tc>
                  <a:txBody>
                    <a:bodyPr/>
                    <a:lstStyle/>
                    <a:p>
                      <a:pPr algn="r">
                        <a:defRPr>
                          <a:latin typeface="Roboto"/>
                        </a:defRPr>
                      </a:pPr>
                      <a:r>
                        <a:rPr sz="1050">
                          <a:solidFill>
                            <a:srgbClr val="25342A"/>
                          </a:solidFill>
                          <a:latin typeface="Roboto"/>
                        </a:rPr>
                        <a:t>$327</a:t>
                      </a:r>
                    </a:p>
                  </a:txBody>
                  <a:tcPr>
                    <a:solidFill>
                      <a:srgbClr val="FFFFFF"/>
                    </a:solidFill>
                  </a:tcPr>
                </a:tc>
                <a:tc>
                  <a:txBody>
                    <a:bodyPr/>
                    <a:lstStyle/>
                    <a:p>
                      <a:pPr algn="r">
                        <a:defRPr>
                          <a:latin typeface="Roboto"/>
                        </a:defRPr>
                      </a:pPr>
                      <a:r>
                        <a:rPr sz="1050">
                          <a:solidFill>
                            <a:srgbClr val="25342A"/>
                          </a:solidFill>
                          <a:latin typeface="Roboto"/>
                        </a:rPr>
                        <a:t>4</a:t>
                      </a:r>
                    </a:p>
                  </a:txBody>
                  <a:tcPr>
                    <a:solidFill>
                      <a:srgbClr val="FFFFFF"/>
                    </a:solidFill>
                  </a:tcPr>
                </a:tc>
                <a:tc>
                  <a:txBody>
                    <a:bodyPr/>
                    <a:lstStyle/>
                    <a:p>
                      <a:pPr algn="r">
                        <a:defRPr>
                          <a:latin typeface="Roboto"/>
                        </a:defRPr>
                      </a:pPr>
                      <a:r>
                        <a:rPr sz="1050">
                          <a:solidFill>
                            <a:srgbClr val="25342A"/>
                          </a:solidFill>
                          <a:latin typeface="Roboto"/>
                        </a:rPr>
                        <a:t>14</a:t>
                      </a:r>
                    </a:p>
                  </a:txBody>
                  <a:tcPr>
                    <a:solidFill>
                      <a:srgbClr val="FFFFFF"/>
                    </a:solidFill>
                  </a:tcPr>
                </a:tc>
              </a:tr>
            </a:tbl>
          </a:graphicData>
        </a:graphic>
      </p:graphicFrame>
      <p:sp>
        <p:nvSpPr>
          <p:cNvPr id="6" name="TextBox 5"/>
          <p:cNvSpPr txBox="1"/>
          <p:nvPr/>
        </p:nvSpPr>
        <p:spPr>
          <a:xfrm>
            <a:off x="457200" y="6492240"/>
            <a:ext cx="2926080" cy="274320"/>
          </a:xfrm>
          <a:prstGeom prst="rect">
            <a:avLst/>
          </a:prstGeom>
          <a:noFill/>
        </p:spPr>
        <p:txBody>
          <a:bodyPr wrap="square" lIns="45720" rIns="45720">
            <a:spAutoFit/>
          </a:bodyPr>
          <a:lstStyle/>
          <a:p>
            <a:pPr>
              <a:defRPr>
                <a:latin typeface="Roboto"/>
              </a:defRPr>
            </a:pPr>
            <a:r>
              <a:rPr sz="900" b="0">
                <a:solidFill>
                  <a:srgbClr val="5F6F63"/>
                </a:solidFill>
                <a:latin typeface="Roboto"/>
              </a:rPr>
              <a:t>cash-payroll.pptx</a:t>
            </a:r>
          </a:p>
        </p:txBody>
      </p:sp>
      <p:sp>
        <p:nvSpPr>
          <p:cNvPr id="7" name="TextBox 6"/>
          <p:cNvSpPr txBox="1"/>
          <p:nvPr/>
        </p:nvSpPr>
        <p:spPr>
          <a:xfrm>
            <a:off x="3108960" y="6492240"/>
            <a:ext cx="5943600" cy="274320"/>
          </a:xfrm>
          <a:prstGeom prst="rect">
            <a:avLst/>
          </a:prstGeom>
          <a:noFill/>
        </p:spPr>
        <p:txBody>
          <a:bodyPr wrap="square" lIns="45720" rIns="45720">
            <a:spAutoFit/>
          </a:bodyPr>
          <a:lstStyle/>
          <a:p>
            <a:pPr algn="ctr">
              <a:defRPr>
                <a:latin typeface="Roboto"/>
              </a:defRPr>
            </a:pPr>
            <a:r>
              <a:rPr sz="900" b="0">
                <a:solidFill>
                  <a:srgbClr val="5F6F63"/>
                </a:solidFill>
                <a:latin typeface="Roboto"/>
              </a:rPr>
              <a:t>Data retrieved 2pm, Tue 6 Oct 2026 · Generated 9 Oct 2026, 1:20pm · Sample data · Made with Python (python-pptx)</a:t>
            </a:r>
          </a:p>
        </p:txBody>
      </p:sp>
      <p:sp>
        <p:nvSpPr>
          <p:cNvPr id="8" name="TextBox 7"/>
          <p:cNvSpPr txBox="1"/>
          <p:nvPr/>
        </p:nvSpPr>
        <p:spPr>
          <a:xfrm>
            <a:off x="8503920" y="6492240"/>
            <a:ext cx="3200400" cy="274320"/>
          </a:xfrm>
          <a:prstGeom prst="rect">
            <a:avLst/>
          </a:prstGeom>
          <a:noFill/>
        </p:spPr>
        <p:txBody>
          <a:bodyPr wrap="square" lIns="45720" rIns="45720">
            <a:spAutoFit/>
          </a:bodyPr>
          <a:lstStyle/>
          <a:p>
            <a:pPr algn="r">
              <a:defRPr>
                <a:latin typeface="Roboto"/>
              </a:defRPr>
            </a:pPr>
            <a:r>
              <a:rPr sz="900" b="0">
                <a:solidFill>
                  <a:srgbClr val="5F6F63"/>
                </a:solidFill>
                <a:latin typeface="Roboto"/>
              </a:rPr>
              <a:t>Slide 6 of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5342A"/>
      </a:dk2>
      <a:lt2>
        <a:srgbClr val="F4F7F2"/>
      </a:lt2>
      <a:accent1>
        <a:srgbClr val="2F7A5D"/>
      </a:accent1>
      <a:accent2>
        <a:srgbClr val="0E9F6E"/>
      </a:accent2>
      <a:accent3>
        <a:srgbClr val="7D8790"/>
      </a:accent3>
      <a:accent4>
        <a:srgbClr val="8A6D3B"/>
      </a:accent4>
      <a:accent5>
        <a:srgbClr val="B42318"/>
      </a:accent5>
      <a:accent6>
        <a:srgbClr val="8E9CAB"/>
      </a:accent6>
      <a:hlink>
        <a:srgbClr val="0000FF"/>
      </a:hlink>
      <a:folHlink>
        <a:srgbClr val="800080"/>
      </a:folHlink>
    </a:clrScheme>
    <a:fontScheme name="Office">
      <a:majorFont>
        <a:latin typeface="Roboto"/>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