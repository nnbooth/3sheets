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Sheet1!$A$2:$A$153</c:f>
              <c:strCache>
                <c:ptCount val="15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strCache>
            </c:strRef>
          </c:cat>
          <c:val>
            <c:numRef>
              <c:f>Sheet1!$B$2:$B$153</c:f>
              <c:numCache>
                <c:formatCode>$#,##0;[Red]($#,##0);"-"</c:formatCode>
                <c:ptCount val="15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132057</c:v>
                </c:pt>
                <c:pt idx="62">
                  <c:v>133401</c:v>
                </c:pt>
                <c:pt idx="63">
                  <c:v>133401</c:v>
                </c:pt>
                <c:pt idx="64">
                  <c:v>133401</c:v>
                </c:pt>
                <c:pt idx="65">
                  <c:v>133401</c:v>
                </c:pt>
                <c:pt idx="66">
                  <c:v>194170</c:v>
                </c:pt>
                <c:pt idx="67">
                  <c:v>202904</c:v>
                </c:pt>
                <c:pt idx="68">
                  <c:v>202904</c:v>
                </c:pt>
                <c:pt idx="69">
                  <c:v>225784</c:v>
                </c:pt>
                <c:pt idx="70">
                  <c:v>225784</c:v>
                </c:pt>
                <c:pt idx="71">
                  <c:v>225784</c:v>
                </c:pt>
                <c:pt idx="72">
                  <c:v>230478</c:v>
                </c:pt>
                <c:pt idx="73">
                  <c:v>232043</c:v>
                </c:pt>
                <c:pt idx="74">
                  <c:v>232043</c:v>
                </c:pt>
                <c:pt idx="75">
                  <c:v>134844</c:v>
                </c:pt>
                <c:pt idx="76">
                  <c:v>136409</c:v>
                </c:pt>
                <c:pt idx="77">
                  <c:v>136409</c:v>
                </c:pt>
                <c:pt idx="78">
                  <c:v>136409</c:v>
                </c:pt>
                <c:pt idx="79">
                  <c:v>156943</c:v>
                </c:pt>
                <c:pt idx="80">
                  <c:v>158508</c:v>
                </c:pt>
                <c:pt idx="81">
                  <c:v>158508</c:v>
                </c:pt>
                <c:pt idx="82">
                  <c:v>158508</c:v>
                </c:pt>
                <c:pt idx="83">
                  <c:v>172172</c:v>
                </c:pt>
                <c:pt idx="84">
                  <c:v>172172</c:v>
                </c:pt>
                <c:pt idx="85">
                  <c:v>172172</c:v>
                </c:pt>
                <c:pt idx="86">
                  <c:v>176866</c:v>
                </c:pt>
                <c:pt idx="87">
                  <c:v>178431</c:v>
                </c:pt>
                <c:pt idx="88">
                  <c:v>87178</c:v>
                </c:pt>
                <c:pt idx="89">
                  <c:v>69267</c:v>
                </c:pt>
                <c:pt idx="90">
                  <c:v>70832</c:v>
                </c:pt>
                <c:pt idx="91">
                  <c:v>70832</c:v>
                </c:pt>
                <c:pt idx="92">
                  <c:v>70832</c:v>
                </c:pt>
                <c:pt idx="93">
                  <c:v>77691</c:v>
                </c:pt>
                <c:pt idx="94">
                  <c:v>79256</c:v>
                </c:pt>
                <c:pt idx="95">
                  <c:v>79256</c:v>
                </c:pt>
                <c:pt idx="96">
                  <c:v>86230</c:v>
                </c:pt>
                <c:pt idx="97">
                  <c:v>94768</c:v>
                </c:pt>
                <c:pt idx="98">
                  <c:v>94768</c:v>
                </c:pt>
                <c:pt idx="99">
                  <c:v>94768</c:v>
                </c:pt>
                <c:pt idx="100">
                  <c:v>113410</c:v>
                </c:pt>
                <c:pt idx="101">
                  <c:v>114975</c:v>
                </c:pt>
                <c:pt idx="102">
                  <c:v>121949</c:v>
                </c:pt>
                <c:pt idx="103">
                  <c:v>92312</c:v>
                </c:pt>
                <c:pt idx="104">
                  <c:v>100851</c:v>
                </c:pt>
                <c:pt idx="105">
                  <c:v>100851</c:v>
                </c:pt>
                <c:pt idx="106">
                  <c:v>100851</c:v>
                </c:pt>
                <c:pt idx="107">
                  <c:v>58905</c:v>
                </c:pt>
                <c:pt idx="108">
                  <c:v>60469</c:v>
                </c:pt>
                <c:pt idx="109">
                  <c:v>67443</c:v>
                </c:pt>
                <c:pt idx="110">
                  <c:v>74417</c:v>
                </c:pt>
                <c:pt idx="111">
                  <c:v>82956</c:v>
                </c:pt>
                <c:pt idx="112">
                  <c:v>82956</c:v>
                </c:pt>
                <c:pt idx="113">
                  <c:v>82956</c:v>
                </c:pt>
                <c:pt idx="114">
                  <c:v>101598</c:v>
                </c:pt>
                <c:pt idx="115">
                  <c:v>103163</c:v>
                </c:pt>
                <c:pt idx="116">
                  <c:v>110137</c:v>
                </c:pt>
                <c:pt idx="117">
                  <c:v>80500</c:v>
                </c:pt>
                <c:pt idx="118">
                  <c:v>89039</c:v>
                </c:pt>
                <c:pt idx="119">
                  <c:v>89039</c:v>
                </c:pt>
                <c:pt idx="120">
                  <c:v>89039</c:v>
                </c:pt>
                <c:pt idx="121">
                  <c:v>41013</c:v>
                </c:pt>
                <c:pt idx="122">
                  <c:v>92462</c:v>
                </c:pt>
                <c:pt idx="123">
                  <c:v>99436</c:v>
                </c:pt>
                <c:pt idx="124">
                  <c:v>106410</c:v>
                </c:pt>
                <c:pt idx="125">
                  <c:v>114949</c:v>
                </c:pt>
                <c:pt idx="126">
                  <c:v>114949</c:v>
                </c:pt>
                <c:pt idx="127">
                  <c:v>114949</c:v>
                </c:pt>
                <c:pt idx="128">
                  <c:v>133591</c:v>
                </c:pt>
                <c:pt idx="129">
                  <c:v>135156</c:v>
                </c:pt>
                <c:pt idx="130">
                  <c:v>142130</c:v>
                </c:pt>
                <c:pt idx="131">
                  <c:v>112493</c:v>
                </c:pt>
                <c:pt idx="132">
                  <c:v>121032</c:v>
                </c:pt>
                <c:pt idx="133">
                  <c:v>121032</c:v>
                </c:pt>
                <c:pt idx="134">
                  <c:v>121032</c:v>
                </c:pt>
                <c:pt idx="135">
                  <c:v>139674</c:v>
                </c:pt>
                <c:pt idx="136">
                  <c:v>80650</c:v>
                </c:pt>
                <c:pt idx="137">
                  <c:v>87624</c:v>
                </c:pt>
                <c:pt idx="138">
                  <c:v>94598</c:v>
                </c:pt>
                <c:pt idx="139">
                  <c:v>103137</c:v>
                </c:pt>
                <c:pt idx="140">
                  <c:v>103137</c:v>
                </c:pt>
                <c:pt idx="141">
                  <c:v>103137</c:v>
                </c:pt>
                <c:pt idx="142">
                  <c:v>121779</c:v>
                </c:pt>
                <c:pt idx="143">
                  <c:v>123344</c:v>
                </c:pt>
                <c:pt idx="144">
                  <c:v>130318</c:v>
                </c:pt>
                <c:pt idx="145">
                  <c:v>100681</c:v>
                </c:pt>
                <c:pt idx="146">
                  <c:v>100681</c:v>
                </c:pt>
                <c:pt idx="147">
                  <c:v>100681</c:v>
                </c:pt>
                <c:pt idx="148">
                  <c:v>100681</c:v>
                </c:pt>
                <c:pt idx="149">
                  <c:v>100681</c:v>
                </c:pt>
                <c:pt idx="150">
                  <c:v>122862</c:v>
                </c:pt>
                <c:pt idx="151">
                  <c:v>129836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7"/>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October: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B42318"/>
              </a:solidFill>
            </c:spPr>
          </c:dPt>
          <c:dPt>
            <c:idx val="4"/>
            <c:spPr>
              <a:solidFill>
                <a:srgbClr val="0E9F6E"/>
              </a:solidFill>
            </c:spPr>
          </c:dPt>
          <c:dPt>
            <c:idx val="5"/>
            <c:spPr>
              <a:solidFill>
                <a:srgbClr val="0E9F6E"/>
              </a:solidFill>
            </c:spPr>
          </c:dPt>
          <c:cat>
            <c:strRef>
              <c:f>Sheet1!$A$2:$A$7</c:f>
              <c:strCache>
                <c:ptCount val="6"/>
                <c:pt idx="0">
                  <c:v>Pay runs (3)</c:v>
                </c:pt>
                <c:pt idx="1">
                  <c:v>BAS (GST and PAYG)</c:v>
                </c:pt>
                <c:pt idx="2">
                  <c:v>Suppliers and overheads</c:v>
                </c:pt>
                <c:pt idx="3">
                  <c:v>Interest and equipment finance</c:v>
                </c:pt>
                <c:pt idx="4">
                  <c:v>New work collected</c:v>
                </c:pt>
                <c:pt idx="5">
                  <c:v>Unpaid invoices collected</c:v>
                </c:pt>
              </c:strCache>
            </c:strRef>
          </c:cat>
          <c:val>
            <c:numRef>
              <c:f>Sheet1!$B$2:$B$7</c:f>
              <c:numCache>
                <c:formatCode>$#,##0;[Red]($#,##0);"-"</c:formatCode>
                <c:ptCount val="6"/>
                <c:pt idx="0">
                  <c:v>-109833</c:v>
                </c:pt>
                <c:pt idx="1">
                  <c:v>-86253</c:v>
                </c:pt>
                <c:pt idx="2">
                  <c:v>-60588</c:v>
                </c:pt>
                <c:pt idx="3">
                  <c:v>-5000</c:v>
                </c:pt>
                <c:pt idx="4">
                  <c:v>26600</c:v>
                </c:pt>
                <c:pt idx="5">
                  <c:v>185678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213529.69999999998"/>
          <c:min val="-126307.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September 2026. A 13-week cash forecast from 30 September: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30 Sep: $120,228; Paid to employees in October: $109,833; After the tightest pay run, 29 Oct: $69,267; Lowest point, next 13 weeks: $41,013. Cash at bank was $120,228 at 30 September. October has 3 pay runs ($109,833). The tightest is 29 October: $69,267 left after paying wages, $32,656 more than a pay run in reserve. The lowest point in the 13 weeks is $41,013 on 30 November. 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September 2026. A 13-week cash forecast from 30 September: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30 Sep, then forecast to 30 Dec</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30 Sep</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$120,228</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October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$109,833</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29 Oct</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$69,267</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$41,013</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192176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12870"/>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738550"/>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617720"/>
            <a:ext cx="5501487" cy="169164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$120,228 at 30 September. October has 3 pay runs ($109,833). The tightest is 29 October: $69,267 left after paying wages, $32,656 more than a pay run in reserve. The lowest point in the 13 weeks is $41,013 on 30 November.</a:t>
            </a:r>
          </a:p>
        </p:txBody>
      </p:sp>
      <p:sp>
        <p:nvSpPr>
          <p:cNvPr id="28" name="Rectangle 27"/>
          <p:cNvSpPr/>
          <p:nvPr/>
        </p:nvSpPr>
        <p:spPr>
          <a:xfrm>
            <a:off x="6233007" y="4617720"/>
            <a:ext cx="5501487" cy="169164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October: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Oct</a:t>
                      </a:r>
                    </a:p>
                  </a:txBody>
                  <a:tcPr>
                    <a:solidFill>
                      <a:srgbClr val="FFFFFF"/>
                    </a:solidFill>
                  </a:tcPr>
                </a:tc>
                <a:tc>
                  <a:txBody>
                    <a:bodyPr/>
                    <a:lstStyle/>
                    <a:p>
                      <a:pPr algn="r">
                        <a:defRPr>
                          <a:latin typeface="Roboto"/>
                        </a:defRPr>
                      </a:pPr>
                      <a:r>
                        <a:rPr sz="1050">
                          <a:solidFill>
                            <a:srgbClr val="25342A"/>
                          </a:solidFill>
                          <a:latin typeface="Roboto"/>
                        </a:rPr>
                        <a:t>$120,228</a:t>
                      </a:r>
                    </a:p>
                  </a:txBody>
                  <a:tcPr>
                    <a:solidFill>
                      <a:srgbClr val="FFFFFF"/>
                    </a:solidFill>
                  </a:tcPr>
                </a:tc>
                <a:tc>
                  <a:txBody>
                    <a:bodyPr/>
                    <a:lstStyle/>
                    <a:p>
                      <a:pPr algn="r">
                        <a:defRPr>
                          <a:latin typeface="Roboto"/>
                        </a:defRPr>
                      </a:pPr>
                      <a:r>
                        <a:rPr sz="1050">
                          <a:solidFill>
                            <a:srgbClr val="25342A"/>
                          </a:solidFill>
                          <a:latin typeface="Roboto"/>
                        </a:rPr>
                        <a:t>$116,158</a:t>
                      </a:r>
                    </a:p>
                  </a:txBody>
                  <a:tcPr>
                    <a:solidFill>
                      <a:srgbClr val="FFFFFF"/>
                    </a:solidFill>
                  </a:tcPr>
                </a:tc>
                <a:tc>
                  <a:txBody>
                    <a:bodyPr/>
                    <a:lstStyle/>
                    <a:p>
                      <a:pPr algn="r">
                        <a:defRPr>
                          <a:latin typeface="Roboto"/>
                        </a:defRPr>
                      </a:pPr>
                      <a:r>
                        <a:rPr sz="1050">
                          <a:solidFill>
                            <a:srgbClr val="25342A"/>
                          </a:solidFill>
                          <a:latin typeface="Roboto"/>
                        </a:rPr>
                        <a:t>$3,129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$202,904</a:t>
                      </a:r>
                    </a:p>
                  </a:txBody>
                  <a:tcPr>
                    <a:solidFill>
                      <a:srgbClr val="FFFFFF"/>
                    </a:solidFill>
                  </a:tcPr>
                </a:tc>
                <a:tc>
                  <a:txBody>
                    <a:bodyPr/>
                    <a:lstStyle/>
                    <a:p>
                      <a:pPr algn="r">
                        <a:defRPr>
                          <a:latin typeface="Roboto"/>
                        </a:defRPr>
                      </a:pPr>
                      <a:r>
                        <a:rPr sz="1050">
                          <a:solidFill>
                            <a:srgbClr val="25342A"/>
                          </a:solidFill>
                          <a:latin typeface="Roboto"/>
                        </a:rPr>
                        <a:t>$132,057</a:t>
                      </a:r>
                    </a:p>
                  </a:txBody>
                  <a:tcPr>
                    <a:solidFill>
                      <a:srgbClr val="FFFFFF"/>
                    </a:solidFill>
                  </a:tcPr>
                </a:tc>
              </a:tr>
              <a:tr h="310896">
                <a:tc>
                  <a:txBody>
                    <a:bodyPr/>
                    <a:lstStyle/>
                    <a:p>
                      <a:pPr algn="l">
                        <a:defRPr>
                          <a:latin typeface="Roboto"/>
                        </a:defRPr>
                      </a:pPr>
                      <a:r>
                        <a:rPr sz="1050">
                          <a:solidFill>
                            <a:srgbClr val="25342A"/>
                          </a:solidFill>
                          <a:latin typeface="Roboto"/>
                        </a:rPr>
                        <a:t>14 Oct</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c>
                  <a:txBody>
                    <a:bodyPr/>
                    <a:lstStyle/>
                    <a:p>
                      <a:pPr algn="r">
                        <a:defRPr>
                          <a:latin typeface="Roboto"/>
                        </a:defRPr>
                      </a:pPr>
                      <a:r>
                        <a:rPr sz="1050">
                          <a:solidFill>
                            <a:srgbClr val="25342A"/>
                          </a:solidFill>
                          <a:latin typeface="Roboto"/>
                        </a:rPr>
                        <a:t>$22,880</a:t>
                      </a:r>
                    </a:p>
                  </a:txBody>
                  <a:tcPr>
                    <a:solidFill>
                      <a:srgbClr val="F7FAF7"/>
                    </a:solidFill>
                  </a:tcPr>
                </a:tc>
                <a:tc>
                  <a:txBody>
                    <a:bodyPr/>
                    <a:lstStyle/>
                    <a:p>
                      <a:pPr algn="r">
                        <a:defRPr>
                          <a:latin typeface="Roboto"/>
                        </a:defRPr>
                      </a:pPr>
                      <a:r>
                        <a:rPr sz="1050">
                          <a:solidFill>
                            <a:srgbClr val="25342A"/>
                          </a:solidFill>
                          <a:latin typeface="Roboto"/>
                        </a:rPr>
                        <a:t>$6,259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$232,043</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r>
              <a:tr h="310896">
                <a:tc>
                  <a:txBody>
                    <a:bodyPr/>
                    <a:lstStyle/>
                    <a:p>
                      <a:pPr algn="l">
                        <a:defRPr>
                          <a:latin typeface="Roboto"/>
                        </a:defRPr>
                      </a:pPr>
                      <a:r>
                        <a:rPr sz="1050">
                          <a:solidFill>
                            <a:srgbClr val="25342A"/>
                          </a:solidFill>
                          <a:latin typeface="Roboto"/>
                        </a:rPr>
                        <a:t>21 Oct</a:t>
                      </a:r>
                    </a:p>
                  </a:txBody>
                  <a:tcPr>
                    <a:solidFill>
                      <a:srgbClr val="FFFFFF"/>
                    </a:solidFill>
                  </a:tcPr>
                </a:tc>
                <a:tc>
                  <a:txBody>
                    <a:bodyPr/>
                    <a:lstStyle/>
                    <a:p>
                      <a:pPr algn="r">
                        <a:defRPr>
                          <a:latin typeface="Roboto"/>
                        </a:defRPr>
                      </a:pPr>
                      <a:r>
                        <a:rPr sz="1050">
                          <a:solidFill>
                            <a:srgbClr val="25342A"/>
                          </a:solidFill>
                          <a:latin typeface="Roboto"/>
                        </a:rPr>
                        <a:t>$232,043</a:t>
                      </a:r>
                    </a:p>
                  </a:txBody>
                  <a:tcPr>
                    <a:solidFill>
                      <a:srgbClr val="FFFFFF"/>
                    </a:solidFill>
                  </a:tcPr>
                </a:tc>
                <a:tc>
                  <a:txBody>
                    <a:bodyPr/>
                    <a:lstStyle/>
                    <a:p>
                      <a:pPr algn="r">
                        <a:defRPr>
                          <a:latin typeface="Roboto"/>
                        </a:defRPr>
                      </a:pPr>
                      <a:r>
                        <a:rPr sz="1050">
                          <a:solidFill>
                            <a:srgbClr val="25342A"/>
                          </a:solidFill>
                          <a:latin typeface="Roboto"/>
                        </a:rPr>
                        <a:t>$15,840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$158,508</a:t>
                      </a:r>
                    </a:p>
                  </a:txBody>
                  <a:tcPr>
                    <a:solidFill>
                      <a:srgbClr val="FFFFFF"/>
                    </a:solidFill>
                  </a:tcPr>
                </a:tc>
                <a:tc>
                  <a:txBody>
                    <a:bodyPr/>
                    <a:lstStyle/>
                    <a:p>
                      <a:pPr algn="r">
                        <a:defRPr>
                          <a:latin typeface="Roboto"/>
                        </a:defRPr>
                      </a:pPr>
                      <a:r>
                        <a:rPr sz="1050">
                          <a:solidFill>
                            <a:srgbClr val="25342A"/>
                          </a:solidFill>
                          <a:latin typeface="Roboto"/>
                        </a:rPr>
                        <a:t>$134,844</a:t>
                      </a:r>
                    </a:p>
                  </a:txBody>
                  <a:tcPr>
                    <a:solidFill>
                      <a:srgbClr val="FFFFFF"/>
                    </a:solidFill>
                  </a:tcPr>
                </a:tc>
              </a:tr>
              <a:tr h="310896">
                <a:tc>
                  <a:txBody>
                    <a:bodyPr/>
                    <a:lstStyle/>
                    <a:p>
                      <a:pPr algn="l">
                        <a:defRPr>
                          <a:latin typeface="Roboto"/>
                        </a:defRPr>
                      </a:pPr>
                      <a:r>
                        <a:rPr sz="1050">
                          <a:solidFill>
                            <a:srgbClr val="25342A"/>
                          </a:solidFill>
                          <a:latin typeface="Roboto"/>
                        </a:rPr>
                        <a:t>28 Oct</a:t>
                      </a:r>
                    </a:p>
                  </a:txBody>
                  <a:tcPr>
                    <a:solidFill>
                      <a:srgbClr val="F7FAF7"/>
                    </a:solidFill>
                  </a:tcPr>
                </a:tc>
                <a:tc>
                  <a:txBody>
                    <a:bodyPr/>
                    <a:lstStyle/>
                    <a:p>
                      <a:pPr algn="r">
                        <a:defRPr>
                          <a:latin typeface="Roboto"/>
                        </a:defRPr>
                      </a:pPr>
                      <a:r>
                        <a:rPr sz="1050">
                          <a:solidFill>
                            <a:srgbClr val="25342A"/>
                          </a:solidFill>
                          <a:latin typeface="Roboto"/>
                        </a:rPr>
                        <a:t>$158,508</a:t>
                      </a:r>
                    </a:p>
                  </a:txBody>
                  <a:tcPr>
                    <a:solidFill>
                      <a:srgbClr val="F7FAF7"/>
                    </a:solidFill>
                  </a:tcPr>
                </a:tc>
                <a:tc>
                  <a:txBody>
                    <a:bodyPr/>
                    <a:lstStyle/>
                    <a:p>
                      <a:pPr algn="r">
                        <a:defRPr>
                          <a:latin typeface="Roboto"/>
                        </a:defRPr>
                      </a:pPr>
                      <a:r>
                        <a:rPr sz="1050">
                          <a:solidFill>
                            <a:srgbClr val="25342A"/>
                          </a:solidFill>
                          <a:latin typeface="Roboto"/>
                        </a:rPr>
                        <a:t>$12,100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r>
              <a:tr h="310896">
                <a:tc>
                  <a:txBody>
                    <a:bodyPr/>
                    <a:lstStyle/>
                    <a:p>
                      <a:pPr algn="l">
                        <a:defRPr>
                          <a:latin typeface="Roboto"/>
                        </a:defRPr>
                      </a:pPr>
                      <a:r>
                        <a:rPr sz="1050">
                          <a:solidFill>
                            <a:srgbClr val="25342A"/>
                          </a:solidFill>
                          <a:latin typeface="Roboto"/>
                        </a:rPr>
                        <a:t>4 Nov</a:t>
                      </a:r>
                    </a:p>
                  </a:txBody>
                  <a:tcPr>
                    <a:solidFill>
                      <a:srgbClr val="FFFFFF"/>
                    </a:solidFill>
                  </a:tcPr>
                </a:tc>
                <a:tc>
                  <a:txBody>
                    <a:bodyPr/>
                    <a:lstStyle/>
                    <a:p>
                      <a:pPr algn="r">
                        <a:defRPr>
                          <a:latin typeface="Roboto"/>
                        </a:defRPr>
                      </a:pPr>
                      <a:r>
                        <a:rPr sz="1050">
                          <a:solidFill>
                            <a:srgbClr val="25342A"/>
                          </a:solidFill>
                          <a:latin typeface="Roboto"/>
                        </a:rPr>
                        <a:t>$87,178</a:t>
                      </a:r>
                    </a:p>
                  </a:txBody>
                  <a:tcPr>
                    <a:solidFill>
                      <a:srgbClr val="FFFFFF"/>
                    </a:solidFill>
                  </a:tcPr>
                </a:tc>
                <a:tc>
                  <a:txBody>
                    <a:bodyPr/>
                    <a:lstStyle/>
                    <a:p>
                      <a:pPr algn="r">
                        <a:defRPr>
                          <a:latin typeface="Roboto"/>
                        </a:defRPr>
                      </a:pPr>
                      <a:r>
                        <a:rPr sz="1050">
                          <a:solidFill>
                            <a:srgbClr val="25342A"/>
                          </a:solidFill>
                          <a:latin typeface="Roboto"/>
                        </a:rPr>
                        <a:t>$18,700</a:t>
                      </a:r>
                    </a:p>
                  </a:txBody>
                  <a:tcPr>
                    <a:solidFill>
                      <a:srgbClr val="FFFFFF"/>
                    </a:solidFill>
                  </a:tcPr>
                </a:tc>
                <a:tc>
                  <a:txBody>
                    <a:bodyPr/>
                    <a:lstStyle/>
                    <a:p>
                      <a:pPr algn="r">
                        <a:defRPr>
                          <a:latin typeface="Roboto"/>
                        </a:defRPr>
                      </a:pPr>
                      <a:r>
                        <a:rPr sz="1050">
                          <a:solidFill>
                            <a:srgbClr val="25342A"/>
                          </a:solidFill>
                          <a:latin typeface="Roboto"/>
                        </a:rPr>
                        <a:t>$71,657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$79,256</a:t>
                      </a:r>
                    </a:p>
                  </a:txBody>
                  <a:tcPr>
                    <a:solidFill>
                      <a:srgbClr val="FFFFFF"/>
                    </a:solidFill>
                  </a:tcPr>
                </a:tc>
                <a:tc>
                  <a:txBody>
                    <a:bodyPr/>
                    <a:lstStyle/>
                    <a:p>
                      <a:pPr algn="r">
                        <a:defRPr>
                          <a:latin typeface="Roboto"/>
                        </a:defRPr>
                      </a:pPr>
                      <a:r>
                        <a:rPr sz="1050">
                          <a:solidFill>
                            <a:srgbClr val="25342A"/>
                          </a:solidFill>
                          <a:latin typeface="Roboto"/>
                        </a:rPr>
                        <a:t>$69,267</a:t>
                      </a:r>
                    </a:p>
                  </a:txBody>
                  <a:tcPr>
                    <a:solidFill>
                      <a:srgbClr val="FFFFFF"/>
                    </a:solidFill>
                  </a:tcPr>
                </a:tc>
              </a:tr>
              <a:tr h="310896">
                <a:tc>
                  <a:txBody>
                    <a:bodyPr/>
                    <a:lstStyle/>
                    <a:p>
                      <a:pPr algn="l">
                        <a:defRPr>
                          <a:latin typeface="Roboto"/>
                        </a:defRPr>
                      </a:pPr>
                      <a:r>
                        <a:rPr sz="1050">
                          <a:solidFill>
                            <a:srgbClr val="25342A"/>
                          </a:solidFill>
                          <a:latin typeface="Roboto"/>
                        </a:rPr>
                        <a:t>11 Nov</a:t>
                      </a:r>
                    </a:p>
                  </a:txBody>
                  <a:tcPr>
                    <a:solidFill>
                      <a:srgbClr val="F7FAF7"/>
                    </a:solidFill>
                  </a:tcPr>
                </a:tc>
                <a:tc>
                  <a:txBody>
                    <a:bodyPr/>
                    <a:lstStyle/>
                    <a:p>
                      <a:pPr algn="r">
                        <a:defRPr>
                          <a:latin typeface="Roboto"/>
                        </a:defRPr>
                      </a:pPr>
                      <a:r>
                        <a:rPr sz="1050">
                          <a:solidFill>
                            <a:srgbClr val="25342A"/>
                          </a:solidFill>
                          <a:latin typeface="Roboto"/>
                        </a:rPr>
                        <a:t>$79,256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$121,949</a:t>
                      </a:r>
                    </a:p>
                  </a:txBody>
                  <a:tcPr>
                    <a:solidFill>
                      <a:srgbClr val="F7FAF7"/>
                    </a:solidFill>
                  </a:tcPr>
                </a:tc>
                <a:tc>
                  <a:txBody>
                    <a:bodyPr/>
                    <a:lstStyle/>
                    <a:p>
                      <a:pPr algn="r">
                        <a:defRPr>
                          <a:latin typeface="Roboto"/>
                        </a:defRPr>
                      </a:pPr>
                      <a:r>
                        <a:rPr sz="1050">
                          <a:solidFill>
                            <a:srgbClr val="25342A"/>
                          </a:solidFill>
                          <a:latin typeface="Roboto"/>
                        </a:rPr>
                        <a:t>$86,230</a:t>
                      </a:r>
                    </a:p>
                  </a:txBody>
                  <a:tcPr>
                    <a:solidFill>
                      <a:srgbClr val="F7FAF7"/>
                    </a:solidFill>
                  </a:tcPr>
                </a:tc>
              </a:tr>
              <a:tr h="310896">
                <a:tc>
                  <a:txBody>
                    <a:bodyPr/>
                    <a:lstStyle/>
                    <a:p>
                      <a:pPr algn="l">
                        <a:defRPr>
                          <a:latin typeface="Roboto"/>
                        </a:defRPr>
                      </a:pPr>
                      <a:r>
                        <a:rPr sz="1050">
                          <a:solidFill>
                            <a:srgbClr val="25342A"/>
                          </a:solidFill>
                          <a:latin typeface="Roboto"/>
                        </a:rPr>
                        <a:t>18 Nov</a:t>
                      </a:r>
                    </a:p>
                  </a:txBody>
                  <a:tcPr>
                    <a:solidFill>
                      <a:srgbClr val="FFFFFF"/>
                    </a:solidFill>
                  </a:tcPr>
                </a:tc>
                <a:tc>
                  <a:txBody>
                    <a:bodyPr/>
                    <a:lstStyle/>
                    <a:p>
                      <a:pPr algn="r">
                        <a:defRPr>
                          <a:latin typeface="Roboto"/>
                        </a:defRPr>
                      </a:pPr>
                      <a:r>
                        <a:rPr sz="1050">
                          <a:solidFill>
                            <a:srgbClr val="25342A"/>
                          </a:solidFill>
                          <a:latin typeface="Roboto"/>
                        </a:rPr>
                        <a:t>$121,949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$67,443</a:t>
                      </a:r>
                    </a:p>
                  </a:txBody>
                  <a:tcPr>
                    <a:solidFill>
                      <a:srgbClr val="FFFFFF"/>
                    </a:solidFill>
                  </a:tcPr>
                </a:tc>
                <a:tc>
                  <a:txBody>
                    <a:bodyPr/>
                    <a:lstStyle/>
                    <a:p>
                      <a:pPr algn="r">
                        <a:defRPr>
                          <a:latin typeface="Roboto"/>
                        </a:defRPr>
                      </a:pPr>
                      <a:r>
                        <a:rPr sz="1050">
                          <a:solidFill>
                            <a:srgbClr val="25342A"/>
                          </a:solidFill>
                          <a:latin typeface="Roboto"/>
                        </a:rPr>
                        <a:t>$58,905</a:t>
                      </a:r>
                    </a:p>
                  </a:txBody>
                  <a:tcPr>
                    <a:solidFill>
                      <a:srgbClr val="FFFFFF"/>
                    </a:solidFill>
                  </a:tcPr>
                </a:tc>
              </a:tr>
              <a:tr h="310896">
                <a:tc>
                  <a:txBody>
                    <a:bodyPr/>
                    <a:lstStyle/>
                    <a:p>
                      <a:pPr algn="l">
                        <a:defRPr>
                          <a:latin typeface="Roboto"/>
                        </a:defRPr>
                      </a:pPr>
                      <a:r>
                        <a:rPr sz="1050">
                          <a:solidFill>
                            <a:srgbClr val="25342A"/>
                          </a:solidFill>
                          <a:latin typeface="Roboto"/>
                        </a:rPr>
                        <a:t>25 Nov</a:t>
                      </a:r>
                    </a:p>
                  </a:txBody>
                  <a:tcPr>
                    <a:solidFill>
                      <a:srgbClr val="F7FAF7"/>
                    </a:solidFill>
                  </a:tcPr>
                </a:tc>
                <a:tc>
                  <a:txBody>
                    <a:bodyPr/>
                    <a:lstStyle/>
                    <a:p>
                      <a:pPr algn="r">
                        <a:defRPr>
                          <a:latin typeface="Roboto"/>
                        </a:defRPr>
                      </a:pPr>
                      <a:r>
                        <a:rPr sz="1050">
                          <a:solidFill>
                            <a:srgbClr val="25342A"/>
                          </a:solidFill>
                          <a:latin typeface="Roboto"/>
                        </a:rPr>
                        <a:t>$67,443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$110,137</a:t>
                      </a:r>
                    </a:p>
                  </a:txBody>
                  <a:tcPr>
                    <a:solidFill>
                      <a:srgbClr val="F7FAF7"/>
                    </a:solidFill>
                  </a:tcPr>
                </a:tc>
                <a:tc>
                  <a:txBody>
                    <a:bodyPr/>
                    <a:lstStyle/>
                    <a:p>
                      <a:pPr algn="r">
                        <a:defRPr>
                          <a:latin typeface="Roboto"/>
                        </a:defRPr>
                      </a:pPr>
                      <a:r>
                        <a:rPr sz="1050">
                          <a:solidFill>
                            <a:srgbClr val="25342A"/>
                          </a:solidFill>
                          <a:latin typeface="Roboto"/>
                        </a:rPr>
                        <a:t>$74,417</a:t>
                      </a:r>
                    </a:p>
                  </a:txBody>
                  <a:tcPr>
                    <a:solidFill>
                      <a:srgbClr val="F7FAF7"/>
                    </a:solidFill>
                  </a:tcPr>
                </a:tc>
              </a:tr>
              <a:tr h="310896">
                <a:tc>
                  <a:txBody>
                    <a:bodyPr/>
                    <a:lstStyle/>
                    <a:p>
                      <a:pPr algn="l">
                        <a:defRPr>
                          <a:latin typeface="Roboto"/>
                        </a:defRPr>
                      </a:pPr>
                      <a:r>
                        <a:rPr sz="1050">
                          <a:solidFill>
                            <a:srgbClr val="25342A"/>
                          </a:solidFill>
                          <a:latin typeface="Roboto"/>
                        </a:rPr>
                        <a:t>2 Dec</a:t>
                      </a:r>
                    </a:p>
                  </a:txBody>
                  <a:tcPr>
                    <a:solidFill>
                      <a:srgbClr val="FFFFFF"/>
                    </a:solidFill>
                  </a:tcPr>
                </a:tc>
                <a:tc>
                  <a:txBody>
                    <a:bodyPr/>
                    <a:lstStyle/>
                    <a:p>
                      <a:pPr algn="r">
                        <a:defRPr>
                          <a:latin typeface="Roboto"/>
                        </a:defRPr>
                      </a:pPr>
                      <a:r>
                        <a:rPr sz="1050">
                          <a:solidFill>
                            <a:srgbClr val="25342A"/>
                          </a:solidFill>
                          <a:latin typeface="Roboto"/>
                        </a:rPr>
                        <a:t>$110,137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$92,578</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($6,080)</a:t>
                      </a:r>
                    </a:p>
                  </a:txBody>
                  <a:tcPr>
                    <a:solidFill>
                      <a:srgbClr val="FFFFFF"/>
                    </a:solidFill>
                  </a:tcPr>
                </a:tc>
                <a:tc>
                  <a:txBody>
                    <a:bodyPr/>
                    <a:lstStyle/>
                    <a:p>
                      <a:pPr algn="r">
                        <a:defRPr>
                          <a:latin typeface="Roboto"/>
                        </a:defRPr>
                      </a:pPr>
                      <a:r>
                        <a:rPr sz="1050">
                          <a:solidFill>
                            <a:srgbClr val="25342A"/>
                          </a:solidFill>
                          <a:latin typeface="Roboto"/>
                        </a:rPr>
                        <a:t>$99,436</a:t>
                      </a:r>
                    </a:p>
                  </a:txBody>
                  <a:tcPr>
                    <a:solidFill>
                      <a:srgbClr val="FFFFFF"/>
                    </a:solidFill>
                  </a:tcPr>
                </a:tc>
                <a:tc>
                  <a:txBody>
                    <a:bodyPr/>
                    <a:lstStyle/>
                    <a:p>
                      <a:pPr algn="r">
                        <a:defRPr>
                          <a:latin typeface="Roboto"/>
                        </a:defRPr>
                      </a:pPr>
                      <a:r>
                        <a:rPr sz="1050">
                          <a:solidFill>
                            <a:srgbClr val="25342A"/>
                          </a:solidFill>
                          <a:latin typeface="Roboto"/>
                        </a:rPr>
                        <a:t>$41,013</a:t>
                      </a:r>
                    </a:p>
                  </a:txBody>
                  <a:tcPr>
                    <a:solidFill>
                      <a:srgbClr val="FFFFFF"/>
                    </a:solidFill>
                  </a:tcPr>
                </a:tc>
              </a:tr>
              <a:tr h="310896">
                <a:tc>
                  <a:txBody>
                    <a:bodyPr/>
                    <a:lstStyle/>
                    <a:p>
                      <a:pPr algn="l">
                        <a:defRPr>
                          <a:latin typeface="Roboto"/>
                        </a:defRPr>
                      </a:pPr>
                      <a:r>
                        <a:rPr sz="1050">
                          <a:solidFill>
                            <a:srgbClr val="25342A"/>
                          </a:solidFill>
                          <a:latin typeface="Roboto"/>
                        </a:rPr>
                        <a:t>9 Dec</a:t>
                      </a:r>
                    </a:p>
                  </a:txBody>
                  <a:tcPr>
                    <a:solidFill>
                      <a:srgbClr val="F7FAF7"/>
                    </a:solidFill>
                  </a:tcPr>
                </a:tc>
                <a:tc>
                  <a:txBody>
                    <a:bodyPr/>
                    <a:lstStyle/>
                    <a:p>
                      <a:pPr algn="r">
                        <a:defRPr>
                          <a:latin typeface="Roboto"/>
                        </a:defRPr>
                      </a:pPr>
                      <a:r>
                        <a:rPr sz="1050">
                          <a:solidFill>
                            <a:srgbClr val="25342A"/>
                          </a:solidFill>
                          <a:latin typeface="Roboto"/>
                        </a:rPr>
                        <a:t>$99,436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$142,130</a:t>
                      </a:r>
                    </a:p>
                  </a:txBody>
                  <a:tcPr>
                    <a:solidFill>
                      <a:srgbClr val="F7FAF7"/>
                    </a:solidFill>
                  </a:tcPr>
                </a:tc>
                <a:tc>
                  <a:txBody>
                    <a:bodyPr/>
                    <a:lstStyle/>
                    <a:p>
                      <a:pPr algn="r">
                        <a:defRPr>
                          <a:latin typeface="Roboto"/>
                        </a:defRPr>
                      </a:pPr>
                      <a:r>
                        <a:rPr sz="1050">
                          <a:solidFill>
                            <a:srgbClr val="25342A"/>
                          </a:solidFill>
                          <a:latin typeface="Roboto"/>
                        </a:rPr>
                        <a:t>$106,410</a:t>
                      </a:r>
                    </a:p>
                  </a:txBody>
                  <a:tcPr>
                    <a:solidFill>
                      <a:srgbClr val="F7FAF7"/>
                    </a:solidFill>
                  </a:tcPr>
                </a:tc>
              </a:tr>
              <a:tr h="310896">
                <a:tc>
                  <a:txBody>
                    <a:bodyPr/>
                    <a:lstStyle/>
                    <a:p>
                      <a:pPr algn="l">
                        <a:defRPr>
                          <a:latin typeface="Roboto"/>
                        </a:defRPr>
                      </a:pPr>
                      <a:r>
                        <a:rPr sz="1050">
                          <a:solidFill>
                            <a:srgbClr val="25342A"/>
                          </a:solidFill>
                          <a:latin typeface="Roboto"/>
                        </a:rPr>
                        <a:t>16 Dec</a:t>
                      </a:r>
                    </a:p>
                  </a:txBody>
                  <a:tcPr>
                    <a:solidFill>
                      <a:srgbClr val="FFFFFF"/>
                    </a:solidFill>
                  </a:tcPr>
                </a:tc>
                <a:tc>
                  <a:txBody>
                    <a:bodyPr/>
                    <a:lstStyle/>
                    <a:p>
                      <a:pPr algn="r">
                        <a:defRPr>
                          <a:latin typeface="Roboto"/>
                        </a:defRPr>
                      </a:pPr>
                      <a:r>
                        <a:rPr sz="1050">
                          <a:solidFill>
                            <a:srgbClr val="25342A"/>
                          </a:solidFill>
                          <a:latin typeface="Roboto"/>
                        </a:rPr>
                        <a:t>$142,130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$87,624</a:t>
                      </a:r>
                    </a:p>
                  </a:txBody>
                  <a:tcPr>
                    <a:solidFill>
                      <a:srgbClr val="FFFFFF"/>
                    </a:solidFill>
                  </a:tcPr>
                </a:tc>
                <a:tc>
                  <a:txBody>
                    <a:bodyPr/>
                    <a:lstStyle/>
                    <a:p>
                      <a:pPr algn="r">
                        <a:defRPr>
                          <a:latin typeface="Roboto"/>
                        </a:defRPr>
                      </a:pPr>
                      <a:r>
                        <a:rPr sz="1050">
                          <a:solidFill>
                            <a:srgbClr val="25342A"/>
                          </a:solidFill>
                          <a:latin typeface="Roboto"/>
                        </a:rPr>
                        <a:t>$80,650</a:t>
                      </a:r>
                    </a:p>
                  </a:txBody>
                  <a:tcPr>
                    <a:solidFill>
                      <a:srgbClr val="FFFFFF"/>
                    </a:solidFill>
                  </a:tcPr>
                </a:tc>
              </a:tr>
              <a:tr h="310896">
                <a:tc>
                  <a:txBody>
                    <a:bodyPr/>
                    <a:lstStyle/>
                    <a:p>
                      <a:pPr algn="l">
                        <a:defRPr>
                          <a:latin typeface="Roboto"/>
                        </a:defRPr>
                      </a:pPr>
                      <a:r>
                        <a:rPr sz="1050">
                          <a:solidFill>
                            <a:srgbClr val="25342A"/>
                          </a:solidFill>
                          <a:latin typeface="Roboto"/>
                        </a:rPr>
                        <a:t>23 Dec</a:t>
                      </a:r>
                    </a:p>
                  </a:txBody>
                  <a:tcPr>
                    <a:solidFill>
                      <a:srgbClr val="F7FAF7"/>
                    </a:solidFill>
                  </a:tcPr>
                </a:tc>
                <a:tc>
                  <a:txBody>
                    <a:bodyPr/>
                    <a:lstStyle/>
                    <a:p>
                      <a:pPr algn="r">
                        <a:defRPr>
                          <a:latin typeface="Roboto"/>
                        </a:defRPr>
                      </a:pPr>
                      <a:r>
                        <a:rPr sz="1050">
                          <a:solidFill>
                            <a:srgbClr val="25342A"/>
                          </a:solidFill>
                          <a:latin typeface="Roboto"/>
                        </a:rPr>
                        <a:t>$87,624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$130,318</a:t>
                      </a:r>
                    </a:p>
                  </a:txBody>
                  <a:tcPr>
                    <a:solidFill>
                      <a:srgbClr val="F7FAF7"/>
                    </a:solidFill>
                  </a:tcPr>
                </a:tc>
                <a:tc>
                  <a:txBody>
                    <a:bodyPr/>
                    <a:lstStyle/>
                    <a:p>
                      <a:pPr algn="r">
                        <a:defRPr>
                          <a:latin typeface="Roboto"/>
                        </a:defRPr>
                      </a:pPr>
                      <a:r>
                        <a:rPr sz="1050">
                          <a:solidFill>
                            <a:srgbClr val="25342A"/>
                          </a:solidFill>
                          <a:latin typeface="Roboto"/>
                        </a:rPr>
                        <a:t>$94,598</a:t>
                      </a:r>
                    </a:p>
                  </a:txBody>
                  <a:tcPr>
                    <a:solidFill>
                      <a:srgbClr val="F7FAF7"/>
                    </a:solidFill>
                  </a:tcPr>
                </a:tc>
              </a:tr>
              <a:tr h="310896">
                <a:tc>
                  <a:txBody>
                    <a:bodyPr/>
                    <a:lstStyle/>
                    <a:p>
                      <a:pPr algn="l">
                        <a:defRPr>
                          <a:latin typeface="Roboto"/>
                        </a:defRPr>
                      </a:pPr>
                      <a:r>
                        <a:rPr sz="1050">
                          <a:solidFill>
                            <a:srgbClr val="25342A"/>
                          </a:solidFill>
                          <a:latin typeface="Roboto"/>
                        </a:rPr>
                        <a:t>30 Dec</a:t>
                      </a:r>
                    </a:p>
                  </a:txBody>
                  <a:tcPr>
                    <a:solidFill>
                      <a:srgbClr val="FFFFFF"/>
                    </a:solidFill>
                  </a:tcPr>
                </a:tc>
                <a:tc>
                  <a:txBody>
                    <a:bodyPr/>
                    <a:lstStyle/>
                    <a:p>
                      <a:pPr algn="r">
                        <a:defRPr>
                          <a:latin typeface="Roboto"/>
                        </a:defRPr>
                      </a:pPr>
                      <a:r>
                        <a:rPr sz="1050">
                          <a:solidFill>
                            <a:srgbClr val="25342A"/>
                          </a:solidFill>
                          <a:latin typeface="Roboto"/>
                        </a:rPr>
                        <a:t>$130,318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$41,129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($5,000)</a:t>
                      </a:r>
                    </a:p>
                  </a:txBody>
                  <a:tcPr>
                    <a:solidFill>
                      <a:srgbClr val="FFFFFF"/>
                    </a:solidFill>
                  </a:tcPr>
                </a:tc>
                <a:tc>
                  <a:txBody>
                    <a:bodyPr/>
                    <a:lstStyle/>
                    <a:p>
                      <a:pPr algn="r">
                        <a:defRPr>
                          <a:latin typeface="Roboto"/>
                        </a:defRPr>
                      </a:pPr>
                      <a:r>
                        <a:rPr sz="1050">
                          <a:solidFill>
                            <a:srgbClr val="25342A"/>
                          </a:solidFill>
                          <a:latin typeface="Roboto"/>
                        </a:rPr>
                        <a:t>$129,836</a:t>
                      </a:r>
                    </a:p>
                  </a:txBody>
                  <a:tcPr>
                    <a:solidFill>
                      <a:srgbClr val="FFFFFF"/>
                    </a:solidFill>
                  </a:tcPr>
                </a:tc>
                <a:tc>
                  <a:txBody>
                    <a:bodyPr/>
                    <a:lstStyle/>
                    <a:p>
                      <a:pPr algn="r">
                        <a:defRPr>
                          <a:latin typeface="Roboto"/>
                        </a:defRPr>
                      </a:pPr>
                      <a:r>
                        <a:rPr sz="1050">
                          <a:solidFill>
                            <a:srgbClr val="25342A"/>
                          </a:solidFill>
                          <a:latin typeface="Roboto"/>
                        </a:rPr>
                        <a:t>$100,681</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15, September</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$932</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9, September</a:t>
                      </a:r>
                    </a:p>
                  </a:txBody>
                  <a:tcPr>
                    <a:solidFill>
                      <a:srgbClr val="F7FAF7"/>
                    </a:solidFill>
                  </a:tcPr>
                </a:tc>
                <a:tc>
                  <a:txBody>
                    <a:bodyPr/>
                    <a:lstStyle/>
                    <a:p>
                      <a:pPr algn="l">
                        <a:defRPr>
                          <a:latin typeface="Roboto"/>
                        </a:defRPr>
                      </a:pPr>
                      <a:r>
                        <a:rPr sz="1050">
                          <a:solidFill>
                            <a:srgbClr val="25342A"/>
                          </a:solidFill>
                          <a:latin typeface="Roboto"/>
                        </a:rPr>
                        <a:t>22 Sep</a:t>
                      </a:r>
                    </a:p>
                  </a:txBody>
                  <a:tcPr>
                    <a:solidFill>
                      <a:srgbClr val="F7FAF7"/>
                    </a:solidFill>
                  </a:tcPr>
                </a:tc>
                <a:tc>
                  <a:txBody>
                    <a:bodyPr/>
                    <a:lstStyle/>
                    <a:p>
                      <a:pPr algn="r">
                        <a:defRPr>
                          <a:latin typeface="Roboto"/>
                        </a:defRPr>
                      </a:pPr>
                      <a:r>
                        <a:rPr sz="1050">
                          <a:solidFill>
                            <a:srgbClr val="25342A"/>
                          </a:solidFill>
                          <a:latin typeface="Roboto"/>
                        </a:rPr>
                        <a:t>$917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r h="310896">
                <a:tc>
                  <a:txBody>
                    <a:bodyPr/>
                    <a:lstStyle/>
                    <a:p>
                      <a:pPr algn="l">
                        <a:defRPr>
                          <a:latin typeface="Roboto"/>
                        </a:defRPr>
                      </a:pPr>
                      <a:r>
                        <a:rPr sz="1050">
                          <a:solidFill>
                            <a:srgbClr val="25342A"/>
                          </a:solidFill>
                          <a:latin typeface="Roboto"/>
                        </a:rPr>
                        <a:t>Call-out 40, September</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$735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29</a:t>
                      </a:r>
                    </a:p>
                  </a:txBody>
                  <a:tcPr>
                    <a:solidFill>
                      <a:srgbClr val="FFFFFF"/>
                    </a:solidFill>
                  </a:tcPr>
                </a:tc>
              </a:tr>
              <a:tr h="310896">
                <a:tc>
                  <a:txBody>
                    <a:bodyPr/>
                    <a:lstStyle/>
                    <a:p>
                      <a:pPr algn="l">
                        <a:defRPr>
                          <a:latin typeface="Roboto"/>
                        </a:defRPr>
                      </a:pPr>
                      <a:r>
                        <a:rPr sz="1050">
                          <a:solidFill>
                            <a:srgbClr val="25342A"/>
                          </a:solidFill>
                          <a:latin typeface="Roboto"/>
                        </a:rPr>
                        <a:t>Call-out 32, September</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28, September</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5</a:t>
                      </a:r>
                    </a:p>
                  </a:txBody>
                  <a:tcPr>
                    <a:solidFill>
                      <a:srgbClr val="FFFFFF"/>
                    </a:solidFill>
                  </a:tcPr>
                </a:tc>
              </a:tr>
              <a:tr h="310896">
                <a:tc>
                  <a:txBody>
                    <a:bodyPr/>
                    <a:lstStyle/>
                    <a:p>
                      <a:pPr algn="l">
                        <a:defRPr>
                          <a:latin typeface="Roboto"/>
                        </a:defRPr>
                      </a:pPr>
                      <a:r>
                        <a:rPr sz="1050">
                          <a:solidFill>
                            <a:srgbClr val="25342A"/>
                          </a:solidFill>
                          <a:latin typeface="Roboto"/>
                        </a:rPr>
                        <a:t>Call-out 11, September</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$638</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63, September</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21, September</a:t>
                      </a:r>
                    </a:p>
                  </a:txBody>
                  <a:tcPr>
                    <a:solidFill>
                      <a:srgbClr val="F7FAF7"/>
                    </a:solidFill>
                  </a:tcPr>
                </a:tc>
                <a:tc>
                  <a:txBody>
                    <a:bodyPr/>
                    <a:lstStyle/>
                    <a:p>
                      <a:pPr algn="l">
                        <a:defRPr>
                          <a:latin typeface="Roboto"/>
                        </a:defRPr>
                      </a:pPr>
                      <a:r>
                        <a:rPr sz="1050">
                          <a:solidFill>
                            <a:srgbClr val="25342A"/>
                          </a:solidFill>
                          <a:latin typeface="Roboto"/>
                        </a:rPr>
                        <a:t>25 Sep</a:t>
                      </a:r>
                    </a:p>
                  </a:txBody>
                  <a:tcPr>
                    <a:solidFill>
                      <a:srgbClr val="F7FAF7"/>
                    </a:solidFill>
                  </a:tcPr>
                </a:tc>
                <a:tc>
                  <a:txBody>
                    <a:bodyPr/>
                    <a:lstStyle/>
                    <a:p>
                      <a:pPr algn="r">
                        <a:defRPr>
                          <a:latin typeface="Roboto"/>
                        </a:defRPr>
                      </a:pPr>
                      <a:r>
                        <a:rPr sz="1050">
                          <a:solidFill>
                            <a:srgbClr val="25342A"/>
                          </a:solidFill>
                          <a:latin typeface="Roboto"/>
                        </a:rPr>
                        <a:t>$567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22, September</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13</a:t>
                      </a:r>
                    </a:p>
                  </a:txBody>
                  <a:tcPr>
                    <a:solidFill>
                      <a:srgbClr val="FFFFFF"/>
                    </a:solidFill>
                  </a:tcPr>
                </a:tc>
              </a:tr>
              <a:tr h="310896">
                <a:tc>
                  <a:txBody>
                    <a:bodyPr/>
                    <a:lstStyle/>
                    <a:p>
                      <a:pPr algn="l">
                        <a:defRPr>
                          <a:latin typeface="Roboto"/>
                        </a:defRPr>
                      </a:pPr>
                      <a:r>
                        <a:rPr sz="1050">
                          <a:solidFill>
                            <a:srgbClr val="25342A"/>
                          </a:solidFill>
                          <a:latin typeface="Roboto"/>
                        </a:rPr>
                        <a:t>Call-out 38, September</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r>
              <a:tr h="310896">
                <a:tc>
                  <a:txBody>
                    <a:bodyPr/>
                    <a:lstStyle/>
                    <a:p>
                      <a:pPr algn="l">
                        <a:defRPr>
                          <a:latin typeface="Roboto"/>
                        </a:defRPr>
                      </a:pPr>
                      <a:r>
                        <a:rPr sz="1050">
                          <a:solidFill>
                            <a:srgbClr val="25342A"/>
                          </a:solidFill>
                          <a:latin typeface="Roboto"/>
                        </a:rPr>
                        <a:t>Call-out 26, September</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r>
              <a:tr h="310896">
                <a:tc>
                  <a:txBody>
                    <a:bodyPr/>
                    <a:lstStyle/>
                    <a:p>
                      <a:pPr algn="l">
                        <a:defRPr>
                          <a:latin typeface="Roboto"/>
                        </a:defRPr>
                      </a:pPr>
                      <a:r>
                        <a:rPr sz="1050">
                          <a:solidFill>
                            <a:srgbClr val="25342A"/>
                          </a:solidFill>
                          <a:latin typeface="Roboto"/>
                        </a:rPr>
                        <a:t>Call-out 20, September</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31, September</a:t>
                      </a:r>
                    </a:p>
                  </a:txBody>
                  <a:tcPr>
                    <a:solidFill>
                      <a:srgbClr val="FFFFFF"/>
                    </a:solidFill>
                  </a:tcPr>
                </a:tc>
                <a:tc>
                  <a:txBody>
                    <a:bodyPr/>
                    <a:lstStyle/>
                    <a:p>
                      <a:pPr algn="l">
                        <a:defRPr>
                          <a:latin typeface="Roboto"/>
                        </a:defRPr>
                      </a:pPr>
                      <a:r>
                        <a:rPr sz="1050">
                          <a:solidFill>
                            <a:srgbClr val="25342A"/>
                          </a:solidFill>
                          <a:latin typeface="Roboto"/>
                        </a:rPr>
                        <a:t>13 Sep</a:t>
                      </a:r>
                    </a:p>
                  </a:txBody>
                  <a:tcPr>
                    <a:solidFill>
                      <a:srgbClr val="FFFFFF"/>
                    </a:solidFill>
                  </a:tcPr>
                </a:tc>
                <a:tc>
                  <a:txBody>
                    <a:bodyPr/>
                    <a:lstStyle/>
                    <a:p>
                      <a:pPr algn="r">
                        <a:defRPr>
                          <a:latin typeface="Roboto"/>
                        </a:defRPr>
                      </a:pPr>
                      <a:r>
                        <a:rPr sz="1050">
                          <a:solidFill>
                            <a:srgbClr val="25342A"/>
                          </a:solidFill>
                          <a:latin typeface="Roboto"/>
                        </a:rPr>
                        <a:t>$416</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17</a:t>
                      </a:r>
                    </a:p>
                  </a:txBody>
                  <a:tcPr>
                    <a:solidFill>
                      <a:srgbClr val="FFFFFF"/>
                    </a:solidFill>
                  </a:tcPr>
                </a:tc>
              </a:tr>
              <a:tr h="310896">
                <a:tc>
                  <a:txBody>
                    <a:bodyPr/>
                    <a:lstStyle/>
                    <a:p>
                      <a:pPr algn="l">
                        <a:defRPr>
                          <a:latin typeface="Roboto"/>
                        </a:defRPr>
                      </a:pPr>
                      <a:r>
                        <a:rPr sz="1050">
                          <a:solidFill>
                            <a:srgbClr val="25342A"/>
                          </a:solidFill>
                          <a:latin typeface="Roboto"/>
                        </a:rPr>
                        <a:t>Call-out 61, September</a:t>
                      </a:r>
                    </a:p>
                  </a:txBody>
                  <a:tcPr>
                    <a:solidFill>
                      <a:srgbClr val="F7FAF7"/>
                    </a:solidFill>
                  </a:tcPr>
                </a:tc>
                <a:tc>
                  <a:txBody>
                    <a:bodyPr/>
                    <a:lstStyle/>
                    <a:p>
                      <a:pPr algn="l">
                        <a:defRPr>
                          <a:latin typeface="Roboto"/>
                        </a:defRPr>
                      </a:pPr>
                      <a:r>
                        <a:rPr sz="1050">
                          <a:solidFill>
                            <a:srgbClr val="25342A"/>
                          </a:solidFill>
                          <a:latin typeface="Roboto"/>
                        </a:rPr>
                        <a:t>19 Sep</a:t>
                      </a:r>
                    </a:p>
                  </a:txBody>
                  <a:tcPr>
                    <a:solidFill>
                      <a:srgbClr val="F7FAF7"/>
                    </a:solidFill>
                  </a:tcPr>
                </a:tc>
                <a:tc>
                  <a:txBody>
                    <a:bodyPr/>
                    <a:lstStyle/>
                    <a:p>
                      <a:pPr algn="r">
                        <a:defRPr>
                          <a:latin typeface="Roboto"/>
                        </a:defRPr>
                      </a:pPr>
                      <a:r>
                        <a:rPr sz="1050">
                          <a:solidFill>
                            <a:srgbClr val="25342A"/>
                          </a:solidFill>
                          <a:latin typeface="Roboto"/>
                        </a:rPr>
                        <a:t>$351</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11</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43, September</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8:41am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