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Sheet1!$A$2:$A$153</c:f>
              <c:strCache>
                <c:ptCount val="15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strCache>
            </c:strRef>
          </c:cat>
          <c:val>
            <c:numRef>
              <c:f>Sheet1!$B$2:$B$153</c:f>
              <c:numCache>
                <c:formatCode>$#,##0;[Red]($#,##0);"-"</c:formatCode>
                <c:ptCount val="152"/>
                <c:pt idx="0">
                  <c:v>88000</c:v>
                </c:pt>
                <c:pt idx="1">
                  <c:v>112411</c:v>
                </c:pt>
                <c:pt idx="2">
                  <c:v>124362</c:v>
                </c:pt>
                <c:pt idx="3">
                  <c:v>139672</c:v>
                </c:pt>
                <c:pt idx="4">
                  <c:v>140540</c:v>
                </c:pt>
                <c:pt idx="5">
                  <c:v>134936</c:v>
                </c:pt>
                <c:pt idx="6">
                  <c:v>135317</c:v>
                </c:pt>
                <c:pt idx="7">
                  <c:v>147735</c:v>
                </c:pt>
                <c:pt idx="8">
                  <c:v>157535</c:v>
                </c:pt>
                <c:pt idx="9">
                  <c:v>159179</c:v>
                </c:pt>
                <c:pt idx="10">
                  <c:v>160618</c:v>
                </c:pt>
                <c:pt idx="11">
                  <c:v>160999</c:v>
                </c:pt>
                <c:pt idx="12">
                  <c:v>161655</c:v>
                </c:pt>
                <c:pt idx="13">
                  <c:v>162638</c:v>
                </c:pt>
                <c:pt idx="14">
                  <c:v>163871</c:v>
                </c:pt>
                <c:pt idx="15">
                  <c:v>164213</c:v>
                </c:pt>
                <c:pt idx="16">
                  <c:v>117019</c:v>
                </c:pt>
                <c:pt idx="17">
                  <c:v>118547</c:v>
                </c:pt>
                <c:pt idx="18">
                  <c:v>119573</c:v>
                </c:pt>
                <c:pt idx="19">
                  <c:v>82483</c:v>
                </c:pt>
                <c:pt idx="20">
                  <c:v>82483</c:v>
                </c:pt>
                <c:pt idx="21">
                  <c:v>84321</c:v>
                </c:pt>
                <c:pt idx="22">
                  <c:v>85990</c:v>
                </c:pt>
                <c:pt idx="23">
                  <c:v>87510</c:v>
                </c:pt>
                <c:pt idx="24">
                  <c:v>88034</c:v>
                </c:pt>
                <c:pt idx="25">
                  <c:v>105372</c:v>
                </c:pt>
                <c:pt idx="26">
                  <c:v>106041</c:v>
                </c:pt>
                <c:pt idx="27">
                  <c:v>102428</c:v>
                </c:pt>
                <c:pt idx="28">
                  <c:v>104108</c:v>
                </c:pt>
                <c:pt idx="29">
                  <c:v>104818</c:v>
                </c:pt>
                <c:pt idx="30">
                  <c:v>65263</c:v>
                </c:pt>
                <c:pt idx="31">
                  <c:v>66142</c:v>
                </c:pt>
                <c:pt idx="32">
                  <c:v>67515</c:v>
                </c:pt>
                <c:pt idx="33">
                  <c:v>40350</c:v>
                </c:pt>
                <c:pt idx="34">
                  <c:v>42612</c:v>
                </c:pt>
                <c:pt idx="35">
                  <c:v>42612</c:v>
                </c:pt>
                <c:pt idx="36">
                  <c:v>82025</c:v>
                </c:pt>
                <c:pt idx="37">
                  <c:v>103175</c:v>
                </c:pt>
                <c:pt idx="38">
                  <c:v>109490</c:v>
                </c:pt>
                <c:pt idx="39">
                  <c:v>126731</c:v>
                </c:pt>
                <c:pt idx="40">
                  <c:v>115467</c:v>
                </c:pt>
                <c:pt idx="41">
                  <c:v>116582</c:v>
                </c:pt>
                <c:pt idx="42">
                  <c:v>117829</c:v>
                </c:pt>
                <c:pt idx="43">
                  <c:v>140107</c:v>
                </c:pt>
                <c:pt idx="44">
                  <c:v>140278</c:v>
                </c:pt>
                <c:pt idx="45">
                  <c:v>94943</c:v>
                </c:pt>
                <c:pt idx="46">
                  <c:v>95278</c:v>
                </c:pt>
                <c:pt idx="47">
                  <c:v>58577</c:v>
                </c:pt>
                <c:pt idx="48">
                  <c:v>58904</c:v>
                </c:pt>
                <c:pt idx="49">
                  <c:v>59824</c:v>
                </c:pt>
                <c:pt idx="50">
                  <c:v>60146</c:v>
                </c:pt>
                <c:pt idx="51">
                  <c:v>60986</c:v>
                </c:pt>
                <c:pt idx="52">
                  <c:v>62378</c:v>
                </c:pt>
                <c:pt idx="53">
                  <c:v>63229</c:v>
                </c:pt>
                <c:pt idx="54">
                  <c:v>64620</c:v>
                </c:pt>
                <c:pt idx="55">
                  <c:v>64908</c:v>
                </c:pt>
                <c:pt idx="56">
                  <c:v>67402</c:v>
                </c:pt>
                <c:pt idx="57">
                  <c:v>81904</c:v>
                </c:pt>
                <c:pt idx="58">
                  <c:v>78389</c:v>
                </c:pt>
                <c:pt idx="59">
                  <c:v>107291</c:v>
                </c:pt>
                <c:pt idx="60">
                  <c:v>59746</c:v>
                </c:pt>
                <c:pt idx="61">
                  <c:v>60746</c:v>
                </c:pt>
                <c:pt idx="62">
                  <c:v>60746</c:v>
                </c:pt>
                <c:pt idx="63">
                  <c:v>62037</c:v>
                </c:pt>
                <c:pt idx="64">
                  <c:v>110127</c:v>
                </c:pt>
                <c:pt idx="65">
                  <c:v>110127</c:v>
                </c:pt>
                <c:pt idx="66">
                  <c:v>110127</c:v>
                </c:pt>
                <c:pt idx="67">
                  <c:v>120381</c:v>
                </c:pt>
                <c:pt idx="68">
                  <c:v>121672</c:v>
                </c:pt>
                <c:pt idx="69">
                  <c:v>141563</c:v>
                </c:pt>
                <c:pt idx="70">
                  <c:v>142853</c:v>
                </c:pt>
                <c:pt idx="71">
                  <c:v>144144</c:v>
                </c:pt>
                <c:pt idx="72">
                  <c:v>144144</c:v>
                </c:pt>
                <c:pt idx="73">
                  <c:v>144144</c:v>
                </c:pt>
                <c:pt idx="74">
                  <c:v>145435</c:v>
                </c:pt>
                <c:pt idx="75">
                  <c:v>53846</c:v>
                </c:pt>
                <c:pt idx="76">
                  <c:v>55136</c:v>
                </c:pt>
                <c:pt idx="77">
                  <c:v>56427</c:v>
                </c:pt>
                <c:pt idx="78">
                  <c:v>70618</c:v>
                </c:pt>
                <c:pt idx="79">
                  <c:v>70618</c:v>
                </c:pt>
                <c:pt idx="80">
                  <c:v>70618</c:v>
                </c:pt>
                <c:pt idx="81">
                  <c:v>71909</c:v>
                </c:pt>
                <c:pt idx="82">
                  <c:v>73199</c:v>
                </c:pt>
                <c:pt idx="83">
                  <c:v>84290</c:v>
                </c:pt>
                <c:pt idx="84">
                  <c:v>85581</c:v>
                </c:pt>
                <c:pt idx="85">
                  <c:v>86872</c:v>
                </c:pt>
                <c:pt idx="86">
                  <c:v>86872</c:v>
                </c:pt>
                <c:pt idx="87">
                  <c:v>86872</c:v>
                </c:pt>
                <c:pt idx="88">
                  <c:v>76145</c:v>
                </c:pt>
                <c:pt idx="89">
                  <c:v>54836</c:v>
                </c:pt>
                <c:pt idx="90">
                  <c:v>56127</c:v>
                </c:pt>
                <c:pt idx="91">
                  <c:v>103492</c:v>
                </c:pt>
                <c:pt idx="92">
                  <c:v>110357</c:v>
                </c:pt>
                <c:pt idx="93">
                  <c:v>54197</c:v>
                </c:pt>
                <c:pt idx="94">
                  <c:v>54197</c:v>
                </c:pt>
                <c:pt idx="95">
                  <c:v>61062</c:v>
                </c:pt>
                <c:pt idx="96">
                  <c:v>67927</c:v>
                </c:pt>
                <c:pt idx="97">
                  <c:v>74792</c:v>
                </c:pt>
                <c:pt idx="98">
                  <c:v>81657</c:v>
                </c:pt>
                <c:pt idx="99">
                  <c:v>88522</c:v>
                </c:pt>
                <c:pt idx="100">
                  <c:v>88522</c:v>
                </c:pt>
                <c:pt idx="101">
                  <c:v>88522</c:v>
                </c:pt>
                <c:pt idx="102">
                  <c:v>95387</c:v>
                </c:pt>
                <c:pt idx="103">
                  <c:v>64452</c:v>
                </c:pt>
                <c:pt idx="104">
                  <c:v>71317</c:v>
                </c:pt>
                <c:pt idx="105">
                  <c:v>78182</c:v>
                </c:pt>
                <c:pt idx="106">
                  <c:v>85047</c:v>
                </c:pt>
                <c:pt idx="107">
                  <c:v>29967</c:v>
                </c:pt>
                <c:pt idx="108">
                  <c:v>29967</c:v>
                </c:pt>
                <c:pt idx="109">
                  <c:v>36832</c:v>
                </c:pt>
                <c:pt idx="110">
                  <c:v>43697</c:v>
                </c:pt>
                <c:pt idx="111">
                  <c:v>50562</c:v>
                </c:pt>
                <c:pt idx="112">
                  <c:v>57427</c:v>
                </c:pt>
                <c:pt idx="113">
                  <c:v>64292</c:v>
                </c:pt>
                <c:pt idx="114">
                  <c:v>64292</c:v>
                </c:pt>
                <c:pt idx="115">
                  <c:v>64292</c:v>
                </c:pt>
                <c:pt idx="116">
                  <c:v>71157</c:v>
                </c:pt>
                <c:pt idx="117">
                  <c:v>40222</c:v>
                </c:pt>
                <c:pt idx="118">
                  <c:v>47087</c:v>
                </c:pt>
                <c:pt idx="119">
                  <c:v>53952</c:v>
                </c:pt>
                <c:pt idx="120">
                  <c:v>60817</c:v>
                </c:pt>
                <c:pt idx="121">
                  <c:v>-343</c:v>
                </c:pt>
                <c:pt idx="122">
                  <c:v>40157</c:v>
                </c:pt>
                <c:pt idx="123">
                  <c:v>47022</c:v>
                </c:pt>
                <c:pt idx="124">
                  <c:v>53886</c:v>
                </c:pt>
                <c:pt idx="125">
                  <c:v>60751</c:v>
                </c:pt>
                <c:pt idx="126">
                  <c:v>67616</c:v>
                </c:pt>
                <c:pt idx="127">
                  <c:v>74481</c:v>
                </c:pt>
                <c:pt idx="128">
                  <c:v>74481</c:v>
                </c:pt>
                <c:pt idx="129">
                  <c:v>74481</c:v>
                </c:pt>
                <c:pt idx="130">
                  <c:v>81346</c:v>
                </c:pt>
                <c:pt idx="131">
                  <c:v>50411</c:v>
                </c:pt>
                <c:pt idx="132">
                  <c:v>57276</c:v>
                </c:pt>
                <c:pt idx="133">
                  <c:v>64141</c:v>
                </c:pt>
                <c:pt idx="134">
                  <c:v>71006</c:v>
                </c:pt>
                <c:pt idx="135">
                  <c:v>71006</c:v>
                </c:pt>
                <c:pt idx="136">
                  <c:v>15926</c:v>
                </c:pt>
                <c:pt idx="137">
                  <c:v>22791</c:v>
                </c:pt>
                <c:pt idx="138">
                  <c:v>29656</c:v>
                </c:pt>
                <c:pt idx="139">
                  <c:v>36521</c:v>
                </c:pt>
                <c:pt idx="140">
                  <c:v>43386</c:v>
                </c:pt>
                <c:pt idx="141">
                  <c:v>50251</c:v>
                </c:pt>
                <c:pt idx="142">
                  <c:v>50251</c:v>
                </c:pt>
                <c:pt idx="143">
                  <c:v>50251</c:v>
                </c:pt>
                <c:pt idx="144">
                  <c:v>57116</c:v>
                </c:pt>
                <c:pt idx="145">
                  <c:v>26181</c:v>
                </c:pt>
                <c:pt idx="146">
                  <c:v>33046</c:v>
                </c:pt>
                <c:pt idx="147">
                  <c:v>39911</c:v>
                </c:pt>
                <c:pt idx="148">
                  <c:v>46776</c:v>
                </c:pt>
                <c:pt idx="149">
                  <c:v>41776</c:v>
                </c:pt>
                <c:pt idx="150">
                  <c:v>41776</c:v>
                </c:pt>
                <c:pt idx="151">
                  <c:v>48641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Wages (3 pay runs)</c:v>
                </c:pt>
                <c:pt idx="1">
                  <c:v>Suppliers and overheads</c:v>
                </c:pt>
                <c:pt idx="2">
                  <c:v>Tax, interest and equipment finance</c:v>
                </c:pt>
                <c:pt idx="3">
                  <c:v>New work collected</c:v>
                </c:pt>
                <c:pt idx="4">
                  <c:v>Unpaid invoices collected</c:v>
                </c:pt>
              </c:strCache>
            </c:strRef>
          </c:cat>
          <c:val>
            <c:numRef>
              <c:f>Sheet1!$B$2:$B$6</c:f>
              <c:numCache>
                <c:formatCode>$#,##0;[Red]($#,##0);"-"</c:formatCode>
                <c:ptCount val="5"/>
                <c:pt idx="0">
                  <c:v>-113400</c:v>
                </c:pt>
                <c:pt idx="1">
                  <c:v>-55080</c:v>
                </c:pt>
                <c:pt idx="2">
                  <c:v>-12017</c:v>
                </c:pt>
                <c:pt idx="3">
                  <c:v>73180</c:v>
                </c:pt>
                <c:pt idx="4">
                  <c:v>151063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Will cash cover payroll next month?</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A 13-week cash forecast from 30 September: cash at bank, plus what customers owe on their usual payment dates and new work at its recent rate, less pay runs, supplier bills, tax and finance on their due dates. Every day opens its workings.</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a:t>
            </a:r>
          </a:p>
        </p:txBody>
      </p:sp>
      <p:sp>
        <p:nvSpPr>
          <p:cNvPr id="5" name="Rectangle 4"/>
          <p:cNvSpPr/>
          <p:nvPr/>
        </p:nvSpPr>
        <p:spPr>
          <a:xfrm>
            <a:off x="457200"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Cash at bank, 30 Sep</a:t>
            </a:r>
          </a:p>
        </p:txBody>
      </p:sp>
      <p:sp>
        <p:nvSpPr>
          <p:cNvPr id="7" name="TextBox 6"/>
          <p:cNvSpPr txBox="1"/>
          <p:nvPr/>
        </p:nvSpPr>
        <p:spPr>
          <a:xfrm>
            <a:off x="640080"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$59,746</a:t>
            </a:r>
          </a:p>
        </p:txBody>
      </p:sp>
      <p:sp>
        <p:nvSpPr>
          <p:cNvPr id="8" name="TextBox 7"/>
          <p:cNvSpPr txBox="1"/>
          <p:nvPr/>
        </p:nvSpPr>
        <p:spPr>
          <a:xfrm>
            <a:off x="640080"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end of the day</a:t>
            </a:r>
          </a:p>
        </p:txBody>
      </p:sp>
      <p:sp>
        <p:nvSpPr>
          <p:cNvPr id="9" name="Rectangle 8"/>
          <p:cNvSpPr/>
          <p:nvPr/>
        </p:nvSpPr>
        <p:spPr>
          <a:xfrm>
            <a:off x="3345103"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3527983"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Wages to pay in October</a:t>
            </a:r>
          </a:p>
        </p:txBody>
      </p:sp>
      <p:sp>
        <p:nvSpPr>
          <p:cNvPr id="11" name="TextBox 10"/>
          <p:cNvSpPr txBox="1"/>
          <p:nvPr/>
        </p:nvSpPr>
        <p:spPr>
          <a:xfrm>
            <a:off x="3527983"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$113,400</a:t>
            </a:r>
          </a:p>
        </p:txBody>
      </p:sp>
      <p:sp>
        <p:nvSpPr>
          <p:cNvPr id="12" name="TextBox 11"/>
          <p:cNvSpPr txBox="1"/>
          <p:nvPr/>
        </p:nvSpPr>
        <p:spPr>
          <a:xfrm>
            <a:off x="3527983"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3 fortnightly pay runs</a:t>
            </a:r>
          </a:p>
        </p:txBody>
      </p:sp>
      <p:sp>
        <p:nvSpPr>
          <p:cNvPr id="13" name="Rectangle 12"/>
          <p:cNvSpPr/>
          <p:nvPr/>
        </p:nvSpPr>
        <p:spPr>
          <a:xfrm>
            <a:off x="6233007"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6415887"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After the tightest pay run, 15 Oct</a:t>
            </a:r>
          </a:p>
        </p:txBody>
      </p:sp>
      <p:sp>
        <p:nvSpPr>
          <p:cNvPr id="15" name="TextBox 14"/>
          <p:cNvSpPr txBox="1"/>
          <p:nvPr/>
        </p:nvSpPr>
        <p:spPr>
          <a:xfrm>
            <a:off x="6415887"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$53,846</a:t>
            </a:r>
          </a:p>
        </p:txBody>
      </p:sp>
      <p:sp>
        <p:nvSpPr>
          <p:cNvPr id="16" name="TextBox 15"/>
          <p:cNvSpPr txBox="1"/>
          <p:nvPr/>
        </p:nvSpPr>
        <p:spPr>
          <a:xfrm>
            <a:off x="6415887"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buffer: one pay run, $37,800</a:t>
            </a:r>
          </a:p>
        </p:txBody>
      </p:sp>
      <p:sp>
        <p:nvSpPr>
          <p:cNvPr id="17" name="Rectangle 16"/>
          <p:cNvSpPr/>
          <p:nvPr/>
        </p:nvSpPr>
        <p:spPr>
          <a:xfrm>
            <a:off x="9120911"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9303791"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Lowest point, next 13 weeks</a:t>
            </a:r>
          </a:p>
        </p:txBody>
      </p:sp>
      <p:sp>
        <p:nvSpPr>
          <p:cNvPr id="19" name="TextBox 18"/>
          <p:cNvSpPr txBox="1"/>
          <p:nvPr/>
        </p:nvSpPr>
        <p:spPr>
          <a:xfrm>
            <a:off x="9303791" y="2240280"/>
            <a:ext cx="2247823" cy="731520"/>
          </a:xfrm>
          <a:prstGeom prst="rect">
            <a:avLst/>
          </a:prstGeom>
          <a:noFill/>
        </p:spPr>
        <p:txBody>
          <a:bodyPr wrap="square">
            <a:spAutoFit/>
          </a:bodyPr>
          <a:lstStyle/>
          <a:p>
            <a:pPr>
              <a:defRPr>
                <a:latin typeface="Roboto"/>
              </a:defRPr>
            </a:pPr>
            <a:r>
              <a:rPr sz="3000" b="1">
                <a:solidFill>
                  <a:srgbClr val="B42318"/>
                </a:solidFill>
                <a:latin typeface="Roboto"/>
              </a:rPr>
              <a:t>($343)</a:t>
            </a:r>
          </a:p>
        </p:txBody>
      </p:sp>
      <p:sp>
        <p:nvSpPr>
          <p:cNvPr id="20" name="TextBox 19"/>
          <p:cNvSpPr txBox="1"/>
          <p:nvPr/>
        </p:nvSpPr>
        <p:spPr>
          <a:xfrm>
            <a:off x="9303791"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30 November</a:t>
            </a:r>
          </a:p>
        </p:txBody>
      </p:sp>
      <p:sp>
        <p:nvSpPr>
          <p:cNvPr id="21" name="TextBox 2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22" name="TextBox 2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3" name="TextBox 2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Cash at bank was $59,746 at 30 September. October has 3 pay runs ($113,400). The tightest is 15 October: $53,846 left after paying wages, $16,046 more than a pay run in reserve. The lowest point in the 13 weeks is ($343) on 30 November.</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18 invoices ($8,963) are already past the customer's usual payment date; the forecast assumes they arrive within a week. Without them, 15 October would be $44,883. October is one of the two months a year with three pay runs: $37,800 more wages than a usual month. The PAYG instalment ($7,017) is due 28 October.</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How this forecast has done so far</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For 5 October it said $110,127; the bank says $47,244, $62,883 less. $64,300 of it is 7 invoices expected by then and not yet paid, the largest Wacol warehouse switchboard ($46,800).</a:t>
            </a:r>
          </a:p>
        </p:txBody>
      </p:sp>
      <p:graphicFrame>
        <p:nvGraphicFramePr>
          <p:cNvPr id="6" name="Table 5"/>
          <p:cNvGraphicFramePr>
            <a:graphicFrameLocks noGrp="1"/>
          </p:cNvGraphicFramePr>
          <p:nvPr/>
        </p:nvGraphicFramePr>
        <p:xfrm>
          <a:off x="457200" y="1463040"/>
          <a:ext cx="11247120" cy="1975104"/>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5 Oct</a:t>
                      </a:r>
                    </a:p>
                  </a:txBody>
                  <a:tcPr>
                    <a:solidFill>
                      <a:srgbClr val="2F7A5D"/>
                    </a:solidFill>
                  </a:tcPr>
                </a:tc>
              </a:tr>
              <a:tr h="329184">
                <a:tc>
                  <a:txBody>
                    <a:bodyPr/>
                    <a:lstStyle/>
                    <a:p>
                      <a:pPr>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$110,127</a:t>
                      </a:r>
                    </a:p>
                  </a:txBody>
                  <a:tcPr>
                    <a:solidFill>
                      <a:srgbClr val="FFFFFF"/>
                    </a:solidFill>
                  </a:tcPr>
                </a:tc>
              </a:tr>
              <a:tr h="329184">
                <a:tc>
                  <a:txBody>
                    <a:bodyPr/>
                    <a:lstStyle/>
                    <a:p>
                      <a:pPr>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$47,244</a:t>
                      </a:r>
                    </a:p>
                  </a:txBody>
                  <a:tcPr>
                    <a:solidFill>
                      <a:srgbClr val="F7FAF7"/>
                    </a:solidFill>
                  </a:tcPr>
                </a:tc>
              </a:tr>
              <a:tr h="329184">
                <a:tc>
                  <a:txBody>
                    <a:bodyPr/>
                    <a:lstStyle/>
                    <a:p>
                      <a:pPr>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($62,883)</a:t>
                      </a:r>
                    </a:p>
                  </a:txBody>
                  <a:tcPr>
                    <a:solidFill>
                      <a:srgbClr val="FFFFFF"/>
                    </a:solidFill>
                  </a:tcPr>
                </a:tc>
              </a:tr>
              <a:tr h="329184">
                <a:tc>
                  <a:txBody>
                    <a:bodyPr/>
                    <a:lstStyle/>
                    <a:p>
                      <a:pPr>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B42318"/>
                          </a:solidFill>
                          <a:latin typeface="Roboto"/>
                        </a:rPr>
                        <a:t>($64,300)</a:t>
                      </a:r>
                    </a:p>
                  </a:txBody>
                  <a:tcPr>
                    <a:solidFill>
                      <a:srgbClr val="F7FAF7"/>
                    </a:solidFill>
                  </a:tcPr>
                </a:tc>
              </a:tr>
              <a:tr h="329184">
                <a:tc>
                  <a:txBody>
                    <a:bodyPr/>
                    <a:lstStyle/>
                    <a:p>
                      <a:pPr>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25342A"/>
                          </a:solidFill>
                          <a:latin typeface="Roboto"/>
                        </a:rPr>
                        <a:t>$1,417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Cash at bank, every day: actual to 30 Sep, then forecast to 30 Dec · Cash at bank $</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Lighter line = forecast. Customers are expected on their usual payment dates; new work at the last three months' rate; pay runs, supplier runs, interest, equipment finance and PAYG on their due dates. GST and BAS are left out of the sample.</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October: where the cash comes from and goes (forecast)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Money in, and money out in brackets.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13 weeks, week by week</a:t>
            </a:r>
          </a:p>
        </p:txBody>
      </p:sp>
      <p:graphicFrame>
        <p:nvGraphicFramePr>
          <p:cNvPr id="5" name="Table 4"/>
          <p:cNvGraphicFramePr>
            <a:graphicFrameLocks noGrp="1"/>
          </p:cNvGraphicFramePr>
          <p:nvPr/>
        </p:nvGraphicFramePr>
        <p:xfrm>
          <a:off x="457200" y="1188720"/>
          <a:ext cx="11247120" cy="4608576"/>
        </p:xfrm>
        <a:graphic>
          <a:graphicData uri="http://schemas.openxmlformats.org/drawingml/2006/table">
            <a:tbl>
              <a:tblPr firstRow="1" bandRow="1">
                <a:tableStyleId>{5C22544A-7EE6-4342-B048-85BDC9FD1C3A}</a:tableStyleId>
              </a:tblPr>
              <a:tblGrid>
                <a:gridCol w="1249680"/>
                <a:gridCol w="1249680"/>
                <a:gridCol w="1249680"/>
                <a:gridCol w="1249680"/>
                <a:gridCol w="1249680"/>
                <a:gridCol w="1249680"/>
                <a:gridCol w="1249680"/>
                <a:gridCol w="1249680"/>
                <a:gridCol w="1249680"/>
              </a:tblGrid>
              <a:tr h="329184">
                <a:tc>
                  <a:txBody>
                    <a:bodyPr/>
                    <a:lstStyle/>
                    <a:p>
                      <a:pPr>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Wages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Tax, 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29184">
                <a:tc>
                  <a:txBody>
                    <a:bodyPr/>
                    <a:lstStyle/>
                    <a:p>
                      <a:pPr>
                        <a:defRPr>
                          <a:latin typeface="Roboto"/>
                        </a:defRPr>
                      </a:pPr>
                      <a:r>
                        <a:rPr sz="1050">
                          <a:solidFill>
                            <a:srgbClr val="25342A"/>
                          </a:solidFill>
                          <a:latin typeface="Roboto"/>
                        </a:rPr>
                        <a:t>7 Oct</a:t>
                      </a:r>
                    </a:p>
                  </a:txBody>
                  <a:tcPr>
                    <a:solidFill>
                      <a:srgbClr val="FFFFFF"/>
                    </a:solidFill>
                  </a:tcPr>
                </a:tc>
                <a:tc>
                  <a:txBody>
                    <a:bodyPr/>
                    <a:lstStyle/>
                    <a:p>
                      <a:pPr algn="r">
                        <a:defRPr>
                          <a:latin typeface="Roboto"/>
                        </a:defRPr>
                      </a:pPr>
                      <a:r>
                        <a:rPr sz="1050">
                          <a:solidFill>
                            <a:srgbClr val="25342A"/>
                          </a:solidFill>
                          <a:latin typeface="Roboto"/>
                        </a:rPr>
                        <a:t>$59,746</a:t>
                      </a:r>
                    </a:p>
                  </a:txBody>
                  <a:tcPr>
                    <a:solidFill>
                      <a:srgbClr val="FFFFFF"/>
                    </a:solidFill>
                  </a:tcPr>
                </a:tc>
                <a:tc>
                  <a:txBody>
                    <a:bodyPr/>
                    <a:lstStyle/>
                    <a:p>
                      <a:pPr algn="r">
                        <a:defRPr>
                          <a:latin typeface="Roboto"/>
                        </a:defRPr>
                      </a:pPr>
                      <a:r>
                        <a:rPr sz="1050">
                          <a:solidFill>
                            <a:srgbClr val="25342A"/>
                          </a:solidFill>
                          <a:latin typeface="Roboto"/>
                        </a:rPr>
                        <a:t>$94,563</a:t>
                      </a:r>
                    </a:p>
                  </a:txBody>
                  <a:tcPr>
                    <a:solidFill>
                      <a:srgbClr val="FFFFFF"/>
                    </a:solidFill>
                  </a:tcPr>
                </a:tc>
                <a:tc>
                  <a:txBody>
                    <a:bodyPr/>
                    <a:lstStyle/>
                    <a:p>
                      <a:pPr algn="r">
                        <a:defRPr>
                          <a:latin typeface="Roboto"/>
                        </a:defRPr>
                      </a:pPr>
                      <a:r>
                        <a:rPr sz="1050">
                          <a:solidFill>
                            <a:srgbClr val="25342A"/>
                          </a:solidFill>
                          <a:latin typeface="Roboto"/>
                        </a:rPr>
                        <a:t>$3,872</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$120,381</a:t>
                      </a:r>
                    </a:p>
                  </a:txBody>
                  <a:tcPr>
                    <a:solidFill>
                      <a:srgbClr val="FFFFFF"/>
                    </a:solidFill>
                  </a:tcPr>
                </a:tc>
                <a:tc>
                  <a:txBody>
                    <a:bodyPr/>
                    <a:lstStyle/>
                    <a:p>
                      <a:pPr algn="r">
                        <a:defRPr>
                          <a:latin typeface="Roboto"/>
                        </a:defRPr>
                      </a:pPr>
                      <a:r>
                        <a:rPr sz="1050">
                          <a:solidFill>
                            <a:srgbClr val="25342A"/>
                          </a:solidFill>
                          <a:latin typeface="Roboto"/>
                        </a:rPr>
                        <a:t>$60,746</a:t>
                      </a:r>
                    </a:p>
                  </a:txBody>
                  <a:tcPr>
                    <a:solidFill>
                      <a:srgbClr val="FFFFFF"/>
                    </a:solidFill>
                  </a:tcPr>
                </a:tc>
              </a:tr>
              <a:tr h="329184">
                <a:tc>
                  <a:txBody>
                    <a:bodyPr/>
                    <a:lstStyle/>
                    <a:p>
                      <a:pPr>
                        <a:defRPr>
                          <a:latin typeface="Roboto"/>
                        </a:defRPr>
                      </a:pPr>
                      <a:r>
                        <a:rPr sz="1050">
                          <a:solidFill>
                            <a:srgbClr val="25342A"/>
                          </a:solidFill>
                          <a:latin typeface="Roboto"/>
                        </a:rPr>
                        <a:t>14 Oct</a:t>
                      </a:r>
                    </a:p>
                  </a:txBody>
                  <a:tcPr>
                    <a:solidFill>
                      <a:srgbClr val="F7FAF7"/>
                    </a:solidFill>
                  </a:tcPr>
                </a:tc>
                <a:tc>
                  <a:txBody>
                    <a:bodyPr/>
                    <a:lstStyle/>
                    <a:p>
                      <a:pPr algn="r">
                        <a:defRPr>
                          <a:latin typeface="Roboto"/>
                        </a:defRPr>
                      </a:pPr>
                      <a:r>
                        <a:rPr sz="1050">
                          <a:solidFill>
                            <a:srgbClr val="25342A"/>
                          </a:solidFill>
                          <a:latin typeface="Roboto"/>
                        </a:rPr>
                        <a:t>$120,381</a:t>
                      </a:r>
                    </a:p>
                  </a:txBody>
                  <a:tcPr>
                    <a:solidFill>
                      <a:srgbClr val="F7FAF7"/>
                    </a:solidFill>
                  </a:tcPr>
                </a:tc>
                <a:tc>
                  <a:txBody>
                    <a:bodyPr/>
                    <a:lstStyle/>
                    <a:p>
                      <a:pPr algn="r">
                        <a:defRPr>
                          <a:latin typeface="Roboto"/>
                        </a:defRPr>
                      </a:pPr>
                      <a:r>
                        <a:rPr sz="1050">
                          <a:solidFill>
                            <a:srgbClr val="25342A"/>
                          </a:solidFill>
                          <a:latin typeface="Roboto"/>
                        </a:rPr>
                        <a:t>$18,600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$145,435</a:t>
                      </a:r>
                    </a:p>
                  </a:txBody>
                  <a:tcPr>
                    <a:solidFill>
                      <a:srgbClr val="F7FAF7"/>
                    </a:solidFill>
                  </a:tcPr>
                </a:tc>
                <a:tc>
                  <a:txBody>
                    <a:bodyPr/>
                    <a:lstStyle/>
                    <a:p>
                      <a:pPr algn="r">
                        <a:defRPr>
                          <a:latin typeface="Roboto"/>
                        </a:defRPr>
                      </a:pPr>
                      <a:r>
                        <a:rPr sz="1050">
                          <a:solidFill>
                            <a:srgbClr val="25342A"/>
                          </a:solidFill>
                          <a:latin typeface="Roboto"/>
                        </a:rPr>
                        <a:t>$121,672</a:t>
                      </a:r>
                    </a:p>
                  </a:txBody>
                  <a:tcPr>
                    <a:solidFill>
                      <a:srgbClr val="F7FAF7"/>
                    </a:solidFill>
                  </a:tcPr>
                </a:tc>
              </a:tr>
              <a:tr h="329184">
                <a:tc>
                  <a:txBody>
                    <a:bodyPr/>
                    <a:lstStyle/>
                    <a:p>
                      <a:pPr>
                        <a:defRPr>
                          <a:latin typeface="Roboto"/>
                        </a:defRPr>
                      </a:pPr>
                      <a:r>
                        <a:rPr sz="1050">
                          <a:solidFill>
                            <a:srgbClr val="25342A"/>
                          </a:solidFill>
                          <a:latin typeface="Roboto"/>
                        </a:rPr>
                        <a:t>21 Oct</a:t>
                      </a:r>
                    </a:p>
                  </a:txBody>
                  <a:tcPr>
                    <a:solidFill>
                      <a:srgbClr val="FFFFFF"/>
                    </a:solidFill>
                  </a:tcPr>
                </a:tc>
                <a:tc>
                  <a:txBody>
                    <a:bodyPr/>
                    <a:lstStyle/>
                    <a:p>
                      <a:pPr algn="r">
                        <a:defRPr>
                          <a:latin typeface="Roboto"/>
                        </a:defRPr>
                      </a:pPr>
                      <a:r>
                        <a:rPr sz="1050">
                          <a:solidFill>
                            <a:srgbClr val="25342A"/>
                          </a:solidFill>
                          <a:latin typeface="Roboto"/>
                        </a:rPr>
                        <a:t>$145,435</a:t>
                      </a:r>
                    </a:p>
                  </a:txBody>
                  <a:tcPr>
                    <a:solidFill>
                      <a:srgbClr val="FFFFFF"/>
                    </a:solidFill>
                  </a:tcPr>
                </a:tc>
                <a:tc>
                  <a:txBody>
                    <a:bodyPr/>
                    <a:lstStyle/>
                    <a:p>
                      <a:pPr algn="r">
                        <a:defRPr>
                          <a:latin typeface="Roboto"/>
                        </a:defRPr>
                      </a:pPr>
                      <a:r>
                        <a:rPr sz="1050">
                          <a:solidFill>
                            <a:srgbClr val="25342A"/>
                          </a:solidFill>
                          <a:latin typeface="Roboto"/>
                        </a:rPr>
                        <a:t>$12,900</a:t>
                      </a:r>
                    </a:p>
                  </a:txBody>
                  <a:tcPr>
                    <a:solidFill>
                      <a:srgbClr val="FFFFFF"/>
                    </a:solidFill>
                  </a:tcPr>
                </a:tc>
                <a:tc>
                  <a:txBody>
                    <a:bodyPr/>
                    <a:lstStyle/>
                    <a:p>
                      <a:pPr algn="r">
                        <a:defRPr>
                          <a:latin typeface="Roboto"/>
                        </a:defRPr>
                      </a:pPr>
                      <a:r>
                        <a:rPr sz="1050">
                          <a:solidFill>
                            <a:srgbClr val="25342A"/>
                          </a:solidFill>
                          <a:latin typeface="Roboto"/>
                        </a:rPr>
                        <a:t>$6,454</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$71,909</a:t>
                      </a:r>
                    </a:p>
                  </a:txBody>
                  <a:tcPr>
                    <a:solidFill>
                      <a:srgbClr val="FFFFFF"/>
                    </a:solidFill>
                  </a:tcPr>
                </a:tc>
                <a:tc>
                  <a:txBody>
                    <a:bodyPr/>
                    <a:lstStyle/>
                    <a:p>
                      <a:pPr algn="r">
                        <a:defRPr>
                          <a:latin typeface="Roboto"/>
                        </a:defRPr>
                      </a:pPr>
                      <a:r>
                        <a:rPr sz="1050">
                          <a:solidFill>
                            <a:srgbClr val="25342A"/>
                          </a:solidFill>
                          <a:latin typeface="Roboto"/>
                        </a:rPr>
                        <a:t>$53,846</a:t>
                      </a:r>
                    </a:p>
                  </a:txBody>
                  <a:tcPr>
                    <a:solidFill>
                      <a:srgbClr val="FFFFFF"/>
                    </a:solidFill>
                  </a:tcPr>
                </a:tc>
              </a:tr>
              <a:tr h="329184">
                <a:tc>
                  <a:txBody>
                    <a:bodyPr/>
                    <a:lstStyle/>
                    <a:p>
                      <a:pPr>
                        <a:defRPr>
                          <a:latin typeface="Roboto"/>
                        </a:defRPr>
                      </a:pPr>
                      <a:r>
                        <a:rPr sz="1050">
                          <a:solidFill>
                            <a:srgbClr val="25342A"/>
                          </a:solidFill>
                          <a:latin typeface="Roboto"/>
                        </a:rPr>
                        <a:t>28 Oct</a:t>
                      </a:r>
                    </a:p>
                  </a:txBody>
                  <a:tcPr>
                    <a:solidFill>
                      <a:srgbClr val="F7FAF7"/>
                    </a:solidFill>
                  </a:tcPr>
                </a:tc>
                <a:tc>
                  <a:txBody>
                    <a:bodyPr/>
                    <a:lstStyle/>
                    <a:p>
                      <a:pPr algn="r">
                        <a:defRPr>
                          <a:latin typeface="Roboto"/>
                        </a:defRPr>
                      </a:pPr>
                      <a:r>
                        <a:rPr sz="1050">
                          <a:solidFill>
                            <a:srgbClr val="25342A"/>
                          </a:solidFill>
                          <a:latin typeface="Roboto"/>
                        </a:rPr>
                        <a:t>$71,909</a:t>
                      </a:r>
                    </a:p>
                  </a:txBody>
                  <a:tcPr>
                    <a:solidFill>
                      <a:srgbClr val="F7FAF7"/>
                    </a:solidFill>
                  </a:tcPr>
                </a:tc>
                <a:tc>
                  <a:txBody>
                    <a:bodyPr/>
                    <a:lstStyle/>
                    <a:p>
                      <a:pPr algn="r">
                        <a:defRPr>
                          <a:latin typeface="Roboto"/>
                        </a:defRPr>
                      </a:pPr>
                      <a:r>
                        <a:rPr sz="1050">
                          <a:solidFill>
                            <a:srgbClr val="25342A"/>
                          </a:solidFill>
                          <a:latin typeface="Roboto"/>
                        </a:rPr>
                        <a:t>$9,800</a:t>
                      </a:r>
                    </a:p>
                  </a:txBody>
                  <a:tcPr>
                    <a:solidFill>
                      <a:srgbClr val="F7FAF7"/>
                    </a:solidFill>
                  </a:tcPr>
                </a:tc>
                <a:tc>
                  <a:txBody>
                    <a:bodyPr/>
                    <a:lstStyle/>
                    <a:p>
                      <a:pPr algn="r">
                        <a:defRPr>
                          <a:latin typeface="Roboto"/>
                        </a:defRPr>
                      </a:pPr>
                      <a:r>
                        <a:rPr sz="1050">
                          <a:solidFill>
                            <a:srgbClr val="25342A"/>
                          </a:solidFill>
                          <a:latin typeface="Roboto"/>
                        </a:rPr>
                        <a:t>$6,454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($12,017)</a:t>
                      </a:r>
                    </a:p>
                  </a:txBody>
                  <a:tcPr>
                    <a:solidFill>
                      <a:srgbClr val="F7FAF7"/>
                    </a:solidFill>
                  </a:tcPr>
                </a:tc>
                <a:tc>
                  <a:txBody>
                    <a:bodyPr/>
                    <a:lstStyle/>
                    <a:p>
                      <a:pPr algn="r">
                        <a:defRPr>
                          <a:latin typeface="Roboto"/>
                        </a:defRPr>
                      </a:pPr>
                      <a:r>
                        <a:rPr sz="1050">
                          <a:solidFill>
                            <a:srgbClr val="25342A"/>
                          </a:solidFill>
                          <a:latin typeface="Roboto"/>
                        </a:rPr>
                        <a:t>$76,145</a:t>
                      </a:r>
                    </a:p>
                  </a:txBody>
                  <a:tcPr>
                    <a:solidFill>
                      <a:srgbClr val="F7FAF7"/>
                    </a:solidFill>
                  </a:tcPr>
                </a:tc>
                <a:tc>
                  <a:txBody>
                    <a:bodyPr/>
                    <a:lstStyle/>
                    <a:p>
                      <a:pPr algn="r">
                        <a:defRPr>
                          <a:latin typeface="Roboto"/>
                        </a:defRPr>
                      </a:pPr>
                      <a:r>
                        <a:rPr sz="1050">
                          <a:solidFill>
                            <a:srgbClr val="25342A"/>
                          </a:solidFill>
                          <a:latin typeface="Roboto"/>
                        </a:rPr>
                        <a:t>$73,199</a:t>
                      </a:r>
                    </a:p>
                  </a:txBody>
                  <a:tcPr>
                    <a:solidFill>
                      <a:srgbClr val="F7FAF7"/>
                    </a:solidFill>
                  </a:tcPr>
                </a:tc>
              </a:tr>
              <a:tr h="329184">
                <a:tc>
                  <a:txBody>
                    <a:bodyPr/>
                    <a:lstStyle/>
                    <a:p>
                      <a:pPr>
                        <a:defRPr>
                          <a:latin typeface="Roboto"/>
                        </a:defRPr>
                      </a:pPr>
                      <a:r>
                        <a:rPr sz="1050">
                          <a:solidFill>
                            <a:srgbClr val="25342A"/>
                          </a:solidFill>
                          <a:latin typeface="Roboto"/>
                        </a:rPr>
                        <a:t>4 Nov</a:t>
                      </a:r>
                    </a:p>
                  </a:txBody>
                  <a:tcPr>
                    <a:solidFill>
                      <a:srgbClr val="FFFFFF"/>
                    </a:solidFill>
                  </a:tcPr>
                </a:tc>
                <a:tc>
                  <a:txBody>
                    <a:bodyPr/>
                    <a:lstStyle/>
                    <a:p>
                      <a:pPr algn="r">
                        <a:defRPr>
                          <a:latin typeface="Roboto"/>
                        </a:defRPr>
                      </a:pPr>
                      <a:r>
                        <a:rPr sz="1050">
                          <a:solidFill>
                            <a:srgbClr val="25342A"/>
                          </a:solidFill>
                          <a:latin typeface="Roboto"/>
                        </a:rPr>
                        <a:t>$76,145</a:t>
                      </a:r>
                    </a:p>
                  </a:txBody>
                  <a:tcPr>
                    <a:solidFill>
                      <a:srgbClr val="FFFFFF"/>
                    </a:solidFill>
                  </a:tcPr>
                </a:tc>
                <a:tc>
                  <a:txBody>
                    <a:bodyPr/>
                    <a:lstStyle/>
                    <a:p>
                      <a:pPr algn="r">
                        <a:defRPr>
                          <a:latin typeface="Roboto"/>
                        </a:defRPr>
                      </a:pPr>
                      <a:r>
                        <a:rPr sz="1050">
                          <a:solidFill>
                            <a:srgbClr val="25342A"/>
                          </a:solidFill>
                          <a:latin typeface="Roboto"/>
                        </a:rPr>
                        <a:t>$15,200</a:t>
                      </a:r>
                    </a:p>
                  </a:txBody>
                  <a:tcPr>
                    <a:solidFill>
                      <a:srgbClr val="FFFFFF"/>
                    </a:solidFill>
                  </a:tcPr>
                </a:tc>
                <a:tc>
                  <a:txBody>
                    <a:bodyPr/>
                    <a:lstStyle/>
                    <a:p>
                      <a:pPr algn="r">
                        <a:defRPr>
                          <a:latin typeface="Roboto"/>
                        </a:defRPr>
                      </a:pPr>
                      <a:r>
                        <a:rPr sz="1050">
                          <a:solidFill>
                            <a:srgbClr val="25342A"/>
                          </a:solidFill>
                          <a:latin typeface="Roboto"/>
                        </a:rPr>
                        <a:t>$63,676</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$61,062</a:t>
                      </a:r>
                    </a:p>
                  </a:txBody>
                  <a:tcPr>
                    <a:solidFill>
                      <a:srgbClr val="FFFFFF"/>
                    </a:solidFill>
                  </a:tcPr>
                </a:tc>
                <a:tc>
                  <a:txBody>
                    <a:bodyPr/>
                    <a:lstStyle/>
                    <a:p>
                      <a:pPr algn="r">
                        <a:defRPr>
                          <a:latin typeface="Roboto"/>
                        </a:defRPr>
                      </a:pPr>
                      <a:r>
                        <a:rPr sz="1050">
                          <a:solidFill>
                            <a:srgbClr val="25342A"/>
                          </a:solidFill>
                          <a:latin typeface="Roboto"/>
                        </a:rPr>
                        <a:t>$54,197</a:t>
                      </a:r>
                    </a:p>
                  </a:txBody>
                  <a:tcPr>
                    <a:solidFill>
                      <a:srgbClr val="FFFFFF"/>
                    </a:solidFill>
                  </a:tcPr>
                </a:tc>
              </a:tr>
              <a:tr h="329184">
                <a:tc>
                  <a:txBody>
                    <a:bodyPr/>
                    <a:lstStyle/>
                    <a:p>
                      <a:pPr>
                        <a:defRPr>
                          <a:latin typeface="Roboto"/>
                        </a:defRPr>
                      </a:pPr>
                      <a:r>
                        <a:rPr sz="1050">
                          <a:solidFill>
                            <a:srgbClr val="25342A"/>
                          </a:solidFill>
                          <a:latin typeface="Roboto"/>
                        </a:rPr>
                        <a:t>11 Nov</a:t>
                      </a:r>
                    </a:p>
                  </a:txBody>
                  <a:tcPr>
                    <a:solidFill>
                      <a:srgbClr val="F7FAF7"/>
                    </a:solidFill>
                  </a:tcPr>
                </a:tc>
                <a:tc>
                  <a:txBody>
                    <a:bodyPr/>
                    <a:lstStyle/>
                    <a:p>
                      <a:pPr algn="r">
                        <a:defRPr>
                          <a:latin typeface="Roboto"/>
                        </a:defRPr>
                      </a:pPr>
                      <a:r>
                        <a:rPr sz="1050">
                          <a:solidFill>
                            <a:srgbClr val="25342A"/>
                          </a:solidFill>
                          <a:latin typeface="Roboto"/>
                        </a:rPr>
                        <a:t>$61,062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$95,387</a:t>
                      </a:r>
                    </a:p>
                  </a:txBody>
                  <a:tcPr>
                    <a:solidFill>
                      <a:srgbClr val="F7FAF7"/>
                    </a:solidFill>
                  </a:tcPr>
                </a:tc>
                <a:tc>
                  <a:txBody>
                    <a:bodyPr/>
                    <a:lstStyle/>
                    <a:p>
                      <a:pPr algn="r">
                        <a:defRPr>
                          <a:latin typeface="Roboto"/>
                        </a:defRPr>
                      </a:pPr>
                      <a:r>
                        <a:rPr sz="1050">
                          <a:solidFill>
                            <a:srgbClr val="25342A"/>
                          </a:solidFill>
                          <a:latin typeface="Roboto"/>
                        </a:rPr>
                        <a:t>$67,927</a:t>
                      </a:r>
                    </a:p>
                  </a:txBody>
                  <a:tcPr>
                    <a:solidFill>
                      <a:srgbClr val="F7FAF7"/>
                    </a:solidFill>
                  </a:tcPr>
                </a:tc>
              </a:tr>
              <a:tr h="329184">
                <a:tc>
                  <a:txBody>
                    <a:bodyPr/>
                    <a:lstStyle/>
                    <a:p>
                      <a:pPr>
                        <a:defRPr>
                          <a:latin typeface="Roboto"/>
                        </a:defRPr>
                      </a:pPr>
                      <a:r>
                        <a:rPr sz="1050">
                          <a:solidFill>
                            <a:srgbClr val="25342A"/>
                          </a:solidFill>
                          <a:latin typeface="Roboto"/>
                        </a:rPr>
                        <a:t>18 Nov</a:t>
                      </a:r>
                    </a:p>
                  </a:txBody>
                  <a:tcPr>
                    <a:solidFill>
                      <a:srgbClr val="FFFFFF"/>
                    </a:solidFill>
                  </a:tcPr>
                </a:tc>
                <a:tc>
                  <a:txBody>
                    <a:bodyPr/>
                    <a:lstStyle/>
                    <a:p>
                      <a:pPr algn="r">
                        <a:defRPr>
                          <a:latin typeface="Roboto"/>
                        </a:defRPr>
                      </a:pPr>
                      <a:r>
                        <a:rPr sz="1050">
                          <a:solidFill>
                            <a:srgbClr val="25342A"/>
                          </a:solidFill>
                          <a:latin typeface="Roboto"/>
                        </a:rPr>
                        <a:t>$95,387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$36,832</a:t>
                      </a:r>
                    </a:p>
                  </a:txBody>
                  <a:tcPr>
                    <a:solidFill>
                      <a:srgbClr val="FFFFFF"/>
                    </a:solidFill>
                  </a:tcPr>
                </a:tc>
                <a:tc>
                  <a:txBody>
                    <a:bodyPr/>
                    <a:lstStyle/>
                    <a:p>
                      <a:pPr algn="r">
                        <a:defRPr>
                          <a:latin typeface="Roboto"/>
                        </a:defRPr>
                      </a:pPr>
                      <a:r>
                        <a:rPr sz="1050">
                          <a:solidFill>
                            <a:srgbClr val="25342A"/>
                          </a:solidFill>
                          <a:latin typeface="Roboto"/>
                        </a:rPr>
                        <a:t>$29,967</a:t>
                      </a:r>
                    </a:p>
                  </a:txBody>
                  <a:tcPr>
                    <a:solidFill>
                      <a:srgbClr val="FFFFFF"/>
                    </a:solidFill>
                  </a:tcPr>
                </a:tc>
              </a:tr>
              <a:tr h="329184">
                <a:tc>
                  <a:txBody>
                    <a:bodyPr/>
                    <a:lstStyle/>
                    <a:p>
                      <a:pPr>
                        <a:defRPr>
                          <a:latin typeface="Roboto"/>
                        </a:defRPr>
                      </a:pPr>
                      <a:r>
                        <a:rPr sz="1050">
                          <a:solidFill>
                            <a:srgbClr val="25342A"/>
                          </a:solidFill>
                          <a:latin typeface="Roboto"/>
                        </a:rPr>
                        <a:t>25 Nov</a:t>
                      </a:r>
                    </a:p>
                  </a:txBody>
                  <a:tcPr>
                    <a:solidFill>
                      <a:srgbClr val="F7FAF7"/>
                    </a:solidFill>
                  </a:tcPr>
                </a:tc>
                <a:tc>
                  <a:txBody>
                    <a:bodyPr/>
                    <a:lstStyle/>
                    <a:p>
                      <a:pPr algn="r">
                        <a:defRPr>
                          <a:latin typeface="Roboto"/>
                        </a:defRPr>
                      </a:pPr>
                      <a:r>
                        <a:rPr sz="1050">
                          <a:solidFill>
                            <a:srgbClr val="25342A"/>
                          </a:solidFill>
                          <a:latin typeface="Roboto"/>
                        </a:rPr>
                        <a:t>$36,832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$71,157</a:t>
                      </a:r>
                    </a:p>
                  </a:txBody>
                  <a:tcPr>
                    <a:solidFill>
                      <a:srgbClr val="F7FAF7"/>
                    </a:solidFill>
                  </a:tcPr>
                </a:tc>
                <a:tc>
                  <a:txBody>
                    <a:bodyPr/>
                    <a:lstStyle/>
                    <a:p>
                      <a:pPr algn="r">
                        <a:defRPr>
                          <a:latin typeface="Roboto"/>
                        </a:defRPr>
                      </a:pPr>
                      <a:r>
                        <a:rPr sz="1050">
                          <a:solidFill>
                            <a:srgbClr val="25342A"/>
                          </a:solidFill>
                          <a:latin typeface="Roboto"/>
                        </a:rPr>
                        <a:t>$43,697</a:t>
                      </a:r>
                    </a:p>
                  </a:txBody>
                  <a:tcPr>
                    <a:solidFill>
                      <a:srgbClr val="F7FAF7"/>
                    </a:solidFill>
                  </a:tcPr>
                </a:tc>
              </a:tr>
              <a:tr h="329184">
                <a:tc>
                  <a:txBody>
                    <a:bodyPr/>
                    <a:lstStyle/>
                    <a:p>
                      <a:pPr>
                        <a:defRPr>
                          <a:latin typeface="Roboto"/>
                        </a:defRPr>
                      </a:pPr>
                      <a:r>
                        <a:rPr sz="1050">
                          <a:solidFill>
                            <a:srgbClr val="25342A"/>
                          </a:solidFill>
                          <a:latin typeface="Roboto"/>
                        </a:rPr>
                        <a:t>2 Dec</a:t>
                      </a:r>
                    </a:p>
                  </a:txBody>
                  <a:tcPr>
                    <a:solidFill>
                      <a:srgbClr val="FFFFFF"/>
                    </a:solidFill>
                  </a:tcPr>
                </a:tc>
                <a:tc>
                  <a:txBody>
                    <a:bodyPr/>
                    <a:lstStyle/>
                    <a:p>
                      <a:pPr algn="r">
                        <a:defRPr>
                          <a:latin typeface="Roboto"/>
                        </a:defRPr>
                      </a:pPr>
                      <a:r>
                        <a:rPr sz="1050">
                          <a:solidFill>
                            <a:srgbClr val="25342A"/>
                          </a:solidFill>
                          <a:latin typeface="Roboto"/>
                        </a:rPr>
                        <a:t>$71,157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$74,825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B42318"/>
                          </a:solidFill>
                          <a:latin typeface="Roboto"/>
                        </a:rPr>
                        <a:t>($6,080)</a:t>
                      </a:r>
                    </a:p>
                  </a:txBody>
                  <a:tcPr>
                    <a:solidFill>
                      <a:srgbClr val="FFFFFF"/>
                    </a:solidFill>
                  </a:tcPr>
                </a:tc>
                <a:tc>
                  <a:txBody>
                    <a:bodyPr/>
                    <a:lstStyle/>
                    <a:p>
                      <a:pPr algn="r">
                        <a:defRPr>
                          <a:latin typeface="Roboto"/>
                        </a:defRPr>
                      </a:pPr>
                      <a:r>
                        <a:rPr sz="1050">
                          <a:solidFill>
                            <a:srgbClr val="25342A"/>
                          </a:solidFill>
                          <a:latin typeface="Roboto"/>
                        </a:rPr>
                        <a:t>$47,022</a:t>
                      </a:r>
                    </a:p>
                  </a:txBody>
                  <a:tcPr>
                    <a:solidFill>
                      <a:srgbClr val="FFFFFF"/>
                    </a:solidFill>
                  </a:tcPr>
                </a:tc>
                <a:tc>
                  <a:txBody>
                    <a:bodyPr/>
                    <a:lstStyle/>
                    <a:p>
                      <a:pPr algn="r">
                        <a:defRPr>
                          <a:latin typeface="Roboto"/>
                        </a:defRPr>
                      </a:pPr>
                      <a:r>
                        <a:rPr sz="1050">
                          <a:solidFill>
                            <a:srgbClr val="B42318"/>
                          </a:solidFill>
                          <a:latin typeface="Roboto"/>
                        </a:rPr>
                        <a:t>($343)</a:t>
                      </a:r>
                    </a:p>
                  </a:txBody>
                  <a:tcPr>
                    <a:solidFill>
                      <a:srgbClr val="FFFFFF"/>
                    </a:solidFill>
                  </a:tcPr>
                </a:tc>
              </a:tr>
              <a:tr h="329184">
                <a:tc>
                  <a:txBody>
                    <a:bodyPr/>
                    <a:lstStyle/>
                    <a:p>
                      <a:pPr>
                        <a:defRPr>
                          <a:latin typeface="Roboto"/>
                        </a:defRPr>
                      </a:pPr>
                      <a:r>
                        <a:rPr sz="1050">
                          <a:solidFill>
                            <a:srgbClr val="25342A"/>
                          </a:solidFill>
                          <a:latin typeface="Roboto"/>
                        </a:rPr>
                        <a:t>9 Dec</a:t>
                      </a:r>
                    </a:p>
                  </a:txBody>
                  <a:tcPr>
                    <a:solidFill>
                      <a:srgbClr val="F7FAF7"/>
                    </a:solidFill>
                  </a:tcPr>
                </a:tc>
                <a:tc>
                  <a:txBody>
                    <a:bodyPr/>
                    <a:lstStyle/>
                    <a:p>
                      <a:pPr algn="r">
                        <a:defRPr>
                          <a:latin typeface="Roboto"/>
                        </a:defRPr>
                      </a:pPr>
                      <a:r>
                        <a:rPr sz="1050">
                          <a:solidFill>
                            <a:srgbClr val="25342A"/>
                          </a:solidFill>
                          <a:latin typeface="Roboto"/>
                        </a:rPr>
                        <a:t>$47,022</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$81,346</a:t>
                      </a:r>
                    </a:p>
                  </a:txBody>
                  <a:tcPr>
                    <a:solidFill>
                      <a:srgbClr val="F7FAF7"/>
                    </a:solidFill>
                  </a:tcPr>
                </a:tc>
                <a:tc>
                  <a:txBody>
                    <a:bodyPr/>
                    <a:lstStyle/>
                    <a:p>
                      <a:pPr algn="r">
                        <a:defRPr>
                          <a:latin typeface="Roboto"/>
                        </a:defRPr>
                      </a:pPr>
                      <a:r>
                        <a:rPr sz="1050">
                          <a:solidFill>
                            <a:srgbClr val="25342A"/>
                          </a:solidFill>
                          <a:latin typeface="Roboto"/>
                        </a:rPr>
                        <a:t>$53,886</a:t>
                      </a:r>
                    </a:p>
                  </a:txBody>
                  <a:tcPr>
                    <a:solidFill>
                      <a:srgbClr val="F7FAF7"/>
                    </a:solidFill>
                  </a:tcPr>
                </a:tc>
              </a:tr>
              <a:tr h="329184">
                <a:tc>
                  <a:txBody>
                    <a:bodyPr/>
                    <a:lstStyle/>
                    <a:p>
                      <a:pPr>
                        <a:defRPr>
                          <a:latin typeface="Roboto"/>
                        </a:defRPr>
                      </a:pPr>
                      <a:r>
                        <a:rPr sz="1050">
                          <a:solidFill>
                            <a:srgbClr val="25342A"/>
                          </a:solidFill>
                          <a:latin typeface="Roboto"/>
                        </a:rPr>
                        <a:t>16 Dec</a:t>
                      </a:r>
                    </a:p>
                  </a:txBody>
                  <a:tcPr>
                    <a:solidFill>
                      <a:srgbClr val="FFFFFF"/>
                    </a:solidFill>
                  </a:tcPr>
                </a:tc>
                <a:tc>
                  <a:txBody>
                    <a:bodyPr/>
                    <a:lstStyle/>
                    <a:p>
                      <a:pPr algn="r">
                        <a:defRPr>
                          <a:latin typeface="Roboto"/>
                        </a:defRPr>
                      </a:pPr>
                      <a:r>
                        <a:rPr sz="1050">
                          <a:solidFill>
                            <a:srgbClr val="25342A"/>
                          </a:solidFill>
                          <a:latin typeface="Roboto"/>
                        </a:rPr>
                        <a:t>$81,346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B42318"/>
                          </a:solidFill>
                          <a:latin typeface="Roboto"/>
                        </a:rPr>
                        <a:t>($55,080)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$22,791</a:t>
                      </a:r>
                    </a:p>
                  </a:txBody>
                  <a:tcPr>
                    <a:solidFill>
                      <a:srgbClr val="FFFFFF"/>
                    </a:solidFill>
                  </a:tcPr>
                </a:tc>
                <a:tc>
                  <a:txBody>
                    <a:bodyPr/>
                    <a:lstStyle/>
                    <a:p>
                      <a:pPr algn="r">
                        <a:defRPr>
                          <a:latin typeface="Roboto"/>
                        </a:defRPr>
                      </a:pPr>
                      <a:r>
                        <a:rPr sz="1050">
                          <a:solidFill>
                            <a:srgbClr val="25342A"/>
                          </a:solidFill>
                          <a:latin typeface="Roboto"/>
                        </a:rPr>
                        <a:t>$15,926</a:t>
                      </a:r>
                    </a:p>
                  </a:txBody>
                  <a:tcPr>
                    <a:solidFill>
                      <a:srgbClr val="FFFFFF"/>
                    </a:solidFill>
                  </a:tcPr>
                </a:tc>
              </a:tr>
              <a:tr h="329184">
                <a:tc>
                  <a:txBody>
                    <a:bodyPr/>
                    <a:lstStyle/>
                    <a:p>
                      <a:pPr>
                        <a:defRPr>
                          <a:latin typeface="Roboto"/>
                        </a:defRPr>
                      </a:pPr>
                      <a:r>
                        <a:rPr sz="1050">
                          <a:solidFill>
                            <a:srgbClr val="25342A"/>
                          </a:solidFill>
                          <a:latin typeface="Roboto"/>
                        </a:rPr>
                        <a:t>23 Dec</a:t>
                      </a:r>
                    </a:p>
                  </a:txBody>
                  <a:tcPr>
                    <a:solidFill>
                      <a:srgbClr val="F7FAF7"/>
                    </a:solidFill>
                  </a:tcPr>
                </a:tc>
                <a:tc>
                  <a:txBody>
                    <a:bodyPr/>
                    <a:lstStyle/>
                    <a:p>
                      <a:pPr algn="r">
                        <a:defRPr>
                          <a:latin typeface="Roboto"/>
                        </a:defRPr>
                      </a:pPr>
                      <a:r>
                        <a:rPr sz="1050">
                          <a:solidFill>
                            <a:srgbClr val="25342A"/>
                          </a:solidFill>
                          <a:latin typeface="Roboto"/>
                        </a:rPr>
                        <a:t>$22,791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$34,325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$57,116</a:t>
                      </a:r>
                    </a:p>
                  </a:txBody>
                  <a:tcPr>
                    <a:solidFill>
                      <a:srgbClr val="F7FAF7"/>
                    </a:solidFill>
                  </a:tcPr>
                </a:tc>
                <a:tc>
                  <a:txBody>
                    <a:bodyPr/>
                    <a:lstStyle/>
                    <a:p>
                      <a:pPr algn="r">
                        <a:defRPr>
                          <a:latin typeface="Roboto"/>
                        </a:defRPr>
                      </a:pPr>
                      <a:r>
                        <a:rPr sz="1050">
                          <a:solidFill>
                            <a:srgbClr val="25342A"/>
                          </a:solidFill>
                          <a:latin typeface="Roboto"/>
                        </a:rPr>
                        <a:t>$29,656</a:t>
                      </a:r>
                    </a:p>
                  </a:txBody>
                  <a:tcPr>
                    <a:solidFill>
                      <a:srgbClr val="F7FAF7"/>
                    </a:solidFill>
                  </a:tcPr>
                </a:tc>
              </a:tr>
              <a:tr h="329184">
                <a:tc>
                  <a:txBody>
                    <a:bodyPr/>
                    <a:lstStyle/>
                    <a:p>
                      <a:pPr>
                        <a:defRPr>
                          <a:latin typeface="Roboto"/>
                        </a:defRPr>
                      </a:pPr>
                      <a:r>
                        <a:rPr sz="1050">
                          <a:solidFill>
                            <a:srgbClr val="25342A"/>
                          </a:solidFill>
                          <a:latin typeface="Roboto"/>
                        </a:rPr>
                        <a:t>30 Dec</a:t>
                      </a:r>
                    </a:p>
                  </a:txBody>
                  <a:tcPr>
                    <a:solidFill>
                      <a:srgbClr val="FFFFFF"/>
                    </a:solidFill>
                  </a:tcPr>
                </a:tc>
                <a:tc>
                  <a:txBody>
                    <a:bodyPr/>
                    <a:lstStyle/>
                    <a:p>
                      <a:pPr algn="r">
                        <a:defRPr>
                          <a:latin typeface="Roboto"/>
                        </a:defRPr>
                      </a:pPr>
                      <a:r>
                        <a:rPr sz="1050">
                          <a:solidFill>
                            <a:srgbClr val="25342A"/>
                          </a:solidFill>
                          <a:latin typeface="Roboto"/>
                        </a:rPr>
                        <a:t>$57,116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$34,325</a:t>
                      </a:r>
                    </a:p>
                  </a:txBody>
                  <a:tcPr>
                    <a:solidFill>
                      <a:srgbClr val="FFFFFF"/>
                    </a:solidFill>
                  </a:tcPr>
                </a:tc>
                <a:tc>
                  <a:txBody>
                    <a:bodyPr/>
                    <a:lstStyle/>
                    <a:p>
                      <a:pPr algn="r">
                        <a:defRPr>
                          <a:latin typeface="Roboto"/>
                        </a:defRPr>
                      </a:pPr>
                      <a:r>
                        <a:rPr sz="1050">
                          <a:solidFill>
                            <a:srgbClr val="B42318"/>
                          </a:solidFill>
                          <a:latin typeface="Roboto"/>
                        </a:rPr>
                        <a:t>($37,800)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($5,000)</a:t>
                      </a:r>
                    </a:p>
                  </a:txBody>
                  <a:tcPr>
                    <a:solidFill>
                      <a:srgbClr val="FFFFFF"/>
                    </a:solidFill>
                  </a:tcPr>
                </a:tc>
                <a:tc>
                  <a:txBody>
                    <a:bodyPr/>
                    <a:lstStyle/>
                    <a:p>
                      <a:pPr algn="r">
                        <a:defRPr>
                          <a:latin typeface="Roboto"/>
                        </a:defRPr>
                      </a:pPr>
                      <a:r>
                        <a:rPr sz="1050">
                          <a:solidFill>
                            <a:srgbClr val="25342A"/>
                          </a:solidFill>
                          <a:latin typeface="Roboto"/>
                        </a:rPr>
                        <a:t>$48,641</a:t>
                      </a:r>
                    </a:p>
                  </a:txBody>
                  <a:tcPr>
                    <a:solidFill>
                      <a:srgbClr val="FFFFFF"/>
                    </a:solidFill>
                  </a:tcPr>
                </a:tc>
                <a:tc>
                  <a:txBody>
                    <a:bodyPr/>
                    <a:lstStyle/>
                    <a:p>
                      <a:pPr algn="r">
                        <a:defRPr>
                          <a:latin typeface="Roboto"/>
                        </a:defRPr>
                      </a:pPr>
                      <a:r>
                        <a:rPr sz="1050">
                          <a:solidFill>
                            <a:srgbClr val="25342A"/>
                          </a:solidFill>
                          <a:latin typeface="Roboto"/>
                        </a:rPr>
                        <a:t>$26,181</a:t>
                      </a:r>
                    </a:p>
                  </a:txBody>
                  <a:tcPr>
                    <a:solidFill>
                      <a:srgbClr val="FFFFFF"/>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Invoices past the customer's usual payment date ($8,963)</a:t>
            </a:r>
          </a:p>
        </p:txBody>
      </p:sp>
      <p:graphicFrame>
        <p:nvGraphicFramePr>
          <p:cNvPr id="5" name="Table 4"/>
          <p:cNvGraphicFramePr>
            <a:graphicFrameLocks noGrp="1"/>
          </p:cNvGraphicFramePr>
          <p:nvPr/>
        </p:nvGraphicFramePr>
        <p:xfrm>
          <a:off x="457200" y="1188720"/>
          <a:ext cx="11247120" cy="3621024"/>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329184">
                <a:tc>
                  <a:txBody>
                    <a:bodyPr/>
                    <a:lstStyle/>
                    <a:p>
                      <a:pPr>
                        <a:defRPr>
                          <a:latin typeface="Roboto"/>
                        </a:defRPr>
                      </a:pPr>
                      <a:r>
                        <a:rPr sz="1100" b="1">
                          <a:solidFill>
                            <a:srgbClr val="FFFFFF"/>
                          </a:solidFill>
                          <a:latin typeface="Roboto"/>
                        </a:rPr>
                        <a:t>Customer or job</a:t>
                      </a:r>
                    </a:p>
                  </a:txBody>
                  <a:tcPr>
                    <a:solidFill>
                      <a:srgbClr val="2F7A5D"/>
                    </a:solidFill>
                  </a:tcPr>
                </a:tc>
                <a:tc>
                  <a:txBody>
                    <a:bodyPr/>
                    <a:lstStyle/>
                    <a:p>
                      <a:pPr algn="r">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29184">
                <a:tc>
                  <a:txBody>
                    <a:bodyPr/>
                    <a:lstStyle/>
                    <a:p>
                      <a:pPr>
                        <a:defRPr>
                          <a:latin typeface="Roboto"/>
                        </a:defRPr>
                      </a:pPr>
                      <a:r>
                        <a:rPr sz="1050">
                          <a:solidFill>
                            <a:srgbClr val="25342A"/>
                          </a:solidFill>
                          <a:latin typeface="Roboto"/>
                        </a:rPr>
                        <a:t>Call-out 15, September</a:t>
                      </a:r>
                    </a:p>
                  </a:txBody>
                  <a:tcPr>
                    <a:solidFill>
                      <a:srgbClr val="FFFFFF"/>
                    </a:solidFill>
                  </a:tcPr>
                </a:tc>
                <a:tc>
                  <a:txBody>
                    <a:bodyPr/>
                    <a:lstStyle/>
                    <a:p>
                      <a:pPr algn="r">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$775</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29184">
                <a:tc>
                  <a:txBody>
                    <a:bodyPr/>
                    <a:lstStyle/>
                    <a:p>
                      <a:pPr>
                        <a:defRPr>
                          <a:latin typeface="Roboto"/>
                        </a:defRPr>
                      </a:pPr>
                      <a:r>
                        <a:rPr sz="1050">
                          <a:solidFill>
                            <a:srgbClr val="25342A"/>
                          </a:solidFill>
                          <a:latin typeface="Roboto"/>
                        </a:rPr>
                        <a:t>Call-out 9, September</a:t>
                      </a:r>
                    </a:p>
                  </a:txBody>
                  <a:tcPr>
                    <a:solidFill>
                      <a:srgbClr val="F7FAF7"/>
                    </a:solidFill>
                  </a:tcPr>
                </a:tc>
                <a:tc>
                  <a:txBody>
                    <a:bodyPr/>
                    <a:lstStyle/>
                    <a:p>
                      <a:pPr algn="r">
                        <a:defRPr>
                          <a:latin typeface="Roboto"/>
                        </a:defRPr>
                      </a:pPr>
                      <a:r>
                        <a:rPr sz="1050">
                          <a:solidFill>
                            <a:srgbClr val="25342A"/>
                          </a:solidFill>
                          <a:latin typeface="Roboto"/>
                        </a:rPr>
                        <a:t>22 Sep</a:t>
                      </a:r>
                    </a:p>
                  </a:txBody>
                  <a:tcPr>
                    <a:solidFill>
                      <a:srgbClr val="F7FAF7"/>
                    </a:solidFill>
                  </a:tcPr>
                </a:tc>
                <a:tc>
                  <a:txBody>
                    <a:bodyPr/>
                    <a:lstStyle/>
                    <a:p>
                      <a:pPr algn="r">
                        <a:defRPr>
                          <a:latin typeface="Roboto"/>
                        </a:defRPr>
                      </a:pPr>
                      <a:r>
                        <a:rPr sz="1050">
                          <a:solidFill>
                            <a:srgbClr val="25342A"/>
                          </a:solidFill>
                          <a:latin typeface="Roboto"/>
                        </a:rPr>
                        <a:t>$762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r h="329184">
                <a:tc>
                  <a:txBody>
                    <a:bodyPr/>
                    <a:lstStyle/>
                    <a:p>
                      <a:pPr>
                        <a:defRPr>
                          <a:latin typeface="Roboto"/>
                        </a:defRPr>
                      </a:pPr>
                      <a:r>
                        <a:rPr sz="1050">
                          <a:solidFill>
                            <a:srgbClr val="25342A"/>
                          </a:solidFill>
                          <a:latin typeface="Roboto"/>
                        </a:rPr>
                        <a:t>Call-out 40, September</a:t>
                      </a:r>
                    </a:p>
                  </a:txBody>
                  <a:tcPr>
                    <a:solidFill>
                      <a:srgbClr val="FFFFFF"/>
                    </a:solidFill>
                  </a:tcPr>
                </a:tc>
                <a:tc>
                  <a:txBody>
                    <a:bodyPr/>
                    <a:lstStyle/>
                    <a:p>
                      <a:pPr algn="r">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$623</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29</a:t>
                      </a:r>
                    </a:p>
                  </a:txBody>
                  <a:tcPr>
                    <a:solidFill>
                      <a:srgbClr val="FFFFFF"/>
                    </a:solidFill>
                  </a:tcPr>
                </a:tc>
              </a:tr>
              <a:tr h="329184">
                <a:tc>
                  <a:txBody>
                    <a:bodyPr/>
                    <a:lstStyle/>
                    <a:p>
                      <a:pPr>
                        <a:defRPr>
                          <a:latin typeface="Roboto"/>
                        </a:defRPr>
                      </a:pPr>
                      <a:r>
                        <a:rPr sz="1050">
                          <a:solidFill>
                            <a:srgbClr val="25342A"/>
                          </a:solidFill>
                          <a:latin typeface="Roboto"/>
                        </a:rPr>
                        <a:t>Call-out 29, September</a:t>
                      </a:r>
                    </a:p>
                  </a:txBody>
                  <a:tcPr>
                    <a:solidFill>
                      <a:srgbClr val="F7FAF7"/>
                    </a:solidFill>
                  </a:tcPr>
                </a:tc>
                <a:tc>
                  <a:txBody>
                    <a:bodyPr/>
                    <a:lstStyle/>
                    <a:p>
                      <a:pPr algn="r">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$606</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r>
              <a:tr h="329184">
                <a:tc>
                  <a:txBody>
                    <a:bodyPr/>
                    <a:lstStyle/>
                    <a:p>
                      <a:pPr>
                        <a:defRPr>
                          <a:latin typeface="Roboto"/>
                        </a:defRPr>
                      </a:pPr>
                      <a:r>
                        <a:rPr sz="1050">
                          <a:solidFill>
                            <a:srgbClr val="25342A"/>
                          </a:solidFill>
                          <a:latin typeface="Roboto"/>
                        </a:rPr>
                        <a:t>Call-out 32, September</a:t>
                      </a:r>
                    </a:p>
                  </a:txBody>
                  <a:tcPr>
                    <a:solidFill>
                      <a:srgbClr val="FFFFFF"/>
                    </a:solidFill>
                  </a:tcPr>
                </a:tc>
                <a:tc>
                  <a:txBody>
                    <a:bodyPr/>
                    <a:lstStyle/>
                    <a:p>
                      <a:pPr algn="r">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$597</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9</a:t>
                      </a:r>
                    </a:p>
                  </a:txBody>
                  <a:tcPr>
                    <a:solidFill>
                      <a:srgbClr val="FFFFFF"/>
                    </a:solidFill>
                  </a:tcPr>
                </a:tc>
              </a:tr>
              <a:tr h="329184">
                <a:tc>
                  <a:txBody>
                    <a:bodyPr/>
                    <a:lstStyle/>
                    <a:p>
                      <a:pPr>
                        <a:defRPr>
                          <a:latin typeface="Roboto"/>
                        </a:defRPr>
                      </a:pPr>
                      <a:r>
                        <a:rPr sz="1050">
                          <a:solidFill>
                            <a:srgbClr val="25342A"/>
                          </a:solidFill>
                          <a:latin typeface="Roboto"/>
                        </a:rPr>
                        <a:t>Call-out 28, September</a:t>
                      </a:r>
                    </a:p>
                  </a:txBody>
                  <a:tcPr>
                    <a:solidFill>
                      <a:srgbClr val="F7FAF7"/>
                    </a:solidFill>
                  </a:tcPr>
                </a:tc>
                <a:tc>
                  <a:txBody>
                    <a:bodyPr/>
                    <a:lstStyle/>
                    <a:p>
                      <a:pPr algn="r">
                        <a:defRPr>
                          <a:latin typeface="Roboto"/>
                        </a:defRPr>
                      </a:pPr>
                      <a:r>
                        <a:rPr sz="1050">
                          <a:solidFill>
                            <a:srgbClr val="25342A"/>
                          </a:solidFill>
                          <a:latin typeface="Roboto"/>
                        </a:rPr>
                        <a:t>25 Sep</a:t>
                      </a:r>
                    </a:p>
                  </a:txBody>
                  <a:tcPr>
                    <a:solidFill>
                      <a:srgbClr val="F7FAF7"/>
                    </a:solidFill>
                  </a:tcPr>
                </a:tc>
                <a:tc>
                  <a:txBody>
                    <a:bodyPr/>
                    <a:lstStyle/>
                    <a:p>
                      <a:pPr algn="r">
                        <a:defRPr>
                          <a:latin typeface="Roboto"/>
                        </a:defRPr>
                      </a:pPr>
                      <a:r>
                        <a:rPr sz="1050">
                          <a:solidFill>
                            <a:srgbClr val="25342A"/>
                          </a:solidFill>
                          <a:latin typeface="Roboto"/>
                        </a:rPr>
                        <a:t>$563</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29184">
                <a:tc>
                  <a:txBody>
                    <a:bodyPr/>
                    <a:lstStyle/>
                    <a:p>
                      <a:pPr>
                        <a:defRPr>
                          <a:latin typeface="Roboto"/>
                        </a:defRPr>
                      </a:pPr>
                      <a:r>
                        <a:rPr sz="1050">
                          <a:solidFill>
                            <a:srgbClr val="25342A"/>
                          </a:solidFill>
                          <a:latin typeface="Roboto"/>
                        </a:rPr>
                        <a:t>Call-out 49, September</a:t>
                      </a:r>
                    </a:p>
                  </a:txBody>
                  <a:tcPr>
                    <a:solidFill>
                      <a:srgbClr val="FFFFFF"/>
                    </a:solidFill>
                  </a:tcPr>
                </a:tc>
                <a:tc>
                  <a:txBody>
                    <a:bodyPr/>
                    <a:lstStyle/>
                    <a:p>
                      <a:pPr algn="r">
                        <a:defRPr>
                          <a:latin typeface="Roboto"/>
                        </a:defRPr>
                      </a:pPr>
                      <a:r>
                        <a:rPr sz="1050">
                          <a:solidFill>
                            <a:srgbClr val="25342A"/>
                          </a:solidFill>
                          <a:latin typeface="Roboto"/>
                        </a:rPr>
                        <a:t>27 Sep</a:t>
                      </a:r>
                    </a:p>
                  </a:txBody>
                  <a:tcPr>
                    <a:solidFill>
                      <a:srgbClr val="FFFFFF"/>
                    </a:solidFill>
                  </a:tcPr>
                </a:tc>
                <a:tc>
                  <a:txBody>
                    <a:bodyPr/>
                    <a:lstStyle/>
                    <a:p>
                      <a:pPr algn="r">
                        <a:defRPr>
                          <a:latin typeface="Roboto"/>
                        </a:defRPr>
                      </a:pPr>
                      <a:r>
                        <a:rPr sz="1050">
                          <a:solidFill>
                            <a:srgbClr val="25342A"/>
                          </a:solidFill>
                          <a:latin typeface="Roboto"/>
                        </a:rPr>
                        <a:t>$550</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3</a:t>
                      </a:r>
                    </a:p>
                  </a:txBody>
                  <a:tcPr>
                    <a:solidFill>
                      <a:srgbClr val="FFFFFF"/>
                    </a:solidFill>
                  </a:tcPr>
                </a:tc>
              </a:tr>
              <a:tr h="329184">
                <a:tc>
                  <a:txBody>
                    <a:bodyPr/>
                    <a:lstStyle/>
                    <a:p>
                      <a:pPr>
                        <a:defRPr>
                          <a:latin typeface="Roboto"/>
                        </a:defRPr>
                      </a:pPr>
                      <a:r>
                        <a:rPr sz="1050">
                          <a:solidFill>
                            <a:srgbClr val="25342A"/>
                          </a:solidFill>
                          <a:latin typeface="Roboto"/>
                        </a:rPr>
                        <a:t>Call-out 63, September</a:t>
                      </a:r>
                    </a:p>
                  </a:txBody>
                  <a:tcPr>
                    <a:solidFill>
                      <a:srgbClr val="F7FAF7"/>
                    </a:solidFill>
                  </a:tcPr>
                </a:tc>
                <a:tc>
                  <a:txBody>
                    <a:bodyPr/>
                    <a:lstStyle/>
                    <a:p>
                      <a:pPr algn="r">
                        <a:defRPr>
                          <a:latin typeface="Roboto"/>
                        </a:defRPr>
                      </a:pPr>
                      <a:r>
                        <a:rPr sz="1050">
                          <a:solidFill>
                            <a:srgbClr val="25342A"/>
                          </a:solidFill>
                          <a:latin typeface="Roboto"/>
                        </a:rPr>
                        <a:t>15 Sep</a:t>
                      </a:r>
                    </a:p>
                  </a:txBody>
                  <a:tcPr>
                    <a:solidFill>
                      <a:srgbClr val="F7FAF7"/>
                    </a:solidFill>
                  </a:tcPr>
                </a:tc>
                <a:tc>
                  <a:txBody>
                    <a:bodyPr/>
                    <a:lstStyle/>
                    <a:p>
                      <a:pPr algn="r">
                        <a:defRPr>
                          <a:latin typeface="Roboto"/>
                        </a:defRPr>
                      </a:pPr>
                      <a:r>
                        <a:rPr sz="1050">
                          <a:solidFill>
                            <a:srgbClr val="25342A"/>
                          </a:solidFill>
                          <a:latin typeface="Roboto"/>
                        </a:rPr>
                        <a:t>$532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15</a:t>
                      </a:r>
                    </a:p>
                  </a:txBody>
                  <a:tcPr>
                    <a:solidFill>
                      <a:srgbClr val="F7FAF7"/>
                    </a:solidFill>
                  </a:tcPr>
                </a:tc>
              </a:tr>
              <a:tr h="329184">
                <a:tc>
                  <a:txBody>
                    <a:bodyPr/>
                    <a:lstStyle/>
                    <a:p>
                      <a:pPr>
                        <a:defRPr>
                          <a:latin typeface="Roboto"/>
                        </a:defRPr>
                      </a:pPr>
                      <a:r>
                        <a:rPr sz="1050">
                          <a:solidFill>
                            <a:srgbClr val="25342A"/>
                          </a:solidFill>
                          <a:latin typeface="Roboto"/>
                        </a:rPr>
                        <a:t>Call-out 11, September</a:t>
                      </a:r>
                    </a:p>
                  </a:txBody>
                  <a:tcPr>
                    <a:solidFill>
                      <a:srgbClr val="FFFFFF"/>
                    </a:solidFill>
                  </a:tcPr>
                </a:tc>
                <a:tc>
                  <a:txBody>
                    <a:bodyPr/>
                    <a:lstStyle/>
                    <a:p>
                      <a:pPr algn="r">
                        <a:defRPr>
                          <a:latin typeface="Roboto"/>
                        </a:defRPr>
                      </a:pPr>
                      <a:r>
                        <a:rPr sz="1050">
                          <a:solidFill>
                            <a:srgbClr val="25342A"/>
                          </a:solidFill>
                          <a:latin typeface="Roboto"/>
                        </a:rPr>
                        <a:t>24 Sep</a:t>
                      </a:r>
                    </a:p>
                  </a:txBody>
                  <a:tcPr>
                    <a:solidFill>
                      <a:srgbClr val="FFFFFF"/>
                    </a:solidFill>
                  </a:tcPr>
                </a:tc>
                <a:tc>
                  <a:txBody>
                    <a:bodyPr/>
                    <a:lstStyle/>
                    <a:p>
                      <a:pPr algn="r">
                        <a:defRPr>
                          <a:latin typeface="Roboto"/>
                        </a:defRPr>
                      </a:pPr>
                      <a:r>
                        <a:rPr sz="1050">
                          <a:solidFill>
                            <a:srgbClr val="25342A"/>
                          </a:solidFill>
                          <a:latin typeface="Roboto"/>
                        </a:rPr>
                        <a:t>$526</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6</a:t>
                      </a:r>
                    </a:p>
                  </a:txBody>
                  <a:tcPr>
                    <a:solidFill>
                      <a:srgbClr val="FFFFFF"/>
                    </a:solidFill>
                  </a:tcPr>
                </a:tc>
              </a:tr>
              <a:tr h="329184">
                <a:tc>
                  <a:txBody>
                    <a:bodyPr/>
                    <a:lstStyle/>
                    <a:p>
                      <a:pPr>
                        <a:defRPr>
                          <a:latin typeface="Roboto"/>
                        </a:defRPr>
                      </a:pPr>
                      <a:r>
                        <a:rPr sz="1050">
                          <a:solidFill>
                            <a:srgbClr val="25342A"/>
                          </a:solidFill>
                          <a:latin typeface="Roboto"/>
                        </a:rPr>
                        <a:t>Call-out 50, September</a:t>
                      </a:r>
                    </a:p>
                  </a:txBody>
                  <a:tcPr>
                    <a:solidFill>
                      <a:srgbClr val="F7FAF7"/>
                    </a:solidFill>
                  </a:tcPr>
                </a:tc>
                <a:tc>
                  <a:txBody>
                    <a:bodyPr/>
                    <a:lstStyle/>
                    <a:p>
                      <a:pPr algn="r">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$517</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