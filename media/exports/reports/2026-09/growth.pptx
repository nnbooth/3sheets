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strCache>
            </c:strRef>
          </c:cat>
          <c:val>
            <c:numRef>
              <c:f>Sheet1!$B$2:$B$25</c:f>
              <c:numCache>
                <c:formatCode>$#,##0;[Red]($#,##0);"-"</c:formatCode>
                <c:ptCount val="24"/>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pt idx="16">
                  <c:v>196372</c:v>
                </c:pt>
                <c:pt idx="17">
                  <c:v>191500</c:v>
                </c:pt>
                <c:pt idx="18">
                  <c:v>164987</c:v>
                </c:pt>
                <c:pt idx="19">
                  <c:v>161963</c:v>
                </c:pt>
                <c:pt idx="20">
                  <c:v>173163</c:v>
                </c:pt>
                <c:pt idx="21">
                  <c:v>193245</c:v>
                </c:pt>
                <c:pt idx="22">
                  <c:v>179007</c:v>
                </c:pt>
                <c:pt idx="23">
                  <c:v>202337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strCache>
            </c:strRef>
          </c:cat>
          <c:val>
            <c:numRef>
              <c:f>Sheet1!$B$2:$B$25</c:f>
              <c:numCache>
                <c:formatCode>0.0"%";[Red](0.0"%")</c:formatCode>
                <c:ptCount val="24"/>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pt idx="21">
                  <c:v>36.8</c:v>
                </c:pt>
                <c:pt idx="22">
                  <c:v>41.1</c:v>
                </c:pt>
                <c:pt idx="23">
                  <c:v>36.1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strCache>
            </c:strRef>
          </c:cat>
          <c:val>
            <c:numRef>
              <c:f>Sheet1!$B$2:$B$25</c:f>
              <c:numCache>
                <c:formatCode>$#,##0;[Red]($#,##0);"-"</c:formatCode>
                <c:ptCount val="24"/>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pt idx="16">
                  <c:v>100055</c:v>
                </c:pt>
                <c:pt idx="17">
                  <c:v>109865</c:v>
                </c:pt>
                <c:pt idx="18">
                  <c:v>80590</c:v>
                </c:pt>
                <c:pt idx="19">
                  <c:v>77090</c:v>
                </c:pt>
                <c:pt idx="20">
                  <c:v>115550</c:v>
                </c:pt>
                <c:pt idx="21">
                  <c:v>120755</c:v>
                </c:pt>
                <c:pt idx="22">
                  <c:v>114640</c:v>
                </c:pt>
                <c:pt idx="23">
                  <c:v>131850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strCache>
            </c:strRef>
          </c:cat>
          <c:val>
            <c:numRef>
              <c:f>Sheet1!$B$2:$B$25</c:f>
              <c:numCache>
                <c:formatCode>0.0"%";[Red](0.0"%")</c:formatCode>
                <c:ptCount val="24"/>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pt idx="16">
                  <c:v>63.4</c:v>
                </c:pt>
                <c:pt idx="17">
                  <c:v>62.9</c:v>
                </c:pt>
                <c:pt idx="18">
                  <c:v>65.4</c:v>
                </c:pt>
                <c:pt idx="19">
                  <c:v>64.1</c:v>
                </c:pt>
                <c:pt idx="20">
                  <c:v>60.1</c:v>
                </c:pt>
                <c:pt idx="21">
                  <c:v>60.5</c:v>
                </c:pt>
                <c:pt idx="22">
                  <c:v>59.3</c:v>
                </c:pt>
                <c:pt idx="23">
                  <c:v>51.9</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September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August 2026: Locked. August 2026 is locked (closed 2 Sep 2026). These numbers won't change.</a:t>
            </a:r>
          </a:p>
          <a:p>
            <a:pPr>
              <a:defRPr>
                <a:latin typeface="Roboto"/>
              </a:defRPr>
            </a:pPr>
            <a:r>
              <a:rPr sz="1100" b="0">
                <a:solidFill>
                  <a:srgbClr val="5F6F63"/>
                </a:solidFill>
                <a:latin typeface="Roboto"/>
              </a:rPr>
              <a:t>September 2026: Locked. September 2026 is locked (closed 2 Oct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September's jobs made $73,107 gross margin (36.1%). Technician time not charged to jobs took $3,430 and overheads $59,580, leaving $10,097 profit before tax (5.0% of revenue). To cover overheads, jobs need a 31.1%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September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$73,107</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$51,170</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$3,430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$69,677</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$59,580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$10,097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$202,337</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36.1%</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5.0%</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31.1%</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57.8%</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$202,337 against $128,255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26.5%</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$574,589 against $454,179</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37.9%</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$217,865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26.5% up on the same period last year, year to date ($574,589 against $454,179). Maintenance contracts make the highest gross margin (59.5%); Installations the lowest (29.4%). The business needs 31.1%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29.4% gross margin, 5.6 points under the 35.0% target: about $20,473 on $367,900 of revenue this financial year to date. It's below the 31.1% needed to cover overheads, too. Maintenance contracts: 59.5% gross margin, 24.5 points over the 35.0% target ($29,823 ahead on $121,500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22.0%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$40,500 against $33,200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22.0%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$121,500 against $99,600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$72,348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brought in $121,500 this financial year to date, 22.0% on the same period last year (slower than the business as a whole, 26.5%), at a 59.5% gross margin (above the 37.9%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24.5 points over the 35.0% target ($29,823 ahead on $121,500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74.0%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$130,700 against $75,100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23.8%</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$367,900 against $297,100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29.4%</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$108,292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brought in $367,900 this financial year to date, 23.8% on the same period last year (slower than the business as a whole, 26.5%), at a 29.4% gross margin (below the 37.9%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29.4% gross margin, 5.6 points under the 35.0% target: about $20,473 on $367,900 of revenue this financial year to date. It's below the 31.1% needed to cover overheads, too.</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56.0%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$31,137 against $19,955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48.2%</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$85,189 against $57,479</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$37,225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brought in $85,189 this financial year to date, 48.2% on the same period last year (faster than the business as a whole, 26.5%), at a 43.7% gross margin (above the 37.9%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43.7% gross margin, 8.7 points over the 35.0% target ($7,409 ahead on $85,189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line: financial year to date (Jul to Sep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Maintenance contracts</a:t>
                      </a:r>
                    </a:p>
                  </a:txBody>
                  <a:tcPr>
                    <a:solidFill>
                      <a:srgbClr val="FFFFFF"/>
                    </a:solidFill>
                  </a:tcPr>
                </a:tc>
                <a:tc>
                  <a:txBody>
                    <a:bodyPr/>
                    <a:lstStyle/>
                    <a:p>
                      <a:pPr algn="r">
                        <a:defRPr>
                          <a:latin typeface="Roboto"/>
                        </a:defRPr>
                      </a:pPr>
                      <a:r>
                        <a:rPr sz="1050">
                          <a:solidFill>
                            <a:srgbClr val="25342A"/>
                          </a:solidFill>
                          <a:latin typeface="Roboto"/>
                        </a:rPr>
                        <a:t>$121,500</a:t>
                      </a:r>
                    </a:p>
                  </a:txBody>
                  <a:tcPr>
                    <a:solidFill>
                      <a:srgbClr val="FFFFFF"/>
                    </a:solidFill>
                  </a:tcPr>
                </a:tc>
                <a:tc>
                  <a:txBody>
                    <a:bodyPr/>
                    <a:lstStyle/>
                    <a:p>
                      <a:pPr algn="r">
                        <a:defRPr>
                          <a:latin typeface="Roboto"/>
                        </a:defRPr>
                      </a:pPr>
                      <a:r>
                        <a:rPr sz="1050">
                          <a:solidFill>
                            <a:srgbClr val="25342A"/>
                          </a:solidFill>
                          <a:latin typeface="Roboto"/>
                        </a:rPr>
                        <a:t>$99,600</a:t>
                      </a:r>
                    </a:p>
                  </a:txBody>
                  <a:tcPr>
                    <a:solidFill>
                      <a:srgbClr val="FFFFFF"/>
                    </a:solidFill>
                  </a:tcPr>
                </a:tc>
                <a:tc>
                  <a:txBody>
                    <a:bodyPr/>
                    <a:lstStyle/>
                    <a:p>
                      <a:pPr algn="r">
                        <a:defRPr>
                          <a:latin typeface="Roboto"/>
                        </a:defRPr>
                      </a:pPr>
                      <a:r>
                        <a:rPr sz="1050">
                          <a:solidFill>
                            <a:srgbClr val="25342A"/>
                          </a:solidFill>
                          <a:latin typeface="Roboto"/>
                        </a:rPr>
                        <a:t>22.0%</a:t>
                      </a:r>
                    </a:p>
                  </a:txBody>
                  <a:tcPr>
                    <a:solidFill>
                      <a:srgbClr val="FFFFFF"/>
                    </a:solidFill>
                  </a:tcPr>
                </a:tc>
                <a:tc>
                  <a:txBody>
                    <a:bodyPr/>
                    <a:lstStyle/>
                    <a:p>
                      <a:pPr algn="r">
                        <a:defRPr>
                          <a:latin typeface="Roboto"/>
                        </a:defRPr>
                      </a:pPr>
                      <a:r>
                        <a:rPr sz="1050">
                          <a:solidFill>
                            <a:srgbClr val="25342A"/>
                          </a:solidFill>
                          <a:latin typeface="Roboto"/>
                        </a:rPr>
                        <a:t>$72,348</a:t>
                      </a:r>
                    </a:p>
                  </a:txBody>
                  <a:tcPr>
                    <a:solidFill>
                      <a:srgbClr val="FFFFFF"/>
                    </a:solidFill>
                  </a:tcPr>
                </a:tc>
                <a:tc>
                  <a:txBody>
                    <a:bodyPr/>
                    <a:lstStyle/>
                    <a:p>
                      <a:pPr algn="r">
                        <a:defRPr>
                          <a:latin typeface="Roboto"/>
                        </a:defRPr>
                      </a:pPr>
                      <a:r>
                        <a:rPr sz="1050">
                          <a:solidFill>
                            <a:srgbClr val="25342A"/>
                          </a:solidFill>
                          <a:latin typeface="Roboto"/>
                        </a:rPr>
                        <a:t>59.5%</a:t>
                      </a:r>
                    </a:p>
                  </a:txBody>
                  <a:tcPr>
                    <a:solidFill>
                      <a:srgbClr val="FFFFFF"/>
                    </a:solidFill>
                  </a:tcPr>
                </a:tc>
              </a:tr>
              <a:tr h="329184">
                <a:tc>
                  <a:txBody>
                    <a:bodyPr/>
                    <a:lstStyle/>
                    <a:p>
                      <a:pPr>
                        <a:defRPr>
                          <a:latin typeface="Roboto"/>
                        </a:defRPr>
                      </a:pPr>
                      <a:r>
                        <a:rPr sz="1050">
                          <a:solidFill>
                            <a:srgbClr val="25342A"/>
                          </a:solidFill>
                          <a:latin typeface="Roboto"/>
                        </a:rPr>
                        <a:t>Installations</a:t>
                      </a:r>
                    </a:p>
                  </a:txBody>
                  <a:tcPr>
                    <a:solidFill>
                      <a:srgbClr val="F7FAF7"/>
                    </a:solidFill>
                  </a:tcPr>
                </a:tc>
                <a:tc>
                  <a:txBody>
                    <a:bodyPr/>
                    <a:lstStyle/>
                    <a:p>
                      <a:pPr algn="r">
                        <a:defRPr>
                          <a:latin typeface="Roboto"/>
                        </a:defRPr>
                      </a:pPr>
                      <a:r>
                        <a:rPr sz="1050">
                          <a:solidFill>
                            <a:srgbClr val="25342A"/>
                          </a:solidFill>
                          <a:latin typeface="Roboto"/>
                        </a:rPr>
                        <a:t>$367,900</a:t>
                      </a:r>
                    </a:p>
                  </a:txBody>
                  <a:tcPr>
                    <a:solidFill>
                      <a:srgbClr val="F7FAF7"/>
                    </a:solidFill>
                  </a:tcPr>
                </a:tc>
                <a:tc>
                  <a:txBody>
                    <a:bodyPr/>
                    <a:lstStyle/>
                    <a:p>
                      <a:pPr algn="r">
                        <a:defRPr>
                          <a:latin typeface="Roboto"/>
                        </a:defRPr>
                      </a:pPr>
                      <a:r>
                        <a:rPr sz="1050">
                          <a:solidFill>
                            <a:srgbClr val="25342A"/>
                          </a:solidFill>
                          <a:latin typeface="Roboto"/>
                        </a:rPr>
                        <a:t>$297,100</a:t>
                      </a:r>
                    </a:p>
                  </a:txBody>
                  <a:tcPr>
                    <a:solidFill>
                      <a:srgbClr val="F7FAF7"/>
                    </a:solidFill>
                  </a:tcPr>
                </a:tc>
                <a:tc>
                  <a:txBody>
                    <a:bodyPr/>
                    <a:lstStyle/>
                    <a:p>
                      <a:pPr algn="r">
                        <a:defRPr>
                          <a:latin typeface="Roboto"/>
                        </a:defRPr>
                      </a:pPr>
                      <a:r>
                        <a:rPr sz="1050">
                          <a:solidFill>
                            <a:srgbClr val="25342A"/>
                          </a:solidFill>
                          <a:latin typeface="Roboto"/>
                        </a:rPr>
                        <a:t>23.8%</a:t>
                      </a:r>
                    </a:p>
                  </a:txBody>
                  <a:tcPr>
                    <a:solidFill>
                      <a:srgbClr val="F7FAF7"/>
                    </a:solidFill>
                  </a:tcPr>
                </a:tc>
                <a:tc>
                  <a:txBody>
                    <a:bodyPr/>
                    <a:lstStyle/>
                    <a:p>
                      <a:pPr algn="r">
                        <a:defRPr>
                          <a:latin typeface="Roboto"/>
                        </a:defRPr>
                      </a:pPr>
                      <a:r>
                        <a:rPr sz="1050">
                          <a:solidFill>
                            <a:srgbClr val="25342A"/>
                          </a:solidFill>
                          <a:latin typeface="Roboto"/>
                        </a:rPr>
                        <a:t>$108,292</a:t>
                      </a:r>
                    </a:p>
                  </a:txBody>
                  <a:tcPr>
                    <a:solidFill>
                      <a:srgbClr val="F7FAF7"/>
                    </a:solidFill>
                  </a:tcPr>
                </a:tc>
                <a:tc>
                  <a:txBody>
                    <a:bodyPr/>
                    <a:lstStyle/>
                    <a:p>
                      <a:pPr algn="r">
                        <a:defRPr>
                          <a:latin typeface="Roboto"/>
                        </a:defRPr>
                      </a:pPr>
                      <a:r>
                        <a:rPr sz="1050">
                          <a:solidFill>
                            <a:srgbClr val="25342A"/>
                          </a:solidFill>
                          <a:latin typeface="Roboto"/>
                        </a:rPr>
                        <a:t>29.4%</a:t>
                      </a:r>
                    </a:p>
                  </a:txBody>
                  <a:tcPr>
                    <a:solidFill>
                      <a:srgbClr val="F7FAF7"/>
                    </a:solidFill>
                  </a:tcPr>
                </a:tc>
              </a:tr>
              <a:tr h="329184">
                <a:tc>
                  <a:txBody>
                    <a:bodyPr/>
                    <a:lstStyle/>
                    <a:p>
                      <a:pPr>
                        <a:defRPr>
                          <a:latin typeface="Roboto"/>
                        </a:defRPr>
                      </a:pPr>
                      <a:r>
                        <a:rPr sz="1050">
                          <a:solidFill>
                            <a:srgbClr val="25342A"/>
                          </a:solidFill>
                          <a:latin typeface="Roboto"/>
                        </a:rPr>
                        <a:t>Call-outs and repairs</a:t>
                      </a:r>
                    </a:p>
                  </a:txBody>
                  <a:tcPr>
                    <a:solidFill>
                      <a:srgbClr val="FFFFFF"/>
                    </a:solidFill>
                  </a:tcPr>
                </a:tc>
                <a:tc>
                  <a:txBody>
                    <a:bodyPr/>
                    <a:lstStyle/>
                    <a:p>
                      <a:pPr algn="r">
                        <a:defRPr>
                          <a:latin typeface="Roboto"/>
                        </a:defRPr>
                      </a:pPr>
                      <a:r>
                        <a:rPr sz="1050">
                          <a:solidFill>
                            <a:srgbClr val="25342A"/>
                          </a:solidFill>
                          <a:latin typeface="Roboto"/>
                        </a:rPr>
                        <a:t>$85,189</a:t>
                      </a:r>
                    </a:p>
                  </a:txBody>
                  <a:tcPr>
                    <a:solidFill>
                      <a:srgbClr val="FFFFFF"/>
                    </a:solidFill>
                  </a:tcPr>
                </a:tc>
                <a:tc>
                  <a:txBody>
                    <a:bodyPr/>
                    <a:lstStyle/>
                    <a:p>
                      <a:pPr algn="r">
                        <a:defRPr>
                          <a:latin typeface="Roboto"/>
                        </a:defRPr>
                      </a:pPr>
                      <a:r>
                        <a:rPr sz="1050">
                          <a:solidFill>
                            <a:srgbClr val="25342A"/>
                          </a:solidFill>
                          <a:latin typeface="Roboto"/>
                        </a:rPr>
                        <a:t>$57,479</a:t>
                      </a:r>
                    </a:p>
                  </a:txBody>
                  <a:tcPr>
                    <a:solidFill>
                      <a:srgbClr val="FFFFFF"/>
                    </a:solidFill>
                  </a:tcPr>
                </a:tc>
                <a:tc>
                  <a:txBody>
                    <a:bodyPr/>
                    <a:lstStyle/>
                    <a:p>
                      <a:pPr algn="r">
                        <a:defRPr>
                          <a:latin typeface="Roboto"/>
                        </a:defRPr>
                      </a:pPr>
                      <a:r>
                        <a:rPr sz="1050">
                          <a:solidFill>
                            <a:srgbClr val="25342A"/>
                          </a:solidFill>
                          <a:latin typeface="Roboto"/>
                        </a:rPr>
                        <a:t>48.2%</a:t>
                      </a:r>
                    </a:p>
                  </a:txBody>
                  <a:tcPr>
                    <a:solidFill>
                      <a:srgbClr val="FFFFFF"/>
                    </a:solidFill>
                  </a:tcPr>
                </a:tc>
                <a:tc>
                  <a:txBody>
                    <a:bodyPr/>
                    <a:lstStyle/>
                    <a:p>
                      <a:pPr algn="r">
                        <a:defRPr>
                          <a:latin typeface="Roboto"/>
                        </a:defRPr>
                      </a:pPr>
                      <a:r>
                        <a:rPr sz="1050">
                          <a:solidFill>
                            <a:srgbClr val="25342A"/>
                          </a:solidFill>
                          <a:latin typeface="Roboto"/>
                        </a:rPr>
                        <a:t>$37,225</a:t>
                      </a:r>
                    </a:p>
                  </a:txBody>
                  <a:tcPr>
                    <a:solidFill>
                      <a:srgbClr val="FFFFFF"/>
                    </a:solidFill>
                  </a:tcPr>
                </a:tc>
                <a:tc>
                  <a:txBody>
                    <a:bodyPr/>
                    <a:lstStyle/>
                    <a:p>
                      <a:pPr algn="r">
                        <a:defRPr>
                          <a:latin typeface="Roboto"/>
                        </a:defRPr>
                      </a:pPr>
                      <a:r>
                        <a:rPr sz="1050">
                          <a:solidFill>
                            <a:srgbClr val="25342A"/>
                          </a:solidFill>
                          <a:latin typeface="Roboto"/>
                        </a:rPr>
                        <a:t>43.7%</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$574,589</a:t>
                      </a:r>
                    </a:p>
                  </a:txBody>
                  <a:tcPr>
                    <a:solidFill>
                      <a:srgbClr val="F7FAF7"/>
                    </a:solidFill>
                  </a:tcPr>
                </a:tc>
                <a:tc>
                  <a:txBody>
                    <a:bodyPr/>
                    <a:lstStyle/>
                    <a:p>
                      <a:pPr algn="r">
                        <a:defRPr>
                          <a:latin typeface="Roboto"/>
                        </a:defRPr>
                      </a:pPr>
                      <a:r>
                        <a:rPr sz="1050" b="1">
                          <a:solidFill>
                            <a:srgbClr val="25342A"/>
                          </a:solidFill>
                          <a:latin typeface="Roboto"/>
                        </a:rPr>
                        <a:t>$454,179</a:t>
                      </a:r>
                    </a:p>
                  </a:txBody>
                  <a:tcPr>
                    <a:solidFill>
                      <a:srgbClr val="F7FAF7"/>
                    </a:solidFill>
                  </a:tcPr>
                </a:tc>
                <a:tc>
                  <a:txBody>
                    <a:bodyPr/>
                    <a:lstStyle/>
                    <a:p>
                      <a:pPr algn="r">
                        <a:defRPr>
                          <a:latin typeface="Roboto"/>
                        </a:defRPr>
                      </a:pPr>
                      <a:r>
                        <a:rPr sz="1050" b="1">
                          <a:solidFill>
                            <a:srgbClr val="25342A"/>
                          </a:solidFill>
                          <a:latin typeface="Roboto"/>
                        </a:rPr>
                        <a:t>26.5%</a:t>
                      </a:r>
                    </a:p>
                  </a:txBody>
                  <a:tcPr>
                    <a:solidFill>
                      <a:srgbClr val="F7FAF7"/>
                    </a:solidFill>
                  </a:tcPr>
                </a:tc>
                <a:tc>
                  <a:txBody>
                    <a:bodyPr/>
                    <a:lstStyle/>
                    <a:p>
                      <a:pPr algn="r">
                        <a:defRPr>
                          <a:latin typeface="Roboto"/>
                        </a:defRPr>
                      </a:pPr>
                      <a:r>
                        <a:rPr sz="1050" b="1">
                          <a:solidFill>
                            <a:srgbClr val="25342A"/>
                          </a:solidFill>
                          <a:latin typeface="Roboto"/>
                        </a:rPr>
                        <a:t>$217,865</a:t>
                      </a:r>
                    </a:p>
                  </a:txBody>
                  <a:tcPr>
                    <a:solidFill>
                      <a:srgbClr val="F7FAF7"/>
                    </a:solidFill>
                  </a:tcPr>
                </a:tc>
                <a:tc>
                  <a:txBody>
                    <a:bodyPr/>
                    <a:lstStyle/>
                    <a:p>
                      <a:pPr algn="r">
                        <a:defRPr>
                          <a:latin typeface="Roboto"/>
                        </a:defRPr>
                      </a:pPr>
                      <a:r>
                        <a:rPr sz="1050" b="1">
                          <a:solidFill>
                            <a:srgbClr val="25342A"/>
                          </a:solidFill>
                          <a:latin typeface="Roboto"/>
                        </a:rPr>
                        <a:t>37.9%</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September's client work made $68,410 gross margin (51.9%). Consultant time not charged to client work took $660 and overheads $52,140, leaving $15,610 profit before tax (11.8% of revenue). To cover overheads, client work needs a 40.0%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September 2026</a:t>
                      </a:r>
                    </a:p>
                  </a:txBody>
                  <a:tcPr>
                    <a:solidFill>
                      <a:srgbClr val="2F7A5D"/>
                    </a:solidFill>
                  </a:tcPr>
                </a:tc>
              </a:tr>
              <a:tr h="329184">
                <a:tc>
                  <a:txBody>
                    <a:bodyPr/>
                    <a:lstStyle/>
                    <a:p>
                      <a:pPr>
                        <a:defRPr>
                          <a:latin typeface="Roboto"/>
                        </a:defRPr>
                      </a:pPr>
                      <a:r>
                        <a:rPr sz="1050">
                          <a:solidFill>
                            <a:srgbClr val="25342A"/>
                          </a:solidFill>
                          <a:latin typeface="Roboto"/>
                        </a:rPr>
                        <a:t>Gross margin on client work</a:t>
                      </a:r>
                    </a:p>
                  </a:txBody>
                  <a:tcPr>
                    <a:solidFill>
                      <a:srgbClr val="FFFFFF"/>
                    </a:solidFill>
                  </a:tcPr>
                </a:tc>
                <a:tc>
                  <a:txBody>
                    <a:bodyPr/>
                    <a:lstStyle/>
                    <a:p>
                      <a:pPr algn="r">
                        <a:defRPr>
                          <a:latin typeface="Roboto"/>
                        </a:defRPr>
                      </a:pPr>
                      <a:r>
                        <a:rPr sz="1050">
                          <a:solidFill>
                            <a:srgbClr val="25342A"/>
                          </a:solidFill>
                          <a:latin typeface="Roboto"/>
                        </a:rPr>
                        <a:t>$68,410</a:t>
                      </a:r>
                    </a:p>
                  </a:txBody>
                  <a:tcPr>
                    <a:solidFill>
                      <a:srgbClr val="FFFFFF"/>
                    </a:solidFill>
                  </a:tcPr>
                </a:tc>
              </a:tr>
              <a:tr h="329184">
                <a:tc>
                  <a:txBody>
                    <a:bodyPr/>
                    <a:lstStyle/>
                    <a:p>
                      <a:pPr>
                        <a:defRPr>
                          <a:latin typeface="Roboto"/>
                        </a:defRPr>
                      </a:pPr>
                      <a:r>
                        <a:rPr sz="1050">
                          <a:solidFill>
                            <a:srgbClr val="25342A"/>
                          </a:solidFill>
                          <a:latin typeface="Roboto"/>
                        </a:rPr>
                        <a:t>Consultant wages and on-costs</a:t>
                      </a:r>
                    </a:p>
                  </a:txBody>
                  <a:tcPr>
                    <a:solidFill>
                      <a:srgbClr val="F7FAF7"/>
                    </a:solidFill>
                  </a:tcPr>
                </a:tc>
                <a:tc>
                  <a:txBody>
                    <a:bodyPr/>
                    <a:lstStyle/>
                    <a:p>
                      <a:pPr algn="r">
                        <a:defRPr>
                          <a:latin typeface="Roboto"/>
                        </a:defRPr>
                      </a:pPr>
                      <a:r>
                        <a:rPr sz="1050">
                          <a:solidFill>
                            <a:srgbClr val="25342A"/>
                          </a:solidFill>
                          <a:latin typeface="Roboto"/>
                        </a:rPr>
                        <a:t>$46,500</a:t>
                      </a:r>
                    </a:p>
                  </a:txBody>
                  <a:tcPr>
                    <a:solidFill>
                      <a:srgbClr val="F7FAF7"/>
                    </a:solidFill>
                  </a:tcPr>
                </a:tc>
              </a:tr>
              <a:tr h="329184">
                <a:tc>
                  <a:txBody>
                    <a:bodyPr/>
                    <a:lstStyle/>
                    <a:p>
                      <a:pPr>
                        <a:defRPr>
                          <a:latin typeface="Roboto"/>
                        </a:defRPr>
                      </a:pPr>
                      <a:r>
                        <a:rPr sz="1050">
                          <a:solidFill>
                            <a:srgbClr val="25342A"/>
                          </a:solidFill>
                          <a:latin typeface="Roboto"/>
                        </a:rPr>
                        <a:t>Consultant time charged to client work (at cost)</a:t>
                      </a:r>
                    </a:p>
                  </a:txBody>
                  <a:tcPr>
                    <a:solidFill>
                      <a:srgbClr val="FFFFFF"/>
                    </a:solidFill>
                  </a:tcPr>
                </a:tc>
                <a:tc>
                  <a:txBody>
                    <a:bodyPr/>
                    <a:lstStyle/>
                    <a:p>
                      <a:pPr algn="r">
                        <a:defRPr>
                          <a:latin typeface="Roboto"/>
                        </a:defRPr>
                      </a:pPr>
                      <a:r>
                        <a:rPr sz="1050">
                          <a:solidFill>
                            <a:srgbClr val="25342A"/>
                          </a:solidFill>
                          <a:latin typeface="Roboto"/>
                        </a:rPr>
                        <a:t>$45,840</a:t>
                      </a:r>
                    </a:p>
                  </a:txBody>
                  <a:tcPr>
                    <a:solidFill>
                      <a:srgbClr val="FFFFFF"/>
                    </a:solidFill>
                  </a:tcPr>
                </a:tc>
              </a:tr>
              <a:tr h="329184">
                <a:tc>
                  <a:txBody>
                    <a:bodyPr/>
                    <a:lstStyle/>
                    <a:p>
                      <a:pPr>
                        <a:defRPr>
                          <a:latin typeface="Roboto"/>
                        </a:defRPr>
                      </a:pPr>
                      <a:r>
                        <a:rPr sz="1050">
                          <a:solidFill>
                            <a:srgbClr val="25342A"/>
                          </a:solidFill>
                          <a:latin typeface="Roboto"/>
                        </a:rPr>
                        <a:t>Consultant time not charged to client work</a:t>
                      </a:r>
                    </a:p>
                  </a:txBody>
                  <a:tcPr>
                    <a:solidFill>
                      <a:srgbClr val="F7FAF7"/>
                    </a:solidFill>
                  </a:tcPr>
                </a:tc>
                <a:tc>
                  <a:txBody>
                    <a:bodyPr/>
                    <a:lstStyle/>
                    <a:p>
                      <a:pPr algn="r">
                        <a:defRPr>
                          <a:latin typeface="Roboto"/>
                        </a:defRPr>
                      </a:pPr>
                      <a:r>
                        <a:rPr sz="1050">
                          <a:solidFill>
                            <a:srgbClr val="25342A"/>
                          </a:solidFill>
                          <a:latin typeface="Roboto"/>
                        </a:rPr>
                        <a:t>$660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$67,750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$52,140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$15,610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$131,850</a:t>
                      </a:r>
                    </a:p>
                  </a:txBody>
                  <a:tcPr>
                    <a:solidFill>
                      <a:srgbClr val="F7FAF7"/>
                    </a:solidFill>
                  </a:tcPr>
                </a:tc>
              </a:tr>
              <a:tr h="329184">
                <a:tc>
                  <a:txBody>
                    <a:bodyPr/>
                    <a:lstStyle/>
                    <a:p>
                      <a:pPr>
                        <a:defRPr>
                          <a:latin typeface="Roboto"/>
                        </a:defRPr>
                      </a:pPr>
                      <a:r>
                        <a:rPr sz="1050">
                          <a:solidFill>
                            <a:srgbClr val="25342A"/>
                          </a:solidFill>
                          <a:latin typeface="Roboto"/>
                        </a:rPr>
                        <a:t>Gross margin on client work, %</a:t>
                      </a:r>
                    </a:p>
                  </a:txBody>
                  <a:tcPr>
                    <a:solidFill>
                      <a:srgbClr val="FFFFFF"/>
                    </a:solidFill>
                  </a:tcPr>
                </a:tc>
                <a:tc>
                  <a:txBody>
                    <a:bodyPr/>
                    <a:lstStyle/>
                    <a:p>
                      <a:pPr algn="r">
                        <a:defRPr>
                          <a:latin typeface="Roboto"/>
                        </a:defRPr>
                      </a:pPr>
                      <a:r>
                        <a:rPr sz="1050">
                          <a:solidFill>
                            <a:srgbClr val="25342A"/>
                          </a:solidFill>
                          <a:latin typeface="Roboto"/>
                        </a:rPr>
                        <a:t>51.9%</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11.8%</a:t>
                      </a:r>
                    </a:p>
                  </a:txBody>
                  <a:tcPr>
                    <a:solidFill>
                      <a:srgbClr val="F7FAF7"/>
                    </a:solidFill>
                  </a:tcPr>
                </a:tc>
              </a:tr>
              <a:tr h="329184">
                <a:tc>
                  <a:txBody>
                    <a:bodyPr/>
                    <a:lstStyle/>
                    <a:p>
                      <a:pPr>
                        <a:defRPr>
                          <a:latin typeface="Roboto"/>
                        </a:defRPr>
                      </a:pPr>
                      <a:r>
                        <a:rPr sz="1050">
                          <a:solidFill>
                            <a:srgbClr val="25342A"/>
                          </a:solidFill>
                          <a:latin typeface="Roboto"/>
                        </a:rPr>
                        <a:t>Gross margin client work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40.0%</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121.5%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$131,850 against $59,535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77.1%</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$367,245 against $207,330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57.0%</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$209,505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77.1% up on the same period last year, year to date ($367,245 against $207,330). Retainers make the highest gross margin (59.8%); Projects the lowest (55.8%). The business needs 40.0%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55.8% gross margin, 15.8 points over the 40.0% target ($38,127 ahead on $241,145 this financial year to date). Retainers: 59.8% gross margin, 19.8 points over the 40.0% target ($19,320 ahead on $97,500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126.0%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$85,950 against $38,035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70.3%</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$241,145 against $141,630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55.8%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$134,585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brought in $241,145 this financial year to date, 70.3% on the same period last year (slower than the business as a whole, 77.1%), at a 55.8% gross margin (below the 57.0%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55.8% gross margin, 15.8 points over the 40.0% target ($38,127 ahead on $241,145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99.4%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$32,500 against $16,300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99.4%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$97,500 against $48,900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$58,320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brought in $97,500 this financial year to date, 99.4% on the same period last year (faster than the business as a whole, 77.1%), at a 59.8% gross margin (above the 57.0%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59.8% gross margin, 19.8 points over the 40.0% target ($19,320 ahead on $97,500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157.7%</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$13,400 against $5,200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70.2%</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$28,600 against $16,800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58.0%</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$16,600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brought in $28,600 this financial year to date, 70.2% on the same period last year (slower than the business as a whole, 77.1%), at a 58.0% gross margin (above the 57.0%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58.0% gross margin, 18.0 points over the 40.0% target ($5,160 ahead on $28,600 this financial year to date).</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type of work: financial year to date (Jul to Sep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Projects</a:t>
                      </a:r>
                    </a:p>
                  </a:txBody>
                  <a:tcPr>
                    <a:solidFill>
                      <a:srgbClr val="FFFFFF"/>
                    </a:solidFill>
                  </a:tcPr>
                </a:tc>
                <a:tc>
                  <a:txBody>
                    <a:bodyPr/>
                    <a:lstStyle/>
                    <a:p>
                      <a:pPr algn="r">
                        <a:defRPr>
                          <a:latin typeface="Roboto"/>
                        </a:defRPr>
                      </a:pPr>
                      <a:r>
                        <a:rPr sz="1050">
                          <a:solidFill>
                            <a:srgbClr val="25342A"/>
                          </a:solidFill>
                          <a:latin typeface="Roboto"/>
                        </a:rPr>
                        <a:t>$241,145</a:t>
                      </a:r>
                    </a:p>
                  </a:txBody>
                  <a:tcPr>
                    <a:solidFill>
                      <a:srgbClr val="FFFFFF"/>
                    </a:solidFill>
                  </a:tcPr>
                </a:tc>
                <a:tc>
                  <a:txBody>
                    <a:bodyPr/>
                    <a:lstStyle/>
                    <a:p>
                      <a:pPr algn="r">
                        <a:defRPr>
                          <a:latin typeface="Roboto"/>
                        </a:defRPr>
                      </a:pPr>
                      <a:r>
                        <a:rPr sz="1050">
                          <a:solidFill>
                            <a:srgbClr val="25342A"/>
                          </a:solidFill>
                          <a:latin typeface="Roboto"/>
                        </a:rPr>
                        <a:t>$141,630</a:t>
                      </a:r>
                    </a:p>
                  </a:txBody>
                  <a:tcPr>
                    <a:solidFill>
                      <a:srgbClr val="FFFFFF"/>
                    </a:solidFill>
                  </a:tcPr>
                </a:tc>
                <a:tc>
                  <a:txBody>
                    <a:bodyPr/>
                    <a:lstStyle/>
                    <a:p>
                      <a:pPr algn="r">
                        <a:defRPr>
                          <a:latin typeface="Roboto"/>
                        </a:defRPr>
                      </a:pPr>
                      <a:r>
                        <a:rPr sz="1050">
                          <a:solidFill>
                            <a:srgbClr val="25342A"/>
                          </a:solidFill>
                          <a:latin typeface="Roboto"/>
                        </a:rPr>
                        <a:t>70.3%</a:t>
                      </a:r>
                    </a:p>
                  </a:txBody>
                  <a:tcPr>
                    <a:solidFill>
                      <a:srgbClr val="FFFFFF"/>
                    </a:solidFill>
                  </a:tcPr>
                </a:tc>
                <a:tc>
                  <a:txBody>
                    <a:bodyPr/>
                    <a:lstStyle/>
                    <a:p>
                      <a:pPr algn="r">
                        <a:defRPr>
                          <a:latin typeface="Roboto"/>
                        </a:defRPr>
                      </a:pPr>
                      <a:r>
                        <a:rPr sz="1050">
                          <a:solidFill>
                            <a:srgbClr val="25342A"/>
                          </a:solidFill>
                          <a:latin typeface="Roboto"/>
                        </a:rPr>
                        <a:t>$134,585</a:t>
                      </a:r>
                    </a:p>
                  </a:txBody>
                  <a:tcPr>
                    <a:solidFill>
                      <a:srgbClr val="FFFFFF"/>
                    </a:solidFill>
                  </a:tcPr>
                </a:tc>
                <a:tc>
                  <a:txBody>
                    <a:bodyPr/>
                    <a:lstStyle/>
                    <a:p>
                      <a:pPr algn="r">
                        <a:defRPr>
                          <a:latin typeface="Roboto"/>
                        </a:defRPr>
                      </a:pPr>
                      <a:r>
                        <a:rPr sz="1050">
                          <a:solidFill>
                            <a:srgbClr val="25342A"/>
                          </a:solidFill>
                          <a:latin typeface="Roboto"/>
                        </a:rPr>
                        <a:t>55.8%</a:t>
                      </a:r>
                    </a:p>
                  </a:txBody>
                  <a:tcPr>
                    <a:solidFill>
                      <a:srgbClr val="FFFFFF"/>
                    </a:solidFill>
                  </a:tcPr>
                </a:tc>
              </a:tr>
              <a:tr h="329184">
                <a:tc>
                  <a:txBody>
                    <a:bodyPr/>
                    <a:lstStyle/>
                    <a:p>
                      <a:pPr>
                        <a:defRPr>
                          <a:latin typeface="Roboto"/>
                        </a:defRPr>
                      </a:pPr>
                      <a:r>
                        <a:rPr sz="1050">
                          <a:solidFill>
                            <a:srgbClr val="25342A"/>
                          </a:solidFill>
                          <a:latin typeface="Roboto"/>
                        </a:rPr>
                        <a:t>Retainers</a:t>
                      </a:r>
                    </a:p>
                  </a:txBody>
                  <a:tcPr>
                    <a:solidFill>
                      <a:srgbClr val="F7FAF7"/>
                    </a:solidFill>
                  </a:tcPr>
                </a:tc>
                <a:tc>
                  <a:txBody>
                    <a:bodyPr/>
                    <a:lstStyle/>
                    <a:p>
                      <a:pPr algn="r">
                        <a:defRPr>
                          <a:latin typeface="Roboto"/>
                        </a:defRPr>
                      </a:pPr>
                      <a:r>
                        <a:rPr sz="1050">
                          <a:solidFill>
                            <a:srgbClr val="25342A"/>
                          </a:solidFill>
                          <a:latin typeface="Roboto"/>
                        </a:rPr>
                        <a:t>$97,500</a:t>
                      </a:r>
                    </a:p>
                  </a:txBody>
                  <a:tcPr>
                    <a:solidFill>
                      <a:srgbClr val="F7FAF7"/>
                    </a:solidFill>
                  </a:tcPr>
                </a:tc>
                <a:tc>
                  <a:txBody>
                    <a:bodyPr/>
                    <a:lstStyle/>
                    <a:p>
                      <a:pPr algn="r">
                        <a:defRPr>
                          <a:latin typeface="Roboto"/>
                        </a:defRPr>
                      </a:pPr>
                      <a:r>
                        <a:rPr sz="1050">
                          <a:solidFill>
                            <a:srgbClr val="25342A"/>
                          </a:solidFill>
                          <a:latin typeface="Roboto"/>
                        </a:rPr>
                        <a:t>$48,900</a:t>
                      </a:r>
                    </a:p>
                  </a:txBody>
                  <a:tcPr>
                    <a:solidFill>
                      <a:srgbClr val="F7FAF7"/>
                    </a:solidFill>
                  </a:tcPr>
                </a:tc>
                <a:tc>
                  <a:txBody>
                    <a:bodyPr/>
                    <a:lstStyle/>
                    <a:p>
                      <a:pPr algn="r">
                        <a:defRPr>
                          <a:latin typeface="Roboto"/>
                        </a:defRPr>
                      </a:pPr>
                      <a:r>
                        <a:rPr sz="1050">
                          <a:solidFill>
                            <a:srgbClr val="25342A"/>
                          </a:solidFill>
                          <a:latin typeface="Roboto"/>
                        </a:rPr>
                        <a:t>99.4%</a:t>
                      </a:r>
                    </a:p>
                  </a:txBody>
                  <a:tcPr>
                    <a:solidFill>
                      <a:srgbClr val="F7FAF7"/>
                    </a:solidFill>
                  </a:tcPr>
                </a:tc>
                <a:tc>
                  <a:txBody>
                    <a:bodyPr/>
                    <a:lstStyle/>
                    <a:p>
                      <a:pPr algn="r">
                        <a:defRPr>
                          <a:latin typeface="Roboto"/>
                        </a:defRPr>
                      </a:pPr>
                      <a:r>
                        <a:rPr sz="1050">
                          <a:solidFill>
                            <a:srgbClr val="25342A"/>
                          </a:solidFill>
                          <a:latin typeface="Roboto"/>
                        </a:rPr>
                        <a:t>$58,320</a:t>
                      </a:r>
                    </a:p>
                  </a:txBody>
                  <a:tcPr>
                    <a:solidFill>
                      <a:srgbClr val="F7FAF7"/>
                    </a:solidFill>
                  </a:tcPr>
                </a:tc>
                <a:tc>
                  <a:txBody>
                    <a:bodyPr/>
                    <a:lstStyle/>
                    <a:p>
                      <a:pPr algn="r">
                        <a:defRPr>
                          <a:latin typeface="Roboto"/>
                        </a:defRPr>
                      </a:pPr>
                      <a:r>
                        <a:rPr sz="1050">
                          <a:solidFill>
                            <a:srgbClr val="25342A"/>
                          </a:solidFill>
                          <a:latin typeface="Roboto"/>
                        </a:rPr>
                        <a:t>59.8%</a:t>
                      </a:r>
                    </a:p>
                  </a:txBody>
                  <a:tcPr>
                    <a:solidFill>
                      <a:srgbClr val="F7FAF7"/>
                    </a:solidFill>
                  </a:tcPr>
                </a:tc>
              </a:tr>
              <a:tr h="329184">
                <a:tc>
                  <a:txBody>
                    <a:bodyPr/>
                    <a:lstStyle/>
                    <a:p>
                      <a:pPr>
                        <a:defRPr>
                          <a:latin typeface="Roboto"/>
                        </a:defRPr>
                      </a:pPr>
                      <a:r>
                        <a:rPr sz="1050">
                          <a:solidFill>
                            <a:srgbClr val="25342A"/>
                          </a:solidFill>
                          <a:latin typeface="Roboto"/>
                        </a:rPr>
                        <a:t>Training</a:t>
                      </a:r>
                    </a:p>
                  </a:txBody>
                  <a:tcPr>
                    <a:solidFill>
                      <a:srgbClr val="FFFFFF"/>
                    </a:solidFill>
                  </a:tcPr>
                </a:tc>
                <a:tc>
                  <a:txBody>
                    <a:bodyPr/>
                    <a:lstStyle/>
                    <a:p>
                      <a:pPr algn="r">
                        <a:defRPr>
                          <a:latin typeface="Roboto"/>
                        </a:defRPr>
                      </a:pPr>
                      <a:r>
                        <a:rPr sz="1050">
                          <a:solidFill>
                            <a:srgbClr val="25342A"/>
                          </a:solidFill>
                          <a:latin typeface="Roboto"/>
                        </a:rPr>
                        <a:t>$28,600</a:t>
                      </a:r>
                    </a:p>
                  </a:txBody>
                  <a:tcPr>
                    <a:solidFill>
                      <a:srgbClr val="FFFFFF"/>
                    </a:solidFill>
                  </a:tcPr>
                </a:tc>
                <a:tc>
                  <a:txBody>
                    <a:bodyPr/>
                    <a:lstStyle/>
                    <a:p>
                      <a:pPr algn="r">
                        <a:defRPr>
                          <a:latin typeface="Roboto"/>
                        </a:defRPr>
                      </a:pPr>
                      <a:r>
                        <a:rPr sz="1050">
                          <a:solidFill>
                            <a:srgbClr val="25342A"/>
                          </a:solidFill>
                          <a:latin typeface="Roboto"/>
                        </a:rPr>
                        <a:t>$16,800</a:t>
                      </a:r>
                    </a:p>
                  </a:txBody>
                  <a:tcPr>
                    <a:solidFill>
                      <a:srgbClr val="FFFFFF"/>
                    </a:solidFill>
                  </a:tcPr>
                </a:tc>
                <a:tc>
                  <a:txBody>
                    <a:bodyPr/>
                    <a:lstStyle/>
                    <a:p>
                      <a:pPr algn="r">
                        <a:defRPr>
                          <a:latin typeface="Roboto"/>
                        </a:defRPr>
                      </a:pPr>
                      <a:r>
                        <a:rPr sz="1050">
                          <a:solidFill>
                            <a:srgbClr val="25342A"/>
                          </a:solidFill>
                          <a:latin typeface="Roboto"/>
                        </a:rPr>
                        <a:t>70.2%</a:t>
                      </a:r>
                    </a:p>
                  </a:txBody>
                  <a:tcPr>
                    <a:solidFill>
                      <a:srgbClr val="FFFFFF"/>
                    </a:solidFill>
                  </a:tcPr>
                </a:tc>
                <a:tc>
                  <a:txBody>
                    <a:bodyPr/>
                    <a:lstStyle/>
                    <a:p>
                      <a:pPr algn="r">
                        <a:defRPr>
                          <a:latin typeface="Roboto"/>
                        </a:defRPr>
                      </a:pPr>
                      <a:r>
                        <a:rPr sz="1050">
                          <a:solidFill>
                            <a:srgbClr val="25342A"/>
                          </a:solidFill>
                          <a:latin typeface="Roboto"/>
                        </a:rPr>
                        <a:t>$16,600</a:t>
                      </a:r>
                    </a:p>
                  </a:txBody>
                  <a:tcPr>
                    <a:solidFill>
                      <a:srgbClr val="FFFFFF"/>
                    </a:solidFill>
                  </a:tcPr>
                </a:tc>
                <a:tc>
                  <a:txBody>
                    <a:bodyPr/>
                    <a:lstStyle/>
                    <a:p>
                      <a:pPr algn="r">
                        <a:defRPr>
                          <a:latin typeface="Roboto"/>
                        </a:defRPr>
                      </a:pPr>
                      <a:r>
                        <a:rPr sz="1050">
                          <a:solidFill>
                            <a:srgbClr val="25342A"/>
                          </a:solidFill>
                          <a:latin typeface="Roboto"/>
                        </a:rPr>
                        <a:t>58.0%</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$367,245</a:t>
                      </a:r>
                    </a:p>
                  </a:txBody>
                  <a:tcPr>
                    <a:solidFill>
                      <a:srgbClr val="F7FAF7"/>
                    </a:solidFill>
                  </a:tcPr>
                </a:tc>
                <a:tc>
                  <a:txBody>
                    <a:bodyPr/>
                    <a:lstStyle/>
                    <a:p>
                      <a:pPr algn="r">
                        <a:defRPr>
                          <a:latin typeface="Roboto"/>
                        </a:defRPr>
                      </a:pPr>
                      <a:r>
                        <a:rPr sz="1050" b="1">
                          <a:solidFill>
                            <a:srgbClr val="25342A"/>
                          </a:solidFill>
                          <a:latin typeface="Roboto"/>
                        </a:rPr>
                        <a:t>$207,330</a:t>
                      </a:r>
                    </a:p>
                  </a:txBody>
                  <a:tcPr>
                    <a:solidFill>
                      <a:srgbClr val="F7FAF7"/>
                    </a:solidFill>
                  </a:tcPr>
                </a:tc>
                <a:tc>
                  <a:txBody>
                    <a:bodyPr/>
                    <a:lstStyle/>
                    <a:p>
                      <a:pPr algn="r">
                        <a:defRPr>
                          <a:latin typeface="Roboto"/>
                        </a:defRPr>
                      </a:pPr>
                      <a:r>
                        <a:rPr sz="1050" b="1">
                          <a:solidFill>
                            <a:srgbClr val="25342A"/>
                          </a:solidFill>
                          <a:latin typeface="Roboto"/>
                        </a:rPr>
                        <a:t>77.1%</a:t>
                      </a:r>
                    </a:p>
                  </a:txBody>
                  <a:tcPr>
                    <a:solidFill>
                      <a:srgbClr val="F7FAF7"/>
                    </a:solidFill>
                  </a:tcPr>
                </a:tc>
                <a:tc>
                  <a:txBody>
                    <a:bodyPr/>
                    <a:lstStyle/>
                    <a:p>
                      <a:pPr algn="r">
                        <a:defRPr>
                          <a:latin typeface="Roboto"/>
                        </a:defRPr>
                      </a:pPr>
                      <a:r>
                        <a:rPr sz="1050" b="1">
                          <a:solidFill>
                            <a:srgbClr val="25342A"/>
                          </a:solidFill>
                          <a:latin typeface="Roboto"/>
                        </a:rPr>
                        <a:t>$209,505</a:t>
                      </a:r>
                    </a:p>
                  </a:txBody>
                  <a:tcPr>
                    <a:solidFill>
                      <a:srgbClr val="F7FAF7"/>
                    </a:solidFill>
                  </a:tcPr>
                </a:tc>
                <a:tc>
                  <a:txBody>
                    <a:bodyPr/>
                    <a:lstStyle/>
                    <a:p>
                      <a:pPr algn="r">
                        <a:defRPr>
                          <a:latin typeface="Roboto"/>
                        </a:defRPr>
                      </a:pPr>
                      <a:r>
                        <a:rPr sz="1050" b="1">
                          <a:solidFill>
                            <a:srgbClr val="25342A"/>
                          </a:solidFill>
                          <a:latin typeface="Roboto"/>
                        </a:rPr>
                        <a:t>57.0%</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