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Sheet1!$A$2:$A$25</c:f>
              <c:strCache>
                <c:ptCount val="24"/>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pt idx="22">
                  <c:v>Aug 26</c:v>
                </c:pt>
                <c:pt idx="23">
                  <c:v>Sep 26</c:v>
                </c:pt>
              </c:strCache>
            </c:strRef>
          </c:cat>
          <c:val>
            <c:numRef>
              <c:f>Sheet1!$B$2:$B$25</c:f>
              <c:numCache>
                <c:formatCode>$#,##0;[Red]($#,##0);"-"</c:formatCode>
                <c:ptCount val="24"/>
                <c:pt idx="0">
                  <c:v>171009</c:v>
                </c:pt>
                <c:pt idx="1">
                  <c:v>179474</c:v>
                </c:pt>
                <c:pt idx="2">
                  <c:v>143156</c:v>
                </c:pt>
                <c:pt idx="3">
                  <c:v>140909</c:v>
                </c:pt>
                <c:pt idx="4">
                  <c:v>160943</c:v>
                </c:pt>
                <c:pt idx="5">
                  <c:v>135082</c:v>
                </c:pt>
                <c:pt idx="6">
                  <c:v>124705</c:v>
                </c:pt>
                <c:pt idx="7">
                  <c:v>129816</c:v>
                </c:pt>
                <c:pt idx="8">
                  <c:v>164113</c:v>
                </c:pt>
                <c:pt idx="9">
                  <c:v>186760</c:v>
                </c:pt>
                <c:pt idx="10">
                  <c:v>139164</c:v>
                </c:pt>
                <c:pt idx="11">
                  <c:v>128255</c:v>
                </c:pt>
                <c:pt idx="12">
                  <c:v>128898</c:v>
                </c:pt>
                <c:pt idx="13">
                  <c:v>174786</c:v>
                </c:pt>
                <c:pt idx="14">
                  <c:v>135079</c:v>
                </c:pt>
                <c:pt idx="15">
                  <c:v>164780</c:v>
                </c:pt>
                <c:pt idx="16">
                  <c:v>196372</c:v>
                </c:pt>
                <c:pt idx="17">
                  <c:v>191500</c:v>
                </c:pt>
                <c:pt idx="18">
                  <c:v>164987</c:v>
                </c:pt>
                <c:pt idx="19">
                  <c:v>161963</c:v>
                </c:pt>
                <c:pt idx="20">
                  <c:v>173163</c:v>
                </c:pt>
                <c:pt idx="21">
                  <c:v>193245</c:v>
                </c:pt>
                <c:pt idx="22">
                  <c:v>179007</c:v>
                </c:pt>
                <c:pt idx="23">
                  <c:v>202337</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Sheet1!$A$2:$A$25</c:f>
              <c:strCache>
                <c:ptCount val="24"/>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pt idx="22">
                  <c:v>Aug 26</c:v>
                </c:pt>
                <c:pt idx="23">
                  <c:v>Sep 26</c:v>
                </c:pt>
              </c:strCache>
            </c:strRef>
          </c:cat>
          <c:val>
            <c:numRef>
              <c:f>Sheet1!$B$2:$B$25</c:f>
              <c:numCache>
                <c:formatCode>0.0"%";[Red](0.0"%")</c:formatCode>
                <c:ptCount val="24"/>
                <c:pt idx="0">
                  <c:v>33.1</c:v>
                </c:pt>
                <c:pt idx="1">
                  <c:v>37.0</c:v>
                </c:pt>
                <c:pt idx="2">
                  <c:v>40.4</c:v>
                </c:pt>
                <c:pt idx="3">
                  <c:v>42.7</c:v>
                </c:pt>
                <c:pt idx="4">
                  <c:v>36.4</c:v>
                </c:pt>
                <c:pt idx="5">
                  <c:v>36.5</c:v>
                </c:pt>
                <c:pt idx="6">
                  <c:v>38.4</c:v>
                </c:pt>
                <c:pt idx="7">
                  <c:v>35.5</c:v>
                </c:pt>
                <c:pt idx="8">
                  <c:v>40.5</c:v>
                </c:pt>
                <c:pt idx="9">
                  <c:v>35.6</c:v>
                </c:pt>
                <c:pt idx="10">
                  <c:v>43.8</c:v>
                </c:pt>
                <c:pt idx="11">
                  <c:v>37.6</c:v>
                </c:pt>
                <c:pt idx="12">
                  <c:v>38.4</c:v>
                </c:pt>
                <c:pt idx="13">
                  <c:v>33.7</c:v>
                </c:pt>
                <c:pt idx="14">
                  <c:v>37.4</c:v>
                </c:pt>
                <c:pt idx="15">
                  <c:v>35.3</c:v>
                </c:pt>
                <c:pt idx="16">
                  <c:v>38.6</c:v>
                </c:pt>
                <c:pt idx="17">
                  <c:v>35.6</c:v>
                </c:pt>
                <c:pt idx="18">
                  <c:v>41.7</c:v>
                </c:pt>
                <c:pt idx="19">
                  <c:v>39.0</c:v>
                </c:pt>
                <c:pt idx="20">
                  <c:v>38.5</c:v>
                </c:pt>
                <c:pt idx="21">
                  <c:v>36.8</c:v>
                </c:pt>
                <c:pt idx="22">
                  <c:v>41.1</c:v>
                </c:pt>
                <c:pt idx="23">
                  <c:v>36.1</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Sheet1!$A$2:$A$25</c:f>
              <c:strCache>
                <c:ptCount val="24"/>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pt idx="22">
                  <c:v>Aug 26</c:v>
                </c:pt>
                <c:pt idx="23">
                  <c:v>Sep 26</c:v>
                </c:pt>
              </c:strCache>
            </c:strRef>
          </c:cat>
          <c:val>
            <c:numRef>
              <c:f>Sheet1!$B$2:$B$25</c:f>
              <c:numCache>
                <c:formatCode>$#,##0;[Red]($#,##0);"-"</c:formatCode>
                <c:ptCount val="24"/>
                <c:pt idx="0">
                  <c:v>94520</c:v>
                </c:pt>
                <c:pt idx="1">
                  <c:v>108140</c:v>
                </c:pt>
                <c:pt idx="2">
                  <c:v>114895</c:v>
                </c:pt>
                <c:pt idx="3">
                  <c:v>88250</c:v>
                </c:pt>
                <c:pt idx="4">
                  <c:v>111010</c:v>
                </c:pt>
                <c:pt idx="5">
                  <c:v>77175</c:v>
                </c:pt>
                <c:pt idx="6">
                  <c:v>63970</c:v>
                </c:pt>
                <c:pt idx="7">
                  <c:v>95555</c:v>
                </c:pt>
                <c:pt idx="8">
                  <c:v>90220</c:v>
                </c:pt>
                <c:pt idx="9">
                  <c:v>86320</c:v>
                </c:pt>
                <c:pt idx="10">
                  <c:v>61475</c:v>
                </c:pt>
                <c:pt idx="11">
                  <c:v>59535</c:v>
                </c:pt>
                <c:pt idx="12">
                  <c:v>71260</c:v>
                </c:pt>
                <c:pt idx="13">
                  <c:v>83940</c:v>
                </c:pt>
                <c:pt idx="14">
                  <c:v>69420</c:v>
                </c:pt>
                <c:pt idx="15">
                  <c:v>92370</c:v>
                </c:pt>
                <c:pt idx="16">
                  <c:v>100055</c:v>
                </c:pt>
                <c:pt idx="17">
                  <c:v>109865</c:v>
                </c:pt>
                <c:pt idx="18">
                  <c:v>80590</c:v>
                </c:pt>
                <c:pt idx="19">
                  <c:v>77090</c:v>
                </c:pt>
                <c:pt idx="20">
                  <c:v>115550</c:v>
                </c:pt>
                <c:pt idx="21">
                  <c:v>120755</c:v>
                </c:pt>
                <c:pt idx="22">
                  <c:v>114640</c:v>
                </c:pt>
                <c:pt idx="23">
                  <c:v>131850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Sheet1!$A$2:$A$25</c:f>
              <c:strCache>
                <c:ptCount val="24"/>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pt idx="22">
                  <c:v>Aug 26</c:v>
                </c:pt>
                <c:pt idx="23">
                  <c:v>Sep 26</c:v>
                </c:pt>
              </c:strCache>
            </c:strRef>
          </c:cat>
          <c:val>
            <c:numRef>
              <c:f>Sheet1!$B$2:$B$25</c:f>
              <c:numCache>
                <c:formatCode>0.0"%";[Red](0.0"%")</c:formatCode>
                <c:ptCount val="24"/>
                <c:pt idx="0">
                  <c:v>62.6</c:v>
                </c:pt>
                <c:pt idx="1">
                  <c:v>63.0</c:v>
                </c:pt>
                <c:pt idx="2">
                  <c:v>62.6</c:v>
                </c:pt>
                <c:pt idx="3">
                  <c:v>62.3</c:v>
                </c:pt>
                <c:pt idx="4">
                  <c:v>61.4</c:v>
                </c:pt>
                <c:pt idx="5">
                  <c:v>58.6</c:v>
                </c:pt>
                <c:pt idx="6">
                  <c:v>60.1</c:v>
                </c:pt>
                <c:pt idx="7">
                  <c:v>62.2</c:v>
                </c:pt>
                <c:pt idx="8">
                  <c:v>60.8</c:v>
                </c:pt>
                <c:pt idx="9">
                  <c:v>62.0</c:v>
                </c:pt>
                <c:pt idx="10">
                  <c:v>65.3</c:v>
                </c:pt>
                <c:pt idx="11">
                  <c:v>65.9</c:v>
                </c:pt>
                <c:pt idx="12">
                  <c:v>64.2</c:v>
                </c:pt>
                <c:pt idx="13">
                  <c:v>62.9</c:v>
                </c:pt>
                <c:pt idx="14">
                  <c:v>64.7</c:v>
                </c:pt>
                <c:pt idx="15">
                  <c:v>64.8</c:v>
                </c:pt>
                <c:pt idx="16">
                  <c:v>63.4</c:v>
                </c:pt>
                <c:pt idx="17">
                  <c:v>62.9</c:v>
                </c:pt>
                <c:pt idx="18">
                  <c:v>65.4</c:v>
                </c:pt>
                <c:pt idx="19">
                  <c:v>64.1</c:v>
                </c:pt>
                <c:pt idx="20">
                  <c:v>60.1</c:v>
                </c:pt>
                <c:pt idx="21">
                  <c:v>60.5</c:v>
                </c:pt>
                <c:pt idx="22">
                  <c:v>59.3</c:v>
                </c:pt>
                <c:pt idx="23">
                  <c:v>51.9</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3" name="TextBox 2"/>
          <p:cNvSpPr txBox="1"/>
          <p:nvPr/>
        </p:nvSpPr>
        <p:spPr>
          <a:xfrm>
            <a:off x="1234440" y="658368"/>
            <a:ext cx="5486400" cy="457200"/>
          </a:xfrm>
          <a:prstGeom prst="rect">
            <a:avLst/>
          </a:prstGeom>
          <a:noFill/>
        </p:spPr>
        <p:txBody>
          <a:bodyPr wrap="square">
            <a:spAutoFit/>
          </a:bodyPr>
          <a:lstStyle/>
          <a:p>
            <a:pPr>
              <a:defRPr>
                <a:latin typeface="Roboto"/>
              </a:defRPr>
            </a:pPr>
            <a:r>
              <a:rPr sz="1800" b="1">
                <a:solidFill>
                  <a:srgbClr val="25342A"/>
                </a:solidFill>
                <a:latin typeface="Roboto"/>
              </a:rPr>
              <a:t>The Fourth Sheet</a:t>
            </a:r>
          </a:p>
        </p:txBody>
      </p:sp>
      <p:sp>
        <p:nvSpPr>
          <p:cNvPr id="4" name="TextBox 3"/>
          <p:cNvSpPr txBox="1"/>
          <p:nvPr/>
        </p:nvSpPr>
        <p:spPr>
          <a:xfrm>
            <a:off x="457200" y="1554480"/>
            <a:ext cx="10972800" cy="365760"/>
          </a:xfrm>
          <a:prstGeom prst="rect">
            <a:avLst/>
          </a:prstGeom>
          <a:noFill/>
        </p:spPr>
        <p:txBody>
          <a:bodyPr wrap="square">
            <a:spAutoFit/>
          </a:bodyPr>
          <a:lstStyle/>
          <a:p>
            <a:pPr>
              <a:defRPr>
                <a:latin typeface="Roboto"/>
              </a:defRPr>
            </a:pPr>
            <a:r>
              <a:rPr sz="1100" b="1">
                <a:solidFill>
                  <a:srgbClr val="8A7A52"/>
                </a:solidFill>
                <a:latin typeface="Roboto"/>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pPr>
              <a:defRPr>
                <a:latin typeface="Roboto"/>
              </a:defRPr>
            </a:pPr>
            <a:r>
              <a:rPr sz="3400" b="1">
                <a:solidFill>
                  <a:srgbClr val="25342A"/>
                </a:solidFill>
                <a:latin typeface="Roboto"/>
              </a:rPr>
              <a:t>Which products and services are growing?</a:t>
            </a:r>
          </a:p>
        </p:txBody>
      </p:sp>
      <p:sp>
        <p:nvSpPr>
          <p:cNvPr id="6" name="TextBox 5"/>
          <p:cNvSpPr txBox="1"/>
          <p:nvPr/>
        </p:nvSpPr>
        <p:spPr>
          <a:xfrm>
            <a:off x="457200" y="3154680"/>
            <a:ext cx="11247120" cy="457200"/>
          </a:xfrm>
          <a:prstGeom prst="rect">
            <a:avLst/>
          </a:prstGeom>
          <a:noFill/>
        </p:spPr>
        <p:txBody>
          <a:bodyPr wrap="square">
            <a:spAutoFit/>
          </a:bodyPr>
          <a:lstStyle/>
          <a:p>
            <a:pPr>
              <a:defRPr>
                <a:latin typeface="Roboto"/>
              </a:defRPr>
            </a:pPr>
            <a:r>
              <a:rPr sz="1600" b="0">
                <a:solidFill>
                  <a:srgbClr val="5F6F63"/>
                </a:solidFill>
                <a:latin typeface="Roboto"/>
              </a:rPr>
              <a:t>SME sample businesses</a:t>
            </a:r>
          </a:p>
        </p:txBody>
      </p:sp>
      <p:sp>
        <p:nvSpPr>
          <p:cNvPr id="7" name="TextBox 6"/>
          <p:cNvSpPr txBox="1"/>
          <p:nvPr/>
        </p:nvSpPr>
        <p:spPr>
          <a:xfrm>
            <a:off x="457200" y="3703320"/>
            <a:ext cx="11247120" cy="1097280"/>
          </a:xfrm>
          <a:prstGeom prst="rect">
            <a:avLst/>
          </a:prstGeom>
          <a:noFill/>
        </p:spPr>
        <p:txBody>
          <a:bodyPr wrap="square">
            <a:spAutoFit/>
          </a:bodyPr>
          <a:lstStyle/>
          <a:p>
            <a:pPr>
              <a:defRPr>
                <a:latin typeface="Roboto"/>
              </a:defRPr>
            </a:pPr>
            <a:r>
              <a:rPr sz="1400" b="0">
                <a:solidFill>
                  <a:srgbClr val="25342A"/>
                </a:solidFill>
                <a:latin typeface="Roboto"/>
              </a:rPr>
              <a:t>Period: September 2026. Revenue, gross margin and growth (year on year) by product or service line over 24 months. Pick a line and every number, chart and note follows it.</a:t>
            </a:r>
          </a:p>
        </p:txBody>
      </p:sp>
      <p:sp>
        <p:nvSpPr>
          <p:cNvPr id="8" name="TextBox 7"/>
          <p:cNvSpPr txBox="1"/>
          <p:nvPr/>
        </p:nvSpPr>
        <p:spPr>
          <a:xfrm>
            <a:off x="457200" y="4937760"/>
            <a:ext cx="11247120" cy="1097280"/>
          </a:xfrm>
          <a:prstGeom prst="rect">
            <a:avLst/>
          </a:prstGeom>
          <a:noFill/>
        </p:spPr>
        <p:txBody>
          <a:bodyPr wrap="square">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August 2026: Locked. August 2026 is locked (closed 2 Sep 2026). These numbers won't change.</a:t>
            </a:r>
          </a:p>
          <a:p>
            <a:pPr>
              <a:defRPr>
                <a:latin typeface="Roboto"/>
              </a:defRPr>
            </a:pPr>
            <a:r>
              <a:rPr sz="1100" b="0">
                <a:solidFill>
                  <a:srgbClr val="5F6F63"/>
                </a:solidFill>
                <a:latin typeface="Roboto"/>
              </a:rPr>
              <a:t>September 2026: Locked. September 2026 is locked (closed 2 Oct 2026). These numbers won't change.</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 of 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 of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 · Trades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September's jobs made $73,107 gross margin (36.1%). Technician time not charged to jobs took $3,430 and overheads $59,580, leaving $10,097 profit before tax (5.0% of revenue). To cover overheads, jobs need a 31.1%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September 2026</a:t>
                      </a:r>
                    </a:p>
                  </a:txBody>
                  <a:tcPr>
                    <a:solidFill>
                      <a:srgbClr val="2F7A5D"/>
                    </a:solidFill>
                  </a:tcPr>
                </a:tc>
              </a:tr>
              <a:tr h="329184">
                <a:tc>
                  <a:txBody>
                    <a:bodyPr/>
                    <a:lstStyle/>
                    <a:p>
                      <a:pPr>
                        <a:defRPr>
                          <a:latin typeface="Roboto"/>
                        </a:defRPr>
                      </a:pPr>
                      <a:r>
                        <a:rPr sz="1050">
                          <a:solidFill>
                            <a:srgbClr val="25342A"/>
                          </a:solidFill>
                          <a:latin typeface="Roboto"/>
                        </a:rPr>
                        <a:t>Gross margin on jobs</a:t>
                      </a:r>
                    </a:p>
                  </a:txBody>
                  <a:tcPr>
                    <a:solidFill>
                      <a:srgbClr val="FFFFFF"/>
                    </a:solidFill>
                  </a:tcPr>
                </a:tc>
                <a:tc>
                  <a:txBody>
                    <a:bodyPr/>
                    <a:lstStyle/>
                    <a:p>
                      <a:pPr algn="r">
                        <a:defRPr>
                          <a:latin typeface="Roboto"/>
                        </a:defRPr>
                      </a:pPr>
                      <a:r>
                        <a:rPr sz="1050">
                          <a:solidFill>
                            <a:srgbClr val="25342A"/>
                          </a:solidFill>
                          <a:latin typeface="Roboto"/>
                        </a:rPr>
                        <a:t>$73,107</a:t>
                      </a:r>
                    </a:p>
                  </a:txBody>
                  <a:tcPr>
                    <a:solidFill>
                      <a:srgbClr val="FFFFFF"/>
                    </a:solidFill>
                  </a:tcPr>
                </a:tc>
              </a:tr>
              <a:tr h="329184">
                <a:tc>
                  <a:txBody>
                    <a:bodyPr/>
                    <a:lstStyle/>
                    <a:p>
                      <a:pPr>
                        <a:defRPr>
                          <a:latin typeface="Roboto"/>
                        </a:defRPr>
                      </a:pPr>
                      <a:r>
                        <a:rPr sz="1050">
                          <a:solidFill>
                            <a:srgbClr val="25342A"/>
                          </a:solidFill>
                          <a:latin typeface="Roboto"/>
                        </a:rPr>
                        <a:t>Technician wages and on-costs</a:t>
                      </a:r>
                    </a:p>
                  </a:txBody>
                  <a:tcPr>
                    <a:solidFill>
                      <a:srgbClr val="F7FAF7"/>
                    </a:solidFill>
                  </a:tcPr>
                </a:tc>
                <a:tc>
                  <a:txBody>
                    <a:bodyPr/>
                    <a:lstStyle/>
                    <a:p>
                      <a:pPr algn="r">
                        <a:defRPr>
                          <a:latin typeface="Roboto"/>
                        </a:defRPr>
                      </a:pPr>
                      <a:r>
                        <a:rPr sz="1050">
                          <a:solidFill>
                            <a:srgbClr val="25342A"/>
                          </a:solidFill>
                          <a:latin typeface="Roboto"/>
                        </a:rPr>
                        <a:t>$54,600</a:t>
                      </a:r>
                    </a:p>
                  </a:txBody>
                  <a:tcPr>
                    <a:solidFill>
                      <a:srgbClr val="F7FAF7"/>
                    </a:solidFill>
                  </a:tcPr>
                </a:tc>
              </a:tr>
              <a:tr h="329184">
                <a:tc>
                  <a:txBody>
                    <a:bodyPr/>
                    <a:lstStyle/>
                    <a:p>
                      <a:pPr>
                        <a:defRPr>
                          <a:latin typeface="Roboto"/>
                        </a:defRPr>
                      </a:pPr>
                      <a:r>
                        <a:rPr sz="1050">
                          <a:solidFill>
                            <a:srgbClr val="25342A"/>
                          </a:solidFill>
                          <a:latin typeface="Roboto"/>
                        </a:rPr>
                        <a:t>Technician time charged to jobs (at cost)</a:t>
                      </a:r>
                    </a:p>
                  </a:txBody>
                  <a:tcPr>
                    <a:solidFill>
                      <a:srgbClr val="FFFFFF"/>
                    </a:solidFill>
                  </a:tcPr>
                </a:tc>
                <a:tc>
                  <a:txBody>
                    <a:bodyPr/>
                    <a:lstStyle/>
                    <a:p>
                      <a:pPr algn="r">
                        <a:defRPr>
                          <a:latin typeface="Roboto"/>
                        </a:defRPr>
                      </a:pPr>
                      <a:r>
                        <a:rPr sz="1050">
                          <a:solidFill>
                            <a:srgbClr val="25342A"/>
                          </a:solidFill>
                          <a:latin typeface="Roboto"/>
                        </a:rPr>
                        <a:t>$51,170</a:t>
                      </a:r>
                    </a:p>
                  </a:txBody>
                  <a:tcPr>
                    <a:solidFill>
                      <a:srgbClr val="FFFFFF"/>
                    </a:solidFill>
                  </a:tcPr>
                </a:tc>
              </a:tr>
              <a:tr h="329184">
                <a:tc>
                  <a:txBody>
                    <a:bodyPr/>
                    <a:lstStyle/>
                    <a:p>
                      <a:pPr>
                        <a:defRPr>
                          <a:latin typeface="Roboto"/>
                        </a:defRPr>
                      </a:pPr>
                      <a:r>
                        <a:rPr sz="1050">
                          <a:solidFill>
                            <a:srgbClr val="25342A"/>
                          </a:solidFill>
                          <a:latin typeface="Roboto"/>
                        </a:rPr>
                        <a:t>Technician time not charged to jobs</a:t>
                      </a:r>
                    </a:p>
                  </a:txBody>
                  <a:tcPr>
                    <a:solidFill>
                      <a:srgbClr val="F7FAF7"/>
                    </a:solidFill>
                  </a:tcPr>
                </a:tc>
                <a:tc>
                  <a:txBody>
                    <a:bodyPr/>
                    <a:lstStyle/>
                    <a:p>
                      <a:pPr algn="r">
                        <a:defRPr>
                          <a:latin typeface="Roboto"/>
                        </a:defRPr>
                      </a:pPr>
                      <a:r>
                        <a:rPr sz="1050">
                          <a:solidFill>
                            <a:srgbClr val="25342A"/>
                          </a:solidFill>
                          <a:latin typeface="Roboto"/>
                        </a:rPr>
                        <a:t>$3,430</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$69,677</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$59,580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25342A"/>
                          </a:solidFill>
                          <a:latin typeface="Roboto"/>
                        </a:rPr>
                        <a:t>$10,097</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$202,337</a:t>
                      </a:r>
                    </a:p>
                  </a:txBody>
                  <a:tcPr>
                    <a:solidFill>
                      <a:srgbClr val="F7FAF7"/>
                    </a:solidFill>
                  </a:tcPr>
                </a:tc>
              </a:tr>
              <a:tr h="329184">
                <a:tc>
                  <a:txBody>
                    <a:bodyPr/>
                    <a:lstStyle/>
                    <a:p>
                      <a:pPr>
                        <a:defRPr>
                          <a:latin typeface="Roboto"/>
                        </a:defRPr>
                      </a:pPr>
                      <a:r>
                        <a:rPr sz="1050">
                          <a:solidFill>
                            <a:srgbClr val="25342A"/>
                          </a:solidFill>
                          <a:latin typeface="Roboto"/>
                        </a:rPr>
                        <a:t>Gross margin on jobs, %</a:t>
                      </a:r>
                    </a:p>
                  </a:txBody>
                  <a:tcPr>
                    <a:solidFill>
                      <a:srgbClr val="FFFFFF"/>
                    </a:solidFill>
                  </a:tcPr>
                </a:tc>
                <a:tc>
                  <a:txBody>
                    <a:bodyPr/>
                    <a:lstStyle/>
                    <a:p>
                      <a:pPr algn="r">
                        <a:defRPr>
                          <a:latin typeface="Roboto"/>
                        </a:defRPr>
                      </a:pPr>
                      <a:r>
                        <a:rPr sz="1050">
                          <a:solidFill>
                            <a:srgbClr val="25342A"/>
                          </a:solidFill>
                          <a:latin typeface="Roboto"/>
                        </a:rPr>
                        <a:t>36.1%</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25342A"/>
                          </a:solidFill>
                          <a:latin typeface="Roboto"/>
                        </a:rPr>
                        <a:t>5.0%</a:t>
                      </a:r>
                    </a:p>
                  </a:txBody>
                  <a:tcPr>
                    <a:solidFill>
                      <a:srgbClr val="F7FAF7"/>
                    </a:solidFill>
                  </a:tcPr>
                </a:tc>
              </a:tr>
              <a:tr h="329184">
                <a:tc>
                  <a:txBody>
                    <a:bodyPr/>
                    <a:lstStyle/>
                    <a:p>
                      <a:pPr>
                        <a:defRPr>
                          <a:latin typeface="Roboto"/>
                        </a:defRPr>
                      </a:pPr>
                      <a:r>
                        <a:rPr sz="1050">
                          <a:solidFill>
                            <a:srgbClr val="25342A"/>
                          </a:solidFill>
                          <a:latin typeface="Roboto"/>
                        </a:rPr>
                        <a:t>Gross margin jobs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31.1%</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3 of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September against September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57.8%</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$202,337 against $128,255</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26.5%</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$574,589 against $454,179</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37.9%</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$217,865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4 of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Revenue is 26.5% up on the same period last year, year to date ($574,589 against $454,179). Maintenance contracts make the highest gross margin (59.5%); Installations the lowest (29.4%). The business needs 31.1%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59.5% gross margin, the most profitable work you do. Installations: 29.4% gross margin, below the 31.1%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5 of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Maintenance contracts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September against September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22.0%</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$40,500 against $33,200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22.0%</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$121,500 against $99,600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59.5%</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$72,348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6 of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brought in $121,500 this financial year to date, 22.0% on the same period last year (slower than the business as a whole, 26.5%), at a 59.5% gross margin (above the 37.9%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59.5% gross margin, 28.4 points clear of the 31.1% overheads need.</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7 of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Installations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September against September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74.0%</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$130,700 against $75,100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23.8%</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$367,900 against $297,100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29.4%</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$108,292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8 of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brought in $367,900 this financial year to date, 23.8% on the same period last year (slower than the business as a whole, 26.5%), at a 29.4% gross margin (below the 37.9%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Installations: 29.4% gross margin, below the 31.1%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9 of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Trades · Line: Call-outs and repairs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September against September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56.0%</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$31,137 against $19,955</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48.2%</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$85,189 against $57,479</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43.7%</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$37,225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10 of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Trades · Line: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and repairs brought in $85,189 this financial year to date, 48.2% on the same period last year (faster than the business as a whole, 26.5%), at a 43.7% gross margin (above the 37.9%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and repairs: 43.7% gross margin, 12.6 points clear of the 31.1% overheads need.</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11 of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line, by month · Revenue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Gross margin = revenue less direct cost (materials, subcontractors and time at cost for trades; contractors and consultant time for services), before overheads. 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12 of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line, by month · Gross margin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Gross margin = revenue less direct cost (materials, subcontractors and time at cost for trades; contractors and consultant time for services), before overheads. 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13 of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By line: financial year to date (Jul to Sep 2026) against the same period last year · Trades · Every line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Year to date</a:t>
                      </a:r>
                    </a:p>
                  </a:txBody>
                  <a:tcPr>
                    <a:solidFill>
                      <a:srgbClr val="2F7A5D"/>
                    </a:solidFill>
                  </a:tcPr>
                </a:tc>
                <a:tc>
                  <a:txBody>
                    <a:bodyPr/>
                    <a:lstStyle/>
                    <a:p>
                      <a:pPr algn="r">
                        <a:defRPr>
                          <a:latin typeface="Roboto"/>
                        </a:defRPr>
                      </a:pPr>
                      <a:r>
                        <a:rPr sz="1100" b="1">
                          <a:solidFill>
                            <a:srgbClr val="FFFFFF"/>
                          </a:solidFill>
                          <a:latin typeface="Roboto"/>
                        </a:rPr>
                        <a:t>Same period last year</a:t>
                      </a:r>
                    </a:p>
                  </a:txBody>
                  <a:tcPr>
                    <a:solidFill>
                      <a:srgbClr val="2F7A5D"/>
                    </a:solidFill>
                  </a:tcPr>
                </a:tc>
                <a:tc>
                  <a:txBody>
                    <a:bodyPr/>
                    <a:lstStyle/>
                    <a:p>
                      <a:pPr algn="r">
                        <a:defRPr>
                          <a:latin typeface="Roboto"/>
                        </a:defRPr>
                      </a:pPr>
                      <a:r>
                        <a:rPr sz="1100" b="1">
                          <a:solidFill>
                            <a:srgbClr val="FFFFFF"/>
                          </a:solidFill>
                          <a:latin typeface="Roboto"/>
                        </a:rPr>
                        <a:t>Growth</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r>
              <a:tr h="329184">
                <a:tc>
                  <a:txBody>
                    <a:bodyPr/>
                    <a:lstStyle/>
                    <a:p>
                      <a:pPr>
                        <a:defRPr>
                          <a:latin typeface="Roboto"/>
                        </a:defRPr>
                      </a:pPr>
                      <a:r>
                        <a:rPr sz="1050">
                          <a:solidFill>
                            <a:srgbClr val="25342A"/>
                          </a:solidFill>
                          <a:latin typeface="Roboto"/>
                        </a:rPr>
                        <a:t>Maintenance contracts</a:t>
                      </a:r>
                    </a:p>
                  </a:txBody>
                  <a:tcPr>
                    <a:solidFill>
                      <a:srgbClr val="FFFFFF"/>
                    </a:solidFill>
                  </a:tcPr>
                </a:tc>
                <a:tc>
                  <a:txBody>
                    <a:bodyPr/>
                    <a:lstStyle/>
                    <a:p>
                      <a:pPr algn="r">
                        <a:defRPr>
                          <a:latin typeface="Roboto"/>
                        </a:defRPr>
                      </a:pPr>
                      <a:r>
                        <a:rPr sz="1050">
                          <a:solidFill>
                            <a:srgbClr val="25342A"/>
                          </a:solidFill>
                          <a:latin typeface="Roboto"/>
                        </a:rPr>
                        <a:t>$121,500</a:t>
                      </a:r>
                    </a:p>
                  </a:txBody>
                  <a:tcPr>
                    <a:solidFill>
                      <a:srgbClr val="FFFFFF"/>
                    </a:solidFill>
                  </a:tcPr>
                </a:tc>
                <a:tc>
                  <a:txBody>
                    <a:bodyPr/>
                    <a:lstStyle/>
                    <a:p>
                      <a:pPr algn="r">
                        <a:defRPr>
                          <a:latin typeface="Roboto"/>
                        </a:defRPr>
                      </a:pPr>
                      <a:r>
                        <a:rPr sz="1050">
                          <a:solidFill>
                            <a:srgbClr val="25342A"/>
                          </a:solidFill>
                          <a:latin typeface="Roboto"/>
                        </a:rPr>
                        <a:t>$99,600</a:t>
                      </a:r>
                    </a:p>
                  </a:txBody>
                  <a:tcPr>
                    <a:solidFill>
                      <a:srgbClr val="FFFFFF"/>
                    </a:solidFill>
                  </a:tcPr>
                </a:tc>
                <a:tc>
                  <a:txBody>
                    <a:bodyPr/>
                    <a:lstStyle/>
                    <a:p>
                      <a:pPr algn="r">
                        <a:defRPr>
                          <a:latin typeface="Roboto"/>
                        </a:defRPr>
                      </a:pPr>
                      <a:r>
                        <a:rPr sz="1050">
                          <a:solidFill>
                            <a:srgbClr val="25342A"/>
                          </a:solidFill>
                          <a:latin typeface="Roboto"/>
                        </a:rPr>
                        <a:t>22.0%</a:t>
                      </a:r>
                    </a:p>
                  </a:txBody>
                  <a:tcPr>
                    <a:solidFill>
                      <a:srgbClr val="FFFFFF"/>
                    </a:solidFill>
                  </a:tcPr>
                </a:tc>
                <a:tc>
                  <a:txBody>
                    <a:bodyPr/>
                    <a:lstStyle/>
                    <a:p>
                      <a:pPr algn="r">
                        <a:defRPr>
                          <a:latin typeface="Roboto"/>
                        </a:defRPr>
                      </a:pPr>
                      <a:r>
                        <a:rPr sz="1050">
                          <a:solidFill>
                            <a:srgbClr val="25342A"/>
                          </a:solidFill>
                          <a:latin typeface="Roboto"/>
                        </a:rPr>
                        <a:t>$72,348</a:t>
                      </a:r>
                    </a:p>
                  </a:txBody>
                  <a:tcPr>
                    <a:solidFill>
                      <a:srgbClr val="FFFFFF"/>
                    </a:solidFill>
                  </a:tcPr>
                </a:tc>
                <a:tc>
                  <a:txBody>
                    <a:bodyPr/>
                    <a:lstStyle/>
                    <a:p>
                      <a:pPr algn="r">
                        <a:defRPr>
                          <a:latin typeface="Roboto"/>
                        </a:defRPr>
                      </a:pPr>
                      <a:r>
                        <a:rPr sz="1050">
                          <a:solidFill>
                            <a:srgbClr val="25342A"/>
                          </a:solidFill>
                          <a:latin typeface="Roboto"/>
                        </a:rPr>
                        <a:t>59.5%</a:t>
                      </a:r>
                    </a:p>
                  </a:txBody>
                  <a:tcPr>
                    <a:solidFill>
                      <a:srgbClr val="FFFFFF"/>
                    </a:solidFill>
                  </a:tcPr>
                </a:tc>
              </a:tr>
              <a:tr h="329184">
                <a:tc>
                  <a:txBody>
                    <a:bodyPr/>
                    <a:lstStyle/>
                    <a:p>
                      <a:pPr>
                        <a:defRPr>
                          <a:latin typeface="Roboto"/>
                        </a:defRPr>
                      </a:pPr>
                      <a:r>
                        <a:rPr sz="1050">
                          <a:solidFill>
                            <a:srgbClr val="25342A"/>
                          </a:solidFill>
                          <a:latin typeface="Roboto"/>
                        </a:rPr>
                        <a:t>Installations</a:t>
                      </a:r>
                    </a:p>
                  </a:txBody>
                  <a:tcPr>
                    <a:solidFill>
                      <a:srgbClr val="F7FAF7"/>
                    </a:solidFill>
                  </a:tcPr>
                </a:tc>
                <a:tc>
                  <a:txBody>
                    <a:bodyPr/>
                    <a:lstStyle/>
                    <a:p>
                      <a:pPr algn="r">
                        <a:defRPr>
                          <a:latin typeface="Roboto"/>
                        </a:defRPr>
                      </a:pPr>
                      <a:r>
                        <a:rPr sz="1050">
                          <a:solidFill>
                            <a:srgbClr val="25342A"/>
                          </a:solidFill>
                          <a:latin typeface="Roboto"/>
                        </a:rPr>
                        <a:t>$367,900</a:t>
                      </a:r>
                    </a:p>
                  </a:txBody>
                  <a:tcPr>
                    <a:solidFill>
                      <a:srgbClr val="F7FAF7"/>
                    </a:solidFill>
                  </a:tcPr>
                </a:tc>
                <a:tc>
                  <a:txBody>
                    <a:bodyPr/>
                    <a:lstStyle/>
                    <a:p>
                      <a:pPr algn="r">
                        <a:defRPr>
                          <a:latin typeface="Roboto"/>
                        </a:defRPr>
                      </a:pPr>
                      <a:r>
                        <a:rPr sz="1050">
                          <a:solidFill>
                            <a:srgbClr val="25342A"/>
                          </a:solidFill>
                          <a:latin typeface="Roboto"/>
                        </a:rPr>
                        <a:t>$297,100</a:t>
                      </a:r>
                    </a:p>
                  </a:txBody>
                  <a:tcPr>
                    <a:solidFill>
                      <a:srgbClr val="F7FAF7"/>
                    </a:solidFill>
                  </a:tcPr>
                </a:tc>
                <a:tc>
                  <a:txBody>
                    <a:bodyPr/>
                    <a:lstStyle/>
                    <a:p>
                      <a:pPr algn="r">
                        <a:defRPr>
                          <a:latin typeface="Roboto"/>
                        </a:defRPr>
                      </a:pPr>
                      <a:r>
                        <a:rPr sz="1050">
                          <a:solidFill>
                            <a:srgbClr val="25342A"/>
                          </a:solidFill>
                          <a:latin typeface="Roboto"/>
                        </a:rPr>
                        <a:t>23.8%</a:t>
                      </a:r>
                    </a:p>
                  </a:txBody>
                  <a:tcPr>
                    <a:solidFill>
                      <a:srgbClr val="F7FAF7"/>
                    </a:solidFill>
                  </a:tcPr>
                </a:tc>
                <a:tc>
                  <a:txBody>
                    <a:bodyPr/>
                    <a:lstStyle/>
                    <a:p>
                      <a:pPr algn="r">
                        <a:defRPr>
                          <a:latin typeface="Roboto"/>
                        </a:defRPr>
                      </a:pPr>
                      <a:r>
                        <a:rPr sz="1050">
                          <a:solidFill>
                            <a:srgbClr val="25342A"/>
                          </a:solidFill>
                          <a:latin typeface="Roboto"/>
                        </a:rPr>
                        <a:t>$108,292</a:t>
                      </a:r>
                    </a:p>
                  </a:txBody>
                  <a:tcPr>
                    <a:solidFill>
                      <a:srgbClr val="F7FAF7"/>
                    </a:solidFill>
                  </a:tcPr>
                </a:tc>
                <a:tc>
                  <a:txBody>
                    <a:bodyPr/>
                    <a:lstStyle/>
                    <a:p>
                      <a:pPr algn="r">
                        <a:defRPr>
                          <a:latin typeface="Roboto"/>
                        </a:defRPr>
                      </a:pPr>
                      <a:r>
                        <a:rPr sz="1050">
                          <a:solidFill>
                            <a:srgbClr val="25342A"/>
                          </a:solidFill>
                          <a:latin typeface="Roboto"/>
                        </a:rPr>
                        <a:t>29.4%</a:t>
                      </a:r>
                    </a:p>
                  </a:txBody>
                  <a:tcPr>
                    <a:solidFill>
                      <a:srgbClr val="F7FAF7"/>
                    </a:solidFill>
                  </a:tcPr>
                </a:tc>
              </a:tr>
              <a:tr h="329184">
                <a:tc>
                  <a:txBody>
                    <a:bodyPr/>
                    <a:lstStyle/>
                    <a:p>
                      <a:pPr>
                        <a:defRPr>
                          <a:latin typeface="Roboto"/>
                        </a:defRPr>
                      </a:pPr>
                      <a:r>
                        <a:rPr sz="1050">
                          <a:solidFill>
                            <a:srgbClr val="25342A"/>
                          </a:solidFill>
                          <a:latin typeface="Roboto"/>
                        </a:rPr>
                        <a:t>Call-outs and repairs</a:t>
                      </a:r>
                    </a:p>
                  </a:txBody>
                  <a:tcPr>
                    <a:solidFill>
                      <a:srgbClr val="FFFFFF"/>
                    </a:solidFill>
                  </a:tcPr>
                </a:tc>
                <a:tc>
                  <a:txBody>
                    <a:bodyPr/>
                    <a:lstStyle/>
                    <a:p>
                      <a:pPr algn="r">
                        <a:defRPr>
                          <a:latin typeface="Roboto"/>
                        </a:defRPr>
                      </a:pPr>
                      <a:r>
                        <a:rPr sz="1050">
                          <a:solidFill>
                            <a:srgbClr val="25342A"/>
                          </a:solidFill>
                          <a:latin typeface="Roboto"/>
                        </a:rPr>
                        <a:t>$85,189</a:t>
                      </a:r>
                    </a:p>
                  </a:txBody>
                  <a:tcPr>
                    <a:solidFill>
                      <a:srgbClr val="FFFFFF"/>
                    </a:solidFill>
                  </a:tcPr>
                </a:tc>
                <a:tc>
                  <a:txBody>
                    <a:bodyPr/>
                    <a:lstStyle/>
                    <a:p>
                      <a:pPr algn="r">
                        <a:defRPr>
                          <a:latin typeface="Roboto"/>
                        </a:defRPr>
                      </a:pPr>
                      <a:r>
                        <a:rPr sz="1050">
                          <a:solidFill>
                            <a:srgbClr val="25342A"/>
                          </a:solidFill>
                          <a:latin typeface="Roboto"/>
                        </a:rPr>
                        <a:t>$57,479</a:t>
                      </a:r>
                    </a:p>
                  </a:txBody>
                  <a:tcPr>
                    <a:solidFill>
                      <a:srgbClr val="FFFFFF"/>
                    </a:solidFill>
                  </a:tcPr>
                </a:tc>
                <a:tc>
                  <a:txBody>
                    <a:bodyPr/>
                    <a:lstStyle/>
                    <a:p>
                      <a:pPr algn="r">
                        <a:defRPr>
                          <a:latin typeface="Roboto"/>
                        </a:defRPr>
                      </a:pPr>
                      <a:r>
                        <a:rPr sz="1050">
                          <a:solidFill>
                            <a:srgbClr val="25342A"/>
                          </a:solidFill>
                          <a:latin typeface="Roboto"/>
                        </a:rPr>
                        <a:t>48.2%</a:t>
                      </a:r>
                    </a:p>
                  </a:txBody>
                  <a:tcPr>
                    <a:solidFill>
                      <a:srgbClr val="FFFFFF"/>
                    </a:solidFill>
                  </a:tcPr>
                </a:tc>
                <a:tc>
                  <a:txBody>
                    <a:bodyPr/>
                    <a:lstStyle/>
                    <a:p>
                      <a:pPr algn="r">
                        <a:defRPr>
                          <a:latin typeface="Roboto"/>
                        </a:defRPr>
                      </a:pPr>
                      <a:r>
                        <a:rPr sz="1050">
                          <a:solidFill>
                            <a:srgbClr val="25342A"/>
                          </a:solidFill>
                          <a:latin typeface="Roboto"/>
                        </a:rPr>
                        <a:t>$37,225</a:t>
                      </a:r>
                    </a:p>
                  </a:txBody>
                  <a:tcPr>
                    <a:solidFill>
                      <a:srgbClr val="FFFFFF"/>
                    </a:solidFill>
                  </a:tcPr>
                </a:tc>
                <a:tc>
                  <a:txBody>
                    <a:bodyPr/>
                    <a:lstStyle/>
                    <a:p>
                      <a:pPr algn="r">
                        <a:defRPr>
                          <a:latin typeface="Roboto"/>
                        </a:defRPr>
                      </a:pPr>
                      <a:r>
                        <a:rPr sz="1050">
                          <a:solidFill>
                            <a:srgbClr val="25342A"/>
                          </a:solidFill>
                          <a:latin typeface="Roboto"/>
                        </a:rPr>
                        <a:t>43.7%</a:t>
                      </a:r>
                    </a:p>
                  </a:txBody>
                  <a:tcPr>
                    <a:solidFill>
                      <a:srgbClr val="FFFFFF"/>
                    </a:solidFill>
                  </a:tcPr>
                </a:tc>
              </a:tr>
              <a:tr h="329184">
                <a:tc>
                  <a:txBody>
                    <a:bodyPr/>
                    <a:lstStyle/>
                    <a:p>
                      <a:pPr>
                        <a:defRPr>
                          <a:latin typeface="Roboto"/>
                        </a:defRPr>
                      </a:pPr>
                      <a:r>
                        <a:rPr sz="1050" b="1">
                          <a:solidFill>
                            <a:srgbClr val="25342A"/>
                          </a:solidFill>
                          <a:latin typeface="Roboto"/>
                        </a:rPr>
                        <a:t>Total</a:t>
                      </a:r>
                    </a:p>
                  </a:txBody>
                  <a:tcPr>
                    <a:solidFill>
                      <a:srgbClr val="F7FAF7"/>
                    </a:solidFill>
                  </a:tcPr>
                </a:tc>
                <a:tc>
                  <a:txBody>
                    <a:bodyPr/>
                    <a:lstStyle/>
                    <a:p>
                      <a:pPr algn="r">
                        <a:defRPr>
                          <a:latin typeface="Roboto"/>
                        </a:defRPr>
                      </a:pPr>
                      <a:r>
                        <a:rPr sz="1050" b="1">
                          <a:solidFill>
                            <a:srgbClr val="25342A"/>
                          </a:solidFill>
                          <a:latin typeface="Roboto"/>
                        </a:rPr>
                        <a:t>$574,589</a:t>
                      </a:r>
                    </a:p>
                  </a:txBody>
                  <a:tcPr>
                    <a:solidFill>
                      <a:srgbClr val="F7FAF7"/>
                    </a:solidFill>
                  </a:tcPr>
                </a:tc>
                <a:tc>
                  <a:txBody>
                    <a:bodyPr/>
                    <a:lstStyle/>
                    <a:p>
                      <a:pPr algn="r">
                        <a:defRPr>
                          <a:latin typeface="Roboto"/>
                        </a:defRPr>
                      </a:pPr>
                      <a:r>
                        <a:rPr sz="1050" b="1">
                          <a:solidFill>
                            <a:srgbClr val="25342A"/>
                          </a:solidFill>
                          <a:latin typeface="Roboto"/>
                        </a:rPr>
                        <a:t>$454,179</a:t>
                      </a:r>
                    </a:p>
                  </a:txBody>
                  <a:tcPr>
                    <a:solidFill>
                      <a:srgbClr val="F7FAF7"/>
                    </a:solidFill>
                  </a:tcPr>
                </a:tc>
                <a:tc>
                  <a:txBody>
                    <a:bodyPr/>
                    <a:lstStyle/>
                    <a:p>
                      <a:pPr algn="r">
                        <a:defRPr>
                          <a:latin typeface="Roboto"/>
                        </a:defRPr>
                      </a:pPr>
                      <a:r>
                        <a:rPr sz="1050" b="1">
                          <a:solidFill>
                            <a:srgbClr val="25342A"/>
                          </a:solidFill>
                          <a:latin typeface="Roboto"/>
                        </a:rPr>
                        <a:t>26.5%</a:t>
                      </a:r>
                    </a:p>
                  </a:txBody>
                  <a:tcPr>
                    <a:solidFill>
                      <a:srgbClr val="F7FAF7"/>
                    </a:solidFill>
                  </a:tcPr>
                </a:tc>
                <a:tc>
                  <a:txBody>
                    <a:bodyPr/>
                    <a:lstStyle/>
                    <a:p>
                      <a:pPr algn="r">
                        <a:defRPr>
                          <a:latin typeface="Roboto"/>
                        </a:defRPr>
                      </a:pPr>
                      <a:r>
                        <a:rPr sz="1050" b="1">
                          <a:solidFill>
                            <a:srgbClr val="25342A"/>
                          </a:solidFill>
                          <a:latin typeface="Roboto"/>
                        </a:rPr>
                        <a:t>$217,865</a:t>
                      </a:r>
                    </a:p>
                  </a:txBody>
                  <a:tcPr>
                    <a:solidFill>
                      <a:srgbClr val="F7FAF7"/>
                    </a:solidFill>
                  </a:tcPr>
                </a:tc>
                <a:tc>
                  <a:txBody>
                    <a:bodyPr/>
                    <a:lstStyle/>
                    <a:p>
                      <a:pPr algn="r">
                        <a:defRPr>
                          <a:latin typeface="Roboto"/>
                        </a:defRPr>
                      </a:pPr>
                      <a:r>
                        <a:rPr sz="1050" b="1">
                          <a:solidFill>
                            <a:srgbClr val="25342A"/>
                          </a:solidFill>
                          <a:latin typeface="Roboto"/>
                        </a:rPr>
                        <a:t>37.9%</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14 of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Gross margin = revenue less contractors and consultant time charged to the work at $60 an hour (wages and all on-costs). Not included: consultant time not charged to clients, and overheads (management and admin wages, marketing, rent, IT, insurance, travel,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15 of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 · Services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September's client work made $68,410 gross margin (51.9%). Consultant time not charged to client work took $660 and overheads $52,140, leaving $15,610 profit before tax (11.8% of revenue). To cover overheads, client work needs a 40.0%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September 2026</a:t>
                      </a:r>
                    </a:p>
                  </a:txBody>
                  <a:tcPr>
                    <a:solidFill>
                      <a:srgbClr val="2F7A5D"/>
                    </a:solidFill>
                  </a:tcPr>
                </a:tc>
              </a:tr>
              <a:tr h="329184">
                <a:tc>
                  <a:txBody>
                    <a:bodyPr/>
                    <a:lstStyle/>
                    <a:p>
                      <a:pPr>
                        <a:defRPr>
                          <a:latin typeface="Roboto"/>
                        </a:defRPr>
                      </a:pPr>
                      <a:r>
                        <a:rPr sz="1050">
                          <a:solidFill>
                            <a:srgbClr val="25342A"/>
                          </a:solidFill>
                          <a:latin typeface="Roboto"/>
                        </a:rPr>
                        <a:t>Gross margin on client work</a:t>
                      </a:r>
                    </a:p>
                  </a:txBody>
                  <a:tcPr>
                    <a:solidFill>
                      <a:srgbClr val="FFFFFF"/>
                    </a:solidFill>
                  </a:tcPr>
                </a:tc>
                <a:tc>
                  <a:txBody>
                    <a:bodyPr/>
                    <a:lstStyle/>
                    <a:p>
                      <a:pPr algn="r">
                        <a:defRPr>
                          <a:latin typeface="Roboto"/>
                        </a:defRPr>
                      </a:pPr>
                      <a:r>
                        <a:rPr sz="1050">
                          <a:solidFill>
                            <a:srgbClr val="25342A"/>
                          </a:solidFill>
                          <a:latin typeface="Roboto"/>
                        </a:rPr>
                        <a:t>$68,410</a:t>
                      </a:r>
                    </a:p>
                  </a:txBody>
                  <a:tcPr>
                    <a:solidFill>
                      <a:srgbClr val="FFFFFF"/>
                    </a:solidFill>
                  </a:tcPr>
                </a:tc>
              </a:tr>
              <a:tr h="329184">
                <a:tc>
                  <a:txBody>
                    <a:bodyPr/>
                    <a:lstStyle/>
                    <a:p>
                      <a:pPr>
                        <a:defRPr>
                          <a:latin typeface="Roboto"/>
                        </a:defRPr>
                      </a:pPr>
                      <a:r>
                        <a:rPr sz="1050">
                          <a:solidFill>
                            <a:srgbClr val="25342A"/>
                          </a:solidFill>
                          <a:latin typeface="Roboto"/>
                        </a:rPr>
                        <a:t>Consultant wages and on-costs</a:t>
                      </a:r>
                    </a:p>
                  </a:txBody>
                  <a:tcPr>
                    <a:solidFill>
                      <a:srgbClr val="F7FAF7"/>
                    </a:solidFill>
                  </a:tcPr>
                </a:tc>
                <a:tc>
                  <a:txBody>
                    <a:bodyPr/>
                    <a:lstStyle/>
                    <a:p>
                      <a:pPr algn="r">
                        <a:defRPr>
                          <a:latin typeface="Roboto"/>
                        </a:defRPr>
                      </a:pPr>
                      <a:r>
                        <a:rPr sz="1050">
                          <a:solidFill>
                            <a:srgbClr val="25342A"/>
                          </a:solidFill>
                          <a:latin typeface="Roboto"/>
                        </a:rPr>
                        <a:t>$46,500</a:t>
                      </a:r>
                    </a:p>
                  </a:txBody>
                  <a:tcPr>
                    <a:solidFill>
                      <a:srgbClr val="F7FAF7"/>
                    </a:solidFill>
                  </a:tcPr>
                </a:tc>
              </a:tr>
              <a:tr h="329184">
                <a:tc>
                  <a:txBody>
                    <a:bodyPr/>
                    <a:lstStyle/>
                    <a:p>
                      <a:pPr>
                        <a:defRPr>
                          <a:latin typeface="Roboto"/>
                        </a:defRPr>
                      </a:pPr>
                      <a:r>
                        <a:rPr sz="1050">
                          <a:solidFill>
                            <a:srgbClr val="25342A"/>
                          </a:solidFill>
                          <a:latin typeface="Roboto"/>
                        </a:rPr>
                        <a:t>Consultant time charged to client work (at cost)</a:t>
                      </a:r>
                    </a:p>
                  </a:txBody>
                  <a:tcPr>
                    <a:solidFill>
                      <a:srgbClr val="FFFFFF"/>
                    </a:solidFill>
                  </a:tcPr>
                </a:tc>
                <a:tc>
                  <a:txBody>
                    <a:bodyPr/>
                    <a:lstStyle/>
                    <a:p>
                      <a:pPr algn="r">
                        <a:defRPr>
                          <a:latin typeface="Roboto"/>
                        </a:defRPr>
                      </a:pPr>
                      <a:r>
                        <a:rPr sz="1050">
                          <a:solidFill>
                            <a:srgbClr val="25342A"/>
                          </a:solidFill>
                          <a:latin typeface="Roboto"/>
                        </a:rPr>
                        <a:t>$45,840</a:t>
                      </a:r>
                    </a:p>
                  </a:txBody>
                  <a:tcPr>
                    <a:solidFill>
                      <a:srgbClr val="FFFFFF"/>
                    </a:solidFill>
                  </a:tcPr>
                </a:tc>
              </a:tr>
              <a:tr h="329184">
                <a:tc>
                  <a:txBody>
                    <a:bodyPr/>
                    <a:lstStyle/>
                    <a:p>
                      <a:pPr>
                        <a:defRPr>
                          <a:latin typeface="Roboto"/>
                        </a:defRPr>
                      </a:pPr>
                      <a:r>
                        <a:rPr sz="1050">
                          <a:solidFill>
                            <a:srgbClr val="25342A"/>
                          </a:solidFill>
                          <a:latin typeface="Roboto"/>
                        </a:rPr>
                        <a:t>Consultant time not charged to client work</a:t>
                      </a:r>
                    </a:p>
                  </a:txBody>
                  <a:tcPr>
                    <a:solidFill>
                      <a:srgbClr val="F7FAF7"/>
                    </a:solidFill>
                  </a:tcPr>
                </a:tc>
                <a:tc>
                  <a:txBody>
                    <a:bodyPr/>
                    <a:lstStyle/>
                    <a:p>
                      <a:pPr algn="r">
                        <a:defRPr>
                          <a:latin typeface="Roboto"/>
                        </a:defRPr>
                      </a:pPr>
                      <a:r>
                        <a:rPr sz="1050">
                          <a:solidFill>
                            <a:srgbClr val="25342A"/>
                          </a:solidFill>
                          <a:latin typeface="Roboto"/>
                        </a:rPr>
                        <a:t>$660</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$67,750</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$52,140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25342A"/>
                          </a:solidFill>
                          <a:latin typeface="Roboto"/>
                        </a:rPr>
                        <a:t>$15,610</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$131,850</a:t>
                      </a:r>
                    </a:p>
                  </a:txBody>
                  <a:tcPr>
                    <a:solidFill>
                      <a:srgbClr val="F7FAF7"/>
                    </a:solidFill>
                  </a:tcPr>
                </a:tc>
              </a:tr>
              <a:tr h="329184">
                <a:tc>
                  <a:txBody>
                    <a:bodyPr/>
                    <a:lstStyle/>
                    <a:p>
                      <a:pPr>
                        <a:defRPr>
                          <a:latin typeface="Roboto"/>
                        </a:defRPr>
                      </a:pPr>
                      <a:r>
                        <a:rPr sz="1050">
                          <a:solidFill>
                            <a:srgbClr val="25342A"/>
                          </a:solidFill>
                          <a:latin typeface="Roboto"/>
                        </a:rPr>
                        <a:t>Gross margin on client work, %</a:t>
                      </a:r>
                    </a:p>
                  </a:txBody>
                  <a:tcPr>
                    <a:solidFill>
                      <a:srgbClr val="FFFFFF"/>
                    </a:solidFill>
                  </a:tcPr>
                </a:tc>
                <a:tc>
                  <a:txBody>
                    <a:bodyPr/>
                    <a:lstStyle/>
                    <a:p>
                      <a:pPr algn="r">
                        <a:defRPr>
                          <a:latin typeface="Roboto"/>
                        </a:defRPr>
                      </a:pPr>
                      <a:r>
                        <a:rPr sz="1050">
                          <a:solidFill>
                            <a:srgbClr val="25342A"/>
                          </a:solidFill>
                          <a:latin typeface="Roboto"/>
                        </a:rPr>
                        <a:t>51.9%</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25342A"/>
                          </a:solidFill>
                          <a:latin typeface="Roboto"/>
                        </a:rPr>
                        <a:t>11.8%</a:t>
                      </a:r>
                    </a:p>
                  </a:txBody>
                  <a:tcPr>
                    <a:solidFill>
                      <a:srgbClr val="F7FAF7"/>
                    </a:solidFill>
                  </a:tcPr>
                </a:tc>
              </a:tr>
              <a:tr h="329184">
                <a:tc>
                  <a:txBody>
                    <a:bodyPr/>
                    <a:lstStyle/>
                    <a:p>
                      <a:pPr>
                        <a:defRPr>
                          <a:latin typeface="Roboto"/>
                        </a:defRPr>
                      </a:pPr>
                      <a:r>
                        <a:rPr sz="1050">
                          <a:solidFill>
                            <a:srgbClr val="25342A"/>
                          </a:solidFill>
                          <a:latin typeface="Roboto"/>
                        </a:rPr>
                        <a:t>Gross margin client work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40.0%</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16 of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September against September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121.5%</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$131,850 against $59,535</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77.1%</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$367,245 against $207,330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57.0%</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$209,505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17 of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Revenue is 77.1% up on the same period last year, year to date ($367,245 against $207,330). Retainers make the highest gross margin (59.8%); Projects the lowest (55.8%). The business needs 40.0%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59.8% gross margin, the most profitable work you do. Projects: 55.8% gross margin, the thinnest, still above the 40.0% overheads need.</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18 of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Projects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September against September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126.0%</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$85,950 against $38,035</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70.3%</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$241,145 against $141,630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55.8%</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$134,585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19 of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Projects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brought in $241,145 this financial year to date, 70.3% on the same period last year (slower than the business as a whole, 77.1%), at a 55.8% gross margin (below the 57.0%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Projects: 55.8% gross margin, 15.8 points clear of the 40.0% overheads need.</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20 of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Retainers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September against September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99.4%</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$32,500 against $16,300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99.4%</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$97,500 against $48,900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59.8%</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$58,320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21 of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Retainers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brought in $97,500 this financial year to date, 99.4% on the same period last year (faster than the business as a whole, 77.1%), at a 59.8% gross margin (above the 57.0%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Retainers: 59.8% gross margin, 19.8 points clear of the 40.0% overheads need.</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22 of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Services · Type of work: Training</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September against September last year</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157.7%</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$13,400 against $5,200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Year to date against the same period last year</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70.2%</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$28,600 against $16,800</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58.0%</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$16,600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23 of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Services · Type of work: Training</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brought in $28,600 this financial year to date, 70.2% on the same period last year (slower than the business as a whole, 77.1%), at a 58.0% gross margin (above the 57.0%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Training: 58.0% gross margin, 18.0 points clear of the 40.0% overheads need.</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24 of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type of work, by month · Revenue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Gross margin = revenue less direct cost (materials, subcontractors and time at cost for trades; contractors and consultant time for services), before overheads. 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25 of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Revenue, gross margin and growth by type of work, by month · Gross margin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Gross margin = revenue less direct cost (materials, subcontractors and time at cost for trades; contractors and consultant time for services), before overheads. 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26 of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By type of work: financial year to date (Jul to Sep 2026) against the same period last year · Services · Every type of work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Year to date</a:t>
                      </a:r>
                    </a:p>
                  </a:txBody>
                  <a:tcPr>
                    <a:solidFill>
                      <a:srgbClr val="2F7A5D"/>
                    </a:solidFill>
                  </a:tcPr>
                </a:tc>
                <a:tc>
                  <a:txBody>
                    <a:bodyPr/>
                    <a:lstStyle/>
                    <a:p>
                      <a:pPr algn="r">
                        <a:defRPr>
                          <a:latin typeface="Roboto"/>
                        </a:defRPr>
                      </a:pPr>
                      <a:r>
                        <a:rPr sz="1100" b="1">
                          <a:solidFill>
                            <a:srgbClr val="FFFFFF"/>
                          </a:solidFill>
                          <a:latin typeface="Roboto"/>
                        </a:rPr>
                        <a:t>Same period last year</a:t>
                      </a:r>
                    </a:p>
                  </a:txBody>
                  <a:tcPr>
                    <a:solidFill>
                      <a:srgbClr val="2F7A5D"/>
                    </a:solidFill>
                  </a:tcPr>
                </a:tc>
                <a:tc>
                  <a:txBody>
                    <a:bodyPr/>
                    <a:lstStyle/>
                    <a:p>
                      <a:pPr algn="r">
                        <a:defRPr>
                          <a:latin typeface="Roboto"/>
                        </a:defRPr>
                      </a:pPr>
                      <a:r>
                        <a:rPr sz="1100" b="1">
                          <a:solidFill>
                            <a:srgbClr val="FFFFFF"/>
                          </a:solidFill>
                          <a:latin typeface="Roboto"/>
                        </a:rPr>
                        <a:t>Growth</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c>
                  <a:txBody>
                    <a:bodyPr/>
                    <a:lstStyle/>
                    <a:p>
                      <a:pPr algn="r">
                        <a:defRPr>
                          <a:latin typeface="Roboto"/>
                        </a:defRPr>
                      </a:pPr>
                      <a:r>
                        <a:rPr sz="1100" b="1">
                          <a:solidFill>
                            <a:srgbClr val="FFFFFF"/>
                          </a:solidFill>
                          <a:latin typeface="Roboto"/>
                        </a:rPr>
                        <a:t>Gross margin %</a:t>
                      </a:r>
                    </a:p>
                  </a:txBody>
                  <a:tcPr>
                    <a:solidFill>
                      <a:srgbClr val="2F7A5D"/>
                    </a:solidFill>
                  </a:tcPr>
                </a:tc>
              </a:tr>
              <a:tr h="329184">
                <a:tc>
                  <a:txBody>
                    <a:bodyPr/>
                    <a:lstStyle/>
                    <a:p>
                      <a:pPr>
                        <a:defRPr>
                          <a:latin typeface="Roboto"/>
                        </a:defRPr>
                      </a:pPr>
                      <a:r>
                        <a:rPr sz="1050">
                          <a:solidFill>
                            <a:srgbClr val="25342A"/>
                          </a:solidFill>
                          <a:latin typeface="Roboto"/>
                        </a:rPr>
                        <a:t>Projects</a:t>
                      </a:r>
                    </a:p>
                  </a:txBody>
                  <a:tcPr>
                    <a:solidFill>
                      <a:srgbClr val="FFFFFF"/>
                    </a:solidFill>
                  </a:tcPr>
                </a:tc>
                <a:tc>
                  <a:txBody>
                    <a:bodyPr/>
                    <a:lstStyle/>
                    <a:p>
                      <a:pPr algn="r">
                        <a:defRPr>
                          <a:latin typeface="Roboto"/>
                        </a:defRPr>
                      </a:pPr>
                      <a:r>
                        <a:rPr sz="1050">
                          <a:solidFill>
                            <a:srgbClr val="25342A"/>
                          </a:solidFill>
                          <a:latin typeface="Roboto"/>
                        </a:rPr>
                        <a:t>$241,145</a:t>
                      </a:r>
                    </a:p>
                  </a:txBody>
                  <a:tcPr>
                    <a:solidFill>
                      <a:srgbClr val="FFFFFF"/>
                    </a:solidFill>
                  </a:tcPr>
                </a:tc>
                <a:tc>
                  <a:txBody>
                    <a:bodyPr/>
                    <a:lstStyle/>
                    <a:p>
                      <a:pPr algn="r">
                        <a:defRPr>
                          <a:latin typeface="Roboto"/>
                        </a:defRPr>
                      </a:pPr>
                      <a:r>
                        <a:rPr sz="1050">
                          <a:solidFill>
                            <a:srgbClr val="25342A"/>
                          </a:solidFill>
                          <a:latin typeface="Roboto"/>
                        </a:rPr>
                        <a:t>$141,630</a:t>
                      </a:r>
                    </a:p>
                  </a:txBody>
                  <a:tcPr>
                    <a:solidFill>
                      <a:srgbClr val="FFFFFF"/>
                    </a:solidFill>
                  </a:tcPr>
                </a:tc>
                <a:tc>
                  <a:txBody>
                    <a:bodyPr/>
                    <a:lstStyle/>
                    <a:p>
                      <a:pPr algn="r">
                        <a:defRPr>
                          <a:latin typeface="Roboto"/>
                        </a:defRPr>
                      </a:pPr>
                      <a:r>
                        <a:rPr sz="1050">
                          <a:solidFill>
                            <a:srgbClr val="25342A"/>
                          </a:solidFill>
                          <a:latin typeface="Roboto"/>
                        </a:rPr>
                        <a:t>70.3%</a:t>
                      </a:r>
                    </a:p>
                  </a:txBody>
                  <a:tcPr>
                    <a:solidFill>
                      <a:srgbClr val="FFFFFF"/>
                    </a:solidFill>
                  </a:tcPr>
                </a:tc>
                <a:tc>
                  <a:txBody>
                    <a:bodyPr/>
                    <a:lstStyle/>
                    <a:p>
                      <a:pPr algn="r">
                        <a:defRPr>
                          <a:latin typeface="Roboto"/>
                        </a:defRPr>
                      </a:pPr>
                      <a:r>
                        <a:rPr sz="1050">
                          <a:solidFill>
                            <a:srgbClr val="25342A"/>
                          </a:solidFill>
                          <a:latin typeface="Roboto"/>
                        </a:rPr>
                        <a:t>$134,585</a:t>
                      </a:r>
                    </a:p>
                  </a:txBody>
                  <a:tcPr>
                    <a:solidFill>
                      <a:srgbClr val="FFFFFF"/>
                    </a:solidFill>
                  </a:tcPr>
                </a:tc>
                <a:tc>
                  <a:txBody>
                    <a:bodyPr/>
                    <a:lstStyle/>
                    <a:p>
                      <a:pPr algn="r">
                        <a:defRPr>
                          <a:latin typeface="Roboto"/>
                        </a:defRPr>
                      </a:pPr>
                      <a:r>
                        <a:rPr sz="1050">
                          <a:solidFill>
                            <a:srgbClr val="25342A"/>
                          </a:solidFill>
                          <a:latin typeface="Roboto"/>
                        </a:rPr>
                        <a:t>55.8%</a:t>
                      </a:r>
                    </a:p>
                  </a:txBody>
                  <a:tcPr>
                    <a:solidFill>
                      <a:srgbClr val="FFFFFF"/>
                    </a:solidFill>
                  </a:tcPr>
                </a:tc>
              </a:tr>
              <a:tr h="329184">
                <a:tc>
                  <a:txBody>
                    <a:bodyPr/>
                    <a:lstStyle/>
                    <a:p>
                      <a:pPr>
                        <a:defRPr>
                          <a:latin typeface="Roboto"/>
                        </a:defRPr>
                      </a:pPr>
                      <a:r>
                        <a:rPr sz="1050">
                          <a:solidFill>
                            <a:srgbClr val="25342A"/>
                          </a:solidFill>
                          <a:latin typeface="Roboto"/>
                        </a:rPr>
                        <a:t>Retainers</a:t>
                      </a:r>
                    </a:p>
                  </a:txBody>
                  <a:tcPr>
                    <a:solidFill>
                      <a:srgbClr val="F7FAF7"/>
                    </a:solidFill>
                  </a:tcPr>
                </a:tc>
                <a:tc>
                  <a:txBody>
                    <a:bodyPr/>
                    <a:lstStyle/>
                    <a:p>
                      <a:pPr algn="r">
                        <a:defRPr>
                          <a:latin typeface="Roboto"/>
                        </a:defRPr>
                      </a:pPr>
                      <a:r>
                        <a:rPr sz="1050">
                          <a:solidFill>
                            <a:srgbClr val="25342A"/>
                          </a:solidFill>
                          <a:latin typeface="Roboto"/>
                        </a:rPr>
                        <a:t>$97,500</a:t>
                      </a:r>
                    </a:p>
                  </a:txBody>
                  <a:tcPr>
                    <a:solidFill>
                      <a:srgbClr val="F7FAF7"/>
                    </a:solidFill>
                  </a:tcPr>
                </a:tc>
                <a:tc>
                  <a:txBody>
                    <a:bodyPr/>
                    <a:lstStyle/>
                    <a:p>
                      <a:pPr algn="r">
                        <a:defRPr>
                          <a:latin typeface="Roboto"/>
                        </a:defRPr>
                      </a:pPr>
                      <a:r>
                        <a:rPr sz="1050">
                          <a:solidFill>
                            <a:srgbClr val="25342A"/>
                          </a:solidFill>
                          <a:latin typeface="Roboto"/>
                        </a:rPr>
                        <a:t>$48,900</a:t>
                      </a:r>
                    </a:p>
                  </a:txBody>
                  <a:tcPr>
                    <a:solidFill>
                      <a:srgbClr val="F7FAF7"/>
                    </a:solidFill>
                  </a:tcPr>
                </a:tc>
                <a:tc>
                  <a:txBody>
                    <a:bodyPr/>
                    <a:lstStyle/>
                    <a:p>
                      <a:pPr algn="r">
                        <a:defRPr>
                          <a:latin typeface="Roboto"/>
                        </a:defRPr>
                      </a:pPr>
                      <a:r>
                        <a:rPr sz="1050">
                          <a:solidFill>
                            <a:srgbClr val="25342A"/>
                          </a:solidFill>
                          <a:latin typeface="Roboto"/>
                        </a:rPr>
                        <a:t>99.4%</a:t>
                      </a:r>
                    </a:p>
                  </a:txBody>
                  <a:tcPr>
                    <a:solidFill>
                      <a:srgbClr val="F7FAF7"/>
                    </a:solidFill>
                  </a:tcPr>
                </a:tc>
                <a:tc>
                  <a:txBody>
                    <a:bodyPr/>
                    <a:lstStyle/>
                    <a:p>
                      <a:pPr algn="r">
                        <a:defRPr>
                          <a:latin typeface="Roboto"/>
                        </a:defRPr>
                      </a:pPr>
                      <a:r>
                        <a:rPr sz="1050">
                          <a:solidFill>
                            <a:srgbClr val="25342A"/>
                          </a:solidFill>
                          <a:latin typeface="Roboto"/>
                        </a:rPr>
                        <a:t>$58,320</a:t>
                      </a:r>
                    </a:p>
                  </a:txBody>
                  <a:tcPr>
                    <a:solidFill>
                      <a:srgbClr val="F7FAF7"/>
                    </a:solidFill>
                  </a:tcPr>
                </a:tc>
                <a:tc>
                  <a:txBody>
                    <a:bodyPr/>
                    <a:lstStyle/>
                    <a:p>
                      <a:pPr algn="r">
                        <a:defRPr>
                          <a:latin typeface="Roboto"/>
                        </a:defRPr>
                      </a:pPr>
                      <a:r>
                        <a:rPr sz="1050">
                          <a:solidFill>
                            <a:srgbClr val="25342A"/>
                          </a:solidFill>
                          <a:latin typeface="Roboto"/>
                        </a:rPr>
                        <a:t>59.8%</a:t>
                      </a:r>
                    </a:p>
                  </a:txBody>
                  <a:tcPr>
                    <a:solidFill>
                      <a:srgbClr val="F7FAF7"/>
                    </a:solidFill>
                  </a:tcPr>
                </a:tc>
              </a:tr>
              <a:tr h="329184">
                <a:tc>
                  <a:txBody>
                    <a:bodyPr/>
                    <a:lstStyle/>
                    <a:p>
                      <a:pPr>
                        <a:defRPr>
                          <a:latin typeface="Roboto"/>
                        </a:defRPr>
                      </a:pPr>
                      <a:r>
                        <a:rPr sz="1050">
                          <a:solidFill>
                            <a:srgbClr val="25342A"/>
                          </a:solidFill>
                          <a:latin typeface="Roboto"/>
                        </a:rPr>
                        <a:t>Training</a:t>
                      </a:r>
                    </a:p>
                  </a:txBody>
                  <a:tcPr>
                    <a:solidFill>
                      <a:srgbClr val="FFFFFF"/>
                    </a:solidFill>
                  </a:tcPr>
                </a:tc>
                <a:tc>
                  <a:txBody>
                    <a:bodyPr/>
                    <a:lstStyle/>
                    <a:p>
                      <a:pPr algn="r">
                        <a:defRPr>
                          <a:latin typeface="Roboto"/>
                        </a:defRPr>
                      </a:pPr>
                      <a:r>
                        <a:rPr sz="1050">
                          <a:solidFill>
                            <a:srgbClr val="25342A"/>
                          </a:solidFill>
                          <a:latin typeface="Roboto"/>
                        </a:rPr>
                        <a:t>$28,600</a:t>
                      </a:r>
                    </a:p>
                  </a:txBody>
                  <a:tcPr>
                    <a:solidFill>
                      <a:srgbClr val="FFFFFF"/>
                    </a:solidFill>
                  </a:tcPr>
                </a:tc>
                <a:tc>
                  <a:txBody>
                    <a:bodyPr/>
                    <a:lstStyle/>
                    <a:p>
                      <a:pPr algn="r">
                        <a:defRPr>
                          <a:latin typeface="Roboto"/>
                        </a:defRPr>
                      </a:pPr>
                      <a:r>
                        <a:rPr sz="1050">
                          <a:solidFill>
                            <a:srgbClr val="25342A"/>
                          </a:solidFill>
                          <a:latin typeface="Roboto"/>
                        </a:rPr>
                        <a:t>$16,800</a:t>
                      </a:r>
                    </a:p>
                  </a:txBody>
                  <a:tcPr>
                    <a:solidFill>
                      <a:srgbClr val="FFFFFF"/>
                    </a:solidFill>
                  </a:tcPr>
                </a:tc>
                <a:tc>
                  <a:txBody>
                    <a:bodyPr/>
                    <a:lstStyle/>
                    <a:p>
                      <a:pPr algn="r">
                        <a:defRPr>
                          <a:latin typeface="Roboto"/>
                        </a:defRPr>
                      </a:pPr>
                      <a:r>
                        <a:rPr sz="1050">
                          <a:solidFill>
                            <a:srgbClr val="25342A"/>
                          </a:solidFill>
                          <a:latin typeface="Roboto"/>
                        </a:rPr>
                        <a:t>70.2%</a:t>
                      </a:r>
                    </a:p>
                  </a:txBody>
                  <a:tcPr>
                    <a:solidFill>
                      <a:srgbClr val="FFFFFF"/>
                    </a:solidFill>
                  </a:tcPr>
                </a:tc>
                <a:tc>
                  <a:txBody>
                    <a:bodyPr/>
                    <a:lstStyle/>
                    <a:p>
                      <a:pPr algn="r">
                        <a:defRPr>
                          <a:latin typeface="Roboto"/>
                        </a:defRPr>
                      </a:pPr>
                      <a:r>
                        <a:rPr sz="1050">
                          <a:solidFill>
                            <a:srgbClr val="25342A"/>
                          </a:solidFill>
                          <a:latin typeface="Roboto"/>
                        </a:rPr>
                        <a:t>$16,600</a:t>
                      </a:r>
                    </a:p>
                  </a:txBody>
                  <a:tcPr>
                    <a:solidFill>
                      <a:srgbClr val="FFFFFF"/>
                    </a:solidFill>
                  </a:tcPr>
                </a:tc>
                <a:tc>
                  <a:txBody>
                    <a:bodyPr/>
                    <a:lstStyle/>
                    <a:p>
                      <a:pPr algn="r">
                        <a:defRPr>
                          <a:latin typeface="Roboto"/>
                        </a:defRPr>
                      </a:pPr>
                      <a:r>
                        <a:rPr sz="1050">
                          <a:solidFill>
                            <a:srgbClr val="25342A"/>
                          </a:solidFill>
                          <a:latin typeface="Roboto"/>
                        </a:rPr>
                        <a:t>58.0%</a:t>
                      </a:r>
                    </a:p>
                  </a:txBody>
                  <a:tcPr>
                    <a:solidFill>
                      <a:srgbClr val="FFFFFF"/>
                    </a:solidFill>
                  </a:tcPr>
                </a:tc>
              </a:tr>
              <a:tr h="329184">
                <a:tc>
                  <a:txBody>
                    <a:bodyPr/>
                    <a:lstStyle/>
                    <a:p>
                      <a:pPr>
                        <a:defRPr>
                          <a:latin typeface="Roboto"/>
                        </a:defRPr>
                      </a:pPr>
                      <a:r>
                        <a:rPr sz="1050" b="1">
                          <a:solidFill>
                            <a:srgbClr val="25342A"/>
                          </a:solidFill>
                          <a:latin typeface="Roboto"/>
                        </a:rPr>
                        <a:t>Total</a:t>
                      </a:r>
                    </a:p>
                  </a:txBody>
                  <a:tcPr>
                    <a:solidFill>
                      <a:srgbClr val="F7FAF7"/>
                    </a:solidFill>
                  </a:tcPr>
                </a:tc>
                <a:tc>
                  <a:txBody>
                    <a:bodyPr/>
                    <a:lstStyle/>
                    <a:p>
                      <a:pPr algn="r">
                        <a:defRPr>
                          <a:latin typeface="Roboto"/>
                        </a:defRPr>
                      </a:pPr>
                      <a:r>
                        <a:rPr sz="1050" b="1">
                          <a:solidFill>
                            <a:srgbClr val="25342A"/>
                          </a:solidFill>
                          <a:latin typeface="Roboto"/>
                        </a:rPr>
                        <a:t>$367,245</a:t>
                      </a:r>
                    </a:p>
                  </a:txBody>
                  <a:tcPr>
                    <a:solidFill>
                      <a:srgbClr val="F7FAF7"/>
                    </a:solidFill>
                  </a:tcPr>
                </a:tc>
                <a:tc>
                  <a:txBody>
                    <a:bodyPr/>
                    <a:lstStyle/>
                    <a:p>
                      <a:pPr algn="r">
                        <a:defRPr>
                          <a:latin typeface="Roboto"/>
                        </a:defRPr>
                      </a:pPr>
                      <a:r>
                        <a:rPr sz="1050" b="1">
                          <a:solidFill>
                            <a:srgbClr val="25342A"/>
                          </a:solidFill>
                          <a:latin typeface="Roboto"/>
                        </a:rPr>
                        <a:t>$207,330</a:t>
                      </a:r>
                    </a:p>
                  </a:txBody>
                  <a:tcPr>
                    <a:solidFill>
                      <a:srgbClr val="F7FAF7"/>
                    </a:solidFill>
                  </a:tcPr>
                </a:tc>
                <a:tc>
                  <a:txBody>
                    <a:bodyPr/>
                    <a:lstStyle/>
                    <a:p>
                      <a:pPr algn="r">
                        <a:defRPr>
                          <a:latin typeface="Roboto"/>
                        </a:defRPr>
                      </a:pPr>
                      <a:r>
                        <a:rPr sz="1050" b="1">
                          <a:solidFill>
                            <a:srgbClr val="25342A"/>
                          </a:solidFill>
                          <a:latin typeface="Roboto"/>
                        </a:rPr>
                        <a:t>77.1%</a:t>
                      </a:r>
                    </a:p>
                  </a:txBody>
                  <a:tcPr>
                    <a:solidFill>
                      <a:srgbClr val="F7FAF7"/>
                    </a:solidFill>
                  </a:tcPr>
                </a:tc>
                <a:tc>
                  <a:txBody>
                    <a:bodyPr/>
                    <a:lstStyle/>
                    <a:p>
                      <a:pPr algn="r">
                        <a:defRPr>
                          <a:latin typeface="Roboto"/>
                        </a:defRPr>
                      </a:pPr>
                      <a:r>
                        <a:rPr sz="1050" b="1">
                          <a:solidFill>
                            <a:srgbClr val="25342A"/>
                          </a:solidFill>
                          <a:latin typeface="Roboto"/>
                        </a:rPr>
                        <a:t>$209,505</a:t>
                      </a:r>
                    </a:p>
                  </a:txBody>
                  <a:tcPr>
                    <a:solidFill>
                      <a:srgbClr val="F7FAF7"/>
                    </a:solidFill>
                  </a:tcPr>
                </a:tc>
                <a:tc>
                  <a:txBody>
                    <a:bodyPr/>
                    <a:lstStyle/>
                    <a:p>
                      <a:pPr algn="r">
                        <a:defRPr>
                          <a:latin typeface="Roboto"/>
                        </a:defRPr>
                      </a:pPr>
                      <a:r>
                        <a:rPr sz="1050" b="1">
                          <a:solidFill>
                            <a:srgbClr val="25342A"/>
                          </a:solidFill>
                          <a:latin typeface="Roboto"/>
                        </a:rPr>
                        <a:t>57.0%</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27 of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