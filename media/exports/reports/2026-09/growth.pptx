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strCache>
            </c:strRef>
          </c:cat>
          <c:val>
            <c:numRef>
              <c:f>Sheet1!$B$2:$B$25</c:f>
              <c:numCache>
                <c:formatCode>$#,##0;[Red]($#,##0);"-"</c:formatCode>
                <c:ptCount val="24"/>
                <c:pt idx="0">
                  <c:v>171009</c:v>
                </c:pt>
                <c:pt idx="1">
                  <c:v>179474</c:v>
                </c:pt>
                <c:pt idx="2">
                  <c:v>143156</c:v>
                </c:pt>
                <c:pt idx="3">
                  <c:v>140909</c:v>
                </c:pt>
                <c:pt idx="4">
                  <c:v>160943</c:v>
                </c:pt>
                <c:pt idx="5">
                  <c:v>135082</c:v>
                </c:pt>
                <c:pt idx="6">
                  <c:v>124705</c:v>
                </c:pt>
                <c:pt idx="7">
                  <c:v>129816</c:v>
                </c:pt>
                <c:pt idx="8">
                  <c:v>164113</c:v>
                </c:pt>
                <c:pt idx="9">
                  <c:v>186760</c:v>
                </c:pt>
                <c:pt idx="10">
                  <c:v>139164</c:v>
                </c:pt>
                <c:pt idx="11">
                  <c:v>128255</c:v>
                </c:pt>
                <c:pt idx="12">
                  <c:v>128898</c:v>
                </c:pt>
                <c:pt idx="13">
                  <c:v>174786</c:v>
                </c:pt>
                <c:pt idx="14">
                  <c:v>135079</c:v>
                </c:pt>
                <c:pt idx="15">
                  <c:v>164780</c:v>
                </c:pt>
                <c:pt idx="16">
                  <c:v>196372</c:v>
                </c:pt>
                <c:pt idx="17">
                  <c:v>191500</c:v>
                </c:pt>
                <c:pt idx="18">
                  <c:v>164987</c:v>
                </c:pt>
                <c:pt idx="19">
                  <c:v>161963</c:v>
                </c:pt>
                <c:pt idx="20">
                  <c:v>173163</c:v>
                </c:pt>
                <c:pt idx="21">
                  <c:v>193245</c:v>
                </c:pt>
                <c:pt idx="22">
                  <c:v>179007</c:v>
                </c:pt>
                <c:pt idx="23">
                  <c:v>202337</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strCache>
            </c:strRef>
          </c:cat>
          <c:val>
            <c:numRef>
              <c:f>Sheet1!$B$2:$B$25</c:f>
              <c:numCache>
                <c:formatCode>0.0"%";[Red](0.0"%")</c:formatCode>
                <c:ptCount val="24"/>
                <c:pt idx="0">
                  <c:v>33.1</c:v>
                </c:pt>
                <c:pt idx="1">
                  <c:v>37.0</c:v>
                </c:pt>
                <c:pt idx="2">
                  <c:v>40.4</c:v>
                </c:pt>
                <c:pt idx="3">
                  <c:v>42.7</c:v>
                </c:pt>
                <c:pt idx="4">
                  <c:v>36.4</c:v>
                </c:pt>
                <c:pt idx="5">
                  <c:v>36.5</c:v>
                </c:pt>
                <c:pt idx="6">
                  <c:v>38.4</c:v>
                </c:pt>
                <c:pt idx="7">
                  <c:v>35.5</c:v>
                </c:pt>
                <c:pt idx="8">
                  <c:v>40.5</c:v>
                </c:pt>
                <c:pt idx="9">
                  <c:v>35.6</c:v>
                </c:pt>
                <c:pt idx="10">
                  <c:v>43.8</c:v>
                </c:pt>
                <c:pt idx="11">
                  <c:v>37.6</c:v>
                </c:pt>
                <c:pt idx="12">
                  <c:v>38.4</c:v>
                </c:pt>
                <c:pt idx="13">
                  <c:v>33.7</c:v>
                </c:pt>
                <c:pt idx="14">
                  <c:v>37.4</c:v>
                </c:pt>
                <c:pt idx="15">
                  <c:v>35.3</c:v>
                </c:pt>
                <c:pt idx="16">
                  <c:v>38.6</c:v>
                </c:pt>
                <c:pt idx="17">
                  <c:v>35.6</c:v>
                </c:pt>
                <c:pt idx="18">
                  <c:v>41.7</c:v>
                </c:pt>
                <c:pt idx="19">
                  <c:v>39.0</c:v>
                </c:pt>
                <c:pt idx="20">
                  <c:v>38.5</c:v>
                </c:pt>
                <c:pt idx="21">
                  <c:v>36.8</c:v>
                </c:pt>
                <c:pt idx="22">
                  <c:v>41.1</c:v>
                </c:pt>
                <c:pt idx="23">
                  <c:v>36.1</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strCache>
            </c:strRef>
          </c:cat>
          <c:val>
            <c:numRef>
              <c:f>Sheet1!$B$2:$B$25</c:f>
              <c:numCache>
                <c:formatCode>$#,##0;[Red]($#,##0);"-"</c:formatCode>
                <c:ptCount val="24"/>
                <c:pt idx="0">
                  <c:v>94520</c:v>
                </c:pt>
                <c:pt idx="1">
                  <c:v>108140</c:v>
                </c:pt>
                <c:pt idx="2">
                  <c:v>114895</c:v>
                </c:pt>
                <c:pt idx="3">
                  <c:v>88250</c:v>
                </c:pt>
                <c:pt idx="4">
                  <c:v>111010</c:v>
                </c:pt>
                <c:pt idx="5">
                  <c:v>77175</c:v>
                </c:pt>
                <c:pt idx="6">
                  <c:v>63970</c:v>
                </c:pt>
                <c:pt idx="7">
                  <c:v>95555</c:v>
                </c:pt>
                <c:pt idx="8">
                  <c:v>90220</c:v>
                </c:pt>
                <c:pt idx="9">
                  <c:v>86320</c:v>
                </c:pt>
                <c:pt idx="10">
                  <c:v>61475</c:v>
                </c:pt>
                <c:pt idx="11">
                  <c:v>59535</c:v>
                </c:pt>
                <c:pt idx="12">
                  <c:v>71260</c:v>
                </c:pt>
                <c:pt idx="13">
                  <c:v>83940</c:v>
                </c:pt>
                <c:pt idx="14">
                  <c:v>69420</c:v>
                </c:pt>
                <c:pt idx="15">
                  <c:v>92370</c:v>
                </c:pt>
                <c:pt idx="16">
                  <c:v>100055</c:v>
                </c:pt>
                <c:pt idx="17">
                  <c:v>109865</c:v>
                </c:pt>
                <c:pt idx="18">
                  <c:v>80590</c:v>
                </c:pt>
                <c:pt idx="19">
                  <c:v>77090</c:v>
                </c:pt>
                <c:pt idx="20">
                  <c:v>115550</c:v>
                </c:pt>
                <c:pt idx="21">
                  <c:v>120755</c:v>
                </c:pt>
                <c:pt idx="22">
                  <c:v>114640</c:v>
                </c:pt>
                <c:pt idx="23">
                  <c:v>131850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Red]($#,##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Value</c:v>
                </c:pt>
              </c:strCache>
            </c:strRef>
          </c:tx>
          <c:spPr>
            <a:solidFill>
              <a:srgbClr val="0E9F6E">
                <a:alpha val="25000"/>
              </a:srgbClr>
            </a:solidFill>
            <a:ln w="31750">
              <a:solidFill>
                <a:srgbClr val="0E9F6E"/>
              </a:solidFill>
            </a:ln>
          </c:spPr>
          <c:cat>
            <c:strRef>
              <c:f>Sheet1!$A$2:$A$25</c:f>
              <c:strCache>
                <c:ptCount val="24"/>
                <c:pt idx="0">
                  <c:v>Oct 24</c:v>
                </c:pt>
                <c:pt idx="1">
                  <c:v>Nov 24</c:v>
                </c:pt>
                <c:pt idx="2">
                  <c:v>Dec 24</c:v>
                </c:pt>
                <c:pt idx="3">
                  <c:v>Jan 25</c:v>
                </c:pt>
                <c:pt idx="4">
                  <c:v>Feb 25</c:v>
                </c:pt>
                <c:pt idx="5">
                  <c:v>Mar 25</c:v>
                </c:pt>
                <c:pt idx="6">
                  <c:v>Apr 25</c:v>
                </c:pt>
                <c:pt idx="7">
                  <c:v>May 25</c:v>
                </c:pt>
                <c:pt idx="8">
                  <c:v>Jun 25</c:v>
                </c:pt>
                <c:pt idx="9">
                  <c:v>Jul 25</c:v>
                </c:pt>
                <c:pt idx="10">
                  <c:v>Aug 25</c:v>
                </c:pt>
                <c:pt idx="11">
                  <c:v>Sep 25</c:v>
                </c:pt>
                <c:pt idx="12">
                  <c:v>Oct 25</c:v>
                </c:pt>
                <c:pt idx="13">
                  <c:v>Nov 25</c:v>
                </c:pt>
                <c:pt idx="14">
                  <c:v>Dec 25</c:v>
                </c:pt>
                <c:pt idx="15">
                  <c:v>Jan 26</c:v>
                </c:pt>
                <c:pt idx="16">
                  <c:v>Feb 26</c:v>
                </c:pt>
                <c:pt idx="17">
                  <c:v>Mar 26</c:v>
                </c:pt>
                <c:pt idx="18">
                  <c:v>Apr 26</c:v>
                </c:pt>
                <c:pt idx="19">
                  <c:v>May 26</c:v>
                </c:pt>
                <c:pt idx="20">
                  <c:v>Jun 26</c:v>
                </c:pt>
                <c:pt idx="21">
                  <c:v>Jul 26</c:v>
                </c:pt>
                <c:pt idx="22">
                  <c:v>Aug 26</c:v>
                </c:pt>
                <c:pt idx="23">
                  <c:v>Sep 26</c:v>
                </c:pt>
              </c:strCache>
            </c:strRef>
          </c:cat>
          <c:val>
            <c:numRef>
              <c:f>Sheet1!$B$2:$B$25</c:f>
              <c:numCache>
                <c:formatCode>0.0"%";[Red](0.0"%")</c:formatCode>
                <c:ptCount val="24"/>
                <c:pt idx="0">
                  <c:v>62.6</c:v>
                </c:pt>
                <c:pt idx="1">
                  <c:v>63.0</c:v>
                </c:pt>
                <c:pt idx="2">
                  <c:v>62.6</c:v>
                </c:pt>
                <c:pt idx="3">
                  <c:v>62.3</c:v>
                </c:pt>
                <c:pt idx="4">
                  <c:v>61.4</c:v>
                </c:pt>
                <c:pt idx="5">
                  <c:v>58.6</c:v>
                </c:pt>
                <c:pt idx="6">
                  <c:v>60.1</c:v>
                </c:pt>
                <c:pt idx="7">
                  <c:v>62.2</c:v>
                </c:pt>
                <c:pt idx="8">
                  <c:v>60.8</c:v>
                </c:pt>
                <c:pt idx="9">
                  <c:v>62.0</c:v>
                </c:pt>
                <c:pt idx="10">
                  <c:v>65.3</c:v>
                </c:pt>
                <c:pt idx="11">
                  <c:v>65.9</c:v>
                </c:pt>
                <c:pt idx="12">
                  <c:v>64.2</c:v>
                </c:pt>
                <c:pt idx="13">
                  <c:v>62.9</c:v>
                </c:pt>
                <c:pt idx="14">
                  <c:v>64.7</c:v>
                </c:pt>
                <c:pt idx="15">
                  <c:v>64.8</c:v>
                </c:pt>
                <c:pt idx="16">
                  <c:v>63.4</c:v>
                </c:pt>
                <c:pt idx="17">
                  <c:v>62.9</c:v>
                </c:pt>
                <c:pt idx="18">
                  <c:v>65.4</c:v>
                </c:pt>
                <c:pt idx="19">
                  <c:v>64.1</c:v>
                </c:pt>
                <c:pt idx="20">
                  <c:v>60.1</c:v>
                </c:pt>
                <c:pt idx="21">
                  <c:v>60.5</c:v>
                </c:pt>
                <c:pt idx="22">
                  <c:v>60.1</c:v>
                </c:pt>
                <c:pt idx="23">
                  <c:v>59.8</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txPr>
          <a:bodyPr/>
          <a:lstStyle/>
          <a:p>
            <a:pPr>
              <a:defRPr sz="1000"/>
            </a:pPr>
          </a:p>
        </c:txPr>
        <c:crossAx val="-2100718248"/>
        <c:crosses val="autoZero"/>
        <c:auto val="1"/>
        <c:lblAlgn val="ctr"/>
        <c:lblOffset val="100"/>
        <c:noMultiLvlLbl val="0"/>
      </c:catAx>
      <c:valAx>
        <c:axId val="-2100718248"/>
        <c:scaling>
          <c:orientation val="minMax"/>
        </c:scaling>
        <c:delete val="0"/>
        <c:axPos val="l"/>
        <c:majorGridlines>
          <c:spPr>
            <a:ln>
              <a:solidFill>
                <a:srgbClr val="E6EAE7"/>
              </a:solidFill>
            </a:ln>
          </c:spPr>
        </c:majorGridlines>
        <c:numFmt formatCode="0.0&quot;%&quot;;[Red](0.0&quot;%&quot;)" sourceLinked="0"/>
        <c:majorTickMark val="out"/>
        <c:minorTickMark val="none"/>
        <c:tickLblPos val="nextTo"/>
        <c:spPr>
          <a:ln>
            <a:noFill/>
          </a:ln>
        </c:spPr>
        <c:txPr>
          <a:bodyPr/>
          <a:lstStyle/>
          <a:p>
            <a:pPr>
              <a:defRPr sz="1000"/>
            </a:pPr>
          </a:p>
        </c:txPr>
        <c:crossAx val="-2101159928"/>
        <c:crosses val="autoZero"/>
        <c:crossBetween val="midCat"/>
      </c:valAx>
    </c:plotArea>
    <c:plotVisOnly val="1"/>
    <c:dispBlanksAs val="zero"/>
    <c:showDLblsOverMax val="0"/>
  </c:chart>
  <c:txPr>
    <a:bodyPr/>
    <a:lstStyle/>
    <a:p>
      <a:pPr>
        <a:defRPr sz="1800">
          <a:latin typeface="Roboto"/>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548640"/>
            <a:ext cx="640080" cy="640080"/>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defRPr>
                <a:latin typeface="Roboto"/>
              </a:defRPr>
            </a:pPr>
            <a:r>
              <a:rPr sz="1600" b="1">
                <a:solidFill>
                  <a:srgbClr val="FFFFFF"/>
                </a:solidFill>
                <a:latin typeface="Roboto"/>
              </a:rPr>
              <a:t>4th</a:t>
            </a:r>
          </a:p>
        </p:txBody>
      </p:sp>
      <p:sp>
        <p:nvSpPr>
          <p:cNvPr id="3" name="TextBox 2"/>
          <p:cNvSpPr txBox="1"/>
          <p:nvPr/>
        </p:nvSpPr>
        <p:spPr>
          <a:xfrm>
            <a:off x="1234440" y="658368"/>
            <a:ext cx="5486400" cy="457200"/>
          </a:xfrm>
          <a:prstGeom prst="rect">
            <a:avLst/>
          </a:prstGeom>
          <a:noFill/>
        </p:spPr>
        <p:txBody>
          <a:bodyPr wrap="square">
            <a:spAutoFit/>
          </a:bodyPr>
          <a:lstStyle/>
          <a:p>
            <a:pPr>
              <a:defRPr>
                <a:latin typeface="Roboto"/>
              </a:defRPr>
            </a:pPr>
            <a:r>
              <a:rPr sz="1800" b="1">
                <a:solidFill>
                  <a:srgbClr val="25342A"/>
                </a:solidFill>
                <a:latin typeface="Roboto"/>
              </a:rPr>
              <a:t>The Fourth Sheet</a:t>
            </a:r>
          </a:p>
        </p:txBody>
      </p:sp>
      <p:sp>
        <p:nvSpPr>
          <p:cNvPr id="4" name="TextBox 3"/>
          <p:cNvSpPr txBox="1"/>
          <p:nvPr/>
        </p:nvSpPr>
        <p:spPr>
          <a:xfrm>
            <a:off x="457200" y="1554480"/>
            <a:ext cx="10972800" cy="365760"/>
          </a:xfrm>
          <a:prstGeom prst="rect">
            <a:avLst/>
          </a:prstGeom>
          <a:noFill/>
        </p:spPr>
        <p:txBody>
          <a:bodyPr wrap="square">
            <a:spAutoFit/>
          </a:bodyPr>
          <a:lstStyle/>
          <a:p>
            <a:pPr>
              <a:defRPr>
                <a:latin typeface="Roboto"/>
              </a:defRPr>
            </a:pPr>
            <a:r>
              <a:rPr sz="1100" b="1">
                <a:solidFill>
                  <a:srgbClr val="8A7A52"/>
                </a:solidFill>
                <a:latin typeface="Roboto"/>
              </a:rPr>
              <a:t>SAMPLE DATA · invented figures for demonstration</a:t>
            </a:r>
          </a:p>
        </p:txBody>
      </p:sp>
      <p:sp>
        <p:nvSpPr>
          <p:cNvPr id="5" name="TextBox 4"/>
          <p:cNvSpPr txBox="1"/>
          <p:nvPr/>
        </p:nvSpPr>
        <p:spPr>
          <a:xfrm>
            <a:off x="457200" y="2011680"/>
            <a:ext cx="11247120" cy="1097280"/>
          </a:xfrm>
          <a:prstGeom prst="rect">
            <a:avLst/>
          </a:prstGeom>
          <a:noFill/>
        </p:spPr>
        <p:txBody>
          <a:bodyPr wrap="square">
            <a:spAutoFit/>
          </a:bodyPr>
          <a:lstStyle/>
          <a:p>
            <a:pPr>
              <a:defRPr>
                <a:latin typeface="Roboto"/>
              </a:defRPr>
            </a:pPr>
            <a:r>
              <a:rPr sz="3400" b="1">
                <a:solidFill>
                  <a:srgbClr val="25342A"/>
                </a:solidFill>
                <a:latin typeface="Roboto"/>
              </a:rPr>
              <a:t>Which products and services are growing?</a:t>
            </a:r>
          </a:p>
        </p:txBody>
      </p:sp>
      <p:sp>
        <p:nvSpPr>
          <p:cNvPr id="6" name="TextBox 5"/>
          <p:cNvSpPr txBox="1"/>
          <p:nvPr/>
        </p:nvSpPr>
        <p:spPr>
          <a:xfrm>
            <a:off x="457200" y="3154680"/>
            <a:ext cx="11247120" cy="457200"/>
          </a:xfrm>
          <a:prstGeom prst="rect">
            <a:avLst/>
          </a:prstGeom>
          <a:noFill/>
        </p:spPr>
        <p:txBody>
          <a:bodyPr wrap="square">
            <a:spAutoFit/>
          </a:bodyPr>
          <a:lstStyle/>
          <a:p>
            <a:pPr>
              <a:defRPr>
                <a:latin typeface="Roboto"/>
              </a:defRPr>
            </a:pPr>
            <a:r>
              <a:rPr sz="1600" b="0">
                <a:solidFill>
                  <a:srgbClr val="5F6F63"/>
                </a:solidFill>
                <a:latin typeface="Roboto"/>
              </a:rPr>
              <a:t>SME sample businesses</a:t>
            </a:r>
          </a:p>
        </p:txBody>
      </p:sp>
      <p:sp>
        <p:nvSpPr>
          <p:cNvPr id="7" name="TextBox 6"/>
          <p:cNvSpPr txBox="1"/>
          <p:nvPr/>
        </p:nvSpPr>
        <p:spPr>
          <a:xfrm>
            <a:off x="457200" y="3703320"/>
            <a:ext cx="11247120" cy="1097280"/>
          </a:xfrm>
          <a:prstGeom prst="rect">
            <a:avLst/>
          </a:prstGeom>
          <a:noFill/>
        </p:spPr>
        <p:txBody>
          <a:bodyPr wrap="square">
            <a:spAutoFit/>
          </a:bodyPr>
          <a:lstStyle/>
          <a:p>
            <a:pPr>
              <a:defRPr>
                <a:latin typeface="Roboto"/>
              </a:defRPr>
            </a:pPr>
            <a:r>
              <a:rPr sz="1400" b="0">
                <a:solidFill>
                  <a:srgbClr val="25342A"/>
                </a:solidFill>
                <a:latin typeface="Roboto"/>
              </a:rPr>
              <a:t>Period: September 2026. Revenue, gross margin and growth (year on year) by product or service line over 24 months. Pick a line and every number, chart and note follows it.</a:t>
            </a:r>
          </a:p>
        </p:txBody>
      </p:sp>
      <p:sp>
        <p:nvSpPr>
          <p:cNvPr id="8" name="TextBox 7"/>
          <p:cNvSpPr txBox="1"/>
          <p:nvPr/>
        </p:nvSpPr>
        <p:spPr>
          <a:xfrm>
            <a:off x="457200" y="4937760"/>
            <a:ext cx="11247120" cy="1097280"/>
          </a:xfrm>
          <a:prstGeom prst="rect">
            <a:avLst/>
          </a:prstGeom>
          <a:noFill/>
        </p:spPr>
        <p:txBody>
          <a:bodyPr wrap="square">
            <a:spAutoFit/>
          </a:bodyPr>
          <a:lstStyle/>
          <a:p>
            <a:pPr>
              <a:defRPr>
                <a:latin typeface="Roboto"/>
              </a:defRPr>
            </a:pPr>
            <a:r>
              <a:rPr sz="1100" b="0">
                <a:solidFill>
                  <a:srgbClr val="5F6F63"/>
                </a:solidFill>
                <a:latin typeface="Roboto"/>
              </a:rPr>
              <a:t>How final is this data?</a:t>
            </a:r>
          </a:p>
          <a:p>
            <a:pPr>
              <a:defRPr>
                <a:latin typeface="Roboto"/>
              </a:defRPr>
            </a:pPr>
            <a:r>
              <a:rPr sz="1100" b="0">
                <a:solidFill>
                  <a:srgbClr val="5F6F63"/>
                </a:solidFill>
                <a:latin typeface="Roboto"/>
              </a:rPr>
              <a:t>August 2026: Locked. August 2026 is locked (closed 2 Sep 2026). These numbers won't change.</a:t>
            </a:r>
          </a:p>
          <a:p>
            <a:pPr>
              <a:defRPr>
                <a:latin typeface="Roboto"/>
              </a:defRPr>
            </a:pPr>
            <a:r>
              <a:rPr sz="1100" b="0">
                <a:solidFill>
                  <a:srgbClr val="5F6F63"/>
                </a:solidFill>
                <a:latin typeface="Roboto"/>
              </a:rPr>
              <a:t>September 2026: Locked. September 2026 is locked (closed 2 Oct 2026). These numbers won't change.</a:t>
            </a:r>
          </a:p>
          <a:p>
            <a:pPr>
              <a:defRPr>
                <a:latin typeface="Roboto"/>
              </a:defRPr>
            </a:pPr>
            <a:r>
              <a:rPr sz="1100" b="0">
                <a:solidFill>
                  <a:srgbClr val="5F6F63"/>
                </a:solidFill>
                <a:latin typeface="Roboto"/>
              </a:rPr>
              <a:t>October 2026: Incomplete. October 2026 is still in progress: figures to 6 Oct only.</a:t>
            </a:r>
          </a:p>
        </p:txBody>
      </p:sp>
      <p:sp>
        <p:nvSpPr>
          <p:cNvPr id="9" name="TextBox 8"/>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0" name="TextBox 9"/>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1" name="TextBox 10"/>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 of 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Job gross margin = revenue less materials, subcontractors and technician time charged to the job at $68 an hour (wages and all on-costs). Not included: technician time not charged to any job (travel, training, waiting), and overheads (office wages, marketing, vehicles, rent, insurance, IT,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 of 27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Trades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September's jobs made $73,107 gross margin (36.1%). Technician time not charged to jobs took $3,430 and overheads $59,580, leaving $10,097 profit before tax (5.0% of revenue). To cover overheads, jobs need a 31.1%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September 2026</a:t>
                      </a:r>
                    </a:p>
                  </a:txBody>
                  <a:tcPr>
                    <a:solidFill>
                      <a:srgbClr val="2F7A5D"/>
                    </a:solidFill>
                  </a:tcPr>
                </a:tc>
              </a:tr>
              <a:tr h="329184">
                <a:tc>
                  <a:txBody>
                    <a:bodyPr/>
                    <a:lstStyle/>
                    <a:p>
                      <a:pPr>
                        <a:defRPr>
                          <a:latin typeface="Roboto"/>
                        </a:defRPr>
                      </a:pPr>
                      <a:r>
                        <a:rPr sz="1050">
                          <a:solidFill>
                            <a:srgbClr val="25342A"/>
                          </a:solidFill>
                          <a:latin typeface="Roboto"/>
                        </a:rPr>
                        <a:t>Gross margin on jobs</a:t>
                      </a:r>
                    </a:p>
                  </a:txBody>
                  <a:tcPr>
                    <a:solidFill>
                      <a:srgbClr val="FFFFFF"/>
                    </a:solidFill>
                  </a:tcPr>
                </a:tc>
                <a:tc>
                  <a:txBody>
                    <a:bodyPr/>
                    <a:lstStyle/>
                    <a:p>
                      <a:pPr algn="r">
                        <a:defRPr>
                          <a:latin typeface="Roboto"/>
                        </a:defRPr>
                      </a:pPr>
                      <a:r>
                        <a:rPr sz="1050">
                          <a:solidFill>
                            <a:srgbClr val="25342A"/>
                          </a:solidFill>
                          <a:latin typeface="Roboto"/>
                        </a:rPr>
                        <a:t>$73,107</a:t>
                      </a:r>
                    </a:p>
                  </a:txBody>
                  <a:tcPr>
                    <a:solidFill>
                      <a:srgbClr val="FFFFFF"/>
                    </a:solidFill>
                  </a:tcPr>
                </a:tc>
              </a:tr>
              <a:tr h="329184">
                <a:tc>
                  <a:txBody>
                    <a:bodyPr/>
                    <a:lstStyle/>
                    <a:p>
                      <a:pPr>
                        <a:defRPr>
                          <a:latin typeface="Roboto"/>
                        </a:defRPr>
                      </a:pPr>
                      <a:r>
                        <a:rPr sz="1050">
                          <a:solidFill>
                            <a:srgbClr val="25342A"/>
                          </a:solidFill>
                          <a:latin typeface="Roboto"/>
                        </a:rPr>
                        <a:t>Technician wages and on-costs</a:t>
                      </a:r>
                    </a:p>
                  </a:txBody>
                  <a:tcPr>
                    <a:solidFill>
                      <a:srgbClr val="F7FAF7"/>
                    </a:solidFill>
                  </a:tcPr>
                </a:tc>
                <a:tc>
                  <a:txBody>
                    <a:bodyPr/>
                    <a:lstStyle/>
                    <a:p>
                      <a:pPr algn="r">
                        <a:defRPr>
                          <a:latin typeface="Roboto"/>
                        </a:defRPr>
                      </a:pPr>
                      <a:r>
                        <a:rPr sz="1050">
                          <a:solidFill>
                            <a:srgbClr val="25342A"/>
                          </a:solidFill>
                          <a:latin typeface="Roboto"/>
                        </a:rPr>
                        <a:t>$54,600</a:t>
                      </a:r>
                    </a:p>
                  </a:txBody>
                  <a:tcPr>
                    <a:solidFill>
                      <a:srgbClr val="F7FAF7"/>
                    </a:solidFill>
                  </a:tcPr>
                </a:tc>
              </a:tr>
              <a:tr h="329184">
                <a:tc>
                  <a:txBody>
                    <a:bodyPr/>
                    <a:lstStyle/>
                    <a:p>
                      <a:pPr>
                        <a:defRPr>
                          <a:latin typeface="Roboto"/>
                        </a:defRPr>
                      </a:pPr>
                      <a:r>
                        <a:rPr sz="1050">
                          <a:solidFill>
                            <a:srgbClr val="25342A"/>
                          </a:solidFill>
                          <a:latin typeface="Roboto"/>
                        </a:rPr>
                        <a:t>Technician time charged to jobs (at cost)</a:t>
                      </a:r>
                    </a:p>
                  </a:txBody>
                  <a:tcPr>
                    <a:solidFill>
                      <a:srgbClr val="FFFFFF"/>
                    </a:solidFill>
                  </a:tcPr>
                </a:tc>
                <a:tc>
                  <a:txBody>
                    <a:bodyPr/>
                    <a:lstStyle/>
                    <a:p>
                      <a:pPr algn="r">
                        <a:defRPr>
                          <a:latin typeface="Roboto"/>
                        </a:defRPr>
                      </a:pPr>
                      <a:r>
                        <a:rPr sz="1050">
                          <a:solidFill>
                            <a:srgbClr val="25342A"/>
                          </a:solidFill>
                          <a:latin typeface="Roboto"/>
                        </a:rPr>
                        <a:t>$51,170</a:t>
                      </a:r>
                    </a:p>
                  </a:txBody>
                  <a:tcPr>
                    <a:solidFill>
                      <a:srgbClr val="FFFFFF"/>
                    </a:solidFill>
                  </a:tcPr>
                </a:tc>
              </a:tr>
              <a:tr h="329184">
                <a:tc>
                  <a:txBody>
                    <a:bodyPr/>
                    <a:lstStyle/>
                    <a:p>
                      <a:pPr>
                        <a:defRPr>
                          <a:latin typeface="Roboto"/>
                        </a:defRPr>
                      </a:pPr>
                      <a:r>
                        <a:rPr sz="1050">
                          <a:solidFill>
                            <a:srgbClr val="25342A"/>
                          </a:solidFill>
                          <a:latin typeface="Roboto"/>
                        </a:rPr>
                        <a:t>Technician time not charged to jobs</a:t>
                      </a:r>
                    </a:p>
                  </a:txBody>
                  <a:tcPr>
                    <a:solidFill>
                      <a:srgbClr val="F7FAF7"/>
                    </a:solidFill>
                  </a:tcPr>
                </a:tc>
                <a:tc>
                  <a:txBody>
                    <a:bodyPr/>
                    <a:lstStyle/>
                    <a:p>
                      <a:pPr algn="r">
                        <a:defRPr>
                          <a:latin typeface="Roboto"/>
                        </a:defRPr>
                      </a:pPr>
                      <a:r>
                        <a:rPr sz="1050">
                          <a:solidFill>
                            <a:srgbClr val="25342A"/>
                          </a:solidFill>
                          <a:latin typeface="Roboto"/>
                        </a:rPr>
                        <a:t>$3,430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$69,677</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$59,580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$10,097</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$202,337</a:t>
                      </a:r>
                    </a:p>
                  </a:txBody>
                  <a:tcPr>
                    <a:solidFill>
                      <a:srgbClr val="F7FAF7"/>
                    </a:solidFill>
                  </a:tcPr>
                </a:tc>
              </a:tr>
              <a:tr h="329184">
                <a:tc>
                  <a:txBody>
                    <a:bodyPr/>
                    <a:lstStyle/>
                    <a:p>
                      <a:pPr>
                        <a:defRPr>
                          <a:latin typeface="Roboto"/>
                        </a:defRPr>
                      </a:pPr>
                      <a:r>
                        <a:rPr sz="1050">
                          <a:solidFill>
                            <a:srgbClr val="25342A"/>
                          </a:solidFill>
                          <a:latin typeface="Roboto"/>
                        </a:rPr>
                        <a:t>Gross margin on jobs, %</a:t>
                      </a:r>
                    </a:p>
                  </a:txBody>
                  <a:tcPr>
                    <a:solidFill>
                      <a:srgbClr val="FFFFFF"/>
                    </a:solidFill>
                  </a:tcPr>
                </a:tc>
                <a:tc>
                  <a:txBody>
                    <a:bodyPr/>
                    <a:lstStyle/>
                    <a:p>
                      <a:pPr algn="r">
                        <a:defRPr>
                          <a:latin typeface="Roboto"/>
                        </a:defRPr>
                      </a:pPr>
                      <a:r>
                        <a:rPr sz="1050">
                          <a:solidFill>
                            <a:srgbClr val="25342A"/>
                          </a:solidFill>
                          <a:latin typeface="Roboto"/>
                        </a:rPr>
                        <a:t>36.1%</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5.0%</a:t>
                      </a:r>
                    </a:p>
                  </a:txBody>
                  <a:tcPr>
                    <a:solidFill>
                      <a:srgbClr val="F7FAF7"/>
                    </a:solidFill>
                  </a:tcPr>
                </a:tc>
              </a:tr>
              <a:tr h="329184">
                <a:tc>
                  <a:txBody>
                    <a:bodyPr/>
                    <a:lstStyle/>
                    <a:p>
                      <a:pPr>
                        <a:defRPr>
                          <a:latin typeface="Roboto"/>
                        </a:defRPr>
                      </a:pPr>
                      <a:r>
                        <a:rPr sz="1050">
                          <a:solidFill>
                            <a:srgbClr val="25342A"/>
                          </a:solidFill>
                          <a:latin typeface="Roboto"/>
                        </a:rPr>
                        <a:t>Gross margin jobs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31.1%</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3 of 27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September against September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57.8%</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$202,337 against $128,255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26.5%</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$574,589 against $454,179</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37.9%</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$217,865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4 of 27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26.5% up on the same period last year, year to date ($574,589 against $454,179). Maintenance contracts make the highest gross margin (59.5%); Installations the lowest (29.4%). The business needs 31.1%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the most profitable work you do. Installations: 29.4% gross margin, below the 31.1%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5 of 27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Maintenance contracts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September against September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22.0%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$40,500 against $33,200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22.0%</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$121,500 against $99,600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59.5%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$72,348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6 of 27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Maintenance contracts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brought in $121,500 this financial year to date, 22.0% on the same period last year (slower than the business as a whole, 26.5%), at a 59.5% gross margin (above the 37.9%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Maintenance contracts: 59.5% gross margin, 28.4 points clear of the 31.1%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7 of 27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Installations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September against September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74.0%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$130,700 against $75,100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23.8%</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$367,900 against $297,100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29.4%</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$108,292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8 of 27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Installations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brought in $367,900 this financial year to date, 23.8% on the same period last year (slower than the business as a whole, 26.5%), at a 29.4% gross margin (below the 37.9%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Installations: 29.4% gross margin, below the 31.1% needed to cover overheads.</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9 of 27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Trades · Line: Call-outs and repairs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September against September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56.0%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$31,137 against $19,955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48.2%</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$85,189 against $57,479</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43.7%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$37,225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10 of 27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Trades · Line: Call-outs and repairs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brought in $85,189 this financial year to date, 48.2% on the same period last year (faster than the business as a whole, 26.5%), at a 43.7% gross margin (above the 37.9%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Call-outs and repairs: 43.7% gross margin, 12.6 points clear of the 31.1%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11 of 27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Revenue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12 of 27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line, by month · Gross margin % · Trades · Every line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13 of 27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line: financial year to date (Jul to Sep 2026) against the same period last year · Trades · Every line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Maintenance contracts</a:t>
                      </a:r>
                    </a:p>
                  </a:txBody>
                  <a:tcPr>
                    <a:solidFill>
                      <a:srgbClr val="FFFFFF"/>
                    </a:solidFill>
                  </a:tcPr>
                </a:tc>
                <a:tc>
                  <a:txBody>
                    <a:bodyPr/>
                    <a:lstStyle/>
                    <a:p>
                      <a:pPr algn="r">
                        <a:defRPr>
                          <a:latin typeface="Roboto"/>
                        </a:defRPr>
                      </a:pPr>
                      <a:r>
                        <a:rPr sz="1050">
                          <a:solidFill>
                            <a:srgbClr val="25342A"/>
                          </a:solidFill>
                          <a:latin typeface="Roboto"/>
                        </a:rPr>
                        <a:t>$121,500</a:t>
                      </a:r>
                    </a:p>
                  </a:txBody>
                  <a:tcPr>
                    <a:solidFill>
                      <a:srgbClr val="FFFFFF"/>
                    </a:solidFill>
                  </a:tcPr>
                </a:tc>
                <a:tc>
                  <a:txBody>
                    <a:bodyPr/>
                    <a:lstStyle/>
                    <a:p>
                      <a:pPr algn="r">
                        <a:defRPr>
                          <a:latin typeface="Roboto"/>
                        </a:defRPr>
                      </a:pPr>
                      <a:r>
                        <a:rPr sz="1050">
                          <a:solidFill>
                            <a:srgbClr val="25342A"/>
                          </a:solidFill>
                          <a:latin typeface="Roboto"/>
                        </a:rPr>
                        <a:t>$99,600</a:t>
                      </a:r>
                    </a:p>
                  </a:txBody>
                  <a:tcPr>
                    <a:solidFill>
                      <a:srgbClr val="FFFFFF"/>
                    </a:solidFill>
                  </a:tcPr>
                </a:tc>
                <a:tc>
                  <a:txBody>
                    <a:bodyPr/>
                    <a:lstStyle/>
                    <a:p>
                      <a:pPr algn="r">
                        <a:defRPr>
                          <a:latin typeface="Roboto"/>
                        </a:defRPr>
                      </a:pPr>
                      <a:r>
                        <a:rPr sz="1050">
                          <a:solidFill>
                            <a:srgbClr val="25342A"/>
                          </a:solidFill>
                          <a:latin typeface="Roboto"/>
                        </a:rPr>
                        <a:t>22.0%</a:t>
                      </a:r>
                    </a:p>
                  </a:txBody>
                  <a:tcPr>
                    <a:solidFill>
                      <a:srgbClr val="FFFFFF"/>
                    </a:solidFill>
                  </a:tcPr>
                </a:tc>
                <a:tc>
                  <a:txBody>
                    <a:bodyPr/>
                    <a:lstStyle/>
                    <a:p>
                      <a:pPr algn="r">
                        <a:defRPr>
                          <a:latin typeface="Roboto"/>
                        </a:defRPr>
                      </a:pPr>
                      <a:r>
                        <a:rPr sz="1050">
                          <a:solidFill>
                            <a:srgbClr val="25342A"/>
                          </a:solidFill>
                          <a:latin typeface="Roboto"/>
                        </a:rPr>
                        <a:t>$72,348</a:t>
                      </a:r>
                    </a:p>
                  </a:txBody>
                  <a:tcPr>
                    <a:solidFill>
                      <a:srgbClr val="FFFFFF"/>
                    </a:solidFill>
                  </a:tcPr>
                </a:tc>
                <a:tc>
                  <a:txBody>
                    <a:bodyPr/>
                    <a:lstStyle/>
                    <a:p>
                      <a:pPr algn="r">
                        <a:defRPr>
                          <a:latin typeface="Roboto"/>
                        </a:defRPr>
                      </a:pPr>
                      <a:r>
                        <a:rPr sz="1050">
                          <a:solidFill>
                            <a:srgbClr val="25342A"/>
                          </a:solidFill>
                          <a:latin typeface="Roboto"/>
                        </a:rPr>
                        <a:t>59.5%</a:t>
                      </a:r>
                    </a:p>
                  </a:txBody>
                  <a:tcPr>
                    <a:solidFill>
                      <a:srgbClr val="FFFFFF"/>
                    </a:solidFill>
                  </a:tcPr>
                </a:tc>
              </a:tr>
              <a:tr h="329184">
                <a:tc>
                  <a:txBody>
                    <a:bodyPr/>
                    <a:lstStyle/>
                    <a:p>
                      <a:pPr>
                        <a:defRPr>
                          <a:latin typeface="Roboto"/>
                        </a:defRPr>
                      </a:pPr>
                      <a:r>
                        <a:rPr sz="1050">
                          <a:solidFill>
                            <a:srgbClr val="25342A"/>
                          </a:solidFill>
                          <a:latin typeface="Roboto"/>
                        </a:rPr>
                        <a:t>Installations</a:t>
                      </a:r>
                    </a:p>
                  </a:txBody>
                  <a:tcPr>
                    <a:solidFill>
                      <a:srgbClr val="F7FAF7"/>
                    </a:solidFill>
                  </a:tcPr>
                </a:tc>
                <a:tc>
                  <a:txBody>
                    <a:bodyPr/>
                    <a:lstStyle/>
                    <a:p>
                      <a:pPr algn="r">
                        <a:defRPr>
                          <a:latin typeface="Roboto"/>
                        </a:defRPr>
                      </a:pPr>
                      <a:r>
                        <a:rPr sz="1050">
                          <a:solidFill>
                            <a:srgbClr val="25342A"/>
                          </a:solidFill>
                          <a:latin typeface="Roboto"/>
                        </a:rPr>
                        <a:t>$367,900</a:t>
                      </a:r>
                    </a:p>
                  </a:txBody>
                  <a:tcPr>
                    <a:solidFill>
                      <a:srgbClr val="F7FAF7"/>
                    </a:solidFill>
                  </a:tcPr>
                </a:tc>
                <a:tc>
                  <a:txBody>
                    <a:bodyPr/>
                    <a:lstStyle/>
                    <a:p>
                      <a:pPr algn="r">
                        <a:defRPr>
                          <a:latin typeface="Roboto"/>
                        </a:defRPr>
                      </a:pPr>
                      <a:r>
                        <a:rPr sz="1050">
                          <a:solidFill>
                            <a:srgbClr val="25342A"/>
                          </a:solidFill>
                          <a:latin typeface="Roboto"/>
                        </a:rPr>
                        <a:t>$297,100</a:t>
                      </a:r>
                    </a:p>
                  </a:txBody>
                  <a:tcPr>
                    <a:solidFill>
                      <a:srgbClr val="F7FAF7"/>
                    </a:solidFill>
                  </a:tcPr>
                </a:tc>
                <a:tc>
                  <a:txBody>
                    <a:bodyPr/>
                    <a:lstStyle/>
                    <a:p>
                      <a:pPr algn="r">
                        <a:defRPr>
                          <a:latin typeface="Roboto"/>
                        </a:defRPr>
                      </a:pPr>
                      <a:r>
                        <a:rPr sz="1050">
                          <a:solidFill>
                            <a:srgbClr val="25342A"/>
                          </a:solidFill>
                          <a:latin typeface="Roboto"/>
                        </a:rPr>
                        <a:t>23.8%</a:t>
                      </a:r>
                    </a:p>
                  </a:txBody>
                  <a:tcPr>
                    <a:solidFill>
                      <a:srgbClr val="F7FAF7"/>
                    </a:solidFill>
                  </a:tcPr>
                </a:tc>
                <a:tc>
                  <a:txBody>
                    <a:bodyPr/>
                    <a:lstStyle/>
                    <a:p>
                      <a:pPr algn="r">
                        <a:defRPr>
                          <a:latin typeface="Roboto"/>
                        </a:defRPr>
                      </a:pPr>
                      <a:r>
                        <a:rPr sz="1050">
                          <a:solidFill>
                            <a:srgbClr val="25342A"/>
                          </a:solidFill>
                          <a:latin typeface="Roboto"/>
                        </a:rPr>
                        <a:t>$108,292</a:t>
                      </a:r>
                    </a:p>
                  </a:txBody>
                  <a:tcPr>
                    <a:solidFill>
                      <a:srgbClr val="F7FAF7"/>
                    </a:solidFill>
                  </a:tcPr>
                </a:tc>
                <a:tc>
                  <a:txBody>
                    <a:bodyPr/>
                    <a:lstStyle/>
                    <a:p>
                      <a:pPr algn="r">
                        <a:defRPr>
                          <a:latin typeface="Roboto"/>
                        </a:defRPr>
                      </a:pPr>
                      <a:r>
                        <a:rPr sz="1050">
                          <a:solidFill>
                            <a:srgbClr val="25342A"/>
                          </a:solidFill>
                          <a:latin typeface="Roboto"/>
                        </a:rPr>
                        <a:t>29.4%</a:t>
                      </a:r>
                    </a:p>
                  </a:txBody>
                  <a:tcPr>
                    <a:solidFill>
                      <a:srgbClr val="F7FAF7"/>
                    </a:solidFill>
                  </a:tcPr>
                </a:tc>
              </a:tr>
              <a:tr h="329184">
                <a:tc>
                  <a:txBody>
                    <a:bodyPr/>
                    <a:lstStyle/>
                    <a:p>
                      <a:pPr>
                        <a:defRPr>
                          <a:latin typeface="Roboto"/>
                        </a:defRPr>
                      </a:pPr>
                      <a:r>
                        <a:rPr sz="1050">
                          <a:solidFill>
                            <a:srgbClr val="25342A"/>
                          </a:solidFill>
                          <a:latin typeface="Roboto"/>
                        </a:rPr>
                        <a:t>Call-outs and repairs</a:t>
                      </a:r>
                    </a:p>
                  </a:txBody>
                  <a:tcPr>
                    <a:solidFill>
                      <a:srgbClr val="FFFFFF"/>
                    </a:solidFill>
                  </a:tcPr>
                </a:tc>
                <a:tc>
                  <a:txBody>
                    <a:bodyPr/>
                    <a:lstStyle/>
                    <a:p>
                      <a:pPr algn="r">
                        <a:defRPr>
                          <a:latin typeface="Roboto"/>
                        </a:defRPr>
                      </a:pPr>
                      <a:r>
                        <a:rPr sz="1050">
                          <a:solidFill>
                            <a:srgbClr val="25342A"/>
                          </a:solidFill>
                          <a:latin typeface="Roboto"/>
                        </a:rPr>
                        <a:t>$85,189</a:t>
                      </a:r>
                    </a:p>
                  </a:txBody>
                  <a:tcPr>
                    <a:solidFill>
                      <a:srgbClr val="FFFFFF"/>
                    </a:solidFill>
                  </a:tcPr>
                </a:tc>
                <a:tc>
                  <a:txBody>
                    <a:bodyPr/>
                    <a:lstStyle/>
                    <a:p>
                      <a:pPr algn="r">
                        <a:defRPr>
                          <a:latin typeface="Roboto"/>
                        </a:defRPr>
                      </a:pPr>
                      <a:r>
                        <a:rPr sz="1050">
                          <a:solidFill>
                            <a:srgbClr val="25342A"/>
                          </a:solidFill>
                          <a:latin typeface="Roboto"/>
                        </a:rPr>
                        <a:t>$57,479</a:t>
                      </a:r>
                    </a:p>
                  </a:txBody>
                  <a:tcPr>
                    <a:solidFill>
                      <a:srgbClr val="FFFFFF"/>
                    </a:solidFill>
                  </a:tcPr>
                </a:tc>
                <a:tc>
                  <a:txBody>
                    <a:bodyPr/>
                    <a:lstStyle/>
                    <a:p>
                      <a:pPr algn="r">
                        <a:defRPr>
                          <a:latin typeface="Roboto"/>
                        </a:defRPr>
                      </a:pPr>
                      <a:r>
                        <a:rPr sz="1050">
                          <a:solidFill>
                            <a:srgbClr val="25342A"/>
                          </a:solidFill>
                          <a:latin typeface="Roboto"/>
                        </a:rPr>
                        <a:t>48.2%</a:t>
                      </a:r>
                    </a:p>
                  </a:txBody>
                  <a:tcPr>
                    <a:solidFill>
                      <a:srgbClr val="FFFFFF"/>
                    </a:solidFill>
                  </a:tcPr>
                </a:tc>
                <a:tc>
                  <a:txBody>
                    <a:bodyPr/>
                    <a:lstStyle/>
                    <a:p>
                      <a:pPr algn="r">
                        <a:defRPr>
                          <a:latin typeface="Roboto"/>
                        </a:defRPr>
                      </a:pPr>
                      <a:r>
                        <a:rPr sz="1050">
                          <a:solidFill>
                            <a:srgbClr val="25342A"/>
                          </a:solidFill>
                          <a:latin typeface="Roboto"/>
                        </a:rPr>
                        <a:t>$37,225</a:t>
                      </a:r>
                    </a:p>
                  </a:txBody>
                  <a:tcPr>
                    <a:solidFill>
                      <a:srgbClr val="FFFFFF"/>
                    </a:solidFill>
                  </a:tcPr>
                </a:tc>
                <a:tc>
                  <a:txBody>
                    <a:bodyPr/>
                    <a:lstStyle/>
                    <a:p>
                      <a:pPr algn="r">
                        <a:defRPr>
                          <a:latin typeface="Roboto"/>
                        </a:defRPr>
                      </a:pPr>
                      <a:r>
                        <a:rPr sz="1050">
                          <a:solidFill>
                            <a:srgbClr val="25342A"/>
                          </a:solidFill>
                          <a:latin typeface="Roboto"/>
                        </a:rPr>
                        <a:t>43.7%</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$574,589</a:t>
                      </a:r>
                    </a:p>
                  </a:txBody>
                  <a:tcPr>
                    <a:solidFill>
                      <a:srgbClr val="F7FAF7"/>
                    </a:solidFill>
                  </a:tcPr>
                </a:tc>
                <a:tc>
                  <a:txBody>
                    <a:bodyPr/>
                    <a:lstStyle/>
                    <a:p>
                      <a:pPr algn="r">
                        <a:defRPr>
                          <a:latin typeface="Roboto"/>
                        </a:defRPr>
                      </a:pPr>
                      <a:r>
                        <a:rPr sz="1050" b="1">
                          <a:solidFill>
                            <a:srgbClr val="25342A"/>
                          </a:solidFill>
                          <a:latin typeface="Roboto"/>
                        </a:rPr>
                        <a:t>$454,179</a:t>
                      </a:r>
                    </a:p>
                  </a:txBody>
                  <a:tcPr>
                    <a:solidFill>
                      <a:srgbClr val="F7FAF7"/>
                    </a:solidFill>
                  </a:tcPr>
                </a:tc>
                <a:tc>
                  <a:txBody>
                    <a:bodyPr/>
                    <a:lstStyle/>
                    <a:p>
                      <a:pPr algn="r">
                        <a:defRPr>
                          <a:latin typeface="Roboto"/>
                        </a:defRPr>
                      </a:pPr>
                      <a:r>
                        <a:rPr sz="1050" b="1">
                          <a:solidFill>
                            <a:srgbClr val="25342A"/>
                          </a:solidFill>
                          <a:latin typeface="Roboto"/>
                        </a:rPr>
                        <a:t>26.5%</a:t>
                      </a:r>
                    </a:p>
                  </a:txBody>
                  <a:tcPr>
                    <a:solidFill>
                      <a:srgbClr val="F7FAF7"/>
                    </a:solidFill>
                  </a:tcPr>
                </a:tc>
                <a:tc>
                  <a:txBody>
                    <a:bodyPr/>
                    <a:lstStyle/>
                    <a:p>
                      <a:pPr algn="r">
                        <a:defRPr>
                          <a:latin typeface="Roboto"/>
                        </a:defRPr>
                      </a:pPr>
                      <a:r>
                        <a:rPr sz="1050" b="1">
                          <a:solidFill>
                            <a:srgbClr val="25342A"/>
                          </a:solidFill>
                          <a:latin typeface="Roboto"/>
                        </a:rPr>
                        <a:t>$217,865</a:t>
                      </a:r>
                    </a:p>
                  </a:txBody>
                  <a:tcPr>
                    <a:solidFill>
                      <a:srgbClr val="F7FAF7"/>
                    </a:solidFill>
                  </a:tcPr>
                </a:tc>
                <a:tc>
                  <a:txBody>
                    <a:bodyPr/>
                    <a:lstStyle/>
                    <a:p>
                      <a:pPr algn="r">
                        <a:defRPr>
                          <a:latin typeface="Roboto"/>
                        </a:defRPr>
                      </a:pPr>
                      <a:r>
                        <a:rPr sz="1050" b="1">
                          <a:solidFill>
                            <a:srgbClr val="25342A"/>
                          </a:solidFill>
                          <a:latin typeface="Roboto"/>
                        </a:rPr>
                        <a:t>37.9%</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14 of 27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Gross margin, not profit</a:t>
            </a:r>
          </a:p>
        </p:txBody>
      </p:sp>
      <p:sp>
        <p:nvSpPr>
          <p:cNvPr id="5" name="Rectangle 4"/>
          <p:cNvSpPr/>
          <p:nvPr/>
        </p:nvSpPr>
        <p:spPr>
          <a:xfrm>
            <a:off x="457200" y="1554480"/>
            <a:ext cx="11277295"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10820095" cy="365760"/>
          </a:xfrm>
          <a:prstGeom prst="rect">
            <a:avLst/>
          </a:prstGeom>
          <a:noFill/>
        </p:spPr>
        <p:txBody>
          <a:bodyPr wrap="square">
            <a:spAutoFit/>
          </a:bodyPr>
          <a:lstStyle/>
          <a:p>
            <a:pPr>
              <a:defRPr>
                <a:latin typeface="Roboto"/>
              </a:defRPr>
            </a:pPr>
            <a:r>
              <a:rPr sz="1100" b="1">
                <a:solidFill>
                  <a:srgbClr val="5F6F63"/>
                </a:solidFill>
                <a:latin typeface="Roboto"/>
              </a:rPr>
              <a:t>GROSS MARGIN, NOT PROFIT</a:t>
            </a:r>
          </a:p>
        </p:txBody>
      </p:sp>
      <p:sp>
        <p:nvSpPr>
          <p:cNvPr id="7" name="TextBox 6"/>
          <p:cNvSpPr txBox="1"/>
          <p:nvPr/>
        </p:nvSpPr>
        <p:spPr>
          <a:xfrm>
            <a:off x="685800" y="2103120"/>
            <a:ext cx="10820095" cy="3749039"/>
          </a:xfrm>
          <a:prstGeom prst="rect">
            <a:avLst/>
          </a:prstGeom>
          <a:noFill/>
        </p:spPr>
        <p:txBody>
          <a:bodyPr wrap="square">
            <a:spAutoFit/>
          </a:bodyPr>
          <a:lstStyle/>
          <a:p>
            <a:pPr>
              <a:defRPr>
                <a:latin typeface="Roboto"/>
              </a:defRPr>
            </a:pPr>
            <a:r>
              <a:rPr sz="1600" b="0">
                <a:solidFill>
                  <a:srgbClr val="25342A"/>
                </a:solidFill>
                <a:latin typeface="Roboto"/>
              </a:rPr>
              <a:t>Gross margin is not profit. Gross margin = revenue less contractors and consultant time charged to the work at $60 an hour (wages and all on-costs). Not included: consultant time not charged to clients, and overheads (management and admin wages, marketing, rent, IT, insurance, travel, depreciation, interest). Profit is what's left after those. Wages always include all on-costs: super, payroll tax, workers' compensation insurance and leave.</a:t>
            </a:r>
          </a:p>
        </p:txBody>
      </p:sp>
      <p:sp>
        <p:nvSpPr>
          <p:cNvPr id="8" name="TextBox 7"/>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9" name="TextBox 8"/>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0" name="TextBox 9"/>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15 of 27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From gross margin to profit · Services</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September's client work made $78,830 gross margin (59.8%). Consultant time not charged to client work took $1,980 and overheads $52,140, leaving $24,710 profit before tax (18.7% of revenue). To cover overheads, client work needs a 41.0% gross margin on average.</a:t>
            </a:r>
          </a:p>
        </p:txBody>
      </p:sp>
      <p:graphicFrame>
        <p:nvGraphicFramePr>
          <p:cNvPr id="6" name="Table 5"/>
          <p:cNvGraphicFramePr>
            <a:graphicFrameLocks noGrp="1"/>
          </p:cNvGraphicFramePr>
          <p:nvPr/>
        </p:nvGraphicFramePr>
        <p:xfrm>
          <a:off x="457200" y="1463040"/>
          <a:ext cx="11247120" cy="3950208"/>
        </p:xfrm>
        <a:graphic>
          <a:graphicData uri="http://schemas.openxmlformats.org/drawingml/2006/table">
            <a:tbl>
              <a:tblPr firstRow="1" bandRow="1">
                <a:tableStyleId>{5C22544A-7EE6-4342-B048-85BDC9FD1C3A}</a:tableStyleId>
              </a:tblPr>
              <a:tblGrid>
                <a:gridCol w="5623560"/>
                <a:gridCol w="562356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September 2026</a:t>
                      </a:r>
                    </a:p>
                  </a:txBody>
                  <a:tcPr>
                    <a:solidFill>
                      <a:srgbClr val="2F7A5D"/>
                    </a:solidFill>
                  </a:tcPr>
                </a:tc>
              </a:tr>
              <a:tr h="329184">
                <a:tc>
                  <a:txBody>
                    <a:bodyPr/>
                    <a:lstStyle/>
                    <a:p>
                      <a:pPr>
                        <a:defRPr>
                          <a:latin typeface="Roboto"/>
                        </a:defRPr>
                      </a:pPr>
                      <a:r>
                        <a:rPr sz="1050">
                          <a:solidFill>
                            <a:srgbClr val="25342A"/>
                          </a:solidFill>
                          <a:latin typeface="Roboto"/>
                        </a:rPr>
                        <a:t>Gross margin on client work</a:t>
                      </a:r>
                    </a:p>
                  </a:txBody>
                  <a:tcPr>
                    <a:solidFill>
                      <a:srgbClr val="FFFFFF"/>
                    </a:solidFill>
                  </a:tcPr>
                </a:tc>
                <a:tc>
                  <a:txBody>
                    <a:bodyPr/>
                    <a:lstStyle/>
                    <a:p>
                      <a:pPr algn="r">
                        <a:defRPr>
                          <a:latin typeface="Roboto"/>
                        </a:defRPr>
                      </a:pPr>
                      <a:r>
                        <a:rPr sz="1050">
                          <a:solidFill>
                            <a:srgbClr val="25342A"/>
                          </a:solidFill>
                          <a:latin typeface="Roboto"/>
                        </a:rPr>
                        <a:t>$78,830</a:t>
                      </a:r>
                    </a:p>
                  </a:txBody>
                  <a:tcPr>
                    <a:solidFill>
                      <a:srgbClr val="FFFFFF"/>
                    </a:solidFill>
                  </a:tcPr>
                </a:tc>
              </a:tr>
              <a:tr h="329184">
                <a:tc>
                  <a:txBody>
                    <a:bodyPr/>
                    <a:lstStyle/>
                    <a:p>
                      <a:pPr>
                        <a:defRPr>
                          <a:latin typeface="Roboto"/>
                        </a:defRPr>
                      </a:pPr>
                      <a:r>
                        <a:rPr sz="1050">
                          <a:solidFill>
                            <a:srgbClr val="25342A"/>
                          </a:solidFill>
                          <a:latin typeface="Roboto"/>
                        </a:rPr>
                        <a:t>Consultant wages and on-costs</a:t>
                      </a:r>
                    </a:p>
                  </a:txBody>
                  <a:tcPr>
                    <a:solidFill>
                      <a:srgbClr val="F7FAF7"/>
                    </a:solidFill>
                  </a:tcPr>
                </a:tc>
                <a:tc>
                  <a:txBody>
                    <a:bodyPr/>
                    <a:lstStyle/>
                    <a:p>
                      <a:pPr algn="r">
                        <a:defRPr>
                          <a:latin typeface="Roboto"/>
                        </a:defRPr>
                      </a:pPr>
                      <a:r>
                        <a:rPr sz="1050">
                          <a:solidFill>
                            <a:srgbClr val="25342A"/>
                          </a:solidFill>
                          <a:latin typeface="Roboto"/>
                        </a:rPr>
                        <a:t>$46,500</a:t>
                      </a:r>
                    </a:p>
                  </a:txBody>
                  <a:tcPr>
                    <a:solidFill>
                      <a:srgbClr val="F7FAF7"/>
                    </a:solidFill>
                  </a:tcPr>
                </a:tc>
              </a:tr>
              <a:tr h="329184">
                <a:tc>
                  <a:txBody>
                    <a:bodyPr/>
                    <a:lstStyle/>
                    <a:p>
                      <a:pPr>
                        <a:defRPr>
                          <a:latin typeface="Roboto"/>
                        </a:defRPr>
                      </a:pPr>
                      <a:r>
                        <a:rPr sz="1050">
                          <a:solidFill>
                            <a:srgbClr val="25342A"/>
                          </a:solidFill>
                          <a:latin typeface="Roboto"/>
                        </a:rPr>
                        <a:t>Consultant time charged to client work (at cost)</a:t>
                      </a:r>
                    </a:p>
                  </a:txBody>
                  <a:tcPr>
                    <a:solidFill>
                      <a:srgbClr val="FFFFFF"/>
                    </a:solidFill>
                  </a:tcPr>
                </a:tc>
                <a:tc>
                  <a:txBody>
                    <a:bodyPr/>
                    <a:lstStyle/>
                    <a:p>
                      <a:pPr algn="r">
                        <a:defRPr>
                          <a:latin typeface="Roboto"/>
                        </a:defRPr>
                      </a:pPr>
                      <a:r>
                        <a:rPr sz="1050">
                          <a:solidFill>
                            <a:srgbClr val="25342A"/>
                          </a:solidFill>
                          <a:latin typeface="Roboto"/>
                        </a:rPr>
                        <a:t>$44,520</a:t>
                      </a:r>
                    </a:p>
                  </a:txBody>
                  <a:tcPr>
                    <a:solidFill>
                      <a:srgbClr val="FFFFFF"/>
                    </a:solidFill>
                  </a:tcPr>
                </a:tc>
              </a:tr>
              <a:tr h="329184">
                <a:tc>
                  <a:txBody>
                    <a:bodyPr/>
                    <a:lstStyle/>
                    <a:p>
                      <a:pPr>
                        <a:defRPr>
                          <a:latin typeface="Roboto"/>
                        </a:defRPr>
                      </a:pPr>
                      <a:r>
                        <a:rPr sz="1050">
                          <a:solidFill>
                            <a:srgbClr val="25342A"/>
                          </a:solidFill>
                          <a:latin typeface="Roboto"/>
                        </a:rPr>
                        <a:t>Consultant time not charged to client work</a:t>
                      </a:r>
                    </a:p>
                  </a:txBody>
                  <a:tcPr>
                    <a:solidFill>
                      <a:srgbClr val="F7FAF7"/>
                    </a:solidFill>
                  </a:tcPr>
                </a:tc>
                <a:tc>
                  <a:txBody>
                    <a:bodyPr/>
                    <a:lstStyle/>
                    <a:p>
                      <a:pPr algn="r">
                        <a:defRPr>
                          <a:latin typeface="Roboto"/>
                        </a:defRPr>
                      </a:pPr>
                      <a:r>
                        <a:rPr sz="1050">
                          <a:solidFill>
                            <a:srgbClr val="25342A"/>
                          </a:solidFill>
                          <a:latin typeface="Roboto"/>
                        </a:rPr>
                        <a:t>$1,980</a:t>
                      </a:r>
                    </a:p>
                  </a:txBody>
                  <a:tcPr>
                    <a:solidFill>
                      <a:srgbClr val="F7FAF7"/>
                    </a:solidFill>
                  </a:tcPr>
                </a:tc>
              </a:tr>
              <a:tr h="329184">
                <a:tc>
                  <a:txBody>
                    <a:bodyPr/>
                    <a:lstStyle/>
                    <a:p>
                      <a:pPr>
                        <a:defRPr>
                          <a:latin typeface="Roboto"/>
                        </a:defRPr>
                      </a:pPr>
                      <a:r>
                        <a:rPr sz="1050">
                          <a:solidFill>
                            <a:srgbClr val="25342A"/>
                          </a:solidFill>
                          <a:latin typeface="Roboto"/>
                        </a:rPr>
                        <a:t>Gross profit (the P&amp;L)</a:t>
                      </a:r>
                    </a:p>
                  </a:txBody>
                  <a:tcPr>
                    <a:solidFill>
                      <a:srgbClr val="FFFFFF"/>
                    </a:solidFill>
                  </a:tcPr>
                </a:tc>
                <a:tc>
                  <a:txBody>
                    <a:bodyPr/>
                    <a:lstStyle/>
                    <a:p>
                      <a:pPr algn="r">
                        <a:defRPr>
                          <a:latin typeface="Roboto"/>
                        </a:defRPr>
                      </a:pPr>
                      <a:r>
                        <a:rPr sz="1050">
                          <a:solidFill>
                            <a:srgbClr val="25342A"/>
                          </a:solidFill>
                          <a:latin typeface="Roboto"/>
                        </a:rPr>
                        <a:t>$76,850</a:t>
                      </a:r>
                    </a:p>
                  </a:txBody>
                  <a:tcPr>
                    <a:solidFill>
                      <a:srgbClr val="FFFFFF"/>
                    </a:solidFill>
                  </a:tcPr>
                </a:tc>
              </a:tr>
              <a:tr h="329184">
                <a:tc>
                  <a:txBody>
                    <a:bodyPr/>
                    <a:lstStyle/>
                    <a:p>
                      <a:pPr>
                        <a:defRPr>
                          <a:latin typeface="Roboto"/>
                        </a:defRPr>
                      </a:pPr>
                      <a:r>
                        <a:rPr sz="1050">
                          <a:solidFill>
                            <a:srgbClr val="25342A"/>
                          </a:solidFill>
                          <a:latin typeface="Roboto"/>
                        </a:rPr>
                        <a:t>Overheads (operating expenses, depreciation, interest)</a:t>
                      </a:r>
                    </a:p>
                  </a:txBody>
                  <a:tcPr>
                    <a:solidFill>
                      <a:srgbClr val="F7FAF7"/>
                    </a:solidFill>
                  </a:tcPr>
                </a:tc>
                <a:tc>
                  <a:txBody>
                    <a:bodyPr/>
                    <a:lstStyle/>
                    <a:p>
                      <a:pPr algn="r">
                        <a:defRPr>
                          <a:latin typeface="Roboto"/>
                        </a:defRPr>
                      </a:pPr>
                      <a:r>
                        <a:rPr sz="1050">
                          <a:solidFill>
                            <a:srgbClr val="25342A"/>
                          </a:solidFill>
                          <a:latin typeface="Roboto"/>
                        </a:rPr>
                        <a:t>$52,140</a:t>
                      </a:r>
                    </a:p>
                  </a:txBody>
                  <a:tcPr>
                    <a:solidFill>
                      <a:srgbClr val="F7FAF7"/>
                    </a:solidFill>
                  </a:tcPr>
                </a:tc>
              </a:tr>
              <a:tr h="329184">
                <a:tc>
                  <a:txBody>
                    <a:bodyPr/>
                    <a:lstStyle/>
                    <a:p>
                      <a:pPr>
                        <a:defRPr>
                          <a:latin typeface="Roboto"/>
                        </a:defRPr>
                      </a:pPr>
                      <a:r>
                        <a:rPr sz="1050">
                          <a:solidFill>
                            <a:srgbClr val="25342A"/>
                          </a:solidFill>
                          <a:latin typeface="Roboto"/>
                        </a:rPr>
                        <a:t>Profit before tax (the P&amp;L)</a:t>
                      </a:r>
                    </a:p>
                  </a:txBody>
                  <a:tcPr>
                    <a:solidFill>
                      <a:srgbClr val="FFFFFF"/>
                    </a:solidFill>
                  </a:tcPr>
                </a:tc>
                <a:tc>
                  <a:txBody>
                    <a:bodyPr/>
                    <a:lstStyle/>
                    <a:p>
                      <a:pPr algn="r">
                        <a:defRPr>
                          <a:latin typeface="Roboto"/>
                        </a:defRPr>
                      </a:pPr>
                      <a:r>
                        <a:rPr sz="1050">
                          <a:solidFill>
                            <a:srgbClr val="25342A"/>
                          </a:solidFill>
                          <a:latin typeface="Roboto"/>
                        </a:rPr>
                        <a:t>$24,710</a:t>
                      </a:r>
                    </a:p>
                  </a:txBody>
                  <a:tcPr>
                    <a:solidFill>
                      <a:srgbClr val="FFFFFF"/>
                    </a:solidFill>
                  </a:tcPr>
                </a:tc>
              </a:tr>
              <a:tr h="329184">
                <a:tc>
                  <a:txBody>
                    <a:bodyPr/>
                    <a:lstStyle/>
                    <a:p>
                      <a:pPr>
                        <a:defRPr>
                          <a:latin typeface="Roboto"/>
                        </a:defRPr>
                      </a:pPr>
                      <a:r>
                        <a:rPr sz="1050">
                          <a:solidFill>
                            <a:srgbClr val="25342A"/>
                          </a:solidFill>
                          <a:latin typeface="Roboto"/>
                        </a:rPr>
                        <a:t>Revenue</a:t>
                      </a:r>
                    </a:p>
                  </a:txBody>
                  <a:tcPr>
                    <a:solidFill>
                      <a:srgbClr val="F7FAF7"/>
                    </a:solidFill>
                  </a:tcPr>
                </a:tc>
                <a:tc>
                  <a:txBody>
                    <a:bodyPr/>
                    <a:lstStyle/>
                    <a:p>
                      <a:pPr algn="r">
                        <a:defRPr>
                          <a:latin typeface="Roboto"/>
                        </a:defRPr>
                      </a:pPr>
                      <a:r>
                        <a:rPr sz="1050">
                          <a:solidFill>
                            <a:srgbClr val="25342A"/>
                          </a:solidFill>
                          <a:latin typeface="Roboto"/>
                        </a:rPr>
                        <a:t>$131,850</a:t>
                      </a:r>
                    </a:p>
                  </a:txBody>
                  <a:tcPr>
                    <a:solidFill>
                      <a:srgbClr val="F7FAF7"/>
                    </a:solidFill>
                  </a:tcPr>
                </a:tc>
              </a:tr>
              <a:tr h="329184">
                <a:tc>
                  <a:txBody>
                    <a:bodyPr/>
                    <a:lstStyle/>
                    <a:p>
                      <a:pPr>
                        <a:defRPr>
                          <a:latin typeface="Roboto"/>
                        </a:defRPr>
                      </a:pPr>
                      <a:r>
                        <a:rPr sz="1050">
                          <a:solidFill>
                            <a:srgbClr val="25342A"/>
                          </a:solidFill>
                          <a:latin typeface="Roboto"/>
                        </a:rPr>
                        <a:t>Gross margin on client work, %</a:t>
                      </a:r>
                    </a:p>
                  </a:txBody>
                  <a:tcPr>
                    <a:solidFill>
                      <a:srgbClr val="FFFFFF"/>
                    </a:solidFill>
                  </a:tcPr>
                </a:tc>
                <a:tc>
                  <a:txBody>
                    <a:bodyPr/>
                    <a:lstStyle/>
                    <a:p>
                      <a:pPr algn="r">
                        <a:defRPr>
                          <a:latin typeface="Roboto"/>
                        </a:defRPr>
                      </a:pPr>
                      <a:r>
                        <a:rPr sz="1050">
                          <a:solidFill>
                            <a:srgbClr val="25342A"/>
                          </a:solidFill>
                          <a:latin typeface="Roboto"/>
                        </a:rPr>
                        <a:t>59.8%</a:t>
                      </a:r>
                    </a:p>
                  </a:txBody>
                  <a:tcPr>
                    <a:solidFill>
                      <a:srgbClr val="FFFFFF"/>
                    </a:solidFill>
                  </a:tcPr>
                </a:tc>
              </a:tr>
              <a:tr h="329184">
                <a:tc>
                  <a:txBody>
                    <a:bodyPr/>
                    <a:lstStyle/>
                    <a:p>
                      <a:pPr>
                        <a:defRPr>
                          <a:latin typeface="Roboto"/>
                        </a:defRPr>
                      </a:pPr>
                      <a:r>
                        <a:rPr sz="1050">
                          <a:solidFill>
                            <a:srgbClr val="25342A"/>
                          </a:solidFill>
                          <a:latin typeface="Roboto"/>
                        </a:rPr>
                        <a:t>Profit before tax, % of revenue</a:t>
                      </a:r>
                    </a:p>
                  </a:txBody>
                  <a:tcPr>
                    <a:solidFill>
                      <a:srgbClr val="F7FAF7"/>
                    </a:solidFill>
                  </a:tcPr>
                </a:tc>
                <a:tc>
                  <a:txBody>
                    <a:bodyPr/>
                    <a:lstStyle/>
                    <a:p>
                      <a:pPr algn="r">
                        <a:defRPr>
                          <a:latin typeface="Roboto"/>
                        </a:defRPr>
                      </a:pPr>
                      <a:r>
                        <a:rPr sz="1050">
                          <a:solidFill>
                            <a:srgbClr val="25342A"/>
                          </a:solidFill>
                          <a:latin typeface="Roboto"/>
                        </a:rPr>
                        <a:t>18.7%</a:t>
                      </a:r>
                    </a:p>
                  </a:txBody>
                  <a:tcPr>
                    <a:solidFill>
                      <a:srgbClr val="F7FAF7"/>
                    </a:solidFill>
                  </a:tcPr>
                </a:tc>
              </a:tr>
              <a:tr h="329184">
                <a:tc>
                  <a:txBody>
                    <a:bodyPr/>
                    <a:lstStyle/>
                    <a:p>
                      <a:pPr>
                        <a:defRPr>
                          <a:latin typeface="Roboto"/>
                        </a:defRPr>
                      </a:pPr>
                      <a:r>
                        <a:rPr sz="1050">
                          <a:solidFill>
                            <a:srgbClr val="25342A"/>
                          </a:solidFill>
                          <a:latin typeface="Roboto"/>
                        </a:rPr>
                        <a:t>Gross margin client work need just to cover overheads and time not charged</a:t>
                      </a:r>
                    </a:p>
                  </a:txBody>
                  <a:tcPr>
                    <a:solidFill>
                      <a:srgbClr val="FFFFFF"/>
                    </a:solidFill>
                  </a:tcPr>
                </a:tc>
                <a:tc>
                  <a:txBody>
                    <a:bodyPr/>
                    <a:lstStyle/>
                    <a:p>
                      <a:pPr algn="r">
                        <a:defRPr>
                          <a:latin typeface="Roboto"/>
                        </a:defRPr>
                      </a:pPr>
                      <a:r>
                        <a:rPr sz="1050">
                          <a:solidFill>
                            <a:srgbClr val="25342A"/>
                          </a:solidFill>
                          <a:latin typeface="Roboto"/>
                        </a:rPr>
                        <a:t>41.0%</a:t>
                      </a:r>
                    </a:p>
                  </a:txBody>
                  <a:tcPr>
                    <a:solidFill>
                      <a:srgbClr val="FFFFFF"/>
                    </a:solidFill>
                  </a:tcPr>
                </a:tc>
              </a:tr>
            </a:tbl>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16 of 27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All</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September against September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121.5%</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$131,850 against $59,535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77.1%</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$367,245 against $207,330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60.1%</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$220,765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17 of 27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All</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Revenue is 77.1% up on the same period last year, year to date ($367,245 against $207,330). Training makes the highest gross margin (68.7%); Projects the lowest (58.5%). The business needs 41.0% gross margin just to cover overheads.</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68.7% gross margin, the most profitable work you do. Projects: 58.5% gross margin, the thinnest, still above the 41.0%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18 of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Projects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September against September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126.0%</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$85,950 against $38,035</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70.3%</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$241,145 against $141,630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58.5%</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$140,985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19 of 27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Projects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brought in $241,145 this financial year to date, 70.3% on the same period last year (slower than the business as a whole, 77.1%), at a 58.5% gross margin (below the 60.1%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Projects: 58.5% gross margin, 17.4 points clear of the 41.0%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20 of 27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Retainers</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September against September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99.4%</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$32,500 against $16,300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99.4%</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$97,500 against $48,900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61.7%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$60,120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21 of 27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Retainers</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brought in $97,500 this financial year to date, 99.4% on the same period last year (faster than the business as a whole, 77.1%), at a 61.7% gross margin (above the 60.1%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Retainers: 61.7% gross margin, 20.6 points clear of the 41.0%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22 of 27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Headline numbers · Services · Type of work: Training</a:t>
            </a:r>
          </a:p>
        </p:txBody>
      </p:sp>
      <p:sp>
        <p:nvSpPr>
          <p:cNvPr id="5" name="Rectangle 4"/>
          <p:cNvSpPr/>
          <p:nvPr/>
        </p:nvSpPr>
        <p:spPr>
          <a:xfrm>
            <a:off x="457200"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40080"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September against September last year</a:t>
            </a:r>
          </a:p>
        </p:txBody>
      </p:sp>
      <p:sp>
        <p:nvSpPr>
          <p:cNvPr id="7" name="TextBox 6"/>
          <p:cNvSpPr txBox="1"/>
          <p:nvPr/>
        </p:nvSpPr>
        <p:spPr>
          <a:xfrm>
            <a:off x="640080"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157.7%</a:t>
            </a:r>
          </a:p>
        </p:txBody>
      </p:sp>
      <p:sp>
        <p:nvSpPr>
          <p:cNvPr id="8" name="TextBox 7"/>
          <p:cNvSpPr txBox="1"/>
          <p:nvPr/>
        </p:nvSpPr>
        <p:spPr>
          <a:xfrm>
            <a:off x="640080"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$13,400 against $5,200</a:t>
            </a:r>
          </a:p>
        </p:txBody>
      </p:sp>
      <p:sp>
        <p:nvSpPr>
          <p:cNvPr id="9" name="Rectangle 8"/>
          <p:cNvSpPr/>
          <p:nvPr/>
        </p:nvSpPr>
        <p:spPr>
          <a:xfrm>
            <a:off x="4307738"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0" name="TextBox 9"/>
          <p:cNvSpPr txBox="1"/>
          <p:nvPr/>
        </p:nvSpPr>
        <p:spPr>
          <a:xfrm>
            <a:off x="4490618"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Year to date against the same period last year</a:t>
            </a:r>
          </a:p>
        </p:txBody>
      </p:sp>
      <p:sp>
        <p:nvSpPr>
          <p:cNvPr id="11" name="TextBox 10"/>
          <p:cNvSpPr txBox="1"/>
          <p:nvPr/>
        </p:nvSpPr>
        <p:spPr>
          <a:xfrm>
            <a:off x="4490618"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70.2%</a:t>
            </a:r>
          </a:p>
        </p:txBody>
      </p:sp>
      <p:sp>
        <p:nvSpPr>
          <p:cNvPr id="12" name="TextBox 11"/>
          <p:cNvSpPr txBox="1"/>
          <p:nvPr/>
        </p:nvSpPr>
        <p:spPr>
          <a:xfrm>
            <a:off x="4490618"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$28,600 against $16,800</a:t>
            </a:r>
          </a:p>
        </p:txBody>
      </p:sp>
      <p:sp>
        <p:nvSpPr>
          <p:cNvPr id="13" name="Rectangle 12"/>
          <p:cNvSpPr/>
          <p:nvPr/>
        </p:nvSpPr>
        <p:spPr>
          <a:xfrm>
            <a:off x="8158276" y="1645920"/>
            <a:ext cx="3576218" cy="2011680"/>
          </a:xfrm>
          <a:prstGeom prst="rect">
            <a:avLst/>
          </a:prstGeom>
          <a:solidFill>
            <a:srgbClr val="F7FAF7"/>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14" name="TextBox 13"/>
          <p:cNvSpPr txBox="1"/>
          <p:nvPr/>
        </p:nvSpPr>
        <p:spPr>
          <a:xfrm>
            <a:off x="8341156" y="1783080"/>
            <a:ext cx="3210458" cy="457200"/>
          </a:xfrm>
          <a:prstGeom prst="rect">
            <a:avLst/>
          </a:prstGeom>
          <a:noFill/>
        </p:spPr>
        <p:txBody>
          <a:bodyPr wrap="square">
            <a:spAutoFit/>
          </a:bodyPr>
          <a:lstStyle/>
          <a:p>
            <a:pPr>
              <a:defRPr>
                <a:latin typeface="Roboto"/>
              </a:defRPr>
            </a:pPr>
            <a:r>
              <a:rPr sz="1200" b="0">
                <a:solidFill>
                  <a:srgbClr val="5F6F63"/>
                </a:solidFill>
                <a:latin typeface="Roboto"/>
              </a:rPr>
              <a:t>Gross margin, year to date</a:t>
            </a:r>
          </a:p>
        </p:txBody>
      </p:sp>
      <p:sp>
        <p:nvSpPr>
          <p:cNvPr id="15" name="TextBox 14"/>
          <p:cNvSpPr txBox="1"/>
          <p:nvPr/>
        </p:nvSpPr>
        <p:spPr>
          <a:xfrm>
            <a:off x="8341156" y="2240280"/>
            <a:ext cx="3210458" cy="731520"/>
          </a:xfrm>
          <a:prstGeom prst="rect">
            <a:avLst/>
          </a:prstGeom>
          <a:noFill/>
        </p:spPr>
        <p:txBody>
          <a:bodyPr wrap="square">
            <a:spAutoFit/>
          </a:bodyPr>
          <a:lstStyle/>
          <a:p>
            <a:pPr>
              <a:defRPr>
                <a:latin typeface="Roboto"/>
              </a:defRPr>
            </a:pPr>
            <a:r>
              <a:rPr sz="3000" b="1">
                <a:solidFill>
                  <a:srgbClr val="2F7A5D"/>
                </a:solidFill>
                <a:latin typeface="Roboto"/>
              </a:rPr>
              <a:t>68.7%</a:t>
            </a:r>
          </a:p>
        </p:txBody>
      </p:sp>
      <p:sp>
        <p:nvSpPr>
          <p:cNvPr id="16" name="TextBox 15"/>
          <p:cNvSpPr txBox="1"/>
          <p:nvPr/>
        </p:nvSpPr>
        <p:spPr>
          <a:xfrm>
            <a:off x="8341156" y="3017520"/>
            <a:ext cx="3210458" cy="548640"/>
          </a:xfrm>
          <a:prstGeom prst="rect">
            <a:avLst/>
          </a:prstGeom>
          <a:noFill/>
        </p:spPr>
        <p:txBody>
          <a:bodyPr wrap="square">
            <a:spAutoFit/>
          </a:bodyPr>
          <a:lstStyle/>
          <a:p>
            <a:pPr>
              <a:defRPr>
                <a:latin typeface="Roboto"/>
              </a:defRPr>
            </a:pPr>
            <a:r>
              <a:rPr sz="1100" b="0">
                <a:solidFill>
                  <a:srgbClr val="5F6F63"/>
                </a:solidFill>
                <a:latin typeface="Roboto"/>
              </a:rPr>
              <a:t>$19,660 before overheads</a:t>
            </a:r>
          </a:p>
        </p:txBody>
      </p:sp>
      <p:sp>
        <p:nvSpPr>
          <p:cNvPr id="17" name="TextBox 1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8" name="TextBox 1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9" name="TextBox 1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23 of 27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What it shows · Services · Type of work: Training</a:t>
            </a:r>
          </a:p>
        </p:txBody>
      </p:sp>
      <p:sp>
        <p:nvSpPr>
          <p:cNvPr id="5" name="Rectangle 4"/>
          <p:cNvSpPr/>
          <p:nvPr/>
        </p:nvSpPr>
        <p:spPr>
          <a:xfrm>
            <a:off x="457200" y="1554480"/>
            <a:ext cx="5501487" cy="4389120"/>
          </a:xfrm>
          <a:prstGeom prst="rect">
            <a:avLst/>
          </a:prstGeom>
          <a:solidFill>
            <a:srgbClr val="FFFFFF"/>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6" name="TextBox 5"/>
          <p:cNvSpPr txBox="1"/>
          <p:nvPr/>
        </p:nvSpPr>
        <p:spPr>
          <a:xfrm>
            <a:off x="685800"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IT SHOWS</a:t>
            </a:r>
          </a:p>
        </p:txBody>
      </p:sp>
      <p:sp>
        <p:nvSpPr>
          <p:cNvPr id="7" name="TextBox 6"/>
          <p:cNvSpPr txBox="1"/>
          <p:nvPr/>
        </p:nvSpPr>
        <p:spPr>
          <a:xfrm>
            <a:off x="685800"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brought in $28,600 this financial year to date, 70.2% on the same period last year (slower than the business as a whole, 77.1%), at a 68.7% gross margin (above the 60.1% overall).</a:t>
            </a:r>
          </a:p>
        </p:txBody>
      </p:sp>
      <p:sp>
        <p:nvSpPr>
          <p:cNvPr id="8" name="Rectangle 7"/>
          <p:cNvSpPr/>
          <p:nvPr/>
        </p:nvSpPr>
        <p:spPr>
          <a:xfrm>
            <a:off x="6233007" y="1554480"/>
            <a:ext cx="5501487" cy="4389120"/>
          </a:xfrm>
          <a:prstGeom prst="rect">
            <a:avLst/>
          </a:prstGeom>
          <a:solidFill>
            <a:srgbClr val="EEF5F0"/>
          </a:solidFill>
          <a:ln>
            <a:solidFill>
              <a:srgbClr val="DCE8DC"/>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9" name="TextBox 8"/>
          <p:cNvSpPr txBox="1"/>
          <p:nvPr/>
        </p:nvSpPr>
        <p:spPr>
          <a:xfrm>
            <a:off x="6461607" y="1691640"/>
            <a:ext cx="5044287" cy="365760"/>
          </a:xfrm>
          <a:prstGeom prst="rect">
            <a:avLst/>
          </a:prstGeom>
          <a:noFill/>
        </p:spPr>
        <p:txBody>
          <a:bodyPr wrap="square">
            <a:spAutoFit/>
          </a:bodyPr>
          <a:lstStyle/>
          <a:p>
            <a:pPr>
              <a:defRPr>
                <a:latin typeface="Roboto"/>
              </a:defRPr>
            </a:pPr>
            <a:r>
              <a:rPr sz="1100" b="1">
                <a:solidFill>
                  <a:srgbClr val="5F6F63"/>
                </a:solidFill>
                <a:latin typeface="Roboto"/>
              </a:rPr>
              <a:t>WHAT YOU'D DO ABOUT IT</a:t>
            </a:r>
          </a:p>
        </p:txBody>
      </p:sp>
      <p:sp>
        <p:nvSpPr>
          <p:cNvPr id="10" name="TextBox 9"/>
          <p:cNvSpPr txBox="1"/>
          <p:nvPr/>
        </p:nvSpPr>
        <p:spPr>
          <a:xfrm>
            <a:off x="6461607" y="2103120"/>
            <a:ext cx="5044287" cy="3749039"/>
          </a:xfrm>
          <a:prstGeom prst="rect">
            <a:avLst/>
          </a:prstGeom>
          <a:noFill/>
        </p:spPr>
        <p:txBody>
          <a:bodyPr wrap="square">
            <a:spAutoFit/>
          </a:bodyPr>
          <a:lstStyle/>
          <a:p>
            <a:pPr>
              <a:defRPr>
                <a:latin typeface="Roboto"/>
              </a:defRPr>
            </a:pPr>
            <a:r>
              <a:rPr sz="1600" b="0">
                <a:solidFill>
                  <a:srgbClr val="25342A"/>
                </a:solidFill>
                <a:latin typeface="Roboto"/>
              </a:rPr>
              <a:t>Training: 68.7% gross margin, 27.7 points clear of the 41.0% overheads need.</a:t>
            </a:r>
          </a:p>
        </p:txBody>
      </p:sp>
      <p:sp>
        <p:nvSpPr>
          <p:cNvPr id="11" name="TextBox 10"/>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12" name="TextBox 11"/>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13" name="TextBox 12"/>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24 of 27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Revenue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25 of 27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Revenue, gross margin and growth by type of work, by month · Gross margin % · Services · Every type of work at once</a:t>
            </a:r>
          </a:p>
        </p:txBody>
      </p:sp>
      <p:sp>
        <p:nvSpPr>
          <p:cNvPr id="5" name="TextBox 4"/>
          <p:cNvSpPr txBox="1"/>
          <p:nvPr/>
        </p:nvSpPr>
        <p:spPr>
          <a:xfrm>
            <a:off x="457200" y="960120"/>
            <a:ext cx="11247120" cy="457200"/>
          </a:xfrm>
          <a:prstGeom prst="rect">
            <a:avLst/>
          </a:prstGeom>
          <a:noFill/>
        </p:spPr>
        <p:txBody>
          <a:bodyPr wrap="square">
            <a:spAutoFit/>
          </a:bodyPr>
          <a:lstStyle/>
          <a:p>
            <a:pPr>
              <a:defRPr>
                <a:latin typeface="Roboto"/>
              </a:defRPr>
            </a:pPr>
            <a:r>
              <a:rPr sz="1200" b="0">
                <a:solidFill>
                  <a:srgbClr val="5F6F63"/>
                </a:solidFill>
                <a:latin typeface="Roboto"/>
              </a:rPr>
              <a:t>Gross margin = revenue less direct cost (materials, subcontractors and time at cost for trades; contractors and consultant time for services), before overheads. Growth is year on year: each month against the same month a year earlier.</a:t>
            </a:r>
          </a:p>
        </p:txBody>
      </p:sp>
      <p:graphicFrame>
        <p:nvGraphicFramePr>
          <p:cNvPr id="6" name="Chart 5"/>
          <p:cNvGraphicFramePr>
            <a:graphicFrameLocks noGrp="1"/>
          </p:cNvGraphicFramePr>
          <p:nvPr/>
        </p:nvGraphicFramePr>
        <p:xfrm>
          <a:off x="457200" y="1463040"/>
          <a:ext cx="11247120" cy="4754880"/>
        </p:xfrm>
        <a:graphic>
          <a:graphicData uri="http://schemas.openxmlformats.org/drawingml/2006/chart">
            <c:chart xmlns:c="http://schemas.openxmlformats.org/drawingml/2006/chart" r:id="rId2"/>
          </a:graphicData>
        </a:graphic>
      </p:graphicFrame>
      <p:sp>
        <p:nvSpPr>
          <p:cNvPr id="7" name="TextBox 6"/>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8" name="TextBox 7"/>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9" name="TextBox 8"/>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26 of 27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2F7A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a:latin typeface="Roboto"/>
              </a:defRPr>
            </a:pPr>
          </a:p>
        </p:txBody>
      </p:sp>
      <p:sp>
        <p:nvSpPr>
          <p:cNvPr id="3" name="TextBox 2"/>
          <p:cNvSpPr txBox="1"/>
          <p:nvPr/>
        </p:nvSpPr>
        <p:spPr>
          <a:xfrm>
            <a:off x="457200" y="164592"/>
            <a:ext cx="7315200" cy="274320"/>
          </a:xfrm>
          <a:prstGeom prst="rect">
            <a:avLst/>
          </a:prstGeom>
          <a:noFill/>
        </p:spPr>
        <p:txBody>
          <a:bodyPr wrap="square">
            <a:spAutoFit/>
          </a:bodyPr>
          <a:lstStyle/>
          <a:p>
            <a:pPr>
              <a:defRPr>
                <a:latin typeface="Roboto"/>
              </a:defRPr>
            </a:pPr>
            <a:r>
              <a:rPr sz="1000" b="0">
                <a:solidFill>
                  <a:srgbClr val="5F6F63"/>
                </a:solidFill>
                <a:latin typeface="Roboto"/>
              </a:rPr>
              <a:t>SME sample businesses · Which products and services are growing?</a:t>
            </a:r>
          </a:p>
        </p:txBody>
      </p:sp>
      <p:sp>
        <p:nvSpPr>
          <p:cNvPr id="4" name="TextBox 3"/>
          <p:cNvSpPr txBox="1"/>
          <p:nvPr/>
        </p:nvSpPr>
        <p:spPr>
          <a:xfrm>
            <a:off x="457200" y="411480"/>
            <a:ext cx="11247120" cy="548640"/>
          </a:xfrm>
          <a:prstGeom prst="rect">
            <a:avLst/>
          </a:prstGeom>
          <a:noFill/>
        </p:spPr>
        <p:txBody>
          <a:bodyPr wrap="square">
            <a:spAutoFit/>
          </a:bodyPr>
          <a:lstStyle/>
          <a:p>
            <a:pPr>
              <a:defRPr>
                <a:latin typeface="Roboto"/>
              </a:defRPr>
            </a:pPr>
            <a:r>
              <a:rPr sz="2400" b="1">
                <a:solidFill>
                  <a:srgbClr val="25342A"/>
                </a:solidFill>
                <a:latin typeface="Roboto"/>
              </a:rPr>
              <a:t>By type of work: financial year to date (Jul to Sep 2026) against the same period last year · Services · Every type of work at once</a:t>
            </a:r>
          </a:p>
        </p:txBody>
      </p:sp>
      <p:graphicFrame>
        <p:nvGraphicFramePr>
          <p:cNvPr id="5" name="Table 4"/>
          <p:cNvGraphicFramePr>
            <a:graphicFrameLocks noGrp="1"/>
          </p:cNvGraphicFramePr>
          <p:nvPr/>
        </p:nvGraphicFramePr>
        <p:xfrm>
          <a:off x="457200" y="1188720"/>
          <a:ext cx="11247120" cy="1645920"/>
        </p:xfrm>
        <a:graphic>
          <a:graphicData uri="http://schemas.openxmlformats.org/drawingml/2006/table">
            <a:tbl>
              <a:tblPr firstRow="1" bandRow="1">
                <a:tableStyleId>{5C22544A-7EE6-4342-B048-85BDC9FD1C3A}</a:tableStyleId>
              </a:tblPr>
              <a:tblGrid>
                <a:gridCol w="1874520"/>
                <a:gridCol w="1874520"/>
                <a:gridCol w="1874520"/>
                <a:gridCol w="1874520"/>
                <a:gridCol w="1874520"/>
                <a:gridCol w="1874520"/>
              </a:tblGrid>
              <a:tr h="329184">
                <a:tc>
                  <a:txBody>
                    <a:bodyPr/>
                    <a:lstStyle/>
                    <a:p>
                      <a:pPr>
                        <a:defRPr>
                          <a:latin typeface="Roboto"/>
                        </a:defRPr>
                      </a:pPr>
                    </a:p>
                  </a:txBody>
                  <a:tcPr>
                    <a:solidFill>
                      <a:srgbClr val="2F7A5D"/>
                    </a:solidFill>
                  </a:tcPr>
                </a:tc>
                <a:tc>
                  <a:txBody>
                    <a:bodyPr/>
                    <a:lstStyle/>
                    <a:p>
                      <a:pPr algn="r">
                        <a:defRPr>
                          <a:latin typeface="Roboto"/>
                        </a:defRPr>
                      </a:pPr>
                      <a:r>
                        <a:rPr sz="1100" b="1">
                          <a:solidFill>
                            <a:srgbClr val="FFFFFF"/>
                          </a:solidFill>
                          <a:latin typeface="Roboto"/>
                        </a:rPr>
                        <a:t>Year to date</a:t>
                      </a:r>
                    </a:p>
                  </a:txBody>
                  <a:tcPr>
                    <a:solidFill>
                      <a:srgbClr val="2F7A5D"/>
                    </a:solidFill>
                  </a:tcPr>
                </a:tc>
                <a:tc>
                  <a:txBody>
                    <a:bodyPr/>
                    <a:lstStyle/>
                    <a:p>
                      <a:pPr algn="r">
                        <a:defRPr>
                          <a:latin typeface="Roboto"/>
                        </a:defRPr>
                      </a:pPr>
                      <a:r>
                        <a:rPr sz="1100" b="1">
                          <a:solidFill>
                            <a:srgbClr val="FFFFFF"/>
                          </a:solidFill>
                          <a:latin typeface="Roboto"/>
                        </a:rPr>
                        <a:t>Same period last year</a:t>
                      </a:r>
                    </a:p>
                  </a:txBody>
                  <a:tcPr>
                    <a:solidFill>
                      <a:srgbClr val="2F7A5D"/>
                    </a:solidFill>
                  </a:tcPr>
                </a:tc>
                <a:tc>
                  <a:txBody>
                    <a:bodyPr/>
                    <a:lstStyle/>
                    <a:p>
                      <a:pPr algn="r">
                        <a:defRPr>
                          <a:latin typeface="Roboto"/>
                        </a:defRPr>
                      </a:pPr>
                      <a:r>
                        <a:rPr sz="1100" b="1">
                          <a:solidFill>
                            <a:srgbClr val="FFFFFF"/>
                          </a:solidFill>
                          <a:latin typeface="Roboto"/>
                        </a:rPr>
                        <a:t>Growth</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c>
                  <a:txBody>
                    <a:bodyPr/>
                    <a:lstStyle/>
                    <a:p>
                      <a:pPr algn="r">
                        <a:defRPr>
                          <a:latin typeface="Roboto"/>
                        </a:defRPr>
                      </a:pPr>
                      <a:r>
                        <a:rPr sz="1100" b="1">
                          <a:solidFill>
                            <a:srgbClr val="FFFFFF"/>
                          </a:solidFill>
                          <a:latin typeface="Roboto"/>
                        </a:rPr>
                        <a:t>Gross margin %</a:t>
                      </a:r>
                    </a:p>
                  </a:txBody>
                  <a:tcPr>
                    <a:solidFill>
                      <a:srgbClr val="2F7A5D"/>
                    </a:solidFill>
                  </a:tcPr>
                </a:tc>
              </a:tr>
              <a:tr h="329184">
                <a:tc>
                  <a:txBody>
                    <a:bodyPr/>
                    <a:lstStyle/>
                    <a:p>
                      <a:pPr>
                        <a:defRPr>
                          <a:latin typeface="Roboto"/>
                        </a:defRPr>
                      </a:pPr>
                      <a:r>
                        <a:rPr sz="1050">
                          <a:solidFill>
                            <a:srgbClr val="25342A"/>
                          </a:solidFill>
                          <a:latin typeface="Roboto"/>
                        </a:rPr>
                        <a:t>Projects</a:t>
                      </a:r>
                    </a:p>
                  </a:txBody>
                  <a:tcPr>
                    <a:solidFill>
                      <a:srgbClr val="FFFFFF"/>
                    </a:solidFill>
                  </a:tcPr>
                </a:tc>
                <a:tc>
                  <a:txBody>
                    <a:bodyPr/>
                    <a:lstStyle/>
                    <a:p>
                      <a:pPr algn="r">
                        <a:defRPr>
                          <a:latin typeface="Roboto"/>
                        </a:defRPr>
                      </a:pPr>
                      <a:r>
                        <a:rPr sz="1050">
                          <a:solidFill>
                            <a:srgbClr val="25342A"/>
                          </a:solidFill>
                          <a:latin typeface="Roboto"/>
                        </a:rPr>
                        <a:t>$241,145</a:t>
                      </a:r>
                    </a:p>
                  </a:txBody>
                  <a:tcPr>
                    <a:solidFill>
                      <a:srgbClr val="FFFFFF"/>
                    </a:solidFill>
                  </a:tcPr>
                </a:tc>
                <a:tc>
                  <a:txBody>
                    <a:bodyPr/>
                    <a:lstStyle/>
                    <a:p>
                      <a:pPr algn="r">
                        <a:defRPr>
                          <a:latin typeface="Roboto"/>
                        </a:defRPr>
                      </a:pPr>
                      <a:r>
                        <a:rPr sz="1050">
                          <a:solidFill>
                            <a:srgbClr val="25342A"/>
                          </a:solidFill>
                          <a:latin typeface="Roboto"/>
                        </a:rPr>
                        <a:t>$141,630</a:t>
                      </a:r>
                    </a:p>
                  </a:txBody>
                  <a:tcPr>
                    <a:solidFill>
                      <a:srgbClr val="FFFFFF"/>
                    </a:solidFill>
                  </a:tcPr>
                </a:tc>
                <a:tc>
                  <a:txBody>
                    <a:bodyPr/>
                    <a:lstStyle/>
                    <a:p>
                      <a:pPr algn="r">
                        <a:defRPr>
                          <a:latin typeface="Roboto"/>
                        </a:defRPr>
                      </a:pPr>
                      <a:r>
                        <a:rPr sz="1050">
                          <a:solidFill>
                            <a:srgbClr val="25342A"/>
                          </a:solidFill>
                          <a:latin typeface="Roboto"/>
                        </a:rPr>
                        <a:t>70.3%</a:t>
                      </a:r>
                    </a:p>
                  </a:txBody>
                  <a:tcPr>
                    <a:solidFill>
                      <a:srgbClr val="FFFFFF"/>
                    </a:solidFill>
                  </a:tcPr>
                </a:tc>
                <a:tc>
                  <a:txBody>
                    <a:bodyPr/>
                    <a:lstStyle/>
                    <a:p>
                      <a:pPr algn="r">
                        <a:defRPr>
                          <a:latin typeface="Roboto"/>
                        </a:defRPr>
                      </a:pPr>
                      <a:r>
                        <a:rPr sz="1050">
                          <a:solidFill>
                            <a:srgbClr val="25342A"/>
                          </a:solidFill>
                          <a:latin typeface="Roboto"/>
                        </a:rPr>
                        <a:t>$140,985</a:t>
                      </a:r>
                    </a:p>
                  </a:txBody>
                  <a:tcPr>
                    <a:solidFill>
                      <a:srgbClr val="FFFFFF"/>
                    </a:solidFill>
                  </a:tcPr>
                </a:tc>
                <a:tc>
                  <a:txBody>
                    <a:bodyPr/>
                    <a:lstStyle/>
                    <a:p>
                      <a:pPr algn="r">
                        <a:defRPr>
                          <a:latin typeface="Roboto"/>
                        </a:defRPr>
                      </a:pPr>
                      <a:r>
                        <a:rPr sz="1050">
                          <a:solidFill>
                            <a:srgbClr val="25342A"/>
                          </a:solidFill>
                          <a:latin typeface="Roboto"/>
                        </a:rPr>
                        <a:t>58.5%</a:t>
                      </a:r>
                    </a:p>
                  </a:txBody>
                  <a:tcPr>
                    <a:solidFill>
                      <a:srgbClr val="FFFFFF"/>
                    </a:solidFill>
                  </a:tcPr>
                </a:tc>
              </a:tr>
              <a:tr h="329184">
                <a:tc>
                  <a:txBody>
                    <a:bodyPr/>
                    <a:lstStyle/>
                    <a:p>
                      <a:pPr>
                        <a:defRPr>
                          <a:latin typeface="Roboto"/>
                        </a:defRPr>
                      </a:pPr>
                      <a:r>
                        <a:rPr sz="1050">
                          <a:solidFill>
                            <a:srgbClr val="25342A"/>
                          </a:solidFill>
                          <a:latin typeface="Roboto"/>
                        </a:rPr>
                        <a:t>Retainers</a:t>
                      </a:r>
                    </a:p>
                  </a:txBody>
                  <a:tcPr>
                    <a:solidFill>
                      <a:srgbClr val="F7FAF7"/>
                    </a:solidFill>
                  </a:tcPr>
                </a:tc>
                <a:tc>
                  <a:txBody>
                    <a:bodyPr/>
                    <a:lstStyle/>
                    <a:p>
                      <a:pPr algn="r">
                        <a:defRPr>
                          <a:latin typeface="Roboto"/>
                        </a:defRPr>
                      </a:pPr>
                      <a:r>
                        <a:rPr sz="1050">
                          <a:solidFill>
                            <a:srgbClr val="25342A"/>
                          </a:solidFill>
                          <a:latin typeface="Roboto"/>
                        </a:rPr>
                        <a:t>$97,500</a:t>
                      </a:r>
                    </a:p>
                  </a:txBody>
                  <a:tcPr>
                    <a:solidFill>
                      <a:srgbClr val="F7FAF7"/>
                    </a:solidFill>
                  </a:tcPr>
                </a:tc>
                <a:tc>
                  <a:txBody>
                    <a:bodyPr/>
                    <a:lstStyle/>
                    <a:p>
                      <a:pPr algn="r">
                        <a:defRPr>
                          <a:latin typeface="Roboto"/>
                        </a:defRPr>
                      </a:pPr>
                      <a:r>
                        <a:rPr sz="1050">
                          <a:solidFill>
                            <a:srgbClr val="25342A"/>
                          </a:solidFill>
                          <a:latin typeface="Roboto"/>
                        </a:rPr>
                        <a:t>$48,900</a:t>
                      </a:r>
                    </a:p>
                  </a:txBody>
                  <a:tcPr>
                    <a:solidFill>
                      <a:srgbClr val="F7FAF7"/>
                    </a:solidFill>
                  </a:tcPr>
                </a:tc>
                <a:tc>
                  <a:txBody>
                    <a:bodyPr/>
                    <a:lstStyle/>
                    <a:p>
                      <a:pPr algn="r">
                        <a:defRPr>
                          <a:latin typeface="Roboto"/>
                        </a:defRPr>
                      </a:pPr>
                      <a:r>
                        <a:rPr sz="1050">
                          <a:solidFill>
                            <a:srgbClr val="25342A"/>
                          </a:solidFill>
                          <a:latin typeface="Roboto"/>
                        </a:rPr>
                        <a:t>99.4%</a:t>
                      </a:r>
                    </a:p>
                  </a:txBody>
                  <a:tcPr>
                    <a:solidFill>
                      <a:srgbClr val="F7FAF7"/>
                    </a:solidFill>
                  </a:tcPr>
                </a:tc>
                <a:tc>
                  <a:txBody>
                    <a:bodyPr/>
                    <a:lstStyle/>
                    <a:p>
                      <a:pPr algn="r">
                        <a:defRPr>
                          <a:latin typeface="Roboto"/>
                        </a:defRPr>
                      </a:pPr>
                      <a:r>
                        <a:rPr sz="1050">
                          <a:solidFill>
                            <a:srgbClr val="25342A"/>
                          </a:solidFill>
                          <a:latin typeface="Roboto"/>
                        </a:rPr>
                        <a:t>$60,120</a:t>
                      </a:r>
                    </a:p>
                  </a:txBody>
                  <a:tcPr>
                    <a:solidFill>
                      <a:srgbClr val="F7FAF7"/>
                    </a:solidFill>
                  </a:tcPr>
                </a:tc>
                <a:tc>
                  <a:txBody>
                    <a:bodyPr/>
                    <a:lstStyle/>
                    <a:p>
                      <a:pPr algn="r">
                        <a:defRPr>
                          <a:latin typeface="Roboto"/>
                        </a:defRPr>
                      </a:pPr>
                      <a:r>
                        <a:rPr sz="1050">
                          <a:solidFill>
                            <a:srgbClr val="25342A"/>
                          </a:solidFill>
                          <a:latin typeface="Roboto"/>
                        </a:rPr>
                        <a:t>61.7%</a:t>
                      </a:r>
                    </a:p>
                  </a:txBody>
                  <a:tcPr>
                    <a:solidFill>
                      <a:srgbClr val="F7FAF7"/>
                    </a:solidFill>
                  </a:tcPr>
                </a:tc>
              </a:tr>
              <a:tr h="329184">
                <a:tc>
                  <a:txBody>
                    <a:bodyPr/>
                    <a:lstStyle/>
                    <a:p>
                      <a:pPr>
                        <a:defRPr>
                          <a:latin typeface="Roboto"/>
                        </a:defRPr>
                      </a:pPr>
                      <a:r>
                        <a:rPr sz="1050">
                          <a:solidFill>
                            <a:srgbClr val="25342A"/>
                          </a:solidFill>
                          <a:latin typeface="Roboto"/>
                        </a:rPr>
                        <a:t>Training</a:t>
                      </a:r>
                    </a:p>
                  </a:txBody>
                  <a:tcPr>
                    <a:solidFill>
                      <a:srgbClr val="FFFFFF"/>
                    </a:solidFill>
                  </a:tcPr>
                </a:tc>
                <a:tc>
                  <a:txBody>
                    <a:bodyPr/>
                    <a:lstStyle/>
                    <a:p>
                      <a:pPr algn="r">
                        <a:defRPr>
                          <a:latin typeface="Roboto"/>
                        </a:defRPr>
                      </a:pPr>
                      <a:r>
                        <a:rPr sz="1050">
                          <a:solidFill>
                            <a:srgbClr val="25342A"/>
                          </a:solidFill>
                          <a:latin typeface="Roboto"/>
                        </a:rPr>
                        <a:t>$28,600</a:t>
                      </a:r>
                    </a:p>
                  </a:txBody>
                  <a:tcPr>
                    <a:solidFill>
                      <a:srgbClr val="FFFFFF"/>
                    </a:solidFill>
                  </a:tcPr>
                </a:tc>
                <a:tc>
                  <a:txBody>
                    <a:bodyPr/>
                    <a:lstStyle/>
                    <a:p>
                      <a:pPr algn="r">
                        <a:defRPr>
                          <a:latin typeface="Roboto"/>
                        </a:defRPr>
                      </a:pPr>
                      <a:r>
                        <a:rPr sz="1050">
                          <a:solidFill>
                            <a:srgbClr val="25342A"/>
                          </a:solidFill>
                          <a:latin typeface="Roboto"/>
                        </a:rPr>
                        <a:t>$16,800</a:t>
                      </a:r>
                    </a:p>
                  </a:txBody>
                  <a:tcPr>
                    <a:solidFill>
                      <a:srgbClr val="FFFFFF"/>
                    </a:solidFill>
                  </a:tcPr>
                </a:tc>
                <a:tc>
                  <a:txBody>
                    <a:bodyPr/>
                    <a:lstStyle/>
                    <a:p>
                      <a:pPr algn="r">
                        <a:defRPr>
                          <a:latin typeface="Roboto"/>
                        </a:defRPr>
                      </a:pPr>
                      <a:r>
                        <a:rPr sz="1050">
                          <a:solidFill>
                            <a:srgbClr val="25342A"/>
                          </a:solidFill>
                          <a:latin typeface="Roboto"/>
                        </a:rPr>
                        <a:t>70.2%</a:t>
                      </a:r>
                    </a:p>
                  </a:txBody>
                  <a:tcPr>
                    <a:solidFill>
                      <a:srgbClr val="FFFFFF"/>
                    </a:solidFill>
                  </a:tcPr>
                </a:tc>
                <a:tc>
                  <a:txBody>
                    <a:bodyPr/>
                    <a:lstStyle/>
                    <a:p>
                      <a:pPr algn="r">
                        <a:defRPr>
                          <a:latin typeface="Roboto"/>
                        </a:defRPr>
                      </a:pPr>
                      <a:r>
                        <a:rPr sz="1050">
                          <a:solidFill>
                            <a:srgbClr val="25342A"/>
                          </a:solidFill>
                          <a:latin typeface="Roboto"/>
                        </a:rPr>
                        <a:t>$19,660</a:t>
                      </a:r>
                    </a:p>
                  </a:txBody>
                  <a:tcPr>
                    <a:solidFill>
                      <a:srgbClr val="FFFFFF"/>
                    </a:solidFill>
                  </a:tcPr>
                </a:tc>
                <a:tc>
                  <a:txBody>
                    <a:bodyPr/>
                    <a:lstStyle/>
                    <a:p>
                      <a:pPr algn="r">
                        <a:defRPr>
                          <a:latin typeface="Roboto"/>
                        </a:defRPr>
                      </a:pPr>
                      <a:r>
                        <a:rPr sz="1050">
                          <a:solidFill>
                            <a:srgbClr val="25342A"/>
                          </a:solidFill>
                          <a:latin typeface="Roboto"/>
                        </a:rPr>
                        <a:t>68.7%</a:t>
                      </a:r>
                    </a:p>
                  </a:txBody>
                  <a:tcPr>
                    <a:solidFill>
                      <a:srgbClr val="FFFFFF"/>
                    </a:solidFill>
                  </a:tcPr>
                </a:tc>
              </a:tr>
              <a:tr h="329184">
                <a:tc>
                  <a:txBody>
                    <a:bodyPr/>
                    <a:lstStyle/>
                    <a:p>
                      <a:pPr>
                        <a:defRPr>
                          <a:latin typeface="Roboto"/>
                        </a:defRPr>
                      </a:pPr>
                      <a:r>
                        <a:rPr sz="1050" b="1">
                          <a:solidFill>
                            <a:srgbClr val="25342A"/>
                          </a:solidFill>
                          <a:latin typeface="Roboto"/>
                        </a:rPr>
                        <a:t>Total</a:t>
                      </a:r>
                    </a:p>
                  </a:txBody>
                  <a:tcPr>
                    <a:solidFill>
                      <a:srgbClr val="F7FAF7"/>
                    </a:solidFill>
                  </a:tcPr>
                </a:tc>
                <a:tc>
                  <a:txBody>
                    <a:bodyPr/>
                    <a:lstStyle/>
                    <a:p>
                      <a:pPr algn="r">
                        <a:defRPr>
                          <a:latin typeface="Roboto"/>
                        </a:defRPr>
                      </a:pPr>
                      <a:r>
                        <a:rPr sz="1050" b="1">
                          <a:solidFill>
                            <a:srgbClr val="25342A"/>
                          </a:solidFill>
                          <a:latin typeface="Roboto"/>
                        </a:rPr>
                        <a:t>$367,245</a:t>
                      </a:r>
                    </a:p>
                  </a:txBody>
                  <a:tcPr>
                    <a:solidFill>
                      <a:srgbClr val="F7FAF7"/>
                    </a:solidFill>
                  </a:tcPr>
                </a:tc>
                <a:tc>
                  <a:txBody>
                    <a:bodyPr/>
                    <a:lstStyle/>
                    <a:p>
                      <a:pPr algn="r">
                        <a:defRPr>
                          <a:latin typeface="Roboto"/>
                        </a:defRPr>
                      </a:pPr>
                      <a:r>
                        <a:rPr sz="1050" b="1">
                          <a:solidFill>
                            <a:srgbClr val="25342A"/>
                          </a:solidFill>
                          <a:latin typeface="Roboto"/>
                        </a:rPr>
                        <a:t>$207,330</a:t>
                      </a:r>
                    </a:p>
                  </a:txBody>
                  <a:tcPr>
                    <a:solidFill>
                      <a:srgbClr val="F7FAF7"/>
                    </a:solidFill>
                  </a:tcPr>
                </a:tc>
                <a:tc>
                  <a:txBody>
                    <a:bodyPr/>
                    <a:lstStyle/>
                    <a:p>
                      <a:pPr algn="r">
                        <a:defRPr>
                          <a:latin typeface="Roboto"/>
                        </a:defRPr>
                      </a:pPr>
                      <a:r>
                        <a:rPr sz="1050" b="1">
                          <a:solidFill>
                            <a:srgbClr val="25342A"/>
                          </a:solidFill>
                          <a:latin typeface="Roboto"/>
                        </a:rPr>
                        <a:t>77.1%</a:t>
                      </a:r>
                    </a:p>
                  </a:txBody>
                  <a:tcPr>
                    <a:solidFill>
                      <a:srgbClr val="F7FAF7"/>
                    </a:solidFill>
                  </a:tcPr>
                </a:tc>
                <a:tc>
                  <a:txBody>
                    <a:bodyPr/>
                    <a:lstStyle/>
                    <a:p>
                      <a:pPr algn="r">
                        <a:defRPr>
                          <a:latin typeface="Roboto"/>
                        </a:defRPr>
                      </a:pPr>
                      <a:r>
                        <a:rPr sz="1050" b="1">
                          <a:solidFill>
                            <a:srgbClr val="25342A"/>
                          </a:solidFill>
                          <a:latin typeface="Roboto"/>
                        </a:rPr>
                        <a:t>$220,765</a:t>
                      </a:r>
                    </a:p>
                  </a:txBody>
                  <a:tcPr>
                    <a:solidFill>
                      <a:srgbClr val="F7FAF7"/>
                    </a:solidFill>
                  </a:tcPr>
                </a:tc>
                <a:tc>
                  <a:txBody>
                    <a:bodyPr/>
                    <a:lstStyle/>
                    <a:p>
                      <a:pPr algn="r">
                        <a:defRPr>
                          <a:latin typeface="Roboto"/>
                        </a:defRPr>
                      </a:pPr>
                      <a:r>
                        <a:rPr sz="1050" b="1">
                          <a:solidFill>
                            <a:srgbClr val="25342A"/>
                          </a:solidFill>
                          <a:latin typeface="Roboto"/>
                        </a:rPr>
                        <a:t>60.1%</a:t>
                      </a:r>
                    </a:p>
                  </a:txBody>
                  <a:tcPr>
                    <a:solidFill>
                      <a:srgbClr val="F7FAF7"/>
                    </a:solidFill>
                  </a:tcPr>
                </a:tc>
              </a:tr>
            </a:tbl>
          </a:graphicData>
        </a:graphic>
      </p:graphicFrame>
      <p:sp>
        <p:nvSpPr>
          <p:cNvPr id="6" name="TextBox 5"/>
          <p:cNvSpPr txBox="1"/>
          <p:nvPr/>
        </p:nvSpPr>
        <p:spPr>
          <a:xfrm>
            <a:off x="457200" y="6492240"/>
            <a:ext cx="3657600" cy="274320"/>
          </a:xfrm>
          <a:prstGeom prst="rect">
            <a:avLst/>
          </a:prstGeom>
          <a:noFill/>
        </p:spPr>
        <p:txBody>
          <a:bodyPr wrap="square">
            <a:spAutoFit/>
          </a:bodyPr>
          <a:lstStyle/>
          <a:p>
            <a:pPr>
              <a:defRPr>
                <a:latin typeface="Roboto"/>
              </a:defRPr>
            </a:pPr>
            <a:r>
              <a:rPr sz="900" b="0">
                <a:solidFill>
                  <a:srgbClr val="5F6F63"/>
                </a:solidFill>
                <a:latin typeface="Roboto"/>
              </a:rPr>
              <a:t>growth.pptx</a:t>
            </a:r>
          </a:p>
        </p:txBody>
      </p:sp>
      <p:sp>
        <p:nvSpPr>
          <p:cNvPr id="7" name="TextBox 6"/>
          <p:cNvSpPr txBox="1"/>
          <p:nvPr/>
        </p:nvSpPr>
        <p:spPr>
          <a:xfrm>
            <a:off x="4297680" y="6492240"/>
            <a:ext cx="3657600" cy="274320"/>
          </a:xfrm>
          <a:prstGeom prst="rect">
            <a:avLst/>
          </a:prstGeom>
          <a:noFill/>
        </p:spPr>
        <p:txBody>
          <a:bodyPr wrap="square">
            <a:spAutoFit/>
          </a:bodyPr>
          <a:lstStyle/>
          <a:p>
            <a:pPr algn="ctr">
              <a:defRPr>
                <a:latin typeface="Roboto"/>
              </a:defRPr>
            </a:pPr>
            <a:r>
              <a:rPr sz="900" b="0">
                <a:solidFill>
                  <a:srgbClr val="5F6F63"/>
                </a:solidFill>
                <a:latin typeface="Roboto"/>
              </a:rPr>
              <a:t>Data retrieved 2pm, Tue 6 Oct 2026 · Sample data</a:t>
            </a:r>
          </a:p>
        </p:txBody>
      </p:sp>
      <p:sp>
        <p:nvSpPr>
          <p:cNvPr id="8" name="TextBox 7"/>
          <p:cNvSpPr txBox="1"/>
          <p:nvPr/>
        </p:nvSpPr>
        <p:spPr>
          <a:xfrm>
            <a:off x="8503920" y="6492240"/>
            <a:ext cx="3200400" cy="274320"/>
          </a:xfrm>
          <a:prstGeom prst="rect">
            <a:avLst/>
          </a:prstGeom>
          <a:noFill/>
        </p:spPr>
        <p:txBody>
          <a:bodyPr wrap="square">
            <a:spAutoFit/>
          </a:bodyPr>
          <a:lstStyle/>
          <a:p>
            <a:pPr algn="r">
              <a:defRPr>
                <a:latin typeface="Roboto"/>
              </a:defRPr>
            </a:pPr>
            <a:r>
              <a:rPr sz="900" b="0">
                <a:solidFill>
                  <a:srgbClr val="5F6F63"/>
                </a:solidFill>
                <a:latin typeface="Roboto"/>
              </a:rPr>
              <a:t>Slide 27 of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