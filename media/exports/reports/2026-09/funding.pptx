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Grants</c:v>
                </c:pt>
                <c:pt idx="1">
                  <c:v>Donations</c:v>
                </c:pt>
                <c:pt idx="2">
                  <c:v>Fundraising events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9</c:v>
                </c:pt>
                <c:pt idx="1">
                  <c:v>19</c:v>
                </c:pt>
                <c:pt idx="2">
                  <c:v>41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41900</c:v>
                </c:pt>
                <c:pt idx="1">
                  <c:v>49500</c:v>
                </c:pt>
                <c:pt idx="2">
                  <c:v>60600</c:v>
                </c:pt>
                <c:pt idx="3">
                  <c:v>75100</c:v>
                </c:pt>
                <c:pt idx="4">
                  <c:v>77300</c:v>
                </c:pt>
                <c:pt idx="5">
                  <c:v>70200</c:v>
                </c:pt>
                <c:pt idx="6">
                  <c:v>77200</c:v>
                </c:pt>
                <c:pt idx="7">
                  <c:v>77500</c:v>
                </c:pt>
                <c:pt idx="8">
                  <c:v>90300</c:v>
                </c:pt>
                <c:pt idx="9">
                  <c:v>72563</c:v>
                </c:pt>
                <c:pt idx="10">
                  <c:v>77544</c:v>
                </c:pt>
                <c:pt idx="11">
                  <c:v>115037</c:v>
                </c:pt>
                <c:pt idx="12">
                  <c:v>85385</c:v>
                </c:pt>
                <c:pt idx="13">
                  <c:v>88864</c:v>
                </c:pt>
                <c:pt idx="14">
                  <c:v>101093</c:v>
                </c:pt>
                <c:pt idx="15">
                  <c:v>72885</c:v>
                </c:pt>
                <c:pt idx="16">
                  <c:v>72159</c:v>
                </c:pt>
                <c:pt idx="17">
                  <c:v>70306</c:v>
                </c:pt>
                <c:pt idx="18">
                  <c:v>83329</c:v>
                </c:pt>
                <c:pt idx="19">
                  <c:v>88845</c:v>
                </c:pt>
                <c:pt idx="20">
                  <c:v>110972</c:v>
                </c:pt>
                <c:pt idx="21">
                  <c:v>86918</c:v>
                </c:pt>
                <c:pt idx="22">
                  <c:v>92100</c:v>
                </c:pt>
                <c:pt idx="23">
                  <c:v>146500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  <c:pt idx="23">
                  <c:v>Sep 26</c:v>
                </c:pt>
              </c:strCache>
            </c:strRef>
          </c:cat>
          <c:val>
            <c:numRef>
              <c:f>Sheet1!$B$2:$B$25</c:f>
              <c:numCache>
                <c:formatCode>$#,##0;[Red]($#,##0);"-"</c:formatCode>
                <c:ptCount val="24"/>
                <c:pt idx="0">
                  <c:v>33200</c:v>
                </c:pt>
                <c:pt idx="1">
                  <c:v>39900</c:v>
                </c:pt>
                <c:pt idx="2">
                  <c:v>47100</c:v>
                </c:pt>
                <c:pt idx="3">
                  <c:v>66400</c:v>
                </c:pt>
                <c:pt idx="4">
                  <c:v>68600</c:v>
                </c:pt>
                <c:pt idx="5">
                  <c:v>61500</c:v>
                </c:pt>
                <c:pt idx="6">
                  <c:v>68500</c:v>
                </c:pt>
                <c:pt idx="7">
                  <c:v>68800</c:v>
                </c:pt>
                <c:pt idx="8">
                  <c:v>78300</c:v>
                </c:pt>
                <c:pt idx="9">
                  <c:v>63263</c:v>
                </c:pt>
                <c:pt idx="10">
                  <c:v>68244</c:v>
                </c:pt>
                <c:pt idx="11">
                  <c:v>90537</c:v>
                </c:pt>
                <c:pt idx="12">
                  <c:v>76085</c:v>
                </c:pt>
                <c:pt idx="13">
                  <c:v>78664</c:v>
                </c:pt>
                <c:pt idx="14">
                  <c:v>86993</c:v>
                </c:pt>
                <c:pt idx="15">
                  <c:v>63585</c:v>
                </c:pt>
                <c:pt idx="16">
                  <c:v>62859</c:v>
                </c:pt>
                <c:pt idx="17">
                  <c:v>61006</c:v>
                </c:pt>
                <c:pt idx="18">
                  <c:v>74029</c:v>
                </c:pt>
                <c:pt idx="19">
                  <c:v>79545</c:v>
                </c:pt>
                <c:pt idx="20">
                  <c:v>98372</c:v>
                </c:pt>
                <c:pt idx="21">
                  <c:v>77618</c:v>
                </c:pt>
                <c:pt idx="22">
                  <c:v>80400</c:v>
                </c:pt>
                <c:pt idx="23">
                  <c:v>117100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Which funding is worth chasing?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September 2026. Each source of money compared on what it raises and what it costs to raise. Pick a source and every chart, table row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August 2026: Locked. August 2026 is locked (closed 2 Sep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September 2026: Locked. September 2026 is locked (closed 2 Oct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raise a dollar, by source, September 2026 (cents) · Source: All sources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All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In September it cost: Grants 9¢, donations 19¢ and fundraising events 41¢ to raise each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Cheapest to raise in September: grants (9¢ a dollar). Dearest: fundraising events (41¢). Events are worth counting for what else they bring too (new donors, profile).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Grants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Grants: $223,318 raised this financial year to date (68.6% of everything raised), $21,300 to raise it, so $202,018 left for programs: 10¢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Most of the money, and usually the cheapest to raise, starting with grants that renew.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Donations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Donations: $60,600 raised this financial year to date (18.6% of everything raised), $9,800 to raise it, so $50,800 left for programs: 16¢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Cheap and flexible (untied): the money that builds reserves.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 · Source: Fundraising events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Fundraising events: $41,600 raised this financial year to date (12.8% of everything raised), $19,300 to raise it, so $22,300 left for programs: 46¢ per dollar.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The dearest per dollar: worth measuring the new donors each event brings in too.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6 of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Financial year to date (Jul to Sep 2026), by source · Every source at once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29184">
                <a:tc>
                  <a:txBody>
                    <a:bodyPr/>
                    <a:lstStyle/>
                    <a:p/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Raised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 of raising it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Left after costs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Cost per $1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Grants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$223,318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$21,300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$202,018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10¢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Donations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$60,600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$9,800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$50,800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16¢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5342A"/>
                          </a:solidFill>
                        </a:rPr>
                        <a:t>Fundraising events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$41,600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$19,300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$22,300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>
                          <a:solidFill>
                            <a:srgbClr val="25342A"/>
                          </a:solidFill>
                        </a:rPr>
                        <a:t>46¢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7 of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Raised and left after costs, by month · Raised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8 of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Community Services Ltd · Which funding is worth chasing?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Raised and left after costs, by month · Left after costs $ · Every source at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funding.pptx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9 of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