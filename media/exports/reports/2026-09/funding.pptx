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Cost to raise a dollar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cat>
            <c:strRef>
              <c:f>Sheet1!$A$2:$A$4</c:f>
              <c:strCache>
                <c:ptCount val="3"/>
                <c:pt idx="0">
                  <c:v>Grants</c:v>
                </c:pt>
                <c:pt idx="1">
                  <c:v>Donations</c:v>
                </c:pt>
                <c:pt idx="2">
                  <c:v>Fundraising events</c:v>
                </c:pt>
              </c:strCache>
            </c:strRef>
          </c:cat>
          <c:val>
            <c:numRef>
              <c:f>Sheet1!$B$2:$B$4</c:f>
              <c:numCache>
                <c:formatCode>0"¢";[Red](0"¢")</c:formatCode>
                <c:ptCount val="3"/>
                <c:pt idx="0">
                  <c:v>9</c:v>
                </c:pt>
                <c:pt idx="1">
                  <c:v>19</c:v>
                </c:pt>
                <c:pt idx="2">
                  <c:v>41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7.1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26600</c:v>
                </c:pt>
                <c:pt idx="1">
                  <c:v>31800</c:v>
                </c:pt>
                <c:pt idx="2">
                  <c:v>29700</c:v>
                </c:pt>
                <c:pt idx="3">
                  <c:v>62700</c:v>
                </c:pt>
                <c:pt idx="4">
                  <c:v>61700</c:v>
                </c:pt>
                <c:pt idx="5">
                  <c:v>54500</c:v>
                </c:pt>
                <c:pt idx="6">
                  <c:v>61500</c:v>
                </c:pt>
                <c:pt idx="7">
                  <c:v>61700</c:v>
                </c:pt>
                <c:pt idx="8">
                  <c:v>52200</c:v>
                </c:pt>
                <c:pt idx="9">
                  <c:v>59063</c:v>
                </c:pt>
                <c:pt idx="10">
                  <c:v>61544</c:v>
                </c:pt>
                <c:pt idx="11">
                  <c:v>62137</c:v>
                </c:pt>
                <c:pt idx="12">
                  <c:v>69185</c:v>
                </c:pt>
                <c:pt idx="13">
                  <c:v>70164</c:v>
                </c:pt>
                <c:pt idx="14">
                  <c:v>68793</c:v>
                </c:pt>
                <c:pt idx="15">
                  <c:v>59785</c:v>
                </c:pt>
                <c:pt idx="16">
                  <c:v>55759</c:v>
                </c:pt>
                <c:pt idx="17">
                  <c:v>53806</c:v>
                </c:pt>
                <c:pt idx="18">
                  <c:v>66729</c:v>
                </c:pt>
                <c:pt idx="19">
                  <c:v>72245</c:v>
                </c:pt>
                <c:pt idx="20">
                  <c:v>70872</c:v>
                </c:pt>
                <c:pt idx="21">
                  <c:v>72618</c:v>
                </c:pt>
                <c:pt idx="22">
                  <c:v>73700</c:v>
                </c:pt>
                <c:pt idx="23">
                  <c:v>77000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15300</c:v>
                </c:pt>
                <c:pt idx="1">
                  <c:v>17700</c:v>
                </c:pt>
                <c:pt idx="2">
                  <c:v>24700</c:v>
                </c:pt>
                <c:pt idx="3">
                  <c:v>12400</c:v>
                </c:pt>
                <c:pt idx="4">
                  <c:v>15600</c:v>
                </c:pt>
                <c:pt idx="5">
                  <c:v>15700</c:v>
                </c:pt>
                <c:pt idx="6">
                  <c:v>15700</c:v>
                </c:pt>
                <c:pt idx="7">
                  <c:v>15800</c:v>
                </c:pt>
                <c:pt idx="8">
                  <c:v>38100</c:v>
                </c:pt>
                <c:pt idx="9">
                  <c:v>13500</c:v>
                </c:pt>
                <c:pt idx="10">
                  <c:v>16000</c:v>
                </c:pt>
                <c:pt idx="11">
                  <c:v>16100</c:v>
                </c:pt>
                <c:pt idx="12">
                  <c:v>16200</c:v>
                </c:pt>
                <c:pt idx="13">
                  <c:v>18700</c:v>
                </c:pt>
                <c:pt idx="14">
                  <c:v>26100</c:v>
                </c:pt>
                <c:pt idx="15">
                  <c:v>13100</c:v>
                </c:pt>
                <c:pt idx="16">
                  <c:v>16400</c:v>
                </c:pt>
                <c:pt idx="17">
                  <c:v>16500</c:v>
                </c:pt>
                <c:pt idx="18">
                  <c:v>16600</c:v>
                </c:pt>
                <c:pt idx="19">
                  <c:v>16600</c:v>
                </c:pt>
                <c:pt idx="20">
                  <c:v>40100</c:v>
                </c:pt>
                <c:pt idx="21">
                  <c:v>14300</c:v>
                </c:pt>
                <c:pt idx="22">
                  <c:v>18400</c:v>
                </c:pt>
                <c:pt idx="23">
                  <c:v>27900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Raised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Sheet1!$A$2:$A$25</c:f>
              <c:strCache>
                <c:ptCount val="24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  <c:pt idx="23">
                  <c:v>Sep 26</c:v>
                </c:pt>
              </c:strCache>
            </c:strRef>
          </c:cat>
          <c:val>
            <c:numRef>
              <c:f>Sheet1!$B$2:$B$25</c:f>
              <c:numCache>
                <c:formatCode>$#,##0;[Red]($#,##0);"-"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6200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36800</c:v>
                </c:pt>
                <c:pt idx="12">
                  <c:v>0</c:v>
                </c:pt>
                <c:pt idx="13">
                  <c:v>0</c:v>
                </c:pt>
                <c:pt idx="14">
                  <c:v>6200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41600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funding is worth chasing?. Sample Community Services Ltd. Period: September 2026. Each source of money compared on what it raises and what it costs to raise. Pick a source and every chart, table row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sources. In September it cost: Grants 9¢, donations 19¢ and fundraising events 41¢ to raise each dollar. Cheapest to raise in September: grants (9¢ a dollar). Dearest: fundraising events (41¢). Events are worth counting for what else they bring too (new donors, profile).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Grants. Grants: $223,318 raised this financial year to date (68.6% of everything raised), $21,300 to raise it, so $202,018 left for programs: 10¢ per dollar. Most of the money, and usually the cheapest to raise, starting with grants that renew.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Donations. Donations: $60,600 raised this financial year to date (18.6% of everything raised), $9,800 to raise it, so $50,800 left for programs: 16¢ per dollar. Cheap and flexible (untied): the money that builds reserves.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Fundraising events. Fundraising events: $41,600 raised this financial year to date (12.8% of everything raised), $19,300 to raise it, so $22,300 left for programs: 46¢ per dollar. The dearest per dollar: worth measuring the new donors each event brings in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Financial year to date (Jul to Sep 2026), by source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funding is worth chasing?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Each source of money compared on what it raises and what it costs to raise. Pick a source and every chart, table row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All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raise a dollar, by source, September 2026 (cents)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188366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5374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3086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358292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 September it cost: Grants 9¢, donations 19¢ and fundraising events 41¢ to raise each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325374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33086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358292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Cheapest to raise in September: grants (9¢ a dollar). Dearest: fundraising events (41¢). Events are worth counting for what else they bring too (new donors, profile).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Grants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Grants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Grants: $223,318 raised this financial year to date (68.6% of everything raised), $21,300 to raise it, so $202,018 left for programs: 10¢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Most of the money, and usually the cheapest to raise, starting with grants that renew.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Donations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Donations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Donations: $60,600 raised this financial year to date (18.6% of everything raised), $9,800 to raise it, so $50,800 left for programs: 16¢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Cheap and flexible (untied): the money that builds reserves.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Fundraising events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Raised and left after costs, by month · Fundraising events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3842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Fundraising events: $41,600 raised this financial year to date (12.8% of everything raised), $19,300 to raise it, so $22,300 left for programs: 46¢ per dollar.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The dearest per dollar: worth measuring the new donors each event brings in too.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Financial year to date (Jul to Sep 2026), by source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Which funding is worth chasing?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960120"/>
          <a:ext cx="11277295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Raised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of raising it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Left after costs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Cost per $1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Grants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$223,318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$21,300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$202,018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10¢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Donations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$60,600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$9,800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$50,800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16¢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Fundraising events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$41,600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$19,300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$22,300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46¢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funding.pptx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