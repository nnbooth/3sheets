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23.4</c:v>
                </c:pt>
                <c:pt idx="1">
                  <c:v>43.5</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16292</c:v>
                </c:pt>
                <c:pt idx="1">
                  <c:v>12877</c:v>
                </c:pt>
                <c:pt idx="2">
                  <c:v>21284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cat>
            <c:strRef>
              <c:f>Sheet1!$A$2:$A$13</c:f>
              <c:strCache>
                <c:ptCount val="12"/>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strCache>
            </c:strRef>
          </c:cat>
          <c:val>
            <c:numRef>
              <c:f>Sheet1!$B$2:$B$13</c:f>
              <c:numCache>
                <c:formatCode>0.0"%";[Red](0.0"%")</c:formatCode>
                <c:ptCount val="12"/>
                <c:pt idx="0">
                  <c:v>58.2</c:v>
                </c:pt>
                <c:pt idx="1">
                  <c:v>58.8</c:v>
                </c:pt>
                <c:pt idx="2">
                  <c:v>58.8</c:v>
                </c:pt>
                <c:pt idx="3">
                  <c:v>59.0</c:v>
                </c:pt>
                <c:pt idx="4">
                  <c:v>59.0</c:v>
                </c:pt>
                <c:pt idx="5">
                  <c:v>59.4</c:v>
                </c:pt>
                <c:pt idx="6">
                  <c:v>59.9</c:v>
                </c:pt>
                <c:pt idx="7">
                  <c:v>59.9</c:v>
                </c:pt>
                <c:pt idx="8">
                  <c:v>59.9</c:v>
                </c:pt>
                <c:pt idx="9">
                  <c:v>60.0</c:v>
                </c:pt>
                <c:pt idx="10">
                  <c:v>60.0</c:v>
                </c:pt>
                <c:pt idx="11">
                  <c:v>61.1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cat>
            <c:strRef>
              <c:f>Sheet1!$A$2:$A$13</c:f>
              <c:strCache>
                <c:ptCount val="12"/>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strCache>
            </c:strRef>
          </c:cat>
          <c:val>
            <c:numRef>
              <c:f>Sheet1!$B$2:$B$13</c:f>
              <c:numCache>
                <c:formatCode>$#,##0;[Red]($#,##0);"-"</c:formatCode>
                <c:ptCount val="12"/>
                <c:pt idx="0">
                  <c:v>1398</c:v>
                </c:pt>
                <c:pt idx="1">
                  <c:v>1530</c:v>
                </c:pt>
                <c:pt idx="2">
                  <c:v>2294</c:v>
                </c:pt>
                <c:pt idx="3">
                  <c:v>2478</c:v>
                </c:pt>
                <c:pt idx="4">
                  <c:v>1652</c:v>
                </c:pt>
                <c:pt idx="5">
                  <c:v>2436</c:v>
                </c:pt>
                <c:pt idx="6">
                  <c:v>2038</c:v>
                </c:pt>
                <c:pt idx="7">
                  <c:v>1916</c:v>
                </c:pt>
                <c:pt idx="8">
                  <c:v>958</c:v>
                </c:pt>
                <c:pt idx="9">
                  <c:v>1080</c:v>
                </c:pt>
                <c:pt idx="10">
                  <c:v>2160</c:v>
                </c:pt>
                <c:pt idx="11">
                  <c:v>1344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0E9F6E"/>
              </a:solidFill>
            </c:spPr>
          </c:dPt>
          <c:cat>
            <c:strRef>
              <c:f>Sheet1!$A$2:$A$5</c:f>
              <c:strCache>
                <c:ptCount val="4"/>
                <c:pt idx="0">
                  <c:v>Wynnum factory solar and battery</c:v>
                </c:pt>
                <c:pt idx="1">
                  <c:v>Windsor warehouse switchboard upgrade</c:v>
                </c:pt>
                <c:pt idx="2">
                  <c:v>Salisbury school data cabling</c:v>
                </c:pt>
                <c:pt idx="3">
                  <c:v>Newstead office office fit-out wiring</c:v>
                </c:pt>
              </c:strCache>
            </c:strRef>
          </c:cat>
          <c:val>
            <c:numRef>
              <c:f>Sheet1!$B$2:$B$5</c:f>
              <c:numCache>
                <c:formatCode>0.0"%";[Red](0.0"%")</c:formatCode>
                <c:ptCount val="4"/>
                <c:pt idx="0">
                  <c:v>7.6</c:v>
                </c:pt>
                <c:pt idx="1">
                  <c:v>24.9</c:v>
                </c:pt>
                <c:pt idx="2">
                  <c:v>28.2</c:v>
                </c:pt>
                <c:pt idx="3">
                  <c:v>37.5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0E9F6E"/>
              </a:solidFill>
            </c:spPr>
          </c:dPt>
          <c:cat>
            <c:strRef>
              <c:f>Sheet1!$A$2:$A$5</c:f>
              <c:strCache>
                <c:ptCount val="4"/>
                <c:pt idx="0">
                  <c:v>Wynnum factory solar and battery</c:v>
                </c:pt>
                <c:pt idx="1">
                  <c:v>Windsor warehouse switchboard upgrade</c:v>
                </c:pt>
                <c:pt idx="2">
                  <c:v>Salisbury school data cabling</c:v>
                </c:pt>
                <c:pt idx="3">
                  <c:v>Newstead office office fit-out wiring</c:v>
                </c:pt>
              </c:strCache>
            </c:strRef>
          </c:cat>
          <c:val>
            <c:numRef>
              <c:f>Sheet1!$B$2:$B$5</c:f>
              <c:numCache>
                <c:formatCode>$#,##0;[Red]($#,##0);"-"</c:formatCode>
                <c:ptCount val="4"/>
                <c:pt idx="0">
                  <c:v>1612</c:v>
                </c:pt>
                <c:pt idx="1">
                  <c:v>3432</c:v>
                </c:pt>
                <c:pt idx="2">
                  <c:v>5394</c:v>
                </c:pt>
                <c:pt idx="3">
                  <c:v>5854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(6)</c:v>
                </c:pt>
                <c:pt idx="1">
                  <c:v>1.5-hour call-outs (6)</c:v>
                </c:pt>
                <c:pt idx="2">
                  <c:v>2-hour call-outs (17)</c:v>
                </c:pt>
                <c:pt idx="3">
                  <c:v>2.5-hour call-outs (6)</c:v>
                </c:pt>
                <c:pt idx="4">
                  <c:v>3-hour call-outs (13)</c:v>
                </c:pt>
                <c:pt idx="5">
                  <c:v>4-hour call-outs (9)</c:v>
                </c:pt>
              </c:strCache>
            </c:strRef>
          </c:cat>
          <c:val>
            <c:numRef>
              <c:f>Sheet1!$B$2:$B$7</c:f>
              <c:numCache>
                <c:formatCode>0.0"%";[Red](0.0"%")</c:formatCode>
                <c:ptCount val="6"/>
                <c:pt idx="0">
                  <c:v>37.2</c:v>
                </c:pt>
                <c:pt idx="1">
                  <c:v>40.1</c:v>
                </c:pt>
                <c:pt idx="2">
                  <c:v>42.2</c:v>
                </c:pt>
                <c:pt idx="3">
                  <c:v>44.6</c:v>
                </c:pt>
                <c:pt idx="4">
                  <c:v>44.8</c:v>
                </c:pt>
                <c:pt idx="5">
                  <c:v>46.0</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(6)</c:v>
                </c:pt>
                <c:pt idx="1">
                  <c:v>1.5-hour call-outs (6)</c:v>
                </c:pt>
                <c:pt idx="2">
                  <c:v>2-hour call-outs (17)</c:v>
                </c:pt>
                <c:pt idx="3">
                  <c:v>2.5-hour call-outs (6)</c:v>
                </c:pt>
                <c:pt idx="4">
                  <c:v>3-hour call-outs (13)</c:v>
                </c:pt>
                <c:pt idx="5">
                  <c:v>4-hour call-outs (9)</c:v>
                </c:pt>
              </c:strCache>
            </c:strRef>
          </c:cat>
          <c:val>
            <c:numRef>
              <c:f>Sheet1!$B$2:$B$7</c:f>
              <c:numCache>
                <c:formatCode>$#,##0;[Red]($#,##0);"-"</c:formatCode>
                <c:ptCount val="6"/>
                <c:pt idx="0">
                  <c:v>687</c:v>
                </c:pt>
                <c:pt idx="1">
                  <c:v>924</c:v>
                </c:pt>
                <c:pt idx="2">
                  <c:v>3269</c:v>
                </c:pt>
                <c:pt idx="3">
                  <c:v>1352</c:v>
                </c:pt>
                <c:pt idx="4">
                  <c:v>3501</c:v>
                </c:pt>
                <c:pt idx="5">
                  <c:v>3144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Sheet1!$A$2:$A$16</c:f>
              <c:strCache>
                <c:ptCount val="15"/>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strCache>
            </c:strRef>
          </c:cat>
          <c:val>
            <c:numRef>
              <c:f>Sheet1!$B$2:$B$16</c:f>
              <c:numCache>
                <c:formatCode>0.0"%";[Red](0.0"%")</c:formatCode>
                <c:ptCount val="15"/>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Sheet1!$A$2:$A$16</c:f>
              <c:strCache>
                <c:ptCount val="15"/>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strCache>
            </c:strRef>
          </c:cat>
          <c:val>
            <c:numRef>
              <c:f>Sheet1!$B$2:$B$16</c:f>
              <c:numCache>
                <c:formatCode>$#,##0;[Red]($#,##0);"-"</c:formatCode>
                <c:ptCount val="15"/>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1600" b="1">
                <a:solidFill>
                  <a:srgbClr val="FFFFFF"/>
                </a:solidFill>
              </a:rPr>
              <a:t>4th</a:t>
            </a:r>
          </a:p>
        </p:txBody>
      </p:sp>
      <p:sp>
        <p:nvSpPr>
          <p:cNvPr id="3" name="TextBox 2"/>
          <p:cNvSpPr txBox="1"/>
          <p:nvPr/>
        </p:nvSpPr>
        <p:spPr>
          <a:xfrm>
            <a:off x="1234440" y="658368"/>
            <a:ext cx="5486400" cy="457200"/>
          </a:xfrm>
          <a:prstGeom prst="rect">
            <a:avLst/>
          </a:prstGeom>
          <a:noFill/>
        </p:spPr>
        <p:txBody>
          <a:bodyPr wrap="square">
            <a:spAutoFit/>
          </a:bodyPr>
          <a:lstStyle/>
          <a:p>
            <a:r>
              <a:rPr sz="1800" b="1">
                <a:solidFill>
                  <a:srgbClr val="25342A"/>
                </a:solidFill>
                <a:latin typeface="Arial"/>
              </a:rPr>
              <a:t>The 4th Sheet</a:t>
            </a:r>
          </a:p>
        </p:txBody>
      </p:sp>
      <p:sp>
        <p:nvSpPr>
          <p:cNvPr id="4" name="TextBox 3"/>
          <p:cNvSpPr txBox="1"/>
          <p:nvPr/>
        </p:nvSpPr>
        <p:spPr>
          <a:xfrm>
            <a:off x="457200" y="1554480"/>
            <a:ext cx="10972800" cy="365760"/>
          </a:xfrm>
          <a:prstGeom prst="rect">
            <a:avLst/>
          </a:prstGeom>
          <a:noFill/>
        </p:spPr>
        <p:txBody>
          <a:bodyPr wrap="square">
            <a:spAutoFit/>
          </a:bodyPr>
          <a:lstStyle/>
          <a:p>
            <a:r>
              <a:rPr sz="1100" b="1">
                <a:solidFill>
                  <a:srgbClr val="8A7A52"/>
                </a:solidFill>
                <a:latin typeface="Arial"/>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r>
              <a:rPr sz="3400" b="1">
                <a:solidFill>
                  <a:srgbClr val="25342A"/>
                </a:solidFill>
                <a:latin typeface="Arial"/>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r>
              <a:rPr sz="1600" b="0">
                <a:solidFill>
                  <a:srgbClr val="5F6F63"/>
                </a:solidFill>
                <a:latin typeface="Arial"/>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r>
              <a:rPr sz="1400" b="0">
                <a:solidFill>
                  <a:srgbClr val="25342A"/>
                </a:solidFill>
                <a:latin typeface="Arial"/>
              </a:rPr>
              <a:t>Period: December 2025.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r>
              <a:rPr sz="1100" b="0">
                <a:solidFill>
                  <a:srgbClr val="5F6F63"/>
                </a:solidFill>
                <a:latin typeface="Arial"/>
              </a:rPr>
              <a:t>How final is this data?</a:t>
            </a:r>
          </a:p>
          <a:p>
            <a:r>
              <a:rPr sz="1100" b="0">
                <a:solidFill>
                  <a:srgbClr val="5F6F63"/>
                </a:solidFill>
                <a:latin typeface="Arial"/>
              </a:rPr>
              <a:t>November 2025: Locked. November 2025 is locked (closed 2 Dec 2025). These numbers won't change.</a:t>
            </a:r>
          </a:p>
          <a:p>
            <a:r>
              <a:rPr sz="1100" b="0">
                <a:solidFill>
                  <a:srgbClr val="5F6F63"/>
                </a:solidFill>
                <a:latin typeface="Arial"/>
              </a:rPr>
              <a:t>December 2025: Locked. December 2025 is locked (closed 5 Jan 2026). These numbers won't change.</a:t>
            </a:r>
          </a:p>
          <a:p>
            <a:r>
              <a:rPr sz="1100" b="0">
                <a:solidFill>
                  <a:srgbClr val="5F6F63"/>
                </a:solidFill>
                <a:latin typeface="Arial"/>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December's jobs made $50,453 gross margin (37.4%). Technician time not charged to jobs took $4,504 and overheads $57,350, leaving ($11,401) profit before tax ((8.4%) of revenue). To cover overheads, jobs need a 45.8%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December 2025</a:t>
                      </a:r>
                    </a:p>
                  </a:txBody>
                  <a:tcPr>
                    <a:solidFill>
                      <a:srgbClr val="2F7A5D"/>
                    </a:solidFill>
                  </a:tcPr>
                </a:tc>
              </a:tr>
              <a:tr h="329184">
                <a:tc>
                  <a:txBody>
                    <a:bodyPr/>
                    <a:lstStyle/>
                    <a:p>
                      <a:r>
                        <a:rPr sz="1050">
                          <a:solidFill>
                            <a:srgbClr val="25342A"/>
                          </a:solidFill>
                        </a:rPr>
                        <a:t>Gross margin on jobs</a:t>
                      </a:r>
                    </a:p>
                  </a:txBody>
                  <a:tcPr>
                    <a:solidFill>
                      <a:srgbClr val="FFFFFF"/>
                    </a:solidFill>
                  </a:tcPr>
                </a:tc>
                <a:tc>
                  <a:txBody>
                    <a:bodyPr/>
                    <a:lstStyle/>
                    <a:p>
                      <a:pPr algn="r"/>
                      <a:r>
                        <a:rPr sz="1050">
                          <a:solidFill>
                            <a:srgbClr val="25342A"/>
                          </a:solidFill>
                        </a:rPr>
                        <a:t>$50,453</a:t>
                      </a:r>
                    </a:p>
                  </a:txBody>
                  <a:tcPr>
                    <a:solidFill>
                      <a:srgbClr val="FFFFFF"/>
                    </a:solidFill>
                  </a:tcPr>
                </a:tc>
              </a:tr>
              <a:tr h="329184">
                <a:tc>
                  <a:txBody>
                    <a:bodyPr/>
                    <a:lstStyle/>
                    <a:p>
                      <a:r>
                        <a:rPr sz="1050">
                          <a:solidFill>
                            <a:srgbClr val="25342A"/>
                          </a:solidFill>
                        </a:rPr>
                        <a:t>Technician wages and on-costs</a:t>
                      </a:r>
                    </a:p>
                  </a:txBody>
                  <a:tcPr>
                    <a:solidFill>
                      <a:srgbClr val="F7FAF7"/>
                    </a:solidFill>
                  </a:tcPr>
                </a:tc>
                <a:tc>
                  <a:txBody>
                    <a:bodyPr/>
                    <a:lstStyle/>
                    <a:p>
                      <a:pPr algn="r"/>
                      <a:r>
                        <a:rPr sz="1050">
                          <a:solidFill>
                            <a:srgbClr val="25342A"/>
                          </a:solidFill>
                        </a:rPr>
                        <a:t>$46,800</a:t>
                      </a:r>
                    </a:p>
                  </a:txBody>
                  <a:tcPr>
                    <a:solidFill>
                      <a:srgbClr val="F7FAF7"/>
                    </a:solidFill>
                  </a:tcPr>
                </a:tc>
              </a:tr>
              <a:tr h="329184">
                <a:tc>
                  <a:txBody>
                    <a:bodyPr/>
                    <a:lstStyle/>
                    <a:p>
                      <a:r>
                        <a:rPr sz="1050">
                          <a:solidFill>
                            <a:srgbClr val="25342A"/>
                          </a:solidFill>
                        </a:rPr>
                        <a:t>Technician time charged to jobs (at cost)</a:t>
                      </a:r>
                    </a:p>
                  </a:txBody>
                  <a:tcPr>
                    <a:solidFill>
                      <a:srgbClr val="FFFFFF"/>
                    </a:solidFill>
                  </a:tcPr>
                </a:tc>
                <a:tc>
                  <a:txBody>
                    <a:bodyPr/>
                    <a:lstStyle/>
                    <a:p>
                      <a:pPr algn="r"/>
                      <a:r>
                        <a:rPr sz="1050">
                          <a:solidFill>
                            <a:srgbClr val="25342A"/>
                          </a:solidFill>
                        </a:rPr>
                        <a:t>$42,296</a:t>
                      </a:r>
                    </a:p>
                  </a:txBody>
                  <a:tcPr>
                    <a:solidFill>
                      <a:srgbClr val="FFFFFF"/>
                    </a:solidFill>
                  </a:tcPr>
                </a:tc>
              </a:tr>
              <a:tr h="329184">
                <a:tc>
                  <a:txBody>
                    <a:bodyPr/>
                    <a:lstStyle/>
                    <a:p>
                      <a:r>
                        <a:rPr sz="1050">
                          <a:solidFill>
                            <a:srgbClr val="25342A"/>
                          </a:solidFill>
                        </a:rPr>
                        <a:t>Technician time not charged to jobs</a:t>
                      </a:r>
                    </a:p>
                  </a:txBody>
                  <a:tcPr>
                    <a:solidFill>
                      <a:srgbClr val="F7FAF7"/>
                    </a:solidFill>
                  </a:tcPr>
                </a:tc>
                <a:tc>
                  <a:txBody>
                    <a:bodyPr/>
                    <a:lstStyle/>
                    <a:p>
                      <a:pPr algn="r"/>
                      <a:r>
                        <a:rPr sz="1050">
                          <a:solidFill>
                            <a:srgbClr val="25342A"/>
                          </a:solidFill>
                        </a:rPr>
                        <a:t>$4,504</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$45,949</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$57,350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B42318"/>
                          </a:solidFill>
                        </a:rPr>
                        <a:t>($11,401)</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$135,079</a:t>
                      </a:r>
                    </a:p>
                  </a:txBody>
                  <a:tcPr>
                    <a:solidFill>
                      <a:srgbClr val="F7FAF7"/>
                    </a:solidFill>
                  </a:tcPr>
                </a:tc>
              </a:tr>
              <a:tr h="329184">
                <a:tc>
                  <a:txBody>
                    <a:bodyPr/>
                    <a:lstStyle/>
                    <a:p>
                      <a:r>
                        <a:rPr sz="1050">
                          <a:solidFill>
                            <a:srgbClr val="25342A"/>
                          </a:solidFill>
                        </a:rPr>
                        <a:t>Gross margin on jobs, %</a:t>
                      </a:r>
                    </a:p>
                  </a:txBody>
                  <a:tcPr>
                    <a:solidFill>
                      <a:srgbClr val="FFFFFF"/>
                    </a:solidFill>
                  </a:tcPr>
                </a:tc>
                <a:tc>
                  <a:txBody>
                    <a:bodyPr/>
                    <a:lstStyle/>
                    <a:p>
                      <a:pPr algn="r"/>
                      <a:r>
                        <a:rPr sz="1050">
                          <a:solidFill>
                            <a:srgbClr val="25342A"/>
                          </a:solidFill>
                        </a:rPr>
                        <a:t>37.4%</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B42318"/>
                          </a:solidFill>
                        </a:rPr>
                        <a:t>(8.4%)</a:t>
                      </a:r>
                    </a:p>
                  </a:txBody>
                  <a:tcPr>
                    <a:solidFill>
                      <a:srgbClr val="F7FAF7"/>
                    </a:solidFill>
                  </a:tcPr>
                </a:tc>
              </a:tr>
              <a:tr h="329184">
                <a:tc>
                  <a:txBody>
                    <a:bodyPr/>
                    <a:lstStyle/>
                    <a:p>
                      <a:r>
                        <a:rPr sz="1050">
                          <a:solidFill>
                            <a:srgbClr val="25342A"/>
                          </a:solidFill>
                        </a:rPr>
                        <a:t>Gross margin jobs need just to cover overheads and time not charged</a:t>
                      </a:r>
                    </a:p>
                  </a:txBody>
                  <a:tcPr>
                    <a:solidFill>
                      <a:srgbClr val="FFFFFF"/>
                    </a:solidFill>
                  </a:tcPr>
                </a:tc>
                <a:tc>
                  <a:txBody>
                    <a:bodyPr/>
                    <a:lstStyle/>
                    <a:p>
                      <a:pPr algn="r"/>
                      <a:r>
                        <a:rPr sz="1050">
                          <a:solidFill>
                            <a:srgbClr val="25342A"/>
                          </a:solidFill>
                        </a:rPr>
                        <a:t>45.8%</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December · All jobs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37.4%</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November 33.7%</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December 2025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December 2025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In December maintenance contracts made a 59.5% job gross margin, installations made a 23.4% job gross margin, call-outs and repairs made a 43.5% job gross margin (technician time at $68 an hour, wages and all on-costs). Jobs need 45.8%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the most profitable work you do. Installations: 23.4% gross margin, below the 45.8%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December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59.5%</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November 59.5%</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December 2025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December 2025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All 12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The Kangaroo Point townhouses contract: 58.2% gross margin, 12.5 points clear of the 45.8% overheads need. Maintenance contracts overall: 59.5% gross margin.</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December · Installations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23.4%</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November 23.1%</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December 2025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December 2025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3 of the 4 installation jobs invoiced in December made less than the 35.0% job gross margin target. The Wynnum factory solar and battery made a 7.6% job gross margin: 91.0 h of technician time ($6,188) and $2,300 of subcontractors on a $21,200 job. Jobs need 45.8%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Below the 45.8% overheads need: Newstead office office fit-out wiring (37.5%), Salisbury school data cabling (28.2%), Windsor warehouse switchboard upgrade (24.9%), Wynnum factory solar and battery (7.6%). Most profitable: Newstead office office fit-out wiring (37.5%).</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Call-outs and repairs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December · Call-outs and repairs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43.5%</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November 44.5%</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December 2025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December 2025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57 call-outs in December made a 43.5% job gross margin between them. Gross margins run from 37.2% to 46.0%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Call-outs: 43.5% gross margin, below the 45.8%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