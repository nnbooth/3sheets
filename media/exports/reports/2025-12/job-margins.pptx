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cat>
            <c:strRef>
              <c:f>Sheet1!$A$2:$A$4</c:f>
              <c:strCache>
                <c:ptCount val="3"/>
                <c:pt idx="0">
                  <c:v>Installations</c:v>
                </c:pt>
                <c:pt idx="1">
                  <c:v>Call-outs and repairs</c:v>
                </c:pt>
                <c:pt idx="2">
                  <c:v>Maintenance contracts</c:v>
                </c:pt>
              </c:strCache>
            </c:strRef>
          </c:cat>
          <c:val>
            <c:numRef>
              <c:f>Sheet1!$B$2:$B$4</c:f>
              <c:numCache>
                <c:formatCode>0.0"%";[Red](0.0"%")</c:formatCode>
                <c:ptCount val="3"/>
                <c:pt idx="0">
                  <c:v>31.6</c:v>
                </c:pt>
                <c:pt idx="1">
                  <c:v>47.9</c:v>
                </c:pt>
                <c:pt idx="2">
                  <c:v>63.8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3.36999999999999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dPt>
            <c:idx val="6"/>
            <c:spPr>
              <a:solidFill>
                <a:srgbClr val="0E9F6E"/>
              </a:solidFill>
            </c:spPr>
          </c:dPt>
          <c:dPt>
            <c:idx val="7"/>
            <c:spPr>
              <a:solidFill>
                <a:srgbClr val="0E9F6E"/>
              </a:solidFill>
            </c:spPr>
          </c:dPt>
          <c:dPt>
            <c:idx val="8"/>
            <c:spPr>
              <a:solidFill>
                <a:srgbClr val="0E9F6E"/>
              </a:solidFill>
            </c:spPr>
          </c:dPt>
          <c:dPt>
            <c:idx val="9"/>
            <c:spPr>
              <a:solidFill>
                <a:srgbClr val="0E9F6E"/>
              </a:solidFill>
            </c:spPr>
          </c:dPt>
          <c:dPt>
            <c:idx val="10"/>
            <c:spPr>
              <a:solidFill>
                <a:srgbClr val="0E9F6E"/>
              </a:solidFill>
            </c:spPr>
          </c:dPt>
          <c:dPt>
            <c:idx val="11"/>
            <c:spPr>
              <a:solidFill>
                <a:srgbClr val="0E9F6E"/>
              </a:solidFill>
            </c:spPr>
          </c:dPt>
          <c:cat>
            <c:strRef>
              <c:f>Sheet1!$A$2:$A$13</c:f>
              <c:strCache>
                <c:ptCount val="12"/>
                <c:pt idx="0">
                  <c:v>Kangaroo Point townhouses</c:v>
                </c:pt>
                <c:pt idx="1">
                  <c:v>West End brewery</c:v>
                </c:pt>
                <c:pt idx="2">
                  <c:v>Rocklea factory</c:v>
                </c:pt>
                <c:pt idx="3">
                  <c:v>Milton office tower</c:v>
                </c:pt>
                <c:pt idx="4">
                  <c:v>Bulimba school</c:v>
                </c:pt>
                <c:pt idx="5">
                  <c:v>Chermside retail centre</c:v>
                </c:pt>
                <c:pt idx="6">
                  <c:v>Southbank cafe group</c:v>
                </c:pt>
                <c:pt idx="7">
                  <c:v>Fortitude Valley hotel</c:v>
                </c:pt>
                <c:pt idx="8">
                  <c:v>Riverside Apartments (strata)</c:v>
                </c:pt>
                <c:pt idx="9">
                  <c:v>Newstead gym</c:v>
                </c:pt>
                <c:pt idx="10">
                  <c:v>Ashgrove aged care</c:v>
                </c:pt>
                <c:pt idx="11">
                  <c:v>Wynnum medical centre</c:v>
                </c:pt>
              </c:strCache>
            </c:strRef>
          </c:cat>
          <c:val>
            <c:numRef>
              <c:f>Sheet1!$B$2:$B$13</c:f>
              <c:numCache>
                <c:formatCode>0.0"%";[Red](0.0"%")</c:formatCode>
                <c:ptCount val="12"/>
                <c:pt idx="0">
                  <c:v>62.9</c:v>
                </c:pt>
                <c:pt idx="1">
                  <c:v>63.1</c:v>
                </c:pt>
                <c:pt idx="2">
                  <c:v>63.1</c:v>
                </c:pt>
                <c:pt idx="3">
                  <c:v>63.4</c:v>
                </c:pt>
                <c:pt idx="4">
                  <c:v>63.6</c:v>
                </c:pt>
                <c:pt idx="5">
                  <c:v>63.8</c:v>
                </c:pt>
                <c:pt idx="6">
                  <c:v>64.0</c:v>
                </c:pt>
                <c:pt idx="7">
                  <c:v>64.2</c:v>
                </c:pt>
                <c:pt idx="8">
                  <c:v>64.3</c:v>
                </c:pt>
                <c:pt idx="9">
                  <c:v>64.3</c:v>
                </c:pt>
                <c:pt idx="10">
                  <c:v>64.4</c:v>
                </c:pt>
                <c:pt idx="11">
                  <c:v>65.1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4.86499999999998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7D8790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cat>
            <c:strRef>
              <c:f>Sheet1!$A$2:$A$5</c:f>
              <c:strCache>
                <c:ptCount val="4"/>
                <c:pt idx="0">
                  <c:v>Wynnum factory solar and battery</c:v>
                </c:pt>
                <c:pt idx="1">
                  <c:v>Windsor warehouse switchboard upgrade</c:v>
                </c:pt>
                <c:pt idx="2">
                  <c:v>Salisbury school data cabling</c:v>
                </c:pt>
                <c:pt idx="3">
                  <c:v>Newstead office office fit-out wiring</c:v>
                </c:pt>
              </c:strCache>
            </c:strRef>
          </c:cat>
          <c:val>
            <c:numRef>
              <c:f>Sheet1!$B$2:$B$5</c:f>
              <c:numCache>
                <c:formatCode>0.0"%";[Red](0.0"%")</c:formatCode>
                <c:ptCount val="4"/>
                <c:pt idx="0">
                  <c:v>17.4</c:v>
                </c:pt>
                <c:pt idx="1">
                  <c:v>33.1</c:v>
                </c:pt>
                <c:pt idx="2">
                  <c:v>36.0</c:v>
                </c:pt>
                <c:pt idx="3">
                  <c:v>44.3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1.29499999999999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cat>
            <c:strRef>
              <c:f>Sheet1!$A$2:$A$7</c:f>
              <c:strCache>
                <c:ptCount val="6"/>
                <c:pt idx="0">
                  <c:v>1-hour call-outs (6)</c:v>
                </c:pt>
                <c:pt idx="1">
                  <c:v>1.5-hour call-outs (6)</c:v>
                </c:pt>
                <c:pt idx="2">
                  <c:v>2-hour call-outs (17)</c:v>
                </c:pt>
                <c:pt idx="3">
                  <c:v>2.5-hour call-outs (6)</c:v>
                </c:pt>
                <c:pt idx="4">
                  <c:v>3-hour call-outs (13)</c:v>
                </c:pt>
                <c:pt idx="5">
                  <c:v>4-hour call-outs (9)</c:v>
                </c:pt>
              </c:strCache>
            </c:strRef>
          </c:cat>
          <c:val>
            <c:numRef>
              <c:f>Sheet1!$B$2:$B$7</c:f>
              <c:numCache>
                <c:formatCode>0.0"%";[Red](0.0"%")</c:formatCode>
                <c:ptCount val="6"/>
                <c:pt idx="0">
                  <c:v>40.7</c:v>
                </c:pt>
                <c:pt idx="1">
                  <c:v>44.0</c:v>
                </c:pt>
                <c:pt idx="2">
                  <c:v>46.4</c:v>
                </c:pt>
                <c:pt idx="3">
                  <c:v>49.2</c:v>
                </c:pt>
                <c:pt idx="4">
                  <c:v>49.4</c:v>
                </c:pt>
                <c:pt idx="5">
                  <c:v>50.7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1.29499999999999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Sheet1!$A$2:$A$16</c:f>
              <c:strCache>
                <c:ptCount val="15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</c:strCache>
            </c:strRef>
          </c:cat>
          <c:val>
            <c:numRef>
              <c:f>Sheet1!$B$2:$B$16</c:f>
              <c:numCache>
                <c:formatCode>0.0"%";[Red](0.0"%")</c:formatCode>
                <c:ptCount val="15"/>
                <c:pt idx="0">
                  <c:v>40.1</c:v>
                </c:pt>
                <c:pt idx="1">
                  <c:v>43.5</c:v>
                </c:pt>
                <c:pt idx="2">
                  <c:v>46.5</c:v>
                </c:pt>
                <c:pt idx="3">
                  <c:v>48.5</c:v>
                </c:pt>
                <c:pt idx="4">
                  <c:v>42.9</c:v>
                </c:pt>
                <c:pt idx="5">
                  <c:v>43.0</c:v>
                </c:pt>
                <c:pt idx="6">
                  <c:v>44.7</c:v>
                </c:pt>
                <c:pt idx="7">
                  <c:v>42.1</c:v>
                </c:pt>
                <c:pt idx="8">
                  <c:v>46.8</c:v>
                </c:pt>
                <c:pt idx="9">
                  <c:v>42.3</c:v>
                </c:pt>
                <c:pt idx="10">
                  <c:v>49.5</c:v>
                </c:pt>
                <c:pt idx="11">
                  <c:v>44.0</c:v>
                </c:pt>
                <c:pt idx="12">
                  <c:v>44.7</c:v>
                </c:pt>
                <c:pt idx="13">
                  <c:v>40.5</c:v>
                </c:pt>
                <c:pt idx="14">
                  <c:v>43.7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6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.0&quot;%&quot;;[Red](0.0&quot;%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jobs actually make money?. Sample Electrical &amp; Air Pty Ltd. Period: December 2025. In short: Jobs made a 43.7% gross margin in December: maintenance contracts the most (63.8%), installations the least (31.6%). Every job's gross margin: revenue less materials, subcontractors and technician time at $68 an hour (fully loaded: wages and all on-costs). Pick a type of job and every number, chart and note on the page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gross margin to profit. December's jobs made $65,657 gross margin (43.7%). Technician time not charged to jobs took $22,821 and overheads $57,350, leaving ($14,514) profit before tax ((9.7%) of revenue). To cover overheads, jobs need a 53.3% gross margin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jobs. Job gross margin, December · All jobs: 43.7%; Job gross margin, November · All jobs: 40.5%; Gross margin jobs need to break even: 53.3%. In December maintenance contracts made a 63.8% job gross margin, installations made a 31.6% job gross margin, call-outs and repairs made a 47.9% job gross margin (technician time at $68 an hour, wages and all on-costs). Jobs need 53.3% just to cover overheads. Installations: 31.6% gross margin, 3.4 points under the 35.0% target: about $2,643 on $78,100 of revenue in December. It's below the 53.3% needed to cover overheads, too. Maintenance contracts: 63.8% gross margin, 28.8 points over the 35.0% target ($11,549 ahead on $40,100 in December).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Maintenance contracts. Job gross margin, December · Maintenance contracts: 63.8%; Job gross margin, November · Maintenance contracts: 63.8%; Gross margin jobs need to break even: 53.3%. All 12 contracts made more than the 35.0% job gross margin target. The thinnest was Kangaroo Point townhouses at 62.9% job gross margin: 14.0 h of technician time on a $2,700 monthly fee. The thinnest, Kangaroo Point townhouses: 62.9% gross margin, 27.9 points over the 35.0% target ($753 ahead on $2,700 in December). All maintenance contracts: 63.8% gross margin, 28.8 points over the 35.0% target ($11,549 ahead on $40,100 in December).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Job gross margin on each maintenance contract, December 2025. The month's fee less materials and technician time at $68/hour. Target 35.0% is what to price for; break-even 53.3% only covers overheads and time not charged.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Installations. Job gross margin, December · Installations: 31.6%; Job gross margin, November · Installations: 31.3%; Gross margin jobs need to break even: 53.3%. 2 of the 4 installation jobs invoiced in December made less than the 35.0% job gross margin target. The Wynnum factory solar and battery made a 17.4% job gross margin: 91.0 h of technician time ($6,188) and $2,300 of subcontractors on a $23,700 job. Jobs need 53.3% gross margin just to cover overheads. 2 installations under the 35.0% target, worth about $4,476 between them on $39,200 of revenue. The biggest gap, Wynnum factory solar and battery: 17.4% gross margin, 17.6 points under the 35.0% target: about $4,183 on $23,700 of revenue in December. It's below the 53.3% needed to cover overheads,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Call-outs and repairs. Job gross margin, December · Call-outs and repairs: 47.9%; Job gross margin, November · Call-outs and repairs: 49.0%; Gross margin jobs need to break even: 53.3%; Technician time charged, December: $22,658; Materials charged, December: $9,425. 57 call-outs in December billed $22,658 of technician time and $9,425 of materials ($7,250 at cost plus 30%), and made a 47.9% job gross margin between them. Gross margins run from 40.7% to 50.7% by length: the hourly rate covers technician time comfortably, so the gross margin mostly moves with how much material goes on the van. All call-outs: 47.9% gross margin, 12.9 points over the 35.0% target ($4,152 ahead on $32,083 in December).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Job gross margin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jobs actually make money?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December 2025. In short: Jobs made a 43.7% gross margin in December: maintenance contracts the most (63.8%), installations the least (31.6%). Every job's gross margin: revenue less materials, subcontractors and technician time at $68 an hour (fully loaded: wages and all on-costs). Pick a type of job and every number, chart and note on the page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November 2025: Locked. November 2025 is locked (closed 2 Dec 2025).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December 2025: Locked. December 2025 is locked (closed 5 Jan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From gross margin to profit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4541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December's jobs made $65,657 gross margin (43.7%). Technician time not charged to jobs took $22,821 and overheads $57,350, leaving ($14,514) profit before tax ((9.7%) of revenue). To cover overheads, jobs need a 53.3% gross margin on average.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9136"/>
          <a:ext cx="11277294" cy="341985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08734"/>
                <a:gridCol w="766856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margin on jobs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$65,657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Technician wages and on-costs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$65,117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Technician time charged to jobs (at cost)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$42,296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Technician time not charged to jobs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$22,821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profit (the P&amp;L)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$42,836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Overheads (operating expenses, depreciation, interest)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$57,350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Profit before tax (the P&amp;L)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($14,514)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Revenue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$150,283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margin on jobs,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Profit before tax, % of revenue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(9.7%)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margin jobs need just to cover overheads and time not charged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All jobs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Job gross margin by type of job, December 2025. Gross margin is not profit.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December · All jobs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43.7%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November · All jobs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40.5%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 jobs need to break even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53.3%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covers overheads and time not charged (December)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188366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19" name="Connector 18"/>
          <p:cNvCxnSpPr/>
          <p:nvPr/>
        </p:nvCxnSpPr>
        <p:spPr>
          <a:xfrm>
            <a:off x="6960588" y="2661025"/>
            <a:ext cx="0" cy="1657625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863308" y="4318650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35.0%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592007" y="2661025"/>
            <a:ext cx="0" cy="1657625"/>
          </a:xfrm>
          <a:prstGeom prst="line">
            <a:avLst/>
          </a:prstGeom>
          <a:ln w="19050">
            <a:solidFill>
              <a:srgbClr val="B4231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494727" y="4556394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B42318"/>
                </a:solidFill>
                <a:latin typeface="Roboto"/>
              </a:rPr>
              <a:t>Break-even 53.3%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991100"/>
            <a:ext cx="5501487" cy="13639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50459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320284"/>
            <a:ext cx="5227167" cy="998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 December maintenance contracts made a 63.8% job gross margin, installations made a 31.6% job gross margin, call-outs and repairs made a 47.9% job gross margin (technician time at $68 an hour, wages and all on-costs). Jobs need 53.3% just to cover overheads.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4991100"/>
            <a:ext cx="5501487" cy="13639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70167" y="50459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5320284"/>
            <a:ext cx="5227167" cy="998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Installations: 31.6% gross margin, 3.4 points under the 35.0% target: about $2,643 on $78,100 of revenue in December. It's below the 53.3% needed to cover overheads, too. Maintenance contracts: 63.8% gross margin, 28.8 points over the 35.0% target ($11,549 ahead on $40,100 in December).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Maintenance contracts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10332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December · Maintenance contracts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990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63.8%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6479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2498" y="960120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429658" y="10332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November · Maintenance contracts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9658" y="13990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63.8%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6479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7796" y="960120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264956" y="10332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 jobs need to break even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4956" y="13990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53.3%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6479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covers overheads and time not charged (December)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28600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594360" y="23408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261518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All 12 contracts made more than the 35.0% job gross margin target. The thinnest was Kangaroo Point townhouses at 62.9% job gross margin: 14.0 h of technician time on a $2,700 monthly fee.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3007" y="228600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6370167" y="23408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261518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thinnest, Kangaroo Point townhouses: 62.9% gross margin, 27.9 points over the 35.0% target ($753 ahead on $2,700 in December). All maintenance contracts: 63.8% gross margin, 28.8 points over the 35.0% target ($11,549 ahead on $40,100 in December).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Job gross margin on each maintenance contract, December 2025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4541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The month's fee less materials and technician time at $68/hour. Target 35.0% is what to price for; break-even 53.3% only covers overheads and time not charged.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9136"/>
          <a:ext cx="11277295" cy="43373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6898280" y="1599255"/>
            <a:ext cx="0" cy="3816827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01000" y="5416082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35.0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497121" y="1599255"/>
            <a:ext cx="0" cy="3816827"/>
          </a:xfrm>
          <a:prstGeom prst="line">
            <a:avLst/>
          </a:prstGeom>
          <a:ln w="19050">
            <a:solidFill>
              <a:srgbClr val="B4231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99841" y="5653826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B42318"/>
                </a:solidFill>
                <a:latin typeface="Roboto"/>
              </a:rPr>
              <a:t>Break-even 53.3%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Installations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Job gross margin on each installation invoiced in December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December · Installations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31.6%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November · Installations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31.3%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 jobs need to break even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53.3%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covers overheads and time not charged (December)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119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19" name="Connector 18"/>
          <p:cNvCxnSpPr/>
          <p:nvPr/>
        </p:nvCxnSpPr>
        <p:spPr>
          <a:xfrm>
            <a:off x="7575262" y="2668112"/>
            <a:ext cx="0" cy="1865498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77982" y="4533610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35.0%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528067" y="2668112"/>
            <a:ext cx="0" cy="1865498"/>
          </a:xfrm>
          <a:prstGeom prst="line">
            <a:avLst/>
          </a:prstGeom>
          <a:ln w="19050">
            <a:solidFill>
              <a:srgbClr val="B4231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430787" y="4771354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B42318"/>
                </a:solidFill>
                <a:latin typeface="Roboto"/>
              </a:rPr>
              <a:t>Break-even 53.3%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227320"/>
            <a:ext cx="5501487" cy="11277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528218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556504"/>
            <a:ext cx="5227167" cy="76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2 of the 4 installation jobs invoiced in December made less than the 35.0% job gross margin target. The Wynnum factory solar and battery made a 17.4% job gross margin: 91.0 h of technician time ($6,188) and $2,300 of subcontractors on a $23,700 job. Jobs need 53.3% gross margin just to cover overheads.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5227320"/>
            <a:ext cx="5501487" cy="11277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70167" y="528218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5556504"/>
            <a:ext cx="5227167" cy="76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2 installations under the 35.0% target, worth about $4,476 between them on $39,200 of revenue. The biggest gap, Wynnum factory solar and battery: 17.4% gross margin, 17.6 points under the 35.0% target: about $4,183 on $23,700 of revenue in December. It's below the 53.3% needed to cover overheads, too.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Call-outs and repairs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Job gross margin on call-outs by length, December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December · Call-outs and repairs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47.9%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58379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2895539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November · Call-outs and repairs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5539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49.0%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5539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59558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5196718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 jobs need to break even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96718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53.3%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6718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covers overheads and time not charged (December)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60737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7497897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Technician time charged, December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7897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$22,658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7897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70.6% of call-out revenue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61916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9799076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Materials charged, December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9076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$9,425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99076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$7,250 at cost, plus 30%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457200" y="2604516"/>
          <a:ext cx="11277295" cy="2119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27" name="Connector 26"/>
          <p:cNvCxnSpPr/>
          <p:nvPr/>
        </p:nvCxnSpPr>
        <p:spPr>
          <a:xfrm>
            <a:off x="7575262" y="2668112"/>
            <a:ext cx="0" cy="1865498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477982" y="4533610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35.0%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528067" y="2668112"/>
            <a:ext cx="0" cy="1865498"/>
          </a:xfrm>
          <a:prstGeom prst="line">
            <a:avLst/>
          </a:prstGeom>
          <a:ln w="19050">
            <a:solidFill>
              <a:srgbClr val="B4231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430787" y="4771354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B42318"/>
                </a:solidFill>
                <a:latin typeface="Roboto"/>
              </a:rPr>
              <a:t>Break-even 53.3%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227320"/>
            <a:ext cx="5501487" cy="11277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594360" y="528218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5556504"/>
            <a:ext cx="5227167" cy="76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57 call-outs in December billed $22,658 of technician time and $9,425 of materials ($7,250 at cost plus 30%), and made a 47.9% job gross margin between them. Gross margins run from 40.7% to 50.7% by length: the hourly rate covers technician time comfortably, so the gross margin mostly moves with how much material goes on the van.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33007" y="5227320"/>
            <a:ext cx="5501487" cy="11277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6370167" y="528218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0167" y="5556504"/>
            <a:ext cx="5227167" cy="76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All call-outs: 47.9% gross margin, 12.9 points over the 35.0% target ($4,152 ahead on $32,083 in December).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7 of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Job gross margin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8 of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