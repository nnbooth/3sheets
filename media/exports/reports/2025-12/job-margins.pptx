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10.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A7B0B8"/>
              </a:solidFill>
            </c:spPr>
          </c:dPt>
          <c:dPt>
            <c:idx val="1"/>
            <c:spPr>
              <a:solidFill>
                <a:srgbClr val="0E9F6E"/>
              </a:solidFill>
            </c:spPr>
          </c:dPt>
          <c:dPt>
            <c:idx val="2"/>
            <c:spPr>
              <a:solidFill>
                <a:srgbClr val="0E9F6E"/>
              </a:solidFill>
            </c:spPr>
          </c:dPt>
          <c:cat>
            <c:strRef>
              <c:f>Sheet1!$A$2:$A$4</c:f>
              <c:strCache>
                <c:ptCount val="3"/>
                <c:pt idx="0">
                  <c:v>Installations</c:v>
                </c:pt>
                <c:pt idx="1">
                  <c:v>Call-outs and repairs</c:v>
                </c:pt>
                <c:pt idx="2">
                  <c:v>Maintenance contracts</c:v>
                </c:pt>
              </c:strCache>
            </c:strRef>
          </c:cat>
          <c:val>
            <c:numRef>
              <c:f>Sheet1!$B$2:$B$4</c:f>
              <c:numCache>
                <c:formatCode>0.0"%";[Red](0.0"%")</c:formatCode>
                <c:ptCount val="3"/>
                <c:pt idx="0">
                  <c:v>23.4</c:v>
                </c:pt>
                <c:pt idx="1">
                  <c:v>43.5</c:v>
                </c:pt>
                <c:pt idx="2">
                  <c:v>59.5</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A7B0B8"/>
              </a:solidFill>
            </c:spPr>
          </c:dPt>
          <c:dPt>
            <c:idx val="1"/>
            <c:spPr>
              <a:solidFill>
                <a:srgbClr val="0E9F6E"/>
              </a:solidFill>
            </c:spPr>
          </c:dPt>
          <c:dPt>
            <c:idx val="2"/>
            <c:spPr>
              <a:solidFill>
                <a:srgbClr val="0E9F6E"/>
              </a:solidFill>
            </c:spPr>
          </c:dPt>
          <c:cat>
            <c:strRef>
              <c:f>Sheet1!$A$2:$A$4</c:f>
              <c:strCache>
                <c:ptCount val="3"/>
                <c:pt idx="0">
                  <c:v>Installations</c:v>
                </c:pt>
                <c:pt idx="1">
                  <c:v>Call-outs and repairs</c:v>
                </c:pt>
                <c:pt idx="2">
                  <c:v>Maintenance contracts</c:v>
                </c:pt>
              </c:strCache>
            </c:strRef>
          </c:cat>
          <c:val>
            <c:numRef>
              <c:f>Sheet1!$B$2:$B$4</c:f>
              <c:numCache>
                <c:formatCode>$#,##0;[Red]($#,##0);"-"</c:formatCode>
                <c:ptCount val="3"/>
                <c:pt idx="0">
                  <c:v>16292</c:v>
                </c:pt>
                <c:pt idx="1">
                  <c:v>12877</c:v>
                </c:pt>
                <c:pt idx="2">
                  <c:v>21284</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dPt>
            <c:idx val="6"/>
            <c:spPr>
              <a:solidFill>
                <a:srgbClr val="0E9F6E"/>
              </a:solidFill>
            </c:spPr>
          </c:dPt>
          <c:dPt>
            <c:idx val="7"/>
            <c:spPr>
              <a:solidFill>
                <a:srgbClr val="0E9F6E"/>
              </a:solidFill>
            </c:spPr>
          </c:dPt>
          <c:dPt>
            <c:idx val="8"/>
            <c:spPr>
              <a:solidFill>
                <a:srgbClr val="0E9F6E"/>
              </a:solidFill>
            </c:spPr>
          </c:dPt>
          <c:dPt>
            <c:idx val="9"/>
            <c:spPr>
              <a:solidFill>
                <a:srgbClr val="0E9F6E"/>
              </a:solidFill>
            </c:spPr>
          </c:dPt>
          <c:dPt>
            <c:idx val="10"/>
            <c:spPr>
              <a:solidFill>
                <a:srgbClr val="0E9F6E"/>
              </a:solidFill>
            </c:spPr>
          </c:dPt>
          <c:dPt>
            <c:idx val="11"/>
            <c:spPr>
              <a:solidFill>
                <a:srgbClr val="0E9F6E"/>
              </a:solidFill>
            </c:spPr>
          </c:dPt>
          <c:cat>
            <c:strRef>
              <c:f>Sheet1!$A$2:$A$13</c:f>
              <c:strCache>
                <c:ptCount val="12"/>
                <c:pt idx="0">
                  <c:v>Kangaroo Point townhouses</c:v>
                </c:pt>
                <c:pt idx="1">
                  <c:v>West End brewery</c:v>
                </c:pt>
                <c:pt idx="2">
                  <c:v>Rocklea factory</c:v>
                </c:pt>
                <c:pt idx="3">
                  <c:v>Milton office tower</c:v>
                </c:pt>
                <c:pt idx="4">
                  <c:v>Bulimba school</c:v>
                </c:pt>
                <c:pt idx="5">
                  <c:v>Chermside retail centre</c:v>
                </c:pt>
                <c:pt idx="6">
                  <c:v>Fortitude Valley hotel</c:v>
                </c:pt>
                <c:pt idx="7">
                  <c:v>Riverside Apartments (strata)</c:v>
                </c:pt>
                <c:pt idx="8">
                  <c:v>Newstead gym</c:v>
                </c:pt>
                <c:pt idx="9">
                  <c:v>Southbank cafe group</c:v>
                </c:pt>
                <c:pt idx="10">
                  <c:v>Ashgrove aged care</c:v>
                </c:pt>
                <c:pt idx="11">
                  <c:v>Wynnum medical centre</c:v>
                </c:pt>
              </c:strCache>
            </c:strRef>
          </c:cat>
          <c:val>
            <c:numRef>
              <c:f>Sheet1!$B$2:$B$13</c:f>
              <c:numCache>
                <c:formatCode>0.0"%";[Red](0.0"%")</c:formatCode>
                <c:ptCount val="12"/>
                <c:pt idx="0">
                  <c:v>58.2</c:v>
                </c:pt>
                <c:pt idx="1">
                  <c:v>58.8</c:v>
                </c:pt>
                <c:pt idx="2">
                  <c:v>58.8</c:v>
                </c:pt>
                <c:pt idx="3">
                  <c:v>59.0</c:v>
                </c:pt>
                <c:pt idx="4">
                  <c:v>59.0</c:v>
                </c:pt>
                <c:pt idx="5">
                  <c:v>59.4</c:v>
                </c:pt>
                <c:pt idx="6">
                  <c:v>59.9</c:v>
                </c:pt>
                <c:pt idx="7">
                  <c:v>59.9</c:v>
                </c:pt>
                <c:pt idx="8">
                  <c:v>59.9</c:v>
                </c:pt>
                <c:pt idx="9">
                  <c:v>60.0</c:v>
                </c:pt>
                <c:pt idx="10">
                  <c:v>60.0</c:v>
                </c:pt>
                <c:pt idx="11">
                  <c:v>61.1</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dPt>
            <c:idx val="6"/>
            <c:spPr>
              <a:solidFill>
                <a:srgbClr val="0E9F6E"/>
              </a:solidFill>
            </c:spPr>
          </c:dPt>
          <c:dPt>
            <c:idx val="7"/>
            <c:spPr>
              <a:solidFill>
                <a:srgbClr val="0E9F6E"/>
              </a:solidFill>
            </c:spPr>
          </c:dPt>
          <c:dPt>
            <c:idx val="8"/>
            <c:spPr>
              <a:solidFill>
                <a:srgbClr val="0E9F6E"/>
              </a:solidFill>
            </c:spPr>
          </c:dPt>
          <c:dPt>
            <c:idx val="9"/>
            <c:spPr>
              <a:solidFill>
                <a:srgbClr val="0E9F6E"/>
              </a:solidFill>
            </c:spPr>
          </c:dPt>
          <c:dPt>
            <c:idx val="10"/>
            <c:spPr>
              <a:solidFill>
                <a:srgbClr val="0E9F6E"/>
              </a:solidFill>
            </c:spPr>
          </c:dPt>
          <c:dPt>
            <c:idx val="11"/>
            <c:spPr>
              <a:solidFill>
                <a:srgbClr val="0E9F6E"/>
              </a:solidFill>
            </c:spPr>
          </c:dPt>
          <c:cat>
            <c:strRef>
              <c:f>Sheet1!$A$2:$A$13</c:f>
              <c:strCache>
                <c:ptCount val="12"/>
                <c:pt idx="0">
                  <c:v>Kangaroo Point townhouses</c:v>
                </c:pt>
                <c:pt idx="1">
                  <c:v>West End brewery</c:v>
                </c:pt>
                <c:pt idx="2">
                  <c:v>Rocklea factory</c:v>
                </c:pt>
                <c:pt idx="3">
                  <c:v>Milton office tower</c:v>
                </c:pt>
                <c:pt idx="4">
                  <c:v>Bulimba school</c:v>
                </c:pt>
                <c:pt idx="5">
                  <c:v>Chermside retail centre</c:v>
                </c:pt>
                <c:pt idx="6">
                  <c:v>Fortitude Valley hotel</c:v>
                </c:pt>
                <c:pt idx="7">
                  <c:v>Riverside Apartments (strata)</c:v>
                </c:pt>
                <c:pt idx="8">
                  <c:v>Newstead gym</c:v>
                </c:pt>
                <c:pt idx="9">
                  <c:v>Southbank cafe group</c:v>
                </c:pt>
                <c:pt idx="10">
                  <c:v>Ashgrove aged care</c:v>
                </c:pt>
                <c:pt idx="11">
                  <c:v>Wynnum medical centre</c:v>
                </c:pt>
              </c:strCache>
            </c:strRef>
          </c:cat>
          <c:val>
            <c:numRef>
              <c:f>Sheet1!$B$2:$B$13</c:f>
              <c:numCache>
                <c:formatCode>$#,##0;[Red]($#,##0);"-"</c:formatCode>
                <c:ptCount val="12"/>
                <c:pt idx="0">
                  <c:v>1398</c:v>
                </c:pt>
                <c:pt idx="1">
                  <c:v>1530</c:v>
                </c:pt>
                <c:pt idx="2">
                  <c:v>2294</c:v>
                </c:pt>
                <c:pt idx="3">
                  <c:v>2478</c:v>
                </c:pt>
                <c:pt idx="4">
                  <c:v>1652</c:v>
                </c:pt>
                <c:pt idx="5">
                  <c:v>2436</c:v>
                </c:pt>
                <c:pt idx="6">
                  <c:v>2038</c:v>
                </c:pt>
                <c:pt idx="7">
                  <c:v>1916</c:v>
                </c:pt>
                <c:pt idx="8">
                  <c:v>958</c:v>
                </c:pt>
                <c:pt idx="9">
                  <c:v>1080</c:v>
                </c:pt>
                <c:pt idx="10">
                  <c:v>2160</c:v>
                </c:pt>
                <c:pt idx="11">
                  <c:v>1344</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A7B0B8"/>
              </a:solidFill>
            </c:spPr>
          </c:dPt>
          <c:dPt>
            <c:idx val="1"/>
            <c:spPr>
              <a:solidFill>
                <a:srgbClr val="A7B0B8"/>
              </a:solidFill>
            </c:spPr>
          </c:dPt>
          <c:dPt>
            <c:idx val="2"/>
            <c:spPr>
              <a:solidFill>
                <a:srgbClr val="A7B0B8"/>
              </a:solidFill>
            </c:spPr>
          </c:dPt>
          <c:dPt>
            <c:idx val="3"/>
            <c:spPr>
              <a:solidFill>
                <a:srgbClr val="0E9F6E"/>
              </a:solidFill>
            </c:spPr>
          </c:dPt>
          <c:cat>
            <c:strRef>
              <c:f>Sheet1!$A$2:$A$5</c:f>
              <c:strCache>
                <c:ptCount val="4"/>
                <c:pt idx="0">
                  <c:v>Wynnum factory solar and battery</c:v>
                </c:pt>
                <c:pt idx="1">
                  <c:v>Windsor warehouse switchboard upgrade</c:v>
                </c:pt>
                <c:pt idx="2">
                  <c:v>Salisbury school data cabling</c:v>
                </c:pt>
                <c:pt idx="3">
                  <c:v>Newstead office office fit-out wiring</c:v>
                </c:pt>
              </c:strCache>
            </c:strRef>
          </c:cat>
          <c:val>
            <c:numRef>
              <c:f>Sheet1!$B$2:$B$5</c:f>
              <c:numCache>
                <c:formatCode>0.0"%";[Red](0.0"%")</c:formatCode>
                <c:ptCount val="4"/>
                <c:pt idx="0">
                  <c:v>7.6</c:v>
                </c:pt>
                <c:pt idx="1">
                  <c:v>24.9</c:v>
                </c:pt>
                <c:pt idx="2">
                  <c:v>28.2</c:v>
                </c:pt>
                <c:pt idx="3">
                  <c:v>37.5</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A7B0B8"/>
              </a:solidFill>
            </c:spPr>
          </c:dPt>
          <c:dPt>
            <c:idx val="1"/>
            <c:spPr>
              <a:solidFill>
                <a:srgbClr val="A7B0B8"/>
              </a:solidFill>
            </c:spPr>
          </c:dPt>
          <c:dPt>
            <c:idx val="2"/>
            <c:spPr>
              <a:solidFill>
                <a:srgbClr val="A7B0B8"/>
              </a:solidFill>
            </c:spPr>
          </c:dPt>
          <c:dPt>
            <c:idx val="3"/>
            <c:spPr>
              <a:solidFill>
                <a:srgbClr val="0E9F6E"/>
              </a:solidFill>
            </c:spPr>
          </c:dPt>
          <c:cat>
            <c:strRef>
              <c:f>Sheet1!$A$2:$A$5</c:f>
              <c:strCache>
                <c:ptCount val="4"/>
                <c:pt idx="0">
                  <c:v>Wynnum factory solar and battery</c:v>
                </c:pt>
                <c:pt idx="1">
                  <c:v>Windsor warehouse switchboard upgrade</c:v>
                </c:pt>
                <c:pt idx="2">
                  <c:v>Salisbury school data cabling</c:v>
                </c:pt>
                <c:pt idx="3">
                  <c:v>Newstead office office fit-out wiring</c:v>
                </c:pt>
              </c:strCache>
            </c:strRef>
          </c:cat>
          <c:val>
            <c:numRef>
              <c:f>Sheet1!$B$2:$B$5</c:f>
              <c:numCache>
                <c:formatCode>$#,##0;[Red]($#,##0);"-"</c:formatCode>
                <c:ptCount val="4"/>
                <c:pt idx="0">
                  <c:v>1612</c:v>
                </c:pt>
                <c:pt idx="1">
                  <c:v>3432</c:v>
                </c:pt>
                <c:pt idx="2">
                  <c:v>5394</c:v>
                </c:pt>
                <c:pt idx="3">
                  <c:v>5854</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cat>
            <c:strRef>
              <c:f>Sheet1!$A$2:$A$7</c:f>
              <c:strCache>
                <c:ptCount val="6"/>
                <c:pt idx="0">
                  <c:v>1-hour call-outs (6)</c:v>
                </c:pt>
                <c:pt idx="1">
                  <c:v>1.5-hour call-outs (6)</c:v>
                </c:pt>
                <c:pt idx="2">
                  <c:v>2-hour call-outs (17)</c:v>
                </c:pt>
                <c:pt idx="3">
                  <c:v>2.5-hour call-outs (6)</c:v>
                </c:pt>
                <c:pt idx="4">
                  <c:v>3-hour call-outs (13)</c:v>
                </c:pt>
                <c:pt idx="5">
                  <c:v>4-hour call-outs (9)</c:v>
                </c:pt>
              </c:strCache>
            </c:strRef>
          </c:cat>
          <c:val>
            <c:numRef>
              <c:f>Sheet1!$B$2:$B$7</c:f>
              <c:numCache>
                <c:formatCode>0.0"%";[Red](0.0"%")</c:formatCode>
                <c:ptCount val="6"/>
                <c:pt idx="0">
                  <c:v>37.2</c:v>
                </c:pt>
                <c:pt idx="1">
                  <c:v>40.1</c:v>
                </c:pt>
                <c:pt idx="2">
                  <c:v>42.2</c:v>
                </c:pt>
                <c:pt idx="3">
                  <c:v>44.6</c:v>
                </c:pt>
                <c:pt idx="4">
                  <c:v>44.8</c:v>
                </c:pt>
                <c:pt idx="5">
                  <c:v>46.0</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cat>
            <c:strRef>
              <c:f>Sheet1!$A$2:$A$7</c:f>
              <c:strCache>
                <c:ptCount val="6"/>
                <c:pt idx="0">
                  <c:v>1-hour call-outs (6)</c:v>
                </c:pt>
                <c:pt idx="1">
                  <c:v>1.5-hour call-outs (6)</c:v>
                </c:pt>
                <c:pt idx="2">
                  <c:v>2-hour call-outs (17)</c:v>
                </c:pt>
                <c:pt idx="3">
                  <c:v>2.5-hour call-outs (6)</c:v>
                </c:pt>
                <c:pt idx="4">
                  <c:v>3-hour call-outs (13)</c:v>
                </c:pt>
                <c:pt idx="5">
                  <c:v>4-hour call-outs (9)</c:v>
                </c:pt>
              </c:strCache>
            </c:strRef>
          </c:cat>
          <c:val>
            <c:numRef>
              <c:f>Sheet1!$B$2:$B$7</c:f>
              <c:numCache>
                <c:formatCode>$#,##0;[Red]($#,##0);"-"</c:formatCode>
                <c:ptCount val="6"/>
                <c:pt idx="0">
                  <c:v>687</c:v>
                </c:pt>
                <c:pt idx="1">
                  <c:v>924</c:v>
                </c:pt>
                <c:pt idx="2">
                  <c:v>3269</c:v>
                </c:pt>
                <c:pt idx="3">
                  <c:v>1352</c:v>
                </c:pt>
                <c:pt idx="4">
                  <c:v>3501</c:v>
                </c:pt>
                <c:pt idx="5">
                  <c:v>3144</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Sheet1!$A$2:$A$16</c:f>
              <c:strCache>
                <c:ptCount val="15"/>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strCache>
            </c:strRef>
          </c:cat>
          <c:val>
            <c:numRef>
              <c:f>Sheet1!$B$2:$B$16</c:f>
              <c:numCache>
                <c:formatCode>0.0"%";[Red](0.0"%")</c:formatCode>
                <c:ptCount val="15"/>
                <c:pt idx="0">
                  <c:v>33.1</c:v>
                </c:pt>
                <c:pt idx="1">
                  <c:v>37.0</c:v>
                </c:pt>
                <c:pt idx="2">
                  <c:v>40.4</c:v>
                </c:pt>
                <c:pt idx="3">
                  <c:v>42.7</c:v>
                </c:pt>
                <c:pt idx="4">
                  <c:v>36.4</c:v>
                </c:pt>
                <c:pt idx="5">
                  <c:v>36.5</c:v>
                </c:pt>
                <c:pt idx="6">
                  <c:v>38.4</c:v>
                </c:pt>
                <c:pt idx="7">
                  <c:v>35.5</c:v>
                </c:pt>
                <c:pt idx="8">
                  <c:v>40.5</c:v>
                </c:pt>
                <c:pt idx="9">
                  <c:v>35.6</c:v>
                </c:pt>
                <c:pt idx="10">
                  <c:v>43.8</c:v>
                </c:pt>
                <c:pt idx="11">
                  <c:v>37.6</c:v>
                </c:pt>
                <c:pt idx="12">
                  <c:v>38.4</c:v>
                </c:pt>
                <c:pt idx="13">
                  <c:v>33.7</c:v>
                </c:pt>
                <c:pt idx="14">
                  <c:v>37.4</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0&quot;%&quot;;[Red](0.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pPr>
      <a:endParaRPr/>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Sheet1!$A$2:$A$16</c:f>
              <c:strCache>
                <c:ptCount val="15"/>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strCache>
            </c:strRef>
          </c:cat>
          <c:val>
            <c:numRef>
              <c:f>Sheet1!$B$2:$B$16</c:f>
              <c:numCache>
                <c:formatCode>$#,##0;[Red]($#,##0);"-"</c:formatCode>
                <c:ptCount val="15"/>
                <c:pt idx="0">
                  <c:v>56675</c:v>
                </c:pt>
                <c:pt idx="1">
                  <c:v>66458</c:v>
                </c:pt>
                <c:pt idx="2">
                  <c:v>57840</c:v>
                </c:pt>
                <c:pt idx="3">
                  <c:v>60167</c:v>
                </c:pt>
                <c:pt idx="4">
                  <c:v>58595</c:v>
                </c:pt>
                <c:pt idx="5">
                  <c:v>49330</c:v>
                </c:pt>
                <c:pt idx="6">
                  <c:v>47897</c:v>
                </c:pt>
                <c:pt idx="7">
                  <c:v>46116</c:v>
                </c:pt>
                <c:pt idx="8">
                  <c:v>66529</c:v>
                </c:pt>
                <c:pt idx="9">
                  <c:v>66434</c:v>
                </c:pt>
                <c:pt idx="10">
                  <c:v>60906</c:v>
                </c:pt>
                <c:pt idx="11">
                  <c:v>48201</c:v>
                </c:pt>
                <c:pt idx="12">
                  <c:v>49446</c:v>
                </c:pt>
                <c:pt idx="13">
                  <c:v>58844</c:v>
                </c:pt>
                <c:pt idx="14">
                  <c:v>50453</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Red]($#,##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548640"/>
            <a:ext cx="640080" cy="640080"/>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r>
              <a:rPr sz="1600" b="1">
                <a:solidFill>
                  <a:srgbClr val="FFFFFF"/>
                </a:solidFill>
              </a:rPr>
              <a:t>4th</a:t>
            </a:r>
          </a:p>
        </p:txBody>
      </p:sp>
      <p:sp>
        <p:nvSpPr>
          <p:cNvPr id="3" name="TextBox 2"/>
          <p:cNvSpPr txBox="1"/>
          <p:nvPr/>
        </p:nvSpPr>
        <p:spPr>
          <a:xfrm>
            <a:off x="1234440" y="658368"/>
            <a:ext cx="5486400" cy="457200"/>
          </a:xfrm>
          <a:prstGeom prst="rect">
            <a:avLst/>
          </a:prstGeom>
          <a:noFill/>
        </p:spPr>
        <p:txBody>
          <a:bodyPr wrap="square">
            <a:spAutoFit/>
          </a:bodyPr>
          <a:lstStyle/>
          <a:p>
            <a:r>
              <a:rPr sz="1800" b="1">
                <a:solidFill>
                  <a:srgbClr val="25342A"/>
                </a:solidFill>
                <a:latin typeface="Arial"/>
              </a:rPr>
              <a:t>The 4th Sheet</a:t>
            </a:r>
          </a:p>
        </p:txBody>
      </p:sp>
      <p:sp>
        <p:nvSpPr>
          <p:cNvPr id="4" name="TextBox 3"/>
          <p:cNvSpPr txBox="1"/>
          <p:nvPr/>
        </p:nvSpPr>
        <p:spPr>
          <a:xfrm>
            <a:off x="457200" y="1554480"/>
            <a:ext cx="10972800" cy="365760"/>
          </a:xfrm>
          <a:prstGeom prst="rect">
            <a:avLst/>
          </a:prstGeom>
          <a:noFill/>
        </p:spPr>
        <p:txBody>
          <a:bodyPr wrap="square">
            <a:spAutoFit/>
          </a:bodyPr>
          <a:lstStyle/>
          <a:p>
            <a:r>
              <a:rPr sz="1100" b="1">
                <a:solidFill>
                  <a:srgbClr val="8A7A52"/>
                </a:solidFill>
                <a:latin typeface="Arial"/>
              </a:rPr>
              <a:t>SAMPLE DATA · invented figures for demonstration</a:t>
            </a:r>
          </a:p>
        </p:txBody>
      </p:sp>
      <p:sp>
        <p:nvSpPr>
          <p:cNvPr id="5" name="TextBox 4"/>
          <p:cNvSpPr txBox="1"/>
          <p:nvPr/>
        </p:nvSpPr>
        <p:spPr>
          <a:xfrm>
            <a:off x="457200" y="2011680"/>
            <a:ext cx="11247120" cy="1097280"/>
          </a:xfrm>
          <a:prstGeom prst="rect">
            <a:avLst/>
          </a:prstGeom>
          <a:noFill/>
        </p:spPr>
        <p:txBody>
          <a:bodyPr wrap="square">
            <a:spAutoFit/>
          </a:bodyPr>
          <a:lstStyle/>
          <a:p>
            <a:r>
              <a:rPr sz="3400" b="1">
                <a:solidFill>
                  <a:srgbClr val="25342A"/>
                </a:solidFill>
                <a:latin typeface="Arial"/>
              </a:rPr>
              <a:t>Which jobs actually make money?</a:t>
            </a:r>
          </a:p>
        </p:txBody>
      </p:sp>
      <p:sp>
        <p:nvSpPr>
          <p:cNvPr id="6" name="TextBox 5"/>
          <p:cNvSpPr txBox="1"/>
          <p:nvPr/>
        </p:nvSpPr>
        <p:spPr>
          <a:xfrm>
            <a:off x="457200" y="3154680"/>
            <a:ext cx="11247120" cy="457200"/>
          </a:xfrm>
          <a:prstGeom prst="rect">
            <a:avLst/>
          </a:prstGeom>
          <a:noFill/>
        </p:spPr>
        <p:txBody>
          <a:bodyPr wrap="square">
            <a:spAutoFit/>
          </a:bodyPr>
          <a:lstStyle/>
          <a:p>
            <a:r>
              <a:rPr sz="1600" b="0">
                <a:solidFill>
                  <a:srgbClr val="5F6F63"/>
                </a:solidFill>
                <a:latin typeface="Arial"/>
              </a:rPr>
              <a:t>Sample Electrical &amp; Air Pty Ltd</a:t>
            </a:r>
          </a:p>
        </p:txBody>
      </p:sp>
      <p:sp>
        <p:nvSpPr>
          <p:cNvPr id="7" name="TextBox 6"/>
          <p:cNvSpPr txBox="1"/>
          <p:nvPr/>
        </p:nvSpPr>
        <p:spPr>
          <a:xfrm>
            <a:off x="457200" y="3703320"/>
            <a:ext cx="11247120" cy="1097280"/>
          </a:xfrm>
          <a:prstGeom prst="rect">
            <a:avLst/>
          </a:prstGeom>
          <a:noFill/>
        </p:spPr>
        <p:txBody>
          <a:bodyPr wrap="square">
            <a:spAutoFit/>
          </a:bodyPr>
          <a:lstStyle/>
          <a:p>
            <a:r>
              <a:rPr sz="1400" b="0">
                <a:solidFill>
                  <a:srgbClr val="25342A"/>
                </a:solidFill>
                <a:latin typeface="Arial"/>
              </a:rPr>
              <a:t>Period: December 2025. Every job's gross margin: revenue less materials, subcontractors and technician time at $68 an hour (fully loaded: wages and all on-costs). Before overheads, so this is not profit. Pick a type of job and every number, chart and note on the page follows it.</a:t>
            </a:r>
          </a:p>
        </p:txBody>
      </p:sp>
      <p:sp>
        <p:nvSpPr>
          <p:cNvPr id="8" name="TextBox 7"/>
          <p:cNvSpPr txBox="1"/>
          <p:nvPr/>
        </p:nvSpPr>
        <p:spPr>
          <a:xfrm>
            <a:off x="457200" y="4937760"/>
            <a:ext cx="11247120" cy="1097280"/>
          </a:xfrm>
          <a:prstGeom prst="rect">
            <a:avLst/>
          </a:prstGeom>
          <a:noFill/>
        </p:spPr>
        <p:txBody>
          <a:bodyPr wrap="square">
            <a:spAutoFit/>
          </a:bodyPr>
          <a:lstStyle/>
          <a:p>
            <a:r>
              <a:rPr sz="1100" b="0">
                <a:solidFill>
                  <a:srgbClr val="5F6F63"/>
                </a:solidFill>
                <a:latin typeface="Arial"/>
              </a:rPr>
              <a:t>How final is this data?</a:t>
            </a:r>
          </a:p>
          <a:p>
            <a:r>
              <a:rPr sz="1100" b="0">
                <a:solidFill>
                  <a:srgbClr val="5F6F63"/>
                </a:solidFill>
                <a:latin typeface="Arial"/>
              </a:rPr>
              <a:t>November 2025: Locked. November 2025 is locked (closed 2 Dec 2025). These numbers won't change.</a:t>
            </a:r>
          </a:p>
          <a:p>
            <a:r>
              <a:rPr sz="1100" b="0">
                <a:solidFill>
                  <a:srgbClr val="5F6F63"/>
                </a:solidFill>
                <a:latin typeface="Arial"/>
              </a:rPr>
              <a:t>December 2025: Locked. December 2025 is locked (closed 5 Jan 2026). These numbers won't change.</a:t>
            </a:r>
          </a:p>
          <a:p>
            <a:r>
              <a:rPr sz="1100" b="0">
                <a:solidFill>
                  <a:srgbClr val="5F6F63"/>
                </a:solidFill>
                <a:latin typeface="Arial"/>
              </a:rPr>
              <a:t>October 2026: Incomplete. October 2026 is still in progress: figures to 6 Oct only.</a:t>
            </a:r>
          </a:p>
        </p:txBody>
      </p:sp>
      <p:sp>
        <p:nvSpPr>
          <p:cNvPr id="9" name="TextBox 8"/>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 of 21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Gross margin, not profit</a:t>
            </a:r>
          </a:p>
        </p:txBody>
      </p:sp>
      <p:sp>
        <p:nvSpPr>
          <p:cNvPr id="5" name="Rectangle 4"/>
          <p:cNvSpPr/>
          <p:nvPr/>
        </p:nvSpPr>
        <p:spPr>
          <a:xfrm>
            <a:off x="457200" y="1554480"/>
            <a:ext cx="11277295"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10820095" cy="365760"/>
          </a:xfrm>
          <a:prstGeom prst="rect">
            <a:avLst/>
          </a:prstGeom>
          <a:noFill/>
        </p:spPr>
        <p:txBody>
          <a:bodyPr wrap="square">
            <a:spAutoFit/>
          </a:bodyPr>
          <a:lstStyle/>
          <a:p>
            <a:r>
              <a:rPr sz="1100" b="1">
                <a:solidFill>
                  <a:srgbClr val="5F6F63"/>
                </a:solidFill>
                <a:latin typeface="Arial"/>
              </a:rPr>
              <a:t>GROSS MARGIN, NOT PROFIT</a:t>
            </a:r>
          </a:p>
        </p:txBody>
      </p:sp>
      <p:sp>
        <p:nvSpPr>
          <p:cNvPr id="7" name="TextBox 6"/>
          <p:cNvSpPr txBox="1"/>
          <p:nvPr/>
        </p:nvSpPr>
        <p:spPr>
          <a:xfrm>
            <a:off x="685800" y="2103120"/>
            <a:ext cx="10820095" cy="3749039"/>
          </a:xfrm>
          <a:prstGeom prst="rect">
            <a:avLst/>
          </a:prstGeom>
          <a:noFill/>
        </p:spPr>
        <p:txBody>
          <a:bodyPr wrap="square">
            <a:spAutoFit/>
          </a:bodyPr>
          <a:lstStyle/>
          <a:p>
            <a:r>
              <a:rPr sz="1600" b="0">
                <a:solidFill>
                  <a:srgbClr val="25342A"/>
                </a:solidFill>
                <a:latin typeface="Arial"/>
              </a:rPr>
              <a:t>Gross margin is not profit. Job gross margin = revenue less materials, subcontractors and technician time charged to the job at $68 an hour (wages and all on-costs). Not included: technician time not charged to any job (travel, training, waiting), and overheads (office wages, marketing, vehicles, rent, insurance, IT, depreciation, interest). Profit is what's left after those. Wages always include all on-costs: super, payroll tax, workers' compensation insurance and leave.</a:t>
            </a:r>
          </a:p>
        </p:txBody>
      </p:sp>
      <p:sp>
        <p:nvSpPr>
          <p:cNvPr id="8" name="TextBox 7"/>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2 of 21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From gross margin to profit</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December's jobs made $50,453 gross margin (37.4%). Technician time not charged to jobs took $4,504 and overheads $57,350, leaving ($11,401) profit before tax ((8.4%) of revenue). To cover overheads, jobs need a 45.8% gross margin on average.</a:t>
            </a:r>
          </a:p>
        </p:txBody>
      </p:sp>
      <p:graphicFrame>
        <p:nvGraphicFramePr>
          <p:cNvPr id="6" name="Table 5"/>
          <p:cNvGraphicFramePr>
            <a:graphicFrameLocks noGrp="1"/>
          </p:cNvGraphicFramePr>
          <p:nvPr/>
        </p:nvGraphicFramePr>
        <p:xfrm>
          <a:off x="457200" y="1463040"/>
          <a:ext cx="11247120" cy="3950208"/>
        </p:xfrm>
        <a:graphic>
          <a:graphicData uri="http://schemas.openxmlformats.org/drawingml/2006/table">
            <a:tbl>
              <a:tblPr firstRow="1" bandRow="1">
                <a:tableStyleId>{5C22544A-7EE6-4342-B048-85BDC9FD1C3A}</a:tableStyleId>
              </a:tblPr>
              <a:tblGrid>
                <a:gridCol w="5623560"/>
                <a:gridCol w="5623560"/>
              </a:tblGrid>
              <a:tr h="329184">
                <a:tc>
                  <a:txBody>
                    <a:bodyPr/>
                    <a:lstStyle/>
                    <a:p/>
                  </a:txBody>
                  <a:tcPr>
                    <a:solidFill>
                      <a:srgbClr val="2F7A5D"/>
                    </a:solidFill>
                  </a:tcPr>
                </a:tc>
                <a:tc>
                  <a:txBody>
                    <a:bodyPr/>
                    <a:lstStyle/>
                    <a:p>
                      <a:pPr algn="r"/>
                      <a:r>
                        <a:rPr sz="1100" b="1">
                          <a:solidFill>
                            <a:srgbClr val="FFFFFF"/>
                          </a:solidFill>
                        </a:rPr>
                        <a:t>December 2025</a:t>
                      </a:r>
                    </a:p>
                  </a:txBody>
                  <a:tcPr>
                    <a:solidFill>
                      <a:srgbClr val="2F7A5D"/>
                    </a:solidFill>
                  </a:tcPr>
                </a:tc>
              </a:tr>
              <a:tr h="329184">
                <a:tc>
                  <a:txBody>
                    <a:bodyPr/>
                    <a:lstStyle/>
                    <a:p>
                      <a:r>
                        <a:rPr sz="1050">
                          <a:solidFill>
                            <a:srgbClr val="25342A"/>
                          </a:solidFill>
                        </a:rPr>
                        <a:t>Gross margin on jobs</a:t>
                      </a:r>
                    </a:p>
                  </a:txBody>
                  <a:tcPr>
                    <a:solidFill>
                      <a:srgbClr val="FFFFFF"/>
                    </a:solidFill>
                  </a:tcPr>
                </a:tc>
                <a:tc>
                  <a:txBody>
                    <a:bodyPr/>
                    <a:lstStyle/>
                    <a:p>
                      <a:pPr algn="r"/>
                      <a:r>
                        <a:rPr sz="1050">
                          <a:solidFill>
                            <a:srgbClr val="25342A"/>
                          </a:solidFill>
                        </a:rPr>
                        <a:t>$50,453</a:t>
                      </a:r>
                    </a:p>
                  </a:txBody>
                  <a:tcPr>
                    <a:solidFill>
                      <a:srgbClr val="FFFFFF"/>
                    </a:solidFill>
                  </a:tcPr>
                </a:tc>
              </a:tr>
              <a:tr h="329184">
                <a:tc>
                  <a:txBody>
                    <a:bodyPr/>
                    <a:lstStyle/>
                    <a:p>
                      <a:r>
                        <a:rPr sz="1050">
                          <a:solidFill>
                            <a:srgbClr val="25342A"/>
                          </a:solidFill>
                        </a:rPr>
                        <a:t>Technician wages and on-costs</a:t>
                      </a:r>
                    </a:p>
                  </a:txBody>
                  <a:tcPr>
                    <a:solidFill>
                      <a:srgbClr val="F7FAF7"/>
                    </a:solidFill>
                  </a:tcPr>
                </a:tc>
                <a:tc>
                  <a:txBody>
                    <a:bodyPr/>
                    <a:lstStyle/>
                    <a:p>
                      <a:pPr algn="r"/>
                      <a:r>
                        <a:rPr sz="1050">
                          <a:solidFill>
                            <a:srgbClr val="25342A"/>
                          </a:solidFill>
                        </a:rPr>
                        <a:t>$46,800</a:t>
                      </a:r>
                    </a:p>
                  </a:txBody>
                  <a:tcPr>
                    <a:solidFill>
                      <a:srgbClr val="F7FAF7"/>
                    </a:solidFill>
                  </a:tcPr>
                </a:tc>
              </a:tr>
              <a:tr h="329184">
                <a:tc>
                  <a:txBody>
                    <a:bodyPr/>
                    <a:lstStyle/>
                    <a:p>
                      <a:r>
                        <a:rPr sz="1050">
                          <a:solidFill>
                            <a:srgbClr val="25342A"/>
                          </a:solidFill>
                        </a:rPr>
                        <a:t>Technician time charged to jobs (at cost)</a:t>
                      </a:r>
                    </a:p>
                  </a:txBody>
                  <a:tcPr>
                    <a:solidFill>
                      <a:srgbClr val="FFFFFF"/>
                    </a:solidFill>
                  </a:tcPr>
                </a:tc>
                <a:tc>
                  <a:txBody>
                    <a:bodyPr/>
                    <a:lstStyle/>
                    <a:p>
                      <a:pPr algn="r"/>
                      <a:r>
                        <a:rPr sz="1050">
                          <a:solidFill>
                            <a:srgbClr val="25342A"/>
                          </a:solidFill>
                        </a:rPr>
                        <a:t>$42,296</a:t>
                      </a:r>
                    </a:p>
                  </a:txBody>
                  <a:tcPr>
                    <a:solidFill>
                      <a:srgbClr val="FFFFFF"/>
                    </a:solidFill>
                  </a:tcPr>
                </a:tc>
              </a:tr>
              <a:tr h="329184">
                <a:tc>
                  <a:txBody>
                    <a:bodyPr/>
                    <a:lstStyle/>
                    <a:p>
                      <a:r>
                        <a:rPr sz="1050">
                          <a:solidFill>
                            <a:srgbClr val="25342A"/>
                          </a:solidFill>
                        </a:rPr>
                        <a:t>Technician time not charged to jobs</a:t>
                      </a:r>
                    </a:p>
                  </a:txBody>
                  <a:tcPr>
                    <a:solidFill>
                      <a:srgbClr val="F7FAF7"/>
                    </a:solidFill>
                  </a:tcPr>
                </a:tc>
                <a:tc>
                  <a:txBody>
                    <a:bodyPr/>
                    <a:lstStyle/>
                    <a:p>
                      <a:pPr algn="r"/>
                      <a:r>
                        <a:rPr sz="1050">
                          <a:solidFill>
                            <a:srgbClr val="25342A"/>
                          </a:solidFill>
                        </a:rPr>
                        <a:t>$4,504</a:t>
                      </a:r>
                    </a:p>
                  </a:txBody>
                  <a:tcPr>
                    <a:solidFill>
                      <a:srgbClr val="F7FAF7"/>
                    </a:solidFill>
                  </a:tcPr>
                </a:tc>
              </a:tr>
              <a:tr h="329184">
                <a:tc>
                  <a:txBody>
                    <a:bodyPr/>
                    <a:lstStyle/>
                    <a:p>
                      <a:r>
                        <a:rPr sz="1050">
                          <a:solidFill>
                            <a:srgbClr val="25342A"/>
                          </a:solidFill>
                        </a:rPr>
                        <a:t>Gross profit (the P&amp;L)</a:t>
                      </a:r>
                    </a:p>
                  </a:txBody>
                  <a:tcPr>
                    <a:solidFill>
                      <a:srgbClr val="FFFFFF"/>
                    </a:solidFill>
                  </a:tcPr>
                </a:tc>
                <a:tc>
                  <a:txBody>
                    <a:bodyPr/>
                    <a:lstStyle/>
                    <a:p>
                      <a:pPr algn="r"/>
                      <a:r>
                        <a:rPr sz="1050">
                          <a:solidFill>
                            <a:srgbClr val="25342A"/>
                          </a:solidFill>
                        </a:rPr>
                        <a:t>$45,949</a:t>
                      </a:r>
                    </a:p>
                  </a:txBody>
                  <a:tcPr>
                    <a:solidFill>
                      <a:srgbClr val="FFFFFF"/>
                    </a:solidFill>
                  </a:tcPr>
                </a:tc>
              </a:tr>
              <a:tr h="329184">
                <a:tc>
                  <a:txBody>
                    <a:bodyPr/>
                    <a:lstStyle/>
                    <a:p>
                      <a:r>
                        <a:rPr sz="1050">
                          <a:solidFill>
                            <a:srgbClr val="25342A"/>
                          </a:solidFill>
                        </a:rPr>
                        <a:t>Overheads (operating expenses, depreciation, interest)</a:t>
                      </a:r>
                    </a:p>
                  </a:txBody>
                  <a:tcPr>
                    <a:solidFill>
                      <a:srgbClr val="F7FAF7"/>
                    </a:solidFill>
                  </a:tcPr>
                </a:tc>
                <a:tc>
                  <a:txBody>
                    <a:bodyPr/>
                    <a:lstStyle/>
                    <a:p>
                      <a:pPr algn="r"/>
                      <a:r>
                        <a:rPr sz="1050">
                          <a:solidFill>
                            <a:srgbClr val="25342A"/>
                          </a:solidFill>
                        </a:rPr>
                        <a:t>$57,350</a:t>
                      </a:r>
                    </a:p>
                  </a:txBody>
                  <a:tcPr>
                    <a:solidFill>
                      <a:srgbClr val="F7FAF7"/>
                    </a:solidFill>
                  </a:tcPr>
                </a:tc>
              </a:tr>
              <a:tr h="329184">
                <a:tc>
                  <a:txBody>
                    <a:bodyPr/>
                    <a:lstStyle/>
                    <a:p>
                      <a:r>
                        <a:rPr sz="1050">
                          <a:solidFill>
                            <a:srgbClr val="25342A"/>
                          </a:solidFill>
                        </a:rPr>
                        <a:t>Profit before tax (the P&amp;L)</a:t>
                      </a:r>
                    </a:p>
                  </a:txBody>
                  <a:tcPr>
                    <a:solidFill>
                      <a:srgbClr val="FFFFFF"/>
                    </a:solidFill>
                  </a:tcPr>
                </a:tc>
                <a:tc>
                  <a:txBody>
                    <a:bodyPr/>
                    <a:lstStyle/>
                    <a:p>
                      <a:pPr algn="r"/>
                      <a:r>
                        <a:rPr sz="1050">
                          <a:solidFill>
                            <a:srgbClr val="B42318"/>
                          </a:solidFill>
                        </a:rPr>
                        <a:t>($11,401)</a:t>
                      </a:r>
                    </a:p>
                  </a:txBody>
                  <a:tcPr>
                    <a:solidFill>
                      <a:srgbClr val="FFFFFF"/>
                    </a:solidFill>
                  </a:tcPr>
                </a:tc>
              </a:tr>
              <a:tr h="329184">
                <a:tc>
                  <a:txBody>
                    <a:bodyPr/>
                    <a:lstStyle/>
                    <a:p>
                      <a:r>
                        <a:rPr sz="1050">
                          <a:solidFill>
                            <a:srgbClr val="25342A"/>
                          </a:solidFill>
                        </a:rPr>
                        <a:t>Revenue</a:t>
                      </a:r>
                    </a:p>
                  </a:txBody>
                  <a:tcPr>
                    <a:solidFill>
                      <a:srgbClr val="F7FAF7"/>
                    </a:solidFill>
                  </a:tcPr>
                </a:tc>
                <a:tc>
                  <a:txBody>
                    <a:bodyPr/>
                    <a:lstStyle/>
                    <a:p>
                      <a:pPr algn="r"/>
                      <a:r>
                        <a:rPr sz="1050">
                          <a:solidFill>
                            <a:srgbClr val="25342A"/>
                          </a:solidFill>
                        </a:rPr>
                        <a:t>$135,079</a:t>
                      </a:r>
                    </a:p>
                  </a:txBody>
                  <a:tcPr>
                    <a:solidFill>
                      <a:srgbClr val="F7FAF7"/>
                    </a:solidFill>
                  </a:tcPr>
                </a:tc>
              </a:tr>
              <a:tr h="329184">
                <a:tc>
                  <a:txBody>
                    <a:bodyPr/>
                    <a:lstStyle/>
                    <a:p>
                      <a:r>
                        <a:rPr sz="1050">
                          <a:solidFill>
                            <a:srgbClr val="25342A"/>
                          </a:solidFill>
                        </a:rPr>
                        <a:t>Gross margin on jobs, %</a:t>
                      </a:r>
                    </a:p>
                  </a:txBody>
                  <a:tcPr>
                    <a:solidFill>
                      <a:srgbClr val="FFFFFF"/>
                    </a:solidFill>
                  </a:tcPr>
                </a:tc>
                <a:tc>
                  <a:txBody>
                    <a:bodyPr/>
                    <a:lstStyle/>
                    <a:p>
                      <a:pPr algn="r"/>
                      <a:r>
                        <a:rPr sz="1050">
                          <a:solidFill>
                            <a:srgbClr val="25342A"/>
                          </a:solidFill>
                        </a:rPr>
                        <a:t>37.4%</a:t>
                      </a:r>
                    </a:p>
                  </a:txBody>
                  <a:tcPr>
                    <a:solidFill>
                      <a:srgbClr val="FFFFFF"/>
                    </a:solidFill>
                  </a:tcPr>
                </a:tc>
              </a:tr>
              <a:tr h="329184">
                <a:tc>
                  <a:txBody>
                    <a:bodyPr/>
                    <a:lstStyle/>
                    <a:p>
                      <a:r>
                        <a:rPr sz="1050">
                          <a:solidFill>
                            <a:srgbClr val="25342A"/>
                          </a:solidFill>
                        </a:rPr>
                        <a:t>Profit before tax, % of revenue</a:t>
                      </a:r>
                    </a:p>
                  </a:txBody>
                  <a:tcPr>
                    <a:solidFill>
                      <a:srgbClr val="F7FAF7"/>
                    </a:solidFill>
                  </a:tcPr>
                </a:tc>
                <a:tc>
                  <a:txBody>
                    <a:bodyPr/>
                    <a:lstStyle/>
                    <a:p>
                      <a:pPr algn="r"/>
                      <a:r>
                        <a:rPr sz="1050">
                          <a:solidFill>
                            <a:srgbClr val="B42318"/>
                          </a:solidFill>
                        </a:rPr>
                        <a:t>(8.4%)</a:t>
                      </a:r>
                    </a:p>
                  </a:txBody>
                  <a:tcPr>
                    <a:solidFill>
                      <a:srgbClr val="F7FAF7"/>
                    </a:solidFill>
                  </a:tcPr>
                </a:tc>
              </a:tr>
              <a:tr h="329184">
                <a:tc>
                  <a:txBody>
                    <a:bodyPr/>
                    <a:lstStyle/>
                    <a:p>
                      <a:r>
                        <a:rPr sz="1050">
                          <a:solidFill>
                            <a:srgbClr val="25342A"/>
                          </a:solidFill>
                        </a:rPr>
                        <a:t>Gross margin jobs need just to cover overheads and time not charged</a:t>
                      </a:r>
                    </a:p>
                  </a:txBody>
                  <a:tcPr>
                    <a:solidFill>
                      <a:srgbClr val="FFFFFF"/>
                    </a:solidFill>
                  </a:tcPr>
                </a:tc>
                <a:tc>
                  <a:txBody>
                    <a:bodyPr/>
                    <a:lstStyle/>
                    <a:p>
                      <a:pPr algn="r"/>
                      <a:r>
                        <a:rPr sz="1050">
                          <a:solidFill>
                            <a:srgbClr val="25342A"/>
                          </a:solidFill>
                        </a:rPr>
                        <a:t>45.8%</a:t>
                      </a:r>
                    </a:p>
                  </a:txBody>
                  <a:tcPr>
                    <a:solidFill>
                      <a:srgbClr val="FFFFFF"/>
                    </a:solidFill>
                  </a:tcPr>
                </a:tc>
              </a:tr>
            </a:tbl>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3 of 21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Type of job: All jobs</a:t>
            </a:r>
          </a:p>
        </p:txBody>
      </p:sp>
      <p:sp>
        <p:nvSpPr>
          <p:cNvPr id="5" name="Rectangle 4"/>
          <p:cNvSpPr/>
          <p:nvPr/>
        </p:nvSpPr>
        <p:spPr>
          <a:xfrm>
            <a:off x="457200" y="1645920"/>
            <a:ext cx="11277295"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10911535" cy="457200"/>
          </a:xfrm>
          <a:prstGeom prst="rect">
            <a:avLst/>
          </a:prstGeom>
          <a:noFill/>
        </p:spPr>
        <p:txBody>
          <a:bodyPr wrap="square">
            <a:spAutoFit/>
          </a:bodyPr>
          <a:lstStyle/>
          <a:p>
            <a:r>
              <a:rPr sz="1200" b="0">
                <a:solidFill>
                  <a:srgbClr val="5F6F63"/>
                </a:solidFill>
                <a:latin typeface="Arial"/>
              </a:rPr>
              <a:t>Job gross margin, December · All jobs</a:t>
            </a:r>
          </a:p>
        </p:txBody>
      </p:sp>
      <p:sp>
        <p:nvSpPr>
          <p:cNvPr id="7" name="TextBox 6"/>
          <p:cNvSpPr txBox="1"/>
          <p:nvPr/>
        </p:nvSpPr>
        <p:spPr>
          <a:xfrm>
            <a:off x="640080" y="2240280"/>
            <a:ext cx="10911535" cy="731520"/>
          </a:xfrm>
          <a:prstGeom prst="rect">
            <a:avLst/>
          </a:prstGeom>
          <a:noFill/>
        </p:spPr>
        <p:txBody>
          <a:bodyPr wrap="square">
            <a:spAutoFit/>
          </a:bodyPr>
          <a:lstStyle/>
          <a:p>
            <a:r>
              <a:rPr sz="3000" b="1">
                <a:solidFill>
                  <a:srgbClr val="2F7A5D"/>
                </a:solidFill>
                <a:latin typeface="Arial"/>
              </a:rPr>
              <a:t>37.4%</a:t>
            </a:r>
          </a:p>
        </p:txBody>
      </p:sp>
      <p:sp>
        <p:nvSpPr>
          <p:cNvPr id="8" name="TextBox 7"/>
          <p:cNvSpPr txBox="1"/>
          <p:nvPr/>
        </p:nvSpPr>
        <p:spPr>
          <a:xfrm>
            <a:off x="640080" y="3017520"/>
            <a:ext cx="10911535" cy="548640"/>
          </a:xfrm>
          <a:prstGeom prst="rect">
            <a:avLst/>
          </a:prstGeom>
          <a:noFill/>
        </p:spPr>
        <p:txBody>
          <a:bodyPr wrap="square">
            <a:spAutoFit/>
          </a:bodyPr>
          <a:lstStyle/>
          <a:p>
            <a:r>
              <a:rPr sz="1100" b="0">
                <a:solidFill>
                  <a:srgbClr val="5F6F63"/>
                </a:solidFill>
                <a:latin typeface="Arial"/>
              </a:rPr>
              <a:t>November 33.7%</a:t>
            </a:r>
          </a:p>
        </p:txBody>
      </p:sp>
      <p:sp>
        <p:nvSpPr>
          <p:cNvPr id="9" name="TextBox 8"/>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4 of 21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by type of job, December 2025 · Gross margin % · Type of job: All jobs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Revenue less materials, subcontractors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r>
              <a:rPr sz="1000" b="0">
                <a:solidFill>
                  <a:srgbClr val="5F6F63"/>
                </a:solidFill>
                <a:latin typeface="Arial"/>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5 of 21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by type of job, December 2025 · Gross margin $ · Type of job: All jobs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Revenue less materials, subcontractors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6 of 21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Type of job: All jobs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In December maintenance contracts made a 59.5% job gross margin, installations made a 23.4% job gross margin, call-outs and repairs made a 43.5% job gross margin (technician time at $68 an hour, wages and all on-costs). Jobs need 45.8%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Maintenance contracts: 59.5% gross margin, the most profitable work you do. Installations: 23.4% gross margin, below the 45.8% needed to cover overheads.</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7 of 21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Type of job: Maintenance contracts</a:t>
            </a:r>
          </a:p>
        </p:txBody>
      </p:sp>
      <p:sp>
        <p:nvSpPr>
          <p:cNvPr id="5" name="Rectangle 4"/>
          <p:cNvSpPr/>
          <p:nvPr/>
        </p:nvSpPr>
        <p:spPr>
          <a:xfrm>
            <a:off x="457200" y="1645920"/>
            <a:ext cx="11277295"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10911535" cy="457200"/>
          </a:xfrm>
          <a:prstGeom prst="rect">
            <a:avLst/>
          </a:prstGeom>
          <a:noFill/>
        </p:spPr>
        <p:txBody>
          <a:bodyPr wrap="square">
            <a:spAutoFit/>
          </a:bodyPr>
          <a:lstStyle/>
          <a:p>
            <a:r>
              <a:rPr sz="1200" b="0">
                <a:solidFill>
                  <a:srgbClr val="5F6F63"/>
                </a:solidFill>
                <a:latin typeface="Arial"/>
              </a:rPr>
              <a:t>Job gross margin, December · Maintenance contracts</a:t>
            </a:r>
          </a:p>
        </p:txBody>
      </p:sp>
      <p:sp>
        <p:nvSpPr>
          <p:cNvPr id="7" name="TextBox 6"/>
          <p:cNvSpPr txBox="1"/>
          <p:nvPr/>
        </p:nvSpPr>
        <p:spPr>
          <a:xfrm>
            <a:off x="640080" y="2240280"/>
            <a:ext cx="10911535" cy="731520"/>
          </a:xfrm>
          <a:prstGeom prst="rect">
            <a:avLst/>
          </a:prstGeom>
          <a:noFill/>
        </p:spPr>
        <p:txBody>
          <a:bodyPr wrap="square">
            <a:spAutoFit/>
          </a:bodyPr>
          <a:lstStyle/>
          <a:p>
            <a:r>
              <a:rPr sz="3000" b="1">
                <a:solidFill>
                  <a:srgbClr val="2F7A5D"/>
                </a:solidFill>
                <a:latin typeface="Arial"/>
              </a:rPr>
              <a:t>59.5%</a:t>
            </a:r>
          </a:p>
        </p:txBody>
      </p:sp>
      <p:sp>
        <p:nvSpPr>
          <p:cNvPr id="8" name="TextBox 7"/>
          <p:cNvSpPr txBox="1"/>
          <p:nvPr/>
        </p:nvSpPr>
        <p:spPr>
          <a:xfrm>
            <a:off x="640080" y="3017520"/>
            <a:ext cx="10911535" cy="548640"/>
          </a:xfrm>
          <a:prstGeom prst="rect">
            <a:avLst/>
          </a:prstGeom>
          <a:noFill/>
        </p:spPr>
        <p:txBody>
          <a:bodyPr wrap="square">
            <a:spAutoFit/>
          </a:bodyPr>
          <a:lstStyle/>
          <a:p>
            <a:r>
              <a:rPr sz="1100" b="0">
                <a:solidFill>
                  <a:srgbClr val="5F6F63"/>
                </a:solidFill>
                <a:latin typeface="Arial"/>
              </a:rPr>
              <a:t>November 59.5%</a:t>
            </a:r>
          </a:p>
        </p:txBody>
      </p:sp>
      <p:sp>
        <p:nvSpPr>
          <p:cNvPr id="9" name="TextBox 8"/>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8 of 21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on each maintenance contract, December 2025 · Gross margin % · Type of job: Maintenance contracts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The month's fee less materials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r>
              <a:rPr sz="1000" b="0">
                <a:solidFill>
                  <a:srgbClr val="5F6F63"/>
                </a:solidFill>
                <a:latin typeface="Arial"/>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9 of 21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on each maintenance contract, December 2025 · Gross margin $ · Type of job: Maintenance contracts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The month's fee less materials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10 of 21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Type of job: Maintenance contracts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All 12 contracts made more than the 35.0% job gross margin target. The thinnest was Kangaroo Point townhouses at 58.2% job gross margin: 14.0 h of technician time on a $2,400 monthly fee.</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The Kangaroo Point townhouses contract: 58.2% gross margin, 12.5 points clear of the 45.8% overheads need. Maintenance contracts overall: 59.5% gross margin.</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11 of 21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Type of job: Installations</a:t>
            </a:r>
          </a:p>
        </p:txBody>
      </p:sp>
      <p:sp>
        <p:nvSpPr>
          <p:cNvPr id="5" name="Rectangle 4"/>
          <p:cNvSpPr/>
          <p:nvPr/>
        </p:nvSpPr>
        <p:spPr>
          <a:xfrm>
            <a:off x="457200" y="1645920"/>
            <a:ext cx="11277295"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10911535" cy="457200"/>
          </a:xfrm>
          <a:prstGeom prst="rect">
            <a:avLst/>
          </a:prstGeom>
          <a:noFill/>
        </p:spPr>
        <p:txBody>
          <a:bodyPr wrap="square">
            <a:spAutoFit/>
          </a:bodyPr>
          <a:lstStyle/>
          <a:p>
            <a:r>
              <a:rPr sz="1200" b="0">
                <a:solidFill>
                  <a:srgbClr val="5F6F63"/>
                </a:solidFill>
                <a:latin typeface="Arial"/>
              </a:rPr>
              <a:t>Job gross margin, December · Installations</a:t>
            </a:r>
          </a:p>
        </p:txBody>
      </p:sp>
      <p:sp>
        <p:nvSpPr>
          <p:cNvPr id="7" name="TextBox 6"/>
          <p:cNvSpPr txBox="1"/>
          <p:nvPr/>
        </p:nvSpPr>
        <p:spPr>
          <a:xfrm>
            <a:off x="640080" y="2240280"/>
            <a:ext cx="10911535" cy="731520"/>
          </a:xfrm>
          <a:prstGeom prst="rect">
            <a:avLst/>
          </a:prstGeom>
          <a:noFill/>
        </p:spPr>
        <p:txBody>
          <a:bodyPr wrap="square">
            <a:spAutoFit/>
          </a:bodyPr>
          <a:lstStyle/>
          <a:p>
            <a:r>
              <a:rPr sz="3000" b="1">
                <a:solidFill>
                  <a:srgbClr val="2F7A5D"/>
                </a:solidFill>
                <a:latin typeface="Arial"/>
              </a:rPr>
              <a:t>23.4%</a:t>
            </a:r>
          </a:p>
        </p:txBody>
      </p:sp>
      <p:sp>
        <p:nvSpPr>
          <p:cNvPr id="8" name="TextBox 7"/>
          <p:cNvSpPr txBox="1"/>
          <p:nvPr/>
        </p:nvSpPr>
        <p:spPr>
          <a:xfrm>
            <a:off x="640080" y="3017520"/>
            <a:ext cx="10911535" cy="548640"/>
          </a:xfrm>
          <a:prstGeom prst="rect">
            <a:avLst/>
          </a:prstGeom>
          <a:noFill/>
        </p:spPr>
        <p:txBody>
          <a:bodyPr wrap="square">
            <a:spAutoFit/>
          </a:bodyPr>
          <a:lstStyle/>
          <a:p>
            <a:r>
              <a:rPr sz="1100" b="0">
                <a:solidFill>
                  <a:srgbClr val="5F6F63"/>
                </a:solidFill>
                <a:latin typeface="Arial"/>
              </a:rPr>
              <a:t>November 23.1%</a:t>
            </a:r>
          </a:p>
        </p:txBody>
      </p:sp>
      <p:sp>
        <p:nvSpPr>
          <p:cNvPr id="9" name="TextBox 8"/>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12 of 21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on each installation invoiced in December 2025 · Gross margin % · Type of job: Installations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Whole job, recognised when invoiced: revenue less materials, subcontractors and technician time at $68/hour. Before overheads: not profit. One 35.0% target for every job for now.</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r>
              <a:rPr sz="1000" b="0">
                <a:solidFill>
                  <a:srgbClr val="5F6F63"/>
                </a:solidFill>
                <a:latin typeface="Arial"/>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13 of 21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on each installation invoiced in December 2025 · Gross margin $ · Type of job: Installations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Whole job, recognised when invoiced: revenue less materials, subcontractors and technician time at $68/hour. Before overheads: not profit. One 35.0% target for every job for now.</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14 of 21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Type of job: Installations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3 of the 4 installation jobs invoiced in December made less than the 35.0% job gross margin target. The Wynnum factory solar and battery made a 7.6% job gross margin: 91.0 h of technician time ($6,188) and $2,300 of subcontractors on a $21,200 job. Jobs need 45.8% gross margin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Below the 45.8% overheads need: Newstead office office fit-out wiring (37.5%), Salisbury school data cabling (28.2%), Windsor warehouse switchboard upgrade (24.9%), Wynnum factory solar and battery (7.6%). Most profitable: Newstead office office fit-out wiring (37.5%).</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15 of 21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Type of job: Call-outs and repairs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3210458" cy="457200"/>
          </a:xfrm>
          <a:prstGeom prst="rect">
            <a:avLst/>
          </a:prstGeom>
          <a:noFill/>
        </p:spPr>
        <p:txBody>
          <a:bodyPr wrap="square">
            <a:spAutoFit/>
          </a:bodyPr>
          <a:lstStyle/>
          <a:p>
            <a:r>
              <a:rPr sz="1200" b="0">
                <a:solidFill>
                  <a:srgbClr val="5F6F63"/>
                </a:solidFill>
                <a:latin typeface="Arial"/>
              </a:rPr>
              <a:t>Job gross margin, December · Call-outs and repairs</a:t>
            </a:r>
          </a:p>
        </p:txBody>
      </p:sp>
      <p:sp>
        <p:nvSpPr>
          <p:cNvPr id="7" name="TextBox 6"/>
          <p:cNvSpPr txBox="1"/>
          <p:nvPr/>
        </p:nvSpPr>
        <p:spPr>
          <a:xfrm>
            <a:off x="640080" y="2240280"/>
            <a:ext cx="3210458" cy="731520"/>
          </a:xfrm>
          <a:prstGeom prst="rect">
            <a:avLst/>
          </a:prstGeom>
          <a:noFill/>
        </p:spPr>
        <p:txBody>
          <a:bodyPr wrap="square">
            <a:spAutoFit/>
          </a:bodyPr>
          <a:lstStyle/>
          <a:p>
            <a:r>
              <a:rPr sz="3000" b="1">
                <a:solidFill>
                  <a:srgbClr val="2F7A5D"/>
                </a:solidFill>
                <a:latin typeface="Arial"/>
              </a:rPr>
              <a:t>43.5%</a:t>
            </a:r>
          </a:p>
        </p:txBody>
      </p:sp>
      <p:sp>
        <p:nvSpPr>
          <p:cNvPr id="8" name="TextBox 7"/>
          <p:cNvSpPr txBox="1"/>
          <p:nvPr/>
        </p:nvSpPr>
        <p:spPr>
          <a:xfrm>
            <a:off x="640080" y="3017520"/>
            <a:ext cx="3210458" cy="548640"/>
          </a:xfrm>
          <a:prstGeom prst="rect">
            <a:avLst/>
          </a:prstGeom>
          <a:noFill/>
        </p:spPr>
        <p:txBody>
          <a:bodyPr wrap="square">
            <a:spAutoFit/>
          </a:bodyPr>
          <a:lstStyle/>
          <a:p>
            <a:r>
              <a:rPr sz="1100" b="0">
                <a:solidFill>
                  <a:srgbClr val="5F6F63"/>
                </a:solidFill>
                <a:latin typeface="Arial"/>
              </a:rPr>
              <a:t>November 44.5%</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90618" y="1783080"/>
            <a:ext cx="3210458" cy="457200"/>
          </a:xfrm>
          <a:prstGeom prst="rect">
            <a:avLst/>
          </a:prstGeom>
          <a:noFill/>
        </p:spPr>
        <p:txBody>
          <a:bodyPr wrap="square">
            <a:spAutoFit/>
          </a:bodyPr>
          <a:lstStyle/>
          <a:p>
            <a:r>
              <a:rPr sz="1200" b="0">
                <a:solidFill>
                  <a:srgbClr val="5F6F63"/>
                </a:solidFill>
                <a:latin typeface="Arial"/>
              </a:rPr>
              <a:t>Technician time charged, December</a:t>
            </a:r>
          </a:p>
        </p:txBody>
      </p:sp>
      <p:sp>
        <p:nvSpPr>
          <p:cNvPr id="11" name="TextBox 10"/>
          <p:cNvSpPr txBox="1"/>
          <p:nvPr/>
        </p:nvSpPr>
        <p:spPr>
          <a:xfrm>
            <a:off x="4490618" y="2240280"/>
            <a:ext cx="3210458" cy="731520"/>
          </a:xfrm>
          <a:prstGeom prst="rect">
            <a:avLst/>
          </a:prstGeom>
          <a:noFill/>
        </p:spPr>
        <p:txBody>
          <a:bodyPr wrap="square">
            <a:spAutoFit/>
          </a:bodyPr>
          <a:lstStyle/>
          <a:p>
            <a:r>
              <a:rPr sz="3000" b="1">
                <a:solidFill>
                  <a:srgbClr val="2F7A5D"/>
                </a:solidFill>
                <a:latin typeface="Arial"/>
              </a:rPr>
              <a:t>$20,154</a:t>
            </a:r>
          </a:p>
        </p:txBody>
      </p:sp>
      <p:sp>
        <p:nvSpPr>
          <p:cNvPr id="12" name="TextBox 11"/>
          <p:cNvSpPr txBox="1"/>
          <p:nvPr/>
        </p:nvSpPr>
        <p:spPr>
          <a:xfrm>
            <a:off x="4490618" y="3017520"/>
            <a:ext cx="3210458" cy="548640"/>
          </a:xfrm>
          <a:prstGeom prst="rect">
            <a:avLst/>
          </a:prstGeom>
          <a:noFill/>
        </p:spPr>
        <p:txBody>
          <a:bodyPr wrap="square">
            <a:spAutoFit/>
          </a:bodyPr>
          <a:lstStyle/>
          <a:p>
            <a:r>
              <a:rPr sz="1100" b="0">
                <a:solidFill>
                  <a:srgbClr val="5F6F63"/>
                </a:solidFill>
                <a:latin typeface="Arial"/>
              </a:rPr>
              <a:t>68.1% of call-out revenue</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41156" y="1783080"/>
            <a:ext cx="3210458" cy="457200"/>
          </a:xfrm>
          <a:prstGeom prst="rect">
            <a:avLst/>
          </a:prstGeom>
          <a:noFill/>
        </p:spPr>
        <p:txBody>
          <a:bodyPr wrap="square">
            <a:spAutoFit/>
          </a:bodyPr>
          <a:lstStyle/>
          <a:p>
            <a:r>
              <a:rPr sz="1200" b="0">
                <a:solidFill>
                  <a:srgbClr val="5F6F63"/>
                </a:solidFill>
                <a:latin typeface="Arial"/>
              </a:rPr>
              <a:t>Materials charged, December</a:t>
            </a:r>
          </a:p>
        </p:txBody>
      </p:sp>
      <p:sp>
        <p:nvSpPr>
          <p:cNvPr id="15" name="TextBox 14"/>
          <p:cNvSpPr txBox="1"/>
          <p:nvPr/>
        </p:nvSpPr>
        <p:spPr>
          <a:xfrm>
            <a:off x="8341156" y="2240280"/>
            <a:ext cx="3210458" cy="731520"/>
          </a:xfrm>
          <a:prstGeom prst="rect">
            <a:avLst/>
          </a:prstGeom>
          <a:noFill/>
        </p:spPr>
        <p:txBody>
          <a:bodyPr wrap="square">
            <a:spAutoFit/>
          </a:bodyPr>
          <a:lstStyle/>
          <a:p>
            <a:r>
              <a:rPr sz="3000" b="1">
                <a:solidFill>
                  <a:srgbClr val="2F7A5D"/>
                </a:solidFill>
                <a:latin typeface="Arial"/>
              </a:rPr>
              <a:t>$9,425</a:t>
            </a:r>
          </a:p>
        </p:txBody>
      </p:sp>
      <p:sp>
        <p:nvSpPr>
          <p:cNvPr id="16" name="TextBox 15"/>
          <p:cNvSpPr txBox="1"/>
          <p:nvPr/>
        </p:nvSpPr>
        <p:spPr>
          <a:xfrm>
            <a:off x="8341156" y="3017520"/>
            <a:ext cx="3210458" cy="548640"/>
          </a:xfrm>
          <a:prstGeom prst="rect">
            <a:avLst/>
          </a:prstGeom>
          <a:noFill/>
        </p:spPr>
        <p:txBody>
          <a:bodyPr wrap="square">
            <a:spAutoFit/>
          </a:bodyPr>
          <a:lstStyle/>
          <a:p>
            <a:r>
              <a:rPr sz="1100" b="0">
                <a:solidFill>
                  <a:srgbClr val="5F6F63"/>
                </a:solidFill>
                <a:latin typeface="Arial"/>
              </a:rPr>
              <a:t>$7,250 at cost, plus 30%</a:t>
            </a:r>
          </a:p>
        </p:txBody>
      </p:sp>
      <p:sp>
        <p:nvSpPr>
          <p:cNvPr id="17" name="TextBox 1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16 of 21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on call-outs by length, December 2025 · Gross margin % · Type of job: Call-outs and repairs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Charged at $145/hour plus materials at cost × 1.3;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r>
              <a:rPr sz="1000" b="0">
                <a:solidFill>
                  <a:srgbClr val="5F6F63"/>
                </a:solidFill>
                <a:latin typeface="Arial"/>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17 of 21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on call-outs by length, December 2025 · Gross margin $ · Type of job: Call-outs and repairs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Charged at $145/hour plus materials at cost × 1.3;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18 of 21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Type of job: Call-outs and repairs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57 call-outs in December billed $20,154 of technician time and $9,425 of materials ($7,250 at cost plus 30%), and made a 43.5% job gross margin between them. Gross margins run from 37.2% to 46.0% by length: the hourly rate covers technician time comfortably, so the gross margin mostly moves with how much material goes on the van.</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Call-outs: 43.5% gross margin, below the 45.8% needed to cover overheads.</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19 of 21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by month · Gross margin % · Every type of job at once</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Tap a month for its workings.</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20 of 21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by month · Gross margin $ · Every type of job at once</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Tap a month for its workings.</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21 of 21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