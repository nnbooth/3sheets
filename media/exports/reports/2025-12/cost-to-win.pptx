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$#,##0;[Red]($#,##0);"-"</c:formatCode>
                <c:ptCount val="15"/>
                <c:pt idx="0">
                  <c:v>253</c:v>
                </c:pt>
                <c:pt idx="1">
                  <c:v>255</c:v>
                </c:pt>
                <c:pt idx="2">
                  <c:v>211</c:v>
                </c:pt>
                <c:pt idx="3">
                  <c:v>200</c:v>
                </c:pt>
                <c:pt idx="4">
                  <c:v>246</c:v>
                </c:pt>
                <c:pt idx="5">
                  <c:v>247</c:v>
                </c:pt>
                <c:pt idx="6">
                  <c:v>280</c:v>
                </c:pt>
                <c:pt idx="7">
                  <c:v>271</c:v>
                </c:pt>
                <c:pt idx="8">
                  <c:v>263</c:v>
                </c:pt>
                <c:pt idx="9">
                  <c:v>300</c:v>
                </c:pt>
                <c:pt idx="10">
                  <c:v>233</c:v>
                </c:pt>
                <c:pt idx="11">
                  <c:v>269</c:v>
                </c:pt>
                <c:pt idx="12">
                  <c:v>261</c:v>
                </c:pt>
                <c:pt idx="13">
                  <c:v>227</c:v>
                </c:pt>
                <c:pt idx="14">
                  <c:v>173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$#,##0;[Red]($#,##0);&quot;-&quot;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0"/>
    <c:plotArea>
      <c:layout/>
      <c:area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0E9F6E">
                <a:alpha val="25000"/>
              </a:srgbClr>
            </a:solidFill>
            <a:ln w="31750">
              <a:solidFill>
                <a:srgbClr val="0E9F6E"/>
              </a:solidFill>
            </a:ln>
          </c:spPr>
          <c:cat>
            <c:strRef>
              <c:f>Sheet1!$A$2:$A$16</c:f>
              <c:strCache>
                <c:ptCount val="15"/>
                <c:pt idx="0">
                  <c:v>Oct 24</c:v>
                </c:pt>
                <c:pt idx="1">
                  <c:v>Nov 24</c:v>
                </c:pt>
                <c:pt idx="2">
                  <c:v>Dec 24</c:v>
                </c:pt>
                <c:pt idx="3">
                  <c:v>Jan 25</c:v>
                </c:pt>
                <c:pt idx="4">
                  <c:v>Feb 25</c:v>
                </c:pt>
                <c:pt idx="5">
                  <c:v>Mar 25</c:v>
                </c:pt>
                <c:pt idx="6">
                  <c:v>Apr 25</c:v>
                </c:pt>
                <c:pt idx="7">
                  <c:v>May 25</c:v>
                </c:pt>
                <c:pt idx="8">
                  <c:v>Jun 25</c:v>
                </c:pt>
                <c:pt idx="9">
                  <c:v>Jul 25</c:v>
                </c:pt>
                <c:pt idx="10">
                  <c:v>Aug 25</c:v>
                </c:pt>
                <c:pt idx="11">
                  <c:v>Sep 25</c:v>
                </c:pt>
                <c:pt idx="12">
                  <c:v>Oct 25</c:v>
                </c:pt>
                <c:pt idx="13">
                  <c:v>Nov 25</c:v>
                </c:pt>
                <c:pt idx="14">
                  <c:v>Dec 25</c:v>
                </c:pt>
              </c:strCache>
            </c:strRef>
          </c:cat>
          <c:val>
            <c:numRef>
              <c:f>Sheet1!$B$2:$B$16</c:f>
              <c:numCache>
                <c:formatCode>#,##0;[Red](#,##0)</c:formatCode>
                <c:ptCount val="15"/>
                <c:pt idx="0">
                  <c:v>34</c:v>
                </c:pt>
                <c:pt idx="1">
                  <c:v>33</c:v>
                </c:pt>
                <c:pt idx="2">
                  <c:v>37</c:v>
                </c:pt>
                <c:pt idx="3">
                  <c:v>40</c:v>
                </c:pt>
                <c:pt idx="4">
                  <c:v>35</c:v>
                </c:pt>
                <c:pt idx="5">
                  <c:v>34</c:v>
                </c:pt>
                <c:pt idx="6">
                  <c:v>30</c:v>
                </c:pt>
                <c:pt idx="7">
                  <c:v>31</c:v>
                </c:pt>
                <c:pt idx="8">
                  <c:v>32</c:v>
                </c:pt>
                <c:pt idx="9">
                  <c:v>28</c:v>
                </c:pt>
                <c:pt idx="10">
                  <c:v>36</c:v>
                </c:pt>
                <c:pt idx="11">
                  <c:v>32</c:v>
                </c:pt>
                <c:pt idx="12">
                  <c:v>33</c:v>
                </c:pt>
                <c:pt idx="13">
                  <c:v>37</c:v>
                </c:pt>
                <c:pt idx="14">
                  <c:v>45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-2101159928"/>
        <c:axId val="-2100718248"/>
      </c:areaChart>
      <c:catAx>
        <c:axId val="-2101159928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00718248"/>
        <c:crosses val="autoZero"/>
        <c:auto val="1"/>
        <c:lblAlgn val="ctr"/>
        <c:lblOffset val="100"/>
        <c:noMultiLvlLbl val="0"/>
      </c:catAx>
      <c:valAx>
        <c:axId val="-2100718248"/>
        <c:scaling>
          <c:orientation val="minMax"/>
        </c:scaling>
        <c:delete val="0"/>
        <c:axPos val="l"/>
        <c:majorGridlines>
          <c:spPr>
            <a:ln>
              <a:solidFill>
                <a:srgbClr val="E6EAE7"/>
              </a:solidFill>
            </a:ln>
          </c:spPr>
        </c:majorGridlines>
        <c:numFmt formatCode="#,##0;[Red](#,##0)" sourceLinked="0"/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000"/>
            </a:pPr>
          </a:p>
        </c:txPr>
        <c:crossAx val="-2101159928"/>
        <c:crosses val="autoZero"/>
        <c:crossBetween val="midCat"/>
      </c:valAx>
    </c:plotArea>
    <c:plotVisOnly val="1"/>
    <c:dispBlanksAs val="zero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548640"/>
            <a:ext cx="640080" cy="640080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1600" b="1">
                <a:solidFill>
                  <a:srgbClr val="FFFFFF"/>
                </a:solidFill>
              </a:rPr>
              <a:t>4th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34440" y="658368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25342A"/>
                </a:solidFill>
                <a:latin typeface="Arial"/>
              </a:rPr>
              <a:t>The 4th Sheet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8A7A52"/>
                </a:solidFill>
                <a:latin typeface="Arial"/>
              </a:rPr>
              <a:t>SAMPLE DATA · invented figures for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25342A"/>
                </a:solidFill>
                <a:latin typeface="Arial"/>
              </a:rPr>
              <a:t>What does it cost to win a customer?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5F6F63"/>
                </a:solidFill>
                <a:latin typeface="Arial"/>
              </a:rPr>
              <a:t>Sample Electrical &amp; Air Pty Ltd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70332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0">
                <a:solidFill>
                  <a:srgbClr val="25342A"/>
                </a:solidFill>
                <a:latin typeface="Arial"/>
              </a:rPr>
              <a:t>Period: December 2025. Marketing spend divided by the customers it actually brought in (a customer's first ever job), month by month.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4937760"/>
            <a:ext cx="11247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How final is this data?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November 2025: Locked. November 2025 is locked (closed 2 Dec 2025).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December 2025: Locked. December 2025 is locked (closed 5 Jan 2026). These numbers won't change.</a:t>
            </a:r>
          </a:p>
          <a:p>
            <a:r>
              <a:rPr sz="1100" b="0">
                <a:solidFill>
                  <a:srgbClr val="5F6F63"/>
                </a:solidFill>
                <a:latin typeface="Arial"/>
              </a:rPr>
              <a:t>October 2026: Incomplete. October 2026 is still in progress: figures to 6 Oct only.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1 of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Headline numbers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December 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$173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November $227</a:t>
            </a:r>
          </a:p>
        </p:txBody>
      </p:sp>
      <p:sp>
        <p:nvSpPr>
          <p:cNvPr id="9" name="Rectangle 8"/>
          <p:cNvSpPr/>
          <p:nvPr/>
        </p:nvSpPr>
        <p:spPr>
          <a:xfrm>
            <a:off x="4307738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0618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December last year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90618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$211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90618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37 new customers from $7,800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58276" y="1645920"/>
            <a:ext cx="3576218" cy="2011680"/>
          </a:xfrm>
          <a:prstGeom prst="rect">
            <a:avLst/>
          </a:prstGeom>
          <a:solidFill>
            <a:srgbClr val="F7FAF7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41156" y="1783080"/>
            <a:ext cx="3210458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Year to date (Jul to Dec 2025)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41156" y="2240280"/>
            <a:ext cx="3210458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2F7A5D"/>
                </a:solidFill>
                <a:latin typeface="Arial"/>
              </a:rPr>
              <a:t>$238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41156" y="3017520"/>
            <a:ext cx="321045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5F6F63"/>
                </a:solidFill>
                <a:latin typeface="Arial"/>
              </a:rPr>
              <a:t>same period last year: not in the data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win a customer, by month · $ per new customer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Cost to win a customer, by month · New customers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601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5F6F63"/>
                </a:solidFill>
                <a:latin typeface="Arial"/>
              </a:rPr>
              <a:t>Customers are counted in the month of their first job.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457200" y="1463040"/>
          <a:ext cx="11247120" cy="47548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7A5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5F6F63"/>
                </a:solidFill>
                <a:latin typeface="Arial"/>
              </a:rPr>
              <a:t>Sample Electrical &amp; Air Pty Ltd · What does it cost to win a customer?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11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25342A"/>
                </a:solidFill>
                <a:latin typeface="Arial"/>
              </a:rPr>
              <a:t>What it shows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5501487" cy="4389120"/>
          </a:xfrm>
          <a:prstGeom prst="rect">
            <a:avLst/>
          </a:prstGeom>
          <a:solidFill>
            <a:srgbClr val="FFFFFF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IT SHOWS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45 new customers came from $7,800 of marketing in December, against 37 from $8,400 in November: $173 each, down from $227.</a:t>
            </a:r>
          </a:p>
        </p:txBody>
      </p:sp>
      <p:sp>
        <p:nvSpPr>
          <p:cNvPr id="8" name="Rectangle 7"/>
          <p:cNvSpPr/>
          <p:nvPr/>
        </p:nvSpPr>
        <p:spPr>
          <a:xfrm>
            <a:off x="6233007" y="1554480"/>
            <a:ext cx="5501487" cy="4389120"/>
          </a:xfrm>
          <a:prstGeom prst="rect">
            <a:avLst/>
          </a:prstGeom>
          <a:solidFill>
            <a:srgbClr val="EEF5F0"/>
          </a:solidFill>
          <a:ln>
            <a:solidFill>
              <a:srgbClr val="DCE8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61607" y="1691640"/>
            <a:ext cx="5044287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F6F63"/>
                </a:solidFill>
                <a:latin typeface="Arial"/>
              </a:rPr>
              <a:t>WHAT YOU'D DO ABOUT 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1607" y="2103120"/>
            <a:ext cx="5044287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>
                <a:solidFill>
                  <a:srgbClr val="25342A"/>
                </a:solidFill>
                <a:latin typeface="Arial"/>
              </a:rPr>
              <a:t>A lower cost per customer with steady spend usually means the marketing mix is working. Recording where each new customer came from shows the cost per channel.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 b="0">
                <a:solidFill>
                  <a:srgbClr val="5F6F63"/>
                </a:solidFill>
                <a:latin typeface="Arial"/>
              </a:rPr>
              <a:t>cost-to-win.pptx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649224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F6F63"/>
                </a:solidFill>
                <a:latin typeface="Arial"/>
              </a:rPr>
              <a:t>Data retrieved 2pm, Tue 6 Oct 2026 · Sample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649224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5F6F63"/>
                </a:solidFill>
                <a:latin typeface="Arial"/>
              </a:rPr>
              <a:t>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