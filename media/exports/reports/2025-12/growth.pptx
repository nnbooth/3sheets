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Sheet1!$A$2:$A$16</c:f>
              <c:strCache>
                <c:ptCount val="15"/>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strCache>
            </c:strRef>
          </c:cat>
          <c:val>
            <c:numRef>
              <c:f>Sheet1!$B$2:$B$16</c:f>
              <c:numCache>
                <c:formatCode>$#,##0;[Red]($#,##0);"-"</c:formatCode>
                <c:ptCount val="15"/>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Sheet1!$A$2:$A$16</c:f>
              <c:strCache>
                <c:ptCount val="15"/>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strCache>
            </c:strRef>
          </c:cat>
          <c:val>
            <c:numRef>
              <c:f>Sheet1!$B$2:$B$16</c:f>
              <c:numCache>
                <c:formatCode>0.0"%";[Red](0.0"%")</c:formatCode>
                <c:ptCount val="15"/>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Sheet1!$A$2:$A$16</c:f>
              <c:strCache>
                <c:ptCount val="15"/>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strCache>
            </c:strRef>
          </c:cat>
          <c:val>
            <c:numRef>
              <c:f>Sheet1!$B$2:$B$16</c:f>
              <c:numCache>
                <c:formatCode>$#,##0;[Red]($#,##0);"-"</c:formatCode>
                <c:ptCount val="15"/>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Sheet1!$A$2:$A$16</c:f>
              <c:strCache>
                <c:ptCount val="15"/>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strCache>
            </c:strRef>
          </c:cat>
          <c:val>
            <c:numRef>
              <c:f>Sheet1!$B$2:$B$16</c:f>
              <c:numCache>
                <c:formatCode>0.0"%";[Red](0.0"%")</c:formatCode>
                <c:ptCount val="15"/>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December 2025.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November 2025: Locked. November 2025 is locked (closed 2 Dec 2025). These numbers won't change.</a:t>
            </a:r>
          </a:p>
          <a:p>
            <a:pPr>
              <a:defRPr>
                <a:latin typeface="Roboto"/>
              </a:defRPr>
            </a:pPr>
            <a:r>
              <a:rPr sz="1100" b="0">
                <a:solidFill>
                  <a:srgbClr val="5F6F63"/>
                </a:solidFill>
                <a:latin typeface="Roboto"/>
              </a:rPr>
              <a:t>December 2025: Locked. December 2025 is locked (closed 5 Jan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December's jobs made $50,453 gross margin (37.4%). Technician time not charged to jobs took $4,504 and overheads $57,350, leaving ($11,401) profit before tax ((8.4%) of revenue). To cover overheads, jobs need a 45.8%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December 2025</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$50,453</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$46,800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$42,296</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$4,504</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$45,949</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$57,350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B42318"/>
                          </a:solidFill>
                          <a:latin typeface="Roboto"/>
                        </a:rPr>
                        <a:t>($11,401)</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$135,079</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37.4%</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B42318"/>
                          </a:solidFill>
                          <a:latin typeface="Roboto"/>
                        </a:rPr>
                        <a:t>(8.4%)</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45.8%</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(5.6%)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$135,079 against $143,156</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$892,942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$334,284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$892,942 this financial year to date (Jul to Dec 2025). Maintenance contracts make the highest gross margin (59.5%); Installations the lowest (27.6%). The business needs 45.8%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27.6% gross margin, 7.4 points under the 35.0% target: about $40,735 on $550,900 of revenue this financial year to date. It's below the 45.8% needed to cover overheads, too. Maintenance contracts: 59.5% gross margin, 24.5 points over the 35.0% target ($50,664 ahead on $207,000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45.1%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$35,800 against $24,670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$207,000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$123,114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$207,000 this financial year to date, at a 59.5% gross margin (above the 37.4%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24.5 points over the 35.0% target ($50,664 ahead on $207,000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(24.7%)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$69,700 against $92,600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$550,900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27.6%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$152,080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$550,900 this financial year to date, at a 27.6% gross margin (below the 37.4%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27.6% gross margin, 7.4 points under the 35.0% target: about $40,735 on $550,900 of revenue this financial year to date. It's below the 45.8% needed to cover overheads, too.</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14.3%</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$29,579 against $25,886</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$135,042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$59,090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$135,042 this financial year to date, at a 43.8% gross margin (above the 37.4%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43.8% gross margin, 8.8 points over the 35.0% target ($11,825 ahead on $135,042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Dec 2025)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$207,000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$123,114</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$550,900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$152,080</a:t>
                      </a:r>
                    </a:p>
                  </a:txBody>
                  <a:tcPr>
                    <a:solidFill>
                      <a:srgbClr val="F7FAF7"/>
                    </a:solidFill>
                  </a:tcPr>
                </a:tc>
                <a:tc>
                  <a:txBody>
                    <a:bodyPr/>
                    <a:lstStyle/>
                    <a:p>
                      <a:pPr algn="r">
                        <a:defRPr>
                          <a:latin typeface="Roboto"/>
                        </a:defRPr>
                      </a:pPr>
                      <a:r>
                        <a:rPr sz="1050">
                          <a:solidFill>
                            <a:srgbClr val="25342A"/>
                          </a:solidFill>
                          <a:latin typeface="Roboto"/>
                        </a:rPr>
                        <a:t>27.6%</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$135,042</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$59,090</a:t>
                      </a:r>
                    </a:p>
                  </a:txBody>
                  <a:tcPr>
                    <a:solidFill>
                      <a:srgbClr val="FFFFFF"/>
                    </a:solidFill>
                  </a:tcPr>
                </a:tc>
                <a:tc>
                  <a:txBody>
                    <a:bodyPr/>
                    <a:lstStyle/>
                    <a:p>
                      <a:pPr algn="r">
                        <a:defRPr>
                          <a:latin typeface="Roboto"/>
                        </a:defRPr>
                      </a:pPr>
                      <a:r>
                        <a:rPr sz="1050">
                          <a:solidFill>
                            <a:srgbClr val="25342A"/>
                          </a:solidFill>
                          <a:latin typeface="Roboto"/>
                        </a:rPr>
                        <a:t>43.8%</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$892,942</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$334,284</a:t>
                      </a:r>
                    </a:p>
                  </a:txBody>
                  <a:tcPr>
                    <a:solidFill>
                      <a:srgbClr val="F7FAF7"/>
                    </a:solidFill>
                  </a:tcPr>
                </a:tc>
                <a:tc>
                  <a:txBody>
                    <a:bodyPr/>
                    <a:lstStyle/>
                    <a:p>
                      <a:pPr algn="r">
                        <a:defRPr>
                          <a:latin typeface="Roboto"/>
                        </a:defRPr>
                      </a:pPr>
                      <a:r>
                        <a:rPr sz="1050" b="1">
                          <a:solidFill>
                            <a:srgbClr val="25342A"/>
                          </a:solidFill>
                          <a:latin typeface="Roboto"/>
                        </a:rPr>
                        <a:t>37.4%</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December's client work made $44,900 gross margin (64.7%). Consultant time not charged to client work took $17,630 and overheads $51,260, leaving ($23,990) profit before tax ((34.6%) of revenue). To cover overheads, client work needs a 99.2%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December 2025</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$44,900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$38,750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$21,120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$17,630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$27,270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$51,260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B42318"/>
                          </a:solidFill>
                          <a:latin typeface="Roboto"/>
                        </a:rPr>
                        <a:t>($23,990)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$69,420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64.7%</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B42318"/>
                          </a:solidFill>
                          <a:latin typeface="Roboto"/>
                        </a:rPr>
                        <a:t>(34.6%)</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99.2%</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(39.6%)</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$69,420 against $114,895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$431,950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64.0%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$276,290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$431,950 this financial year to date (Jul to Dec 2025). Training makes the highest gross margin (75.2%); Projects the lowest (61.0%). The business needs 99.2%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61.0% gross margin, 21.0 points over the 40.0% target ($55,450 ahead on $263,850 this financial year to date). Training: 75.2% gross margin, 35.2 points over the 40.0% target ($16,320 ahead on $46,300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B42318"/>
                </a:solidFill>
                <a:latin typeface="Roboto"/>
              </a:rPr>
              <a:t>(68.8%)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$29,520 against $94,695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$263,850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61.0%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$160,990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$263,850 this financial year to date, at a 61.0% gross margin (below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61.0% gross margin, 21.0 points over the 40.0% target ($55,450 ahead on $263,850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88.7%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$28,300 against $15,000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$121,800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66.1%</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$80,460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$121,800 this financial year to date, at a 66.1% gross margin (above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66.1% gross margin, 26.1 points over the 40.0% target ($31,740 ahead on $121,800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December against December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123.1%</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$11,600 against $5,200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(Jul to Dec 2025)</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$46,300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75.2%</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$34,840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$46,300 this financial year to date, at a 75.2% gross margin (above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75.2% gross margin, 35.2 points over the 40.0% target ($16,320 ahead on $46,300 this financial year to date).</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Dec 2025)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$263,850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$160,990</a:t>
                      </a:r>
                    </a:p>
                  </a:txBody>
                  <a:tcPr>
                    <a:solidFill>
                      <a:srgbClr val="FFFFFF"/>
                    </a:solidFill>
                  </a:tcPr>
                </a:tc>
                <a:tc>
                  <a:txBody>
                    <a:bodyPr/>
                    <a:lstStyle/>
                    <a:p>
                      <a:pPr algn="r">
                        <a:defRPr>
                          <a:latin typeface="Roboto"/>
                        </a:defRPr>
                      </a:pPr>
                      <a:r>
                        <a:rPr sz="1050">
                          <a:solidFill>
                            <a:srgbClr val="25342A"/>
                          </a:solidFill>
                          <a:latin typeface="Roboto"/>
                        </a:rPr>
                        <a:t>61.0%</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$121,800</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a:t>
                      </a:r>
                    </a:p>
                  </a:txBody>
                  <a:tcPr>
                    <a:solidFill>
                      <a:srgbClr val="F7FAF7"/>
                    </a:solidFill>
                  </a:tcPr>
                </a:tc>
                <a:tc>
                  <a:txBody>
                    <a:bodyPr/>
                    <a:lstStyle/>
                    <a:p>
                      <a:pPr algn="r">
                        <a:defRPr>
                          <a:latin typeface="Roboto"/>
                        </a:defRPr>
                      </a:pPr>
                      <a:r>
                        <a:rPr sz="1050">
                          <a:solidFill>
                            <a:srgbClr val="25342A"/>
                          </a:solidFill>
                          <a:latin typeface="Roboto"/>
                        </a:rPr>
                        <a:t>$80,460</a:t>
                      </a:r>
                    </a:p>
                  </a:txBody>
                  <a:tcPr>
                    <a:solidFill>
                      <a:srgbClr val="F7FAF7"/>
                    </a:solidFill>
                  </a:tcPr>
                </a:tc>
                <a:tc>
                  <a:txBody>
                    <a:bodyPr/>
                    <a:lstStyle/>
                    <a:p>
                      <a:pPr algn="r">
                        <a:defRPr>
                          <a:latin typeface="Roboto"/>
                        </a:defRPr>
                      </a:pPr>
                      <a:r>
                        <a:rPr sz="1050">
                          <a:solidFill>
                            <a:srgbClr val="25342A"/>
                          </a:solidFill>
                          <a:latin typeface="Roboto"/>
                        </a:rPr>
                        <a:t>66.1%</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$46,300</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a:t>
                      </a:r>
                    </a:p>
                  </a:txBody>
                  <a:tcPr>
                    <a:solidFill>
                      <a:srgbClr val="FFFFFF"/>
                    </a:solidFill>
                  </a:tcPr>
                </a:tc>
                <a:tc>
                  <a:txBody>
                    <a:bodyPr/>
                    <a:lstStyle/>
                    <a:p>
                      <a:pPr algn="r">
                        <a:defRPr>
                          <a:latin typeface="Roboto"/>
                        </a:defRPr>
                      </a:pPr>
                      <a:r>
                        <a:rPr sz="1050">
                          <a:solidFill>
                            <a:srgbClr val="25342A"/>
                          </a:solidFill>
                          <a:latin typeface="Roboto"/>
                        </a:rPr>
                        <a:t>$34,840</a:t>
                      </a:r>
                    </a:p>
                  </a:txBody>
                  <a:tcPr>
                    <a:solidFill>
                      <a:srgbClr val="FFFFFF"/>
                    </a:solidFill>
                  </a:tcPr>
                </a:tc>
                <a:tc>
                  <a:txBody>
                    <a:bodyPr/>
                    <a:lstStyle/>
                    <a:p>
                      <a:pPr algn="r">
                        <a:defRPr>
                          <a:latin typeface="Roboto"/>
                        </a:defRPr>
                      </a:pPr>
                      <a:r>
                        <a:rPr sz="1050">
                          <a:solidFill>
                            <a:srgbClr val="25342A"/>
                          </a:solidFill>
                          <a:latin typeface="Roboto"/>
                        </a:rPr>
                        <a:t>75.2%</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$431,950</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a:t>
                      </a:r>
                    </a:p>
                  </a:txBody>
                  <a:tcPr>
                    <a:solidFill>
                      <a:srgbClr val="F7FAF7"/>
                    </a:solidFill>
                  </a:tcPr>
                </a:tc>
                <a:tc>
                  <a:txBody>
                    <a:bodyPr/>
                    <a:lstStyle/>
                    <a:p>
                      <a:pPr algn="r">
                        <a:defRPr>
                          <a:latin typeface="Roboto"/>
                        </a:defRPr>
                      </a:pPr>
                      <a:r>
                        <a:rPr sz="1050" b="1">
                          <a:solidFill>
                            <a:srgbClr val="25342A"/>
                          </a:solidFill>
                          <a:latin typeface="Roboto"/>
                        </a:rPr>
                        <a:t>$276,290</a:t>
                      </a:r>
                    </a:p>
                  </a:txBody>
                  <a:tcPr>
                    <a:solidFill>
                      <a:srgbClr val="F7FAF7"/>
                    </a:solidFill>
                  </a:tcPr>
                </a:tc>
                <a:tc>
                  <a:txBody>
                    <a:bodyPr/>
                    <a:lstStyle/>
                    <a:p>
                      <a:pPr algn="r">
                        <a:defRPr>
                          <a:latin typeface="Roboto"/>
                        </a:defRPr>
                      </a:pPr>
                      <a:r>
                        <a:rPr sz="1050" b="1">
                          <a:solidFill>
                            <a:srgbClr val="25342A"/>
                          </a:solidFill>
                          <a:latin typeface="Roboto"/>
                        </a:rPr>
                        <a:t>64.0%</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