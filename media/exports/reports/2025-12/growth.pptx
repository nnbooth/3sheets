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Sheet1!$A$2:$A$16</c:f>
              <c:strCache>
                <c:ptCount val="15"/>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strCache>
            </c:strRef>
          </c:cat>
          <c:val>
            <c:numRef>
              <c:f>Sheet1!$B$2:$B$16</c:f>
              <c:numCache>
                <c:formatCode>$#,##0;[Red]($#,##0);"-"</c:formatCode>
                <c:ptCount val="15"/>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Sheet1!$A$2:$A$16</c:f>
              <c:strCache>
                <c:ptCount val="15"/>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strCache>
            </c:strRef>
          </c:cat>
          <c:val>
            <c:numRef>
              <c:f>Sheet1!$B$2:$B$16</c:f>
              <c:numCache>
                <c:formatCode>0.0"%";[Red](0.0"%")</c:formatCode>
                <c:ptCount val="15"/>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Sheet1!$A$2:$A$16</c:f>
              <c:strCache>
                <c:ptCount val="15"/>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strCache>
            </c:strRef>
          </c:cat>
          <c:val>
            <c:numRef>
              <c:f>Sheet1!$B$2:$B$16</c:f>
              <c:numCache>
                <c:formatCode>$#,##0;[Red]($#,##0);"-"</c:formatCode>
                <c:ptCount val="15"/>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Sheet1!$A$2:$A$16</c:f>
              <c:strCache>
                <c:ptCount val="15"/>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strCache>
            </c:strRef>
          </c:cat>
          <c:val>
            <c:numRef>
              <c:f>Sheet1!$B$2:$B$16</c:f>
              <c:numCache>
                <c:formatCode>0.0"%";[Red](0.0"%")</c:formatCode>
                <c:ptCount val="15"/>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December 2025.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November 2025: Locked. November 2025 is locked (closed 2 Dec 2025). These numbers won't change.</a:t>
            </a:r>
          </a:p>
          <a:p>
            <a:r>
              <a:rPr sz="1100" b="0">
                <a:solidFill>
                  <a:srgbClr val="5F6F63"/>
                </a:solidFill>
                <a:latin typeface="Arial"/>
              </a:rPr>
              <a:t>December 2025: Locked. December 2025 is locked (closed 5 Jan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December's jobs made $50,453 gross margin (37.4%). Technician time not charged to jobs took $4,504 and overheads $57,350, leaving ($11,401) profit before tax ((8.4%) of revenue). To cover overheads, jobs need a 45.8%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December 2025</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$50,453</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$46,800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$42,296</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$4,504</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$45,949</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$57,350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B42318"/>
                          </a:solidFill>
                        </a:rPr>
                        <a:t>($11,401)</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$135,079</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37.4%</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B42318"/>
                          </a:solidFill>
                        </a:rPr>
                        <a:t>(8.4%)</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45.8%</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December against December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B42318"/>
                </a:solidFill>
                <a:latin typeface="Arial"/>
              </a:rPr>
              <a:t>(5.6%)</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$135,079 against $143,156</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Dec 2025)</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$892,942</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37.4%</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$334,284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$892,942 this financial year to date (Jul to Dec 2025). Maintenance contracts make the highest gross margin (59.5%); Installations the lowest (27.6%). The business needs 45.8%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27.6% gross margin, below the 45.8%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December against December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45.1%</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$35,800 against $24,670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Dec 2025)</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$207,000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59.5%</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$123,114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Maintenance contracts brought in $207,000 this financial year to date, at a 59.5% gross margin (above the 37.4%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13.7 points clear of the 45.8%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December against December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B42318"/>
                </a:solidFill>
                <a:latin typeface="Arial"/>
              </a:rPr>
              <a:t>(24.7%)</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$69,700 against $92,600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Dec 2025)</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$550,900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27.6%</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$152,080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Installations brought in $550,900 this financial year to date, at a 27.6% gross margin (below the 37.4%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Installations: 27.6% gross margin, below the 45.8%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December against December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14.3%</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$29,579 against $25,886</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Dec 2025)</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$135,042</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43.8%</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$59,090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Call-outs and repairs brought in $135,042 this financial year to date, at a 43.8% gross margin (above the 37.4%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and repairs: 43.8% gross margin, below the 45.8%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line: financial year to date (Jul to Dec 2025)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Maintenance contracts</a:t>
                      </a:r>
                    </a:p>
                  </a:txBody>
                  <a:tcPr>
                    <a:solidFill>
                      <a:srgbClr val="FFFFFF"/>
                    </a:solidFill>
                  </a:tcPr>
                </a:tc>
                <a:tc>
                  <a:txBody>
                    <a:bodyPr/>
                    <a:lstStyle/>
                    <a:p>
                      <a:pPr algn="r"/>
                      <a:r>
                        <a:rPr sz="1050">
                          <a:solidFill>
                            <a:srgbClr val="25342A"/>
                          </a:solidFill>
                        </a:rPr>
                        <a:t>$207,000</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$123,114</a:t>
                      </a:r>
                    </a:p>
                  </a:txBody>
                  <a:tcPr>
                    <a:solidFill>
                      <a:srgbClr val="FFFFFF"/>
                    </a:solidFill>
                  </a:tcPr>
                </a:tc>
                <a:tc>
                  <a:txBody>
                    <a:bodyPr/>
                    <a:lstStyle/>
                    <a:p>
                      <a:pPr algn="r"/>
                      <a:r>
                        <a:rPr sz="1050">
                          <a:solidFill>
                            <a:srgbClr val="25342A"/>
                          </a:solidFill>
                        </a:rPr>
                        <a:t>59.5%</a:t>
                      </a:r>
                    </a:p>
                  </a:txBody>
                  <a:tcPr>
                    <a:solidFill>
                      <a:srgbClr val="FFFFFF"/>
                    </a:solidFill>
                  </a:tcPr>
                </a:tc>
              </a:tr>
              <a:tr h="329184">
                <a:tc>
                  <a:txBody>
                    <a:bodyPr/>
                    <a:lstStyle/>
                    <a:p>
                      <a:r>
                        <a:rPr sz="1050">
                          <a:solidFill>
                            <a:srgbClr val="25342A"/>
                          </a:solidFill>
                        </a:rPr>
                        <a:t>Installations</a:t>
                      </a:r>
                    </a:p>
                  </a:txBody>
                  <a:tcPr>
                    <a:solidFill>
                      <a:srgbClr val="F7FAF7"/>
                    </a:solidFill>
                  </a:tcPr>
                </a:tc>
                <a:tc>
                  <a:txBody>
                    <a:bodyPr/>
                    <a:lstStyle/>
                    <a:p>
                      <a:pPr algn="r"/>
                      <a:r>
                        <a:rPr sz="1050">
                          <a:solidFill>
                            <a:srgbClr val="25342A"/>
                          </a:solidFill>
                        </a:rPr>
                        <a:t>$550,900</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$152,080</a:t>
                      </a:r>
                    </a:p>
                  </a:txBody>
                  <a:tcPr>
                    <a:solidFill>
                      <a:srgbClr val="F7FAF7"/>
                    </a:solidFill>
                  </a:tcPr>
                </a:tc>
                <a:tc>
                  <a:txBody>
                    <a:bodyPr/>
                    <a:lstStyle/>
                    <a:p>
                      <a:pPr algn="r"/>
                      <a:r>
                        <a:rPr sz="1050">
                          <a:solidFill>
                            <a:srgbClr val="25342A"/>
                          </a:solidFill>
                        </a:rPr>
                        <a:t>27.6%</a:t>
                      </a:r>
                    </a:p>
                  </a:txBody>
                  <a:tcPr>
                    <a:solidFill>
                      <a:srgbClr val="F7FAF7"/>
                    </a:solidFill>
                  </a:tcPr>
                </a:tc>
              </a:tr>
              <a:tr h="329184">
                <a:tc>
                  <a:txBody>
                    <a:bodyPr/>
                    <a:lstStyle/>
                    <a:p>
                      <a:r>
                        <a:rPr sz="1050">
                          <a:solidFill>
                            <a:srgbClr val="25342A"/>
                          </a:solidFill>
                        </a:rPr>
                        <a:t>Call-outs and repairs</a:t>
                      </a:r>
                    </a:p>
                  </a:txBody>
                  <a:tcPr>
                    <a:solidFill>
                      <a:srgbClr val="FFFFFF"/>
                    </a:solidFill>
                  </a:tcPr>
                </a:tc>
                <a:tc>
                  <a:txBody>
                    <a:bodyPr/>
                    <a:lstStyle/>
                    <a:p>
                      <a:pPr algn="r"/>
                      <a:r>
                        <a:rPr sz="1050">
                          <a:solidFill>
                            <a:srgbClr val="25342A"/>
                          </a:solidFill>
                        </a:rPr>
                        <a:t>$135,042</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$59,090</a:t>
                      </a:r>
                    </a:p>
                  </a:txBody>
                  <a:tcPr>
                    <a:solidFill>
                      <a:srgbClr val="FFFFFF"/>
                    </a:solidFill>
                  </a:tcPr>
                </a:tc>
                <a:tc>
                  <a:txBody>
                    <a:bodyPr/>
                    <a:lstStyle/>
                    <a:p>
                      <a:pPr algn="r"/>
                      <a:r>
                        <a:rPr sz="1050">
                          <a:solidFill>
                            <a:srgbClr val="25342A"/>
                          </a:solidFill>
                        </a:rPr>
                        <a:t>43.8%</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$892,942</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$334,284</a:t>
                      </a:r>
                    </a:p>
                  </a:txBody>
                  <a:tcPr>
                    <a:solidFill>
                      <a:srgbClr val="F7FAF7"/>
                    </a:solidFill>
                  </a:tcPr>
                </a:tc>
                <a:tc>
                  <a:txBody>
                    <a:bodyPr/>
                    <a:lstStyle/>
                    <a:p>
                      <a:pPr algn="r"/>
                      <a:r>
                        <a:rPr sz="1050" b="1">
                          <a:solidFill>
                            <a:srgbClr val="25342A"/>
                          </a:solidFill>
                        </a:rPr>
                        <a:t>37.4%</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December's client work made $44,900 gross margin (64.7%). Consultant time not charged to client work took $17,630 and overheads $51,260, leaving ($23,990) profit before tax ((34.6%) of revenue). To cover overheads, client work needs a 99.2%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December 2025</a:t>
                      </a:r>
                    </a:p>
                  </a:txBody>
                  <a:tcPr>
                    <a:solidFill>
                      <a:srgbClr val="2F7A5D"/>
                    </a:solidFill>
                  </a:tcPr>
                </a:tc>
              </a:tr>
              <a:tr h="329184">
                <a:tc>
                  <a:txBody>
                    <a:bodyPr/>
                    <a:lstStyle/>
                    <a:p>
                      <a:r>
                        <a:rPr sz="1050">
                          <a:solidFill>
                            <a:srgbClr val="25342A"/>
                          </a:solidFill>
                        </a:rPr>
                        <a:t>Gross margin on client work</a:t>
                      </a:r>
                    </a:p>
                  </a:txBody>
                  <a:tcPr>
                    <a:solidFill>
                      <a:srgbClr val="FFFFFF"/>
                    </a:solidFill>
                  </a:tcPr>
                </a:tc>
                <a:tc>
                  <a:txBody>
                    <a:bodyPr/>
                    <a:lstStyle/>
                    <a:p>
                      <a:pPr algn="r"/>
                      <a:r>
                        <a:rPr sz="1050">
                          <a:solidFill>
                            <a:srgbClr val="25342A"/>
                          </a:solidFill>
                        </a:rPr>
                        <a:t>$44,900</a:t>
                      </a:r>
                    </a:p>
                  </a:txBody>
                  <a:tcPr>
                    <a:solidFill>
                      <a:srgbClr val="FFFFFF"/>
                    </a:solidFill>
                  </a:tcPr>
                </a:tc>
              </a:tr>
              <a:tr h="329184">
                <a:tc>
                  <a:txBody>
                    <a:bodyPr/>
                    <a:lstStyle/>
                    <a:p>
                      <a:r>
                        <a:rPr sz="1050">
                          <a:solidFill>
                            <a:srgbClr val="25342A"/>
                          </a:solidFill>
                        </a:rPr>
                        <a:t>Consultant wages and on-costs</a:t>
                      </a:r>
                    </a:p>
                  </a:txBody>
                  <a:tcPr>
                    <a:solidFill>
                      <a:srgbClr val="F7FAF7"/>
                    </a:solidFill>
                  </a:tcPr>
                </a:tc>
                <a:tc>
                  <a:txBody>
                    <a:bodyPr/>
                    <a:lstStyle/>
                    <a:p>
                      <a:pPr algn="r"/>
                      <a:r>
                        <a:rPr sz="1050">
                          <a:solidFill>
                            <a:srgbClr val="25342A"/>
                          </a:solidFill>
                        </a:rPr>
                        <a:t>$38,750</a:t>
                      </a:r>
                    </a:p>
                  </a:txBody>
                  <a:tcPr>
                    <a:solidFill>
                      <a:srgbClr val="F7FAF7"/>
                    </a:solidFill>
                  </a:tcPr>
                </a:tc>
              </a:tr>
              <a:tr h="329184">
                <a:tc>
                  <a:txBody>
                    <a:bodyPr/>
                    <a:lstStyle/>
                    <a:p>
                      <a:r>
                        <a:rPr sz="1050">
                          <a:solidFill>
                            <a:srgbClr val="25342A"/>
                          </a:solidFill>
                        </a:rPr>
                        <a:t>Consultant time charged to client work (at cost)</a:t>
                      </a:r>
                    </a:p>
                  </a:txBody>
                  <a:tcPr>
                    <a:solidFill>
                      <a:srgbClr val="FFFFFF"/>
                    </a:solidFill>
                  </a:tcPr>
                </a:tc>
                <a:tc>
                  <a:txBody>
                    <a:bodyPr/>
                    <a:lstStyle/>
                    <a:p>
                      <a:pPr algn="r"/>
                      <a:r>
                        <a:rPr sz="1050">
                          <a:solidFill>
                            <a:srgbClr val="25342A"/>
                          </a:solidFill>
                        </a:rPr>
                        <a:t>$21,120</a:t>
                      </a:r>
                    </a:p>
                  </a:txBody>
                  <a:tcPr>
                    <a:solidFill>
                      <a:srgbClr val="FFFFFF"/>
                    </a:solidFill>
                  </a:tcPr>
                </a:tc>
              </a:tr>
              <a:tr h="329184">
                <a:tc>
                  <a:txBody>
                    <a:bodyPr/>
                    <a:lstStyle/>
                    <a:p>
                      <a:r>
                        <a:rPr sz="1050">
                          <a:solidFill>
                            <a:srgbClr val="25342A"/>
                          </a:solidFill>
                        </a:rPr>
                        <a:t>Consultant time not charged to client work</a:t>
                      </a:r>
                    </a:p>
                  </a:txBody>
                  <a:tcPr>
                    <a:solidFill>
                      <a:srgbClr val="F7FAF7"/>
                    </a:solidFill>
                  </a:tcPr>
                </a:tc>
                <a:tc>
                  <a:txBody>
                    <a:bodyPr/>
                    <a:lstStyle/>
                    <a:p>
                      <a:pPr algn="r"/>
                      <a:r>
                        <a:rPr sz="1050">
                          <a:solidFill>
                            <a:srgbClr val="25342A"/>
                          </a:solidFill>
                        </a:rPr>
                        <a:t>$17,630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$27,270</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$51,260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B42318"/>
                          </a:solidFill>
                        </a:rPr>
                        <a:t>($23,990)</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$69,420</a:t>
                      </a:r>
                    </a:p>
                  </a:txBody>
                  <a:tcPr>
                    <a:solidFill>
                      <a:srgbClr val="F7FAF7"/>
                    </a:solidFill>
                  </a:tcPr>
                </a:tc>
              </a:tr>
              <a:tr h="329184">
                <a:tc>
                  <a:txBody>
                    <a:bodyPr/>
                    <a:lstStyle/>
                    <a:p>
                      <a:r>
                        <a:rPr sz="1050">
                          <a:solidFill>
                            <a:srgbClr val="25342A"/>
                          </a:solidFill>
                        </a:rPr>
                        <a:t>Gross margin on client work, %</a:t>
                      </a:r>
                    </a:p>
                  </a:txBody>
                  <a:tcPr>
                    <a:solidFill>
                      <a:srgbClr val="FFFFFF"/>
                    </a:solidFill>
                  </a:tcPr>
                </a:tc>
                <a:tc>
                  <a:txBody>
                    <a:bodyPr/>
                    <a:lstStyle/>
                    <a:p>
                      <a:pPr algn="r"/>
                      <a:r>
                        <a:rPr sz="1050">
                          <a:solidFill>
                            <a:srgbClr val="25342A"/>
                          </a:solidFill>
                        </a:rPr>
                        <a:t>64.7%</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B42318"/>
                          </a:solidFill>
                        </a:rPr>
                        <a:t>(34.6%)</a:t>
                      </a:r>
                    </a:p>
                  </a:txBody>
                  <a:tcPr>
                    <a:solidFill>
                      <a:srgbClr val="F7FAF7"/>
                    </a:solidFill>
                  </a:tcPr>
                </a:tc>
              </a:tr>
              <a:tr h="329184">
                <a:tc>
                  <a:txBody>
                    <a:bodyPr/>
                    <a:lstStyle/>
                    <a:p>
                      <a:r>
                        <a:rPr sz="1050">
                          <a:solidFill>
                            <a:srgbClr val="25342A"/>
                          </a:solidFill>
                        </a:rPr>
                        <a:t>Gross margin client work need just to cover overheads and time not charged</a:t>
                      </a:r>
                    </a:p>
                  </a:txBody>
                  <a:tcPr>
                    <a:solidFill>
                      <a:srgbClr val="FFFFFF"/>
                    </a:solidFill>
                  </a:tcPr>
                </a:tc>
                <a:tc>
                  <a:txBody>
                    <a:bodyPr/>
                    <a:lstStyle/>
                    <a:p>
                      <a:pPr algn="r"/>
                      <a:r>
                        <a:rPr sz="1050">
                          <a:solidFill>
                            <a:srgbClr val="25342A"/>
                          </a:solidFill>
                        </a:rPr>
                        <a:t>99.2%</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December against December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B42318"/>
                </a:solidFill>
                <a:latin typeface="Arial"/>
              </a:rPr>
              <a:t>(39.6%)</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$69,420 against $114,895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Dec 2025)</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$431,950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64.0%</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$276,290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$431,950 this financial year to date (Jul to Dec 2025). Training makes the highest gross margin (75.2%); Projects the lowest (61.0%). The business needs 99.2%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Training: 75.2% gross margin, the most profitable work you do. Projects: 61.0% gross margin, below the 99.2%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December against December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B42318"/>
                </a:solidFill>
                <a:latin typeface="Arial"/>
              </a:rPr>
              <a:t>(68.8%)</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$29,520 against $94,695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Dec 2025)</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$263,850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61.0%</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$160,990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Projects brought in $263,850 this financial year to date, at a 61.0% gross margin (below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Projects: 61.0% gross margin, below the 99.2%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December against December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88.7%</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$28,300 against $15,000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Dec 2025)</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$121,800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66.1%</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$80,460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Retainers brought in $121,800 this financial year to date, at a 66.1% gross margin (above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Retainers: 66.1% gross margin, below the 99.2%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December against December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123.1%</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$11,600 against $5,200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Dec 2025)</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$46,300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75.2%</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$34,840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Training brought in $46,300 this financial year to date, at a 75.2% gross margin (above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Training: 75.2% gross margin, below the 99.2%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type of work: financial year to date (Jul to Dec 2025)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Projects</a:t>
                      </a:r>
                    </a:p>
                  </a:txBody>
                  <a:tcPr>
                    <a:solidFill>
                      <a:srgbClr val="FFFFFF"/>
                    </a:solidFill>
                  </a:tcPr>
                </a:tc>
                <a:tc>
                  <a:txBody>
                    <a:bodyPr/>
                    <a:lstStyle/>
                    <a:p>
                      <a:pPr algn="r"/>
                      <a:r>
                        <a:rPr sz="1050">
                          <a:solidFill>
                            <a:srgbClr val="25342A"/>
                          </a:solidFill>
                        </a:rPr>
                        <a:t>$263,850</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$160,990</a:t>
                      </a:r>
                    </a:p>
                  </a:txBody>
                  <a:tcPr>
                    <a:solidFill>
                      <a:srgbClr val="FFFFFF"/>
                    </a:solidFill>
                  </a:tcPr>
                </a:tc>
                <a:tc>
                  <a:txBody>
                    <a:bodyPr/>
                    <a:lstStyle/>
                    <a:p>
                      <a:pPr algn="r"/>
                      <a:r>
                        <a:rPr sz="1050">
                          <a:solidFill>
                            <a:srgbClr val="25342A"/>
                          </a:solidFill>
                        </a:rPr>
                        <a:t>61.0%</a:t>
                      </a:r>
                    </a:p>
                  </a:txBody>
                  <a:tcPr>
                    <a:solidFill>
                      <a:srgbClr val="FFFFFF"/>
                    </a:solidFill>
                  </a:tcPr>
                </a:tc>
              </a:tr>
              <a:tr h="329184">
                <a:tc>
                  <a:txBody>
                    <a:bodyPr/>
                    <a:lstStyle/>
                    <a:p>
                      <a:r>
                        <a:rPr sz="1050">
                          <a:solidFill>
                            <a:srgbClr val="25342A"/>
                          </a:solidFill>
                        </a:rPr>
                        <a:t>Retainers</a:t>
                      </a:r>
                    </a:p>
                  </a:txBody>
                  <a:tcPr>
                    <a:solidFill>
                      <a:srgbClr val="F7FAF7"/>
                    </a:solidFill>
                  </a:tcPr>
                </a:tc>
                <a:tc>
                  <a:txBody>
                    <a:bodyPr/>
                    <a:lstStyle/>
                    <a:p>
                      <a:pPr algn="r"/>
                      <a:r>
                        <a:rPr sz="1050">
                          <a:solidFill>
                            <a:srgbClr val="25342A"/>
                          </a:solidFill>
                        </a:rPr>
                        <a:t>$121,800</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$80,460</a:t>
                      </a:r>
                    </a:p>
                  </a:txBody>
                  <a:tcPr>
                    <a:solidFill>
                      <a:srgbClr val="F7FAF7"/>
                    </a:solidFill>
                  </a:tcPr>
                </a:tc>
                <a:tc>
                  <a:txBody>
                    <a:bodyPr/>
                    <a:lstStyle/>
                    <a:p>
                      <a:pPr algn="r"/>
                      <a:r>
                        <a:rPr sz="1050">
                          <a:solidFill>
                            <a:srgbClr val="25342A"/>
                          </a:solidFill>
                        </a:rPr>
                        <a:t>66.1%</a:t>
                      </a:r>
                    </a:p>
                  </a:txBody>
                  <a:tcPr>
                    <a:solidFill>
                      <a:srgbClr val="F7FAF7"/>
                    </a:solidFill>
                  </a:tcPr>
                </a:tc>
              </a:tr>
              <a:tr h="329184">
                <a:tc>
                  <a:txBody>
                    <a:bodyPr/>
                    <a:lstStyle/>
                    <a:p>
                      <a:r>
                        <a:rPr sz="1050">
                          <a:solidFill>
                            <a:srgbClr val="25342A"/>
                          </a:solidFill>
                        </a:rPr>
                        <a:t>Training</a:t>
                      </a:r>
                    </a:p>
                  </a:txBody>
                  <a:tcPr>
                    <a:solidFill>
                      <a:srgbClr val="FFFFFF"/>
                    </a:solidFill>
                  </a:tcPr>
                </a:tc>
                <a:tc>
                  <a:txBody>
                    <a:bodyPr/>
                    <a:lstStyle/>
                    <a:p>
                      <a:pPr algn="r"/>
                      <a:r>
                        <a:rPr sz="1050">
                          <a:solidFill>
                            <a:srgbClr val="25342A"/>
                          </a:solidFill>
                        </a:rPr>
                        <a:t>$46,300</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$34,840</a:t>
                      </a:r>
                    </a:p>
                  </a:txBody>
                  <a:tcPr>
                    <a:solidFill>
                      <a:srgbClr val="FFFFFF"/>
                    </a:solidFill>
                  </a:tcPr>
                </a:tc>
                <a:tc>
                  <a:txBody>
                    <a:bodyPr/>
                    <a:lstStyle/>
                    <a:p>
                      <a:pPr algn="r"/>
                      <a:r>
                        <a:rPr sz="1050">
                          <a:solidFill>
                            <a:srgbClr val="25342A"/>
                          </a:solidFill>
                        </a:rPr>
                        <a:t>75.2%</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$431,950</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$276,290</a:t>
                      </a:r>
                    </a:p>
                  </a:txBody>
                  <a:tcPr>
                    <a:solidFill>
                      <a:srgbClr val="F7FAF7"/>
                    </a:solidFill>
                  </a:tcPr>
                </a:tc>
                <a:tc>
                  <a:txBody>
                    <a:bodyPr/>
                    <a:lstStyle/>
                    <a:p>
                      <a:pPr algn="r"/>
                      <a:r>
                        <a:rPr sz="1050" b="1">
                          <a:solidFill>
                            <a:srgbClr val="25342A"/>
                          </a:solidFill>
                        </a:rPr>
                        <a:t>64.0%</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