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$#,##0;[Red]($#,##0);"-"</c:formatCode>
                <c:ptCount val="15"/>
                <c:pt idx="0">
                  <c:v>171009</c:v>
                </c:pt>
                <c:pt idx="1">
                  <c:v>179474</c:v>
                </c:pt>
                <c:pt idx="2">
                  <c:v>143156</c:v>
                </c:pt>
                <c:pt idx="3">
                  <c:v>140909</c:v>
                </c:pt>
                <c:pt idx="4">
                  <c:v>160943</c:v>
                </c:pt>
                <c:pt idx="5">
                  <c:v>135082</c:v>
                </c:pt>
                <c:pt idx="6">
                  <c:v>124705</c:v>
                </c:pt>
                <c:pt idx="7">
                  <c:v>129816</c:v>
                </c:pt>
                <c:pt idx="8">
                  <c:v>164113</c:v>
                </c:pt>
                <c:pt idx="9">
                  <c:v>186760</c:v>
                </c:pt>
                <c:pt idx="10">
                  <c:v>139164</c:v>
                </c:pt>
                <c:pt idx="11">
                  <c:v>128255</c:v>
                </c:pt>
                <c:pt idx="12">
                  <c:v>128898</c:v>
                </c:pt>
                <c:pt idx="13">
                  <c:v>174786</c:v>
                </c:pt>
                <c:pt idx="14">
                  <c:v>135079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20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$#,##0;[Red]($#,##0);"-"</c:formatCode>
                <c:ptCount val="15"/>
                <c:pt idx="0">
                  <c:v>24670</c:v>
                </c:pt>
                <c:pt idx="1">
                  <c:v>24670</c:v>
                </c:pt>
                <c:pt idx="2">
                  <c:v>24670</c:v>
                </c:pt>
                <c:pt idx="3">
                  <c:v>24670</c:v>
                </c:pt>
                <c:pt idx="4">
                  <c:v>27930</c:v>
                </c:pt>
                <c:pt idx="5">
                  <c:v>27930</c:v>
                </c:pt>
                <c:pt idx="6">
                  <c:v>27930</c:v>
                </c:pt>
                <c:pt idx="7">
                  <c:v>27930</c:v>
                </c:pt>
                <c:pt idx="8">
                  <c:v>31870</c:v>
                </c:pt>
                <c:pt idx="9">
                  <c:v>33200</c:v>
                </c:pt>
                <c:pt idx="10">
                  <c:v>33200</c:v>
                </c:pt>
                <c:pt idx="11">
                  <c:v>33200</c:v>
                </c:pt>
                <c:pt idx="12">
                  <c:v>35800</c:v>
                </c:pt>
                <c:pt idx="13">
                  <c:v>35800</c:v>
                </c:pt>
                <c:pt idx="14">
                  <c:v>35800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$#,##0;[Red]($#,##0);"-"</c:formatCode>
                <c:ptCount val="15"/>
                <c:pt idx="0">
                  <c:v>126300</c:v>
                </c:pt>
                <c:pt idx="1">
                  <c:v>131400</c:v>
                </c:pt>
                <c:pt idx="2">
                  <c:v>92600</c:v>
                </c:pt>
                <c:pt idx="3">
                  <c:v>89400</c:v>
                </c:pt>
                <c:pt idx="4">
                  <c:v>106000</c:v>
                </c:pt>
                <c:pt idx="5">
                  <c:v>86100</c:v>
                </c:pt>
                <c:pt idx="6">
                  <c:v>74900</c:v>
                </c:pt>
                <c:pt idx="7">
                  <c:v>80300</c:v>
                </c:pt>
                <c:pt idx="8">
                  <c:v>112700</c:v>
                </c:pt>
                <c:pt idx="9">
                  <c:v>135800</c:v>
                </c:pt>
                <c:pt idx="10">
                  <c:v>86200</c:v>
                </c:pt>
                <c:pt idx="11">
                  <c:v>75100</c:v>
                </c:pt>
                <c:pt idx="12">
                  <c:v>70800</c:v>
                </c:pt>
                <c:pt idx="13">
                  <c:v>113300</c:v>
                </c:pt>
                <c:pt idx="14">
                  <c:v>69700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5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$#,##0;[Red]($#,##0);"-"</c:formatCode>
                <c:ptCount val="15"/>
                <c:pt idx="0">
                  <c:v>20039</c:v>
                </c:pt>
                <c:pt idx="1">
                  <c:v>23404</c:v>
                </c:pt>
                <c:pt idx="2">
                  <c:v>25886</c:v>
                </c:pt>
                <c:pt idx="3">
                  <c:v>26839</c:v>
                </c:pt>
                <c:pt idx="4">
                  <c:v>27013</c:v>
                </c:pt>
                <c:pt idx="5">
                  <c:v>21052</c:v>
                </c:pt>
                <c:pt idx="6">
                  <c:v>21875</c:v>
                </c:pt>
                <c:pt idx="7">
                  <c:v>21586</c:v>
                </c:pt>
                <c:pt idx="8">
                  <c:v>19543</c:v>
                </c:pt>
                <c:pt idx="9">
                  <c:v>17760</c:v>
                </c:pt>
                <c:pt idx="10">
                  <c:v>19764</c:v>
                </c:pt>
                <c:pt idx="11">
                  <c:v>19955</c:v>
                </c:pt>
                <c:pt idx="12">
                  <c:v>22298</c:v>
                </c:pt>
                <c:pt idx="13">
                  <c:v>25686</c:v>
                </c:pt>
                <c:pt idx="14">
                  <c:v>29579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4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$#,##0;[Red]($#,##0);"-"</c:formatCode>
                <c:ptCount val="15"/>
                <c:pt idx="0">
                  <c:v>94520</c:v>
                </c:pt>
                <c:pt idx="1">
                  <c:v>108140</c:v>
                </c:pt>
                <c:pt idx="2">
                  <c:v>114895</c:v>
                </c:pt>
                <c:pt idx="3">
                  <c:v>88250</c:v>
                </c:pt>
                <c:pt idx="4">
                  <c:v>111010</c:v>
                </c:pt>
                <c:pt idx="5">
                  <c:v>77175</c:v>
                </c:pt>
                <c:pt idx="6">
                  <c:v>63970</c:v>
                </c:pt>
                <c:pt idx="7">
                  <c:v>95555</c:v>
                </c:pt>
                <c:pt idx="8">
                  <c:v>90220</c:v>
                </c:pt>
                <c:pt idx="9">
                  <c:v>86320</c:v>
                </c:pt>
                <c:pt idx="10">
                  <c:v>61475</c:v>
                </c:pt>
                <c:pt idx="11">
                  <c:v>59535</c:v>
                </c:pt>
                <c:pt idx="12">
                  <c:v>71260</c:v>
                </c:pt>
                <c:pt idx="13">
                  <c:v>83940</c:v>
                </c:pt>
                <c:pt idx="14">
                  <c:v>69420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2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$#,##0;[Red]($#,##0);"-"</c:formatCode>
                <c:ptCount val="15"/>
                <c:pt idx="0">
                  <c:v>70720</c:v>
                </c:pt>
                <c:pt idx="1">
                  <c:v>88540</c:v>
                </c:pt>
                <c:pt idx="2">
                  <c:v>94695</c:v>
                </c:pt>
                <c:pt idx="3">
                  <c:v>66850</c:v>
                </c:pt>
                <c:pt idx="4">
                  <c:v>84410</c:v>
                </c:pt>
                <c:pt idx="5">
                  <c:v>48975</c:v>
                </c:pt>
                <c:pt idx="6">
                  <c:v>37570</c:v>
                </c:pt>
                <c:pt idx="7">
                  <c:v>59755</c:v>
                </c:pt>
                <c:pt idx="8">
                  <c:v>64520</c:v>
                </c:pt>
                <c:pt idx="9">
                  <c:v>64820</c:v>
                </c:pt>
                <c:pt idx="10">
                  <c:v>38775</c:v>
                </c:pt>
                <c:pt idx="11">
                  <c:v>38035</c:v>
                </c:pt>
                <c:pt idx="12">
                  <c:v>45860</c:v>
                </c:pt>
                <c:pt idx="13">
                  <c:v>46840</c:v>
                </c:pt>
                <c:pt idx="14">
                  <c:v>29520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0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$#,##0;[Red]($#,##0);"-"</c:formatCode>
                <c:ptCount val="15"/>
                <c:pt idx="0">
                  <c:v>15000</c:v>
                </c:pt>
                <c:pt idx="1">
                  <c:v>15000</c:v>
                </c:pt>
                <c:pt idx="2">
                  <c:v>15000</c:v>
                </c:pt>
                <c:pt idx="3">
                  <c:v>15000</c:v>
                </c:pt>
                <c:pt idx="4">
                  <c:v>15000</c:v>
                </c:pt>
                <c:pt idx="5">
                  <c:v>21800</c:v>
                </c:pt>
                <c:pt idx="6">
                  <c:v>21800</c:v>
                </c:pt>
                <c:pt idx="7">
                  <c:v>21800</c:v>
                </c:pt>
                <c:pt idx="8">
                  <c:v>21800</c:v>
                </c:pt>
                <c:pt idx="9">
                  <c:v>16300</c:v>
                </c:pt>
                <c:pt idx="10">
                  <c:v>16300</c:v>
                </c:pt>
                <c:pt idx="11">
                  <c:v>16300</c:v>
                </c:pt>
                <c:pt idx="12">
                  <c:v>16300</c:v>
                </c:pt>
                <c:pt idx="13">
                  <c:v>28300</c:v>
                </c:pt>
                <c:pt idx="14">
                  <c:v>28300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3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Sheet1!$A$2:$A$16</c:f>
              <c:strCache>
                <c:ptCount val="15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</c:strCache>
            </c:strRef>
          </c:cat>
          <c:val>
            <c:numRef>
              <c:f>Sheet1!$B$2:$B$16</c:f>
              <c:numCache>
                <c:formatCode>$#,##0;[Red]($#,##0);"-"</c:formatCode>
                <c:ptCount val="15"/>
                <c:pt idx="0">
                  <c:v>8800</c:v>
                </c:pt>
                <c:pt idx="1">
                  <c:v>4600</c:v>
                </c:pt>
                <c:pt idx="2">
                  <c:v>5200</c:v>
                </c:pt>
                <c:pt idx="3">
                  <c:v>6400</c:v>
                </c:pt>
                <c:pt idx="4">
                  <c:v>11600</c:v>
                </c:pt>
                <c:pt idx="5">
                  <c:v>6400</c:v>
                </c:pt>
                <c:pt idx="6">
                  <c:v>4600</c:v>
                </c:pt>
                <c:pt idx="7">
                  <c:v>14000</c:v>
                </c:pt>
                <c:pt idx="8">
                  <c:v>3900</c:v>
                </c:pt>
                <c:pt idx="9">
                  <c:v>5200</c:v>
                </c:pt>
                <c:pt idx="10">
                  <c:v>6400</c:v>
                </c:pt>
                <c:pt idx="11">
                  <c:v>5200</c:v>
                </c:pt>
                <c:pt idx="12">
                  <c:v>9100</c:v>
                </c:pt>
                <c:pt idx="13">
                  <c:v>8800</c:v>
                </c:pt>
                <c:pt idx="14">
                  <c:v>11600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5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5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Which products and services are growing?. SME sample businesses. Period: December 2025.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All. December against December last year: (5.6%); Year to date (Jul to Dec 2025): $892,942; Gross margin, year to date: 37.4%. Revenue is $892,942 this financial year to date (Jul to Dec 2025). Maintenance contracts make the highest gross margin (59.5%); Installations the lowest (27.6%). The business needs 45.8% gross margin just to cover overheads. Installations: 27.6% gross margin, 7.4 points under the 35.0% target: about $40,735 on $550,900 of revenue this financial year to date. It's below the 45.8% needed to cover overheads, too. Maintenance contracts: 59.5% gross margin, 24.5 points over the 35.0% target ($50,664 ahead on $207,000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Maintenance contracts. December against December last year: 45.1%; Year to date (Jul to Dec 2025): $207,000; Gross margin, year to date: 59.5%. Maintenance contracts brought in $207,000 this financial year to date, at a 59.5% gross margin (above the 37.4% overall). Maintenance contracts: 59.5% gross margin, 24.5 points over the 35.0% target ($50,664 ahead on $207,000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Installations. December against December last year: (24.7%); Year to date (Jul to Dec 2025): $550,900; Gross margin, year to date: 27.6%. Installations brought in $550,900 this financial year to date, at a 27.6% gross margin (below the 37.4% overall). Installations: 27.6% gross margin, 7.4 points under the 35.0% target: about $40,735 on $550,900 of revenue this financial year to date. It's below the 45.8% needed to cover overheads, too.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Trades · Call-outs and repairs. December against December last year: 14.3%; Year to date (Jul to Dec 2025): $135,042; Gross margin, year to date: 43.8%. Call-outs and repairs brought in $135,042 this financial year to date, at a 43.8% gross margin (above the 37.4% overall). Call-outs and repairs: 43.8% gross margin, 8.8 points over the 35.0% target ($11,825 ahead on $135,042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line: financial year to date (Jul to Dec 2025) against the same period last year · Trades. Same period last year: Not available: the data starts October 2024. From gross margin to profit: December's jobs made $50,453 gross margin (37.4%). Technician time not charged to jobs took $4,504 and overheads $57,350, leaving ($11,401) profit before tax ((8.4%) of revenue). To cover overheads, jobs need a 45.8%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All. December against December last year: (39.6%); Year to date (Jul to Dec 2025): $431,950; Gross margin, year to date: 64.0%. Revenue is $431,950 this financial year to date (Jul to Dec 2025). Training makes the highest gross margin (75.2%); Projects the lowest (61.0%). The business needs 99.2% gross margin just to cover overheads. Projects: 61.0% gross margin, 21.0 points over the 40.0% target ($55,450 ahead on $263,850 this financial year to date). Training: 75.2% gross margin, 35.2 points over the 40.0% target ($16,320 ahead on $46,300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Projects. December against December last year: (68.8%); Year to date (Jul to Dec 2025): $263,850; Gross margin, year to date: 61.0%. Projects brought in $263,850 this financial year to date, at a 61.0% gross margin (below the 64.0% overall). Projects: 61.0% gross margin, 21.0 points over the 40.0% target ($55,450 ahead on $263,850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Retainers. December against December last year: 88.7%; Year to date (Jul to Dec 2025): $121,800; Gross margin, year to date: 66.1%. Retainers brought in $121,800 this financial year to date, at a 66.1% gross margin (above the 64.0% overall). Retainers: 66.1% gross margin, 26.1 points over the 40.0% target ($31,740 ahead on $121,800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Services · Training. December against December last year: 123.1%; Year to date (Jul to Dec 2025): $46,300; Gross margin, year to date: 75.2%. Training brought in $46,300 this financial year to date, at a 75.2% gross margin (above the 64.0% overall). Training: 75.2% gross margin, 35.2 points over the 40.0% target ($16,320 ahead on $46,300 this financial year to date).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 type of work: financial year to date (Jul to Dec 2025) against the same period last year · Services. Same period last year: Not available: the data starts October 2024. From gross margin to profit: December's client work made $44,900 gross margin (64.7%). Consultant time not charged to client work took $17,630 and overheads $51,260, leaving ($23,990) profit before tax ((34.6%) of revenue). To cover overheads, client work needs a 99.2% gross margin on average.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Which products and services are growing?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SME sample businesses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December 2025. Revenue, gross margin and growth (year on year) by product or service line over 24 months. Pick a line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November 2025: Locked. November 2025 is locked (closed 2 Dec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2025: Locked. December 2025 is locked (closed 5 Jan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All. Gross margin is not profit.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against December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(5.6%)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$135,079 against $143,156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Dec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$892,942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37.4%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$334,284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11988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4815840"/>
            <a:ext cx="5501487" cy="14935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487070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145024"/>
            <a:ext cx="5227167" cy="112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$892,942 this financial year to date (Jul to Dec 2025). Maintenance contracts make the highest gross margin (59.5%); Installations the lowest (27.6%). The business needs 45.8%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4815840"/>
            <a:ext cx="5501487" cy="14935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487070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145024"/>
            <a:ext cx="5227167" cy="1127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27.6% gross margin, 7.4 points under the 35.0% target: about $40,735 on $550,900 of revenue this financial year to date. It's below the 45.8% needed to cover overheads, too. Maintenance contracts: 59.5% gross margin, 24.5 points over the 35.0% target ($50,664 ahead on $207,000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Maintenance contracts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Maintenance contracts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against December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45.1%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$35,800 against $24,670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Dec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$207,000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59.5%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$123,114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 brought in $207,000 this financial year to date, at a 59.5% gross margin (above the 37.4%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Maintenance contracts: 59.5% gross margin, 24.5 points over the 35.0% target ($50,664 ahead on $207,000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Installations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Installations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against December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(24.7%)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$69,700 against $92,600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Dec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$550,900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27.6%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$152,080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 brought in $550,900 this financial year to date, at a 27.6% gross margin (below the 37.4%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Installations: 27.6% gross margin, 7.4 points under the 35.0% target: about $40,735 on $550,900 of revenue this financial year to date. It's below the 45.8% needed to cover overheads, too.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Trades · Call-outs and repairs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line, by month · Call-outs and repairs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against December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14.3%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$29,579 against $25,886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Dec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$135,042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43.8%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$59,090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 brought in $135,042 this financial year to date, at a 43.8% gross margin (above the 37.4%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Call-outs and repairs: 43.8% gross margin, 8.8 points over the 35.0% target ($11,825 ahead on $135,042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5 of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line: financial year to date (Jul to Dec 2025) against the same period last year · Trades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644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Same period last year: Not available: the data starts October 2024. From gross margin to profit: December's jobs made $50,453 gross margin (37.4%). Technician time not charged to jobs took $4,504 and overheads $57,350, leaving ($11,401) profit before tax ((8.4%) of revenue). To cover overheads, jobs need a 45.8%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9034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Maintenance contracts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$207,000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$123,114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59.5%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Installations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$550,900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$152,080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27.6%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Call-outs and repairs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$135,042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$59,090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43.8%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$892,942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$334,284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37.4%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6 of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All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against December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(39.6%)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$69,420 against $114,895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Dec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$431,950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64.0%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$276,290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3180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013960"/>
            <a:ext cx="5501487" cy="129540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Revenue is $431,950 this financial year to date (Jul to Dec 2025). Training makes the highest gross margin (75.2%); Projects the lowest (61.0%). The business needs 99.2% gross margin just to cover overheads.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013960"/>
            <a:ext cx="5501487" cy="129540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06882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343144"/>
            <a:ext cx="5227167" cy="929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61.0% gross margin, 21.0 points over the 40.0% target ($55,450 ahead on $263,850 this financial year to date). Training: 75.2% gross margin, 35.2 points over the 40.0% target ($16,320 ahead on $46,300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7 of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Projects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Projects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against December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(68.8%)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$29,520 against $94,695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Dec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$263,850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61.0%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$160,990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 brought in $263,850 this financial year to date, at a 61.0% gross margin (below the 64.0%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Projects: 61.0% gross margin, 21.0 points over the 40.0% target ($55,450 ahead on $263,850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8 of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Retainers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Retainers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against December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88.7%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$28,300 against $15,000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Dec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$121,800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66.1%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$80,460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 brought in $121,800 this financial year to date, at a 66.1% gross margin (above the 64.0%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Retainers: 66.1% gross margin, 26.1 points over the 40.0% target ($31,740 ahead on $121,800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9 of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Services · Training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Revenue, gross margin and growth by type of work, by month · Training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December against December last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123.1%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$11,600 against $5,200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Dec 2025)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$46,300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Gross margin, year to date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75.2%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$34,840 before overheads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 brought in $46,300 this financial year to date, at a 75.2% gross margin (above the 64.0% overall).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Training: 75.2% gross margin, 35.2 points over the 40.0% target ($16,320 ahead on $46,300 this financial year to date).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10 of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71932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000" b="1">
                <a:solidFill>
                  <a:srgbClr val="25342A"/>
                </a:solidFill>
                <a:latin typeface="Roboto"/>
              </a:rPr>
              <a:t>By type of work: financial year to date (Jul to Dec 2025) against the same period last year · Services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SME sample businesses · Which products and services are growing?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58240"/>
            <a:ext cx="11277295" cy="644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Same period last year: Not available: the data starts October 2024. From gross margin to profit: December's client work made $44,900 gross margin (64.7%). Consultant time not charged to client work took $17,630 and overheads $51,260, leaving ($23,990) profit before tax ((34.6%) of revenue). To cover overheads, client work needs a 99.2% gross margin on average.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903476"/>
          <a:ext cx="11277295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Year to date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Same period last year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Growth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$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100" b="1">
                          <a:solidFill>
                            <a:srgbClr val="FFFFFF"/>
                          </a:solidFill>
                          <a:latin typeface="Roboto"/>
                        </a:rPr>
                        <a:t>Gross margin %</a:t>
                      </a:r>
                    </a:p>
                  </a:txBody>
                  <a:tcPr>
                    <a:solidFill>
                      <a:srgbClr val="2F7A5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Projects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$263,850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$160,990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61.0%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Retainers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$121,800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$80,460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66.1%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Training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$46,300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$34,840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>
                          <a:solidFill>
                            <a:srgbClr val="25342A"/>
                          </a:solidFill>
                          <a:latin typeface="Roboto"/>
                        </a:rPr>
                        <a:t>75.2%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Total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$431,950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–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$276,290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Roboto"/>
                        </a:defRPr>
                      </a:pPr>
                      <a:r>
                        <a:rPr sz="1050" b="1">
                          <a:solidFill>
                            <a:srgbClr val="25342A"/>
                          </a:solidFill>
                          <a:latin typeface="Roboto"/>
                        </a:rPr>
                        <a:t>64.0%</a:t>
                      </a:r>
                    </a:p>
                  </a:txBody>
                  <a:tcPr>
                    <a:solidFill>
                      <a:srgbClr val="F7FAF7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growth.pptx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11 of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