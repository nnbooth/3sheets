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Cost to raise a dollar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cat>
            <c:strRef>
              <c:f>Sheet1!$A$2:$A$3</c:f>
              <c:strCache>
                <c:ptCount val="2"/>
                <c:pt idx="0">
                  <c:v>Grants</c:v>
                </c:pt>
                <c:pt idx="1">
                  <c:v>Donations</c:v>
                </c:pt>
              </c:strCache>
            </c:strRef>
          </c:cat>
          <c:val>
            <c:numRef>
              <c:f>Sheet1!$B$2:$B$3</c:f>
              <c:numCache>
                <c:formatCode>0"¢";[Red](0"¢")</c:formatCode>
                <c:ptCount val="2"/>
                <c:pt idx="0">
                  <c:v>10</c:v>
                </c:pt>
                <c:pt idx="1">
                  <c:v>13</c:v>
                </c:pt>
              </c:numCache>
            </c:numRef>
          </c:val>
        </c:ser>
        <c:dLbls>
          <c:numFmt formatCode="0&quot;¢&quot;;[Red](0&quot;¢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4.9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Cents per $1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Sheet1!$A$2:$A$21</c:f>
              <c:strCache>
                <c:ptCount val="20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</c:strCache>
            </c:strRef>
          </c:cat>
          <c:val>
            <c:numRef>
              <c:f>Sheet1!$B$2:$B$21</c:f>
              <c:numCache>
                <c:formatCode>0"¢";[Red](0"¢")</c:formatCode>
                <c:ptCount val="20"/>
                <c:pt idx="0">
                  <c:v>24</c:v>
                </c:pt>
                <c:pt idx="1">
                  <c:v>20</c:v>
                </c:pt>
                <c:pt idx="2">
                  <c:v>22</c:v>
                </c:pt>
                <c:pt idx="3">
                  <c:v>10</c:v>
                </c:pt>
                <c:pt idx="4">
                  <c:v>11</c:v>
                </c:pt>
                <c:pt idx="5">
                  <c:v>12</c:v>
                </c:pt>
                <c:pt idx="6">
                  <c:v>11</c:v>
                </c:pt>
                <c:pt idx="7">
                  <c:v>11</c:v>
                </c:pt>
                <c:pt idx="8">
                  <c:v>12</c:v>
                </c:pt>
                <c:pt idx="9">
                  <c:v>12</c:v>
                </c:pt>
                <c:pt idx="10">
                  <c:v>12</c:v>
                </c:pt>
                <c:pt idx="11">
                  <c:v>11</c:v>
                </c:pt>
                <c:pt idx="12">
                  <c:v>10</c:v>
                </c:pt>
                <c:pt idx="13">
                  <c:v>10</c:v>
                </c:pt>
                <c:pt idx="14">
                  <c:v>10</c:v>
                </c:pt>
                <c:pt idx="15">
                  <c:v>12</c:v>
                </c:pt>
                <c:pt idx="16">
                  <c:v>13</c:v>
                </c:pt>
                <c:pt idx="17">
                  <c:v>13</c:v>
                </c:pt>
                <c:pt idx="18">
                  <c:v>11</c:v>
                </c:pt>
                <c:pt idx="19">
                  <c:v>10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25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&quot;¢&quot;;[Red](0&quot;¢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Cents per $1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Sheet1!$A$2:$A$21</c:f>
              <c:strCache>
                <c:ptCount val="20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</c:strCache>
            </c:strRef>
          </c:cat>
          <c:val>
            <c:numRef>
              <c:f>Sheet1!$B$2:$B$21</c:f>
              <c:numCache>
                <c:formatCode>0"¢";[Red](0"¢")</c:formatCode>
                <c:ptCount val="20"/>
                <c:pt idx="0">
                  <c:v>14</c:v>
                </c:pt>
                <c:pt idx="1">
                  <c:v>18</c:v>
                </c:pt>
                <c:pt idx="2">
                  <c:v>18</c:v>
                </c:pt>
                <c:pt idx="3">
                  <c:v>18</c:v>
                </c:pt>
                <c:pt idx="4">
                  <c:v>14</c:v>
                </c:pt>
                <c:pt idx="5">
                  <c:v>14</c:v>
                </c:pt>
                <c:pt idx="6">
                  <c:v>14</c:v>
                </c:pt>
                <c:pt idx="7">
                  <c:v>14</c:v>
                </c:pt>
                <c:pt idx="8">
                  <c:v>14</c:v>
                </c:pt>
                <c:pt idx="9">
                  <c:v>16</c:v>
                </c:pt>
                <c:pt idx="10">
                  <c:v>14</c:v>
                </c:pt>
                <c:pt idx="11">
                  <c:v>14</c:v>
                </c:pt>
                <c:pt idx="12">
                  <c:v>14</c:v>
                </c:pt>
                <c:pt idx="13">
                  <c:v>17</c:v>
                </c:pt>
                <c:pt idx="14">
                  <c:v>17</c:v>
                </c:pt>
                <c:pt idx="15">
                  <c:v>17</c:v>
                </c:pt>
                <c:pt idx="16">
                  <c:v>13</c:v>
                </c:pt>
                <c:pt idx="17">
                  <c:v>13</c:v>
                </c:pt>
                <c:pt idx="18">
                  <c:v>13</c:v>
                </c:pt>
                <c:pt idx="19">
                  <c:v>13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2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&quot;¢&quot;;[Red](0&quot;¢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Cents per $1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Sheet1!$A$2:$A$4</c:f>
              <c:strCache>
                <c:ptCount val="3"/>
                <c:pt idx="0">
                  <c:v>Dec 24</c:v>
                </c:pt>
                <c:pt idx="1">
                  <c:v>Sep 25</c:v>
                </c:pt>
                <c:pt idx="2">
                  <c:v>Dec 25</c:v>
                </c:pt>
              </c:strCache>
            </c:strRef>
          </c:cat>
          <c:val>
            <c:numRef>
              <c:f>Sheet1!$B$2:$B$4</c:f>
              <c:numCache>
                <c:formatCode>0"¢";[Red](0"¢")</c:formatCode>
                <c:ptCount val="3"/>
                <c:pt idx="0">
                  <c:v>42</c:v>
                </c:pt>
                <c:pt idx="1">
                  <c:v>41</c:v>
                </c:pt>
                <c:pt idx="2">
                  <c:v>42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1"/>
        <c:noMultiLvlLbl val="0"/>
      </c:catAx>
      <c:valAx>
        <c:axId val="-2100718248"/>
        <c:scaling>
          <c:orientation val="minMax"/>
          <c:max val="5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&quot;¢&quot;;[Red](0&quot;¢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does it cost to raise a dollar?. Sample Community Services Ltd. Period: May 2026. What fundraising costs (grant writing, donor campaigns, events) for every dollar it brings in. Pick a source and every number, chart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fundraising. May · all fundraising: 10¢; Year to date (Jul to May 2026): 13¢. May cost 10¢ to raise each dollar, against 11¢ in April. This financial year to date it has cost 13¢ a dollar. The year-to-date figure is steadier than single months: events make some months jump. Pick a source above to see which one moves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Grants. May · Grants: 10¢; Year to date (Jul to May 2026): 11¢. Grants cost 11¢ to raise each dollar this financial year to date ($78,100 of grant writing and reporting for $699,210). Usually the cheapest money to raise, as long as the time that goes into applications and acquittals is protected.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Donations. May · Donations: 13¢; Year to date (Jul to May 2026): 15¢. Donations cost 15¢ to raise each dollar this financial year to date ($27,300 of donor campaigns for $185,800). Steady and cheap, and untied: the money that builds reserves.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Fundraising events. May · Fundraising events: –; Year to date (Jul to May 2026): 41¢. Fundraising events cost 41¢ to raise each dollar this financial year to date ($17,800 of event costs for $43,000). Usually the dearest money to raise: events are worth counting for what else they bring too (new donors, profile).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What does it cost to raise a dollar?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May 2026. What fundraising costs (grant writing, donor campaigns, events) for every dollar it brings in. Pick a source and every number,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April 2026: Locked. April 2026 is locked (closed 5 May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May 2026: Locked. May 2026 is locked (closed 2 Jun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All fundraising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by source, May 2026 (cents)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May · all fundraising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10¢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April 11¢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0147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47307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May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7307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13¢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7307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457200" y="2604516"/>
          <a:ext cx="11277295" cy="149961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Rectangle 14"/>
          <p:cNvSpPr/>
          <p:nvPr/>
        </p:nvSpPr>
        <p:spPr>
          <a:xfrm>
            <a:off x="457200" y="4195572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94360" y="4250436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524756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May cost 10¢ to raise each dollar, against 11¢ in April. This financial year to date it has cost 13¢ a dollar.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4195572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370167" y="4250436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0167" y="4524756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year-to-date figure is steadier than single months: events make some months jump. Pick a source above to see which one moves it.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Grants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by month (cents) · Grants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May · Grants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10¢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April 11¢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0147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47307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May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7307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11¢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7307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Rectangle 14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Grants cost 11¢ to raise each dollar this financial year to date ($78,100 of grant writing and reporting for $699,210).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Usually the cheapest money to raise, as long as the time that goes into applications and acquittals is protected.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Donations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by month (cents) · Donations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May · Donations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13¢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April 13¢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0147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47307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May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7307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15¢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7307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Rectangle 14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Donations cost 15¢ to raise each dollar this financial year to date ($27,300 of donor campaigns for $185,800).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Steady and cheap, and untied: the money that builds reserves.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Fundraising events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by month (cents) · Fundraising events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May · Fundraising events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April none raised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0147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47307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May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7307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41¢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7307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Rectangle 14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Fundraising events cost 41¢ to raise each dollar this financial year to date ($17,800 of event costs for $43,000).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Usually the dearest money to raise: events are worth counting for what else they bring too (new donors, profile).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