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cat>
            <c:strRef>
              <c:f>Sheet1!$A$2:$A$3</c:f>
              <c:strCache>
                <c:ptCount val="2"/>
                <c:pt idx="0">
                  <c:v>Grants</c:v>
                </c:pt>
                <c:pt idx="1">
                  <c:v>Donations</c:v>
                </c:pt>
              </c:strCache>
            </c:strRef>
          </c:cat>
          <c:val>
            <c:numRef>
              <c:f>Sheet1!$B$2:$B$3</c:f>
              <c:numCache>
                <c:formatCode>0"¢";[Red](0"¢")</c:formatCode>
                <c:ptCount val="2"/>
                <c:pt idx="0">
                  <c:v>10</c:v>
                </c:pt>
                <c:pt idx="1">
                  <c:v>13</c:v>
                </c:pt>
              </c:numCache>
            </c:numRef>
          </c:val>
        </c:ser>
        <c:dLbls>
          <c:numFmt formatCode="0&quot;¢&quot;;[Red](0&quot;¢&quot;)" sourceLinked="0"/>
          <c:txPr>
            <a:bodyPr/>
            <a:lstStyle/>
            <a:p>
              <a:pPr>
                <a:defRPr sz="11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0"/>
    <c:plotArea>
      <c:layout/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Sheet1!$A$2:$A$21</c:f>
              <c:strCache>
                <c:ptCount val="20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</c:strCache>
            </c:strRef>
          </c:cat>
          <c:val>
            <c:numRef>
              <c:f>Sheet1!$B$2:$B$21</c:f>
              <c:numCache>
                <c:formatCode>0"¢";[Red](0"¢")</c:formatCode>
                <c:ptCount val="20"/>
                <c:pt idx="0">
                  <c:v>21</c:v>
                </c:pt>
                <c:pt idx="1">
                  <c:v>19</c:v>
                </c:pt>
                <c:pt idx="2">
                  <c:v>22</c:v>
                </c:pt>
                <c:pt idx="3">
                  <c:v>12</c:v>
                </c:pt>
                <c:pt idx="4">
                  <c:v>11</c:v>
                </c:pt>
                <c:pt idx="5">
                  <c:v>12</c:v>
                </c:pt>
                <c:pt idx="6">
                  <c:v>11</c:v>
                </c:pt>
                <c:pt idx="7">
                  <c:v>11</c:v>
                </c:pt>
                <c:pt idx="8">
                  <c:v>13</c:v>
                </c:pt>
                <c:pt idx="9">
                  <c:v>13</c:v>
                </c:pt>
                <c:pt idx="10">
                  <c:v>12</c:v>
                </c:pt>
                <c:pt idx="11">
                  <c:v>21</c:v>
                </c:pt>
                <c:pt idx="12">
                  <c:v>11</c:v>
                </c:pt>
                <c:pt idx="13">
                  <c:v>11</c:v>
                </c:pt>
                <c:pt idx="14">
                  <c:v>14</c:v>
                </c:pt>
                <c:pt idx="15">
                  <c:v>13</c:v>
                </c:pt>
                <c:pt idx="16">
                  <c:v>13</c:v>
                </c:pt>
                <c:pt idx="17">
                  <c:v>13</c:v>
                </c:pt>
                <c:pt idx="18">
                  <c:v>11</c:v>
                </c:pt>
                <c:pt idx="19">
                  <c:v>10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noMultiLvlLbl val="0"/>
      </c:catAx>
      <c:valAx>
        <c:axId val="-2100718248"/>
        <c:scaling>
          <c:orientation val="minMax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0&quot;¢&quot;;[Red](0&quot;¢&quot;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</c:valAx>
    </c:plotArea>
    <c:plotVisOnly val="1"/>
    <c:dispBlanksAs val="zero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600" b="1">
                <a:solidFill>
                  <a:srgbClr val="FFFFFF"/>
                </a:solidFill>
              </a:rPr>
              <a:t>4th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25342A"/>
                </a:solidFill>
                <a:latin typeface="Arial"/>
              </a:rPr>
              <a:t>The 4th Sheet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A7A52"/>
                </a:solidFill>
                <a:latin typeface="Arial"/>
              </a:rPr>
              <a:t>SAMPLE DATA · invented figures for demonstration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25342A"/>
                </a:solidFill>
                <a:latin typeface="Arial"/>
              </a:rPr>
              <a:t>What does it cost to raise a dollar?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5F6F63"/>
                </a:solidFill>
                <a:latin typeface="Arial"/>
              </a:rPr>
              <a:t>Sample Community Services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25342A"/>
                </a:solidFill>
                <a:latin typeface="Arial"/>
              </a:rPr>
              <a:t>Period: May 2026. What fundraising costs (grant writing, donor campaigns, events) for every dollar it brings in. Pick a source and every number, chart and note follows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93776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5F6F63"/>
                </a:solidFill>
                <a:latin typeface="Arial"/>
              </a:rPr>
              <a:t>How final is this data?</a:t>
            </a:r>
          </a:p>
          <a:p>
            <a:r>
              <a:rPr sz="1100" b="0">
                <a:solidFill>
                  <a:srgbClr val="5F6F63"/>
                </a:solidFill>
                <a:latin typeface="Arial"/>
              </a:rPr>
              <a:t>April 2026: Locked. April 2026 is locked (closed 5 May 2026). These numbers won't change.</a:t>
            </a:r>
          </a:p>
          <a:p>
            <a:r>
              <a:rPr sz="1100" b="0">
                <a:solidFill>
                  <a:srgbClr val="5F6F63"/>
                </a:solidFill>
                <a:latin typeface="Arial"/>
              </a:rPr>
              <a:t>May 2026: Locked. May 2026 is locked (closed 2 Jun 2026). These numbers won't change.</a:t>
            </a:r>
          </a:p>
          <a:p>
            <a:r>
              <a:rPr sz="1100" b="0">
                <a:solidFill>
                  <a:srgbClr val="5F6F63"/>
                </a:solidFill>
                <a:latin typeface="Arial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cost-to-raise.pptx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1 of 11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Community Services Ltd · What does it cost to raise a dollar?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Headline numbers · Source: All fundraising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645920"/>
            <a:ext cx="5501487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5135727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F6F63"/>
                </a:solidFill>
                <a:latin typeface="Arial"/>
              </a:rPr>
              <a:t>May · all fundraising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40280"/>
            <a:ext cx="5135727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F7A5D"/>
                </a:solidFill>
                <a:latin typeface="Arial"/>
              </a:rPr>
              <a:t>10¢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17520"/>
            <a:ext cx="5135727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5F6F63"/>
                </a:solidFill>
                <a:latin typeface="Arial"/>
              </a:rPr>
              <a:t>April 11¢</a:t>
            </a:r>
          </a:p>
        </p:txBody>
      </p:sp>
      <p:sp>
        <p:nvSpPr>
          <p:cNvPr id="9" name="Rectangle 8"/>
          <p:cNvSpPr/>
          <p:nvPr/>
        </p:nvSpPr>
        <p:spPr>
          <a:xfrm>
            <a:off x="6233007" y="1645920"/>
            <a:ext cx="5501487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15887" y="1783080"/>
            <a:ext cx="5135727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F6F63"/>
                </a:solidFill>
                <a:latin typeface="Arial"/>
              </a:rPr>
              <a:t>Year to date (Jul to May 2026)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15887" y="2240280"/>
            <a:ext cx="5135727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F7A5D"/>
                </a:solidFill>
                <a:latin typeface="Arial"/>
              </a:rPr>
              <a:t>13¢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15887" y="3017520"/>
            <a:ext cx="5135727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5F6F63"/>
                </a:solidFill>
                <a:latin typeface="Arial"/>
              </a:rPr>
              <a:t>same period last year: not in the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cost-to-raise.pptx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2 of 11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Community Services Ltd · What does it cost to raise a dollar?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Cost to raise a dollar, by source, May 2026 (cents) · Source: All fundraising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57200" y="1188720"/>
          <a:ext cx="11247120" cy="50292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cost-to-raise.pptx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3 of 11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Community Services Ltd · What does it cost to raise a dollar?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What it shows · Source: All fundraising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F6F63"/>
                </a:solidFill>
                <a:latin typeface="Arial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5342A"/>
                </a:solidFill>
                <a:latin typeface="Arial"/>
              </a:rPr>
              <a:t>May cost 10¢ to raise each dollar, against 11¢ in April. This financial year to date it has cost 13¢ a dollar.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F6F63"/>
                </a:solidFill>
                <a:latin typeface="Arial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5342A"/>
                </a:solidFill>
                <a:latin typeface="Arial"/>
              </a:rPr>
              <a:t>The year-to-date figure is steadier than single months: events make some months jump. Pick a source above to see which one moves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cost-to-raise.pptx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4 of 11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Community Services Ltd · What does it cost to raise a dollar?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Headline numbers · Source: Grants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645920"/>
            <a:ext cx="5501487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5135727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F6F63"/>
                </a:solidFill>
                <a:latin typeface="Arial"/>
              </a:rPr>
              <a:t>May · Grants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40280"/>
            <a:ext cx="5135727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F7A5D"/>
                </a:solidFill>
                <a:latin typeface="Arial"/>
              </a:rPr>
              <a:t>10¢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17520"/>
            <a:ext cx="5135727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5F6F63"/>
                </a:solidFill>
                <a:latin typeface="Arial"/>
              </a:rPr>
              <a:t>April 11¢</a:t>
            </a:r>
          </a:p>
        </p:txBody>
      </p:sp>
      <p:sp>
        <p:nvSpPr>
          <p:cNvPr id="9" name="Rectangle 8"/>
          <p:cNvSpPr/>
          <p:nvPr/>
        </p:nvSpPr>
        <p:spPr>
          <a:xfrm>
            <a:off x="6233007" y="1645920"/>
            <a:ext cx="5501487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15887" y="1783080"/>
            <a:ext cx="5135727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F6F63"/>
                </a:solidFill>
                <a:latin typeface="Arial"/>
              </a:rPr>
              <a:t>Year to date (Jul to May 2026)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15887" y="2240280"/>
            <a:ext cx="5135727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F7A5D"/>
                </a:solidFill>
                <a:latin typeface="Arial"/>
              </a:rPr>
              <a:t>11¢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15887" y="3017520"/>
            <a:ext cx="5135727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5F6F63"/>
                </a:solidFill>
                <a:latin typeface="Arial"/>
              </a:rPr>
              <a:t>same period last year: not in the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cost-to-raise.pptx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5 of 11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Community Services Ltd · What does it cost to raise a dollar?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What it shows · Source: Grants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F6F63"/>
                </a:solidFill>
                <a:latin typeface="Arial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5342A"/>
                </a:solidFill>
                <a:latin typeface="Arial"/>
              </a:rPr>
              <a:t>Grants cost 11¢ to raise each dollar this financial year to date ($78,100 of grant writing and reporting for $699,210).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F6F63"/>
                </a:solidFill>
                <a:latin typeface="Arial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5342A"/>
                </a:solidFill>
                <a:latin typeface="Arial"/>
              </a:rPr>
              <a:t>Usually the cheapest money to raise, as long as the time that goes into applications and acquittals is protected.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cost-to-raise.pptx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6 of 11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Community Services Ltd · What does it cost to raise a dollar?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Headline numbers · Source: Donations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645920"/>
            <a:ext cx="5501487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5135727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F6F63"/>
                </a:solidFill>
                <a:latin typeface="Arial"/>
              </a:rPr>
              <a:t>May · Donations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40280"/>
            <a:ext cx="5135727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F7A5D"/>
                </a:solidFill>
                <a:latin typeface="Arial"/>
              </a:rPr>
              <a:t>13¢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17520"/>
            <a:ext cx="5135727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5F6F63"/>
                </a:solidFill>
                <a:latin typeface="Arial"/>
              </a:rPr>
              <a:t>April 13¢</a:t>
            </a:r>
          </a:p>
        </p:txBody>
      </p:sp>
      <p:sp>
        <p:nvSpPr>
          <p:cNvPr id="9" name="Rectangle 8"/>
          <p:cNvSpPr/>
          <p:nvPr/>
        </p:nvSpPr>
        <p:spPr>
          <a:xfrm>
            <a:off x="6233007" y="1645920"/>
            <a:ext cx="5501487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15887" y="1783080"/>
            <a:ext cx="5135727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F6F63"/>
                </a:solidFill>
                <a:latin typeface="Arial"/>
              </a:rPr>
              <a:t>Year to date (Jul to May 2026)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15887" y="2240280"/>
            <a:ext cx="5135727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F7A5D"/>
                </a:solidFill>
                <a:latin typeface="Arial"/>
              </a:rPr>
              <a:t>15¢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15887" y="3017520"/>
            <a:ext cx="5135727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5F6F63"/>
                </a:solidFill>
                <a:latin typeface="Arial"/>
              </a:rPr>
              <a:t>same period last year: not in the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cost-to-raise.pptx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7 of 11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Community Services Ltd · What does it cost to raise a dollar?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What it shows · Source: Donations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F6F63"/>
                </a:solidFill>
                <a:latin typeface="Arial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5342A"/>
                </a:solidFill>
                <a:latin typeface="Arial"/>
              </a:rPr>
              <a:t>Donations cost 15¢ to raise each dollar this financial year to date ($27,300 of donor campaigns for $185,800).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F6F63"/>
                </a:solidFill>
                <a:latin typeface="Arial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5342A"/>
                </a:solidFill>
                <a:latin typeface="Arial"/>
              </a:rPr>
              <a:t>Steady and cheap, and untied: the money that builds reserves.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cost-to-raise.pptx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8 of 11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Community Services Ltd · What does it cost to raise a dollar?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Headline numbers · Source: Fundraising events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645920"/>
            <a:ext cx="5501487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783080"/>
            <a:ext cx="5135727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F6F63"/>
                </a:solidFill>
                <a:latin typeface="Arial"/>
              </a:rPr>
              <a:t>May · Fundraising events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240280"/>
            <a:ext cx="5135727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F7A5D"/>
                </a:solidFill>
                <a:latin typeface="Arial"/>
              </a:rPr>
              <a:t>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017520"/>
            <a:ext cx="5135727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5F6F63"/>
                </a:solidFill>
                <a:latin typeface="Arial"/>
              </a:rPr>
              <a:t>April none raised</a:t>
            </a:r>
          </a:p>
        </p:txBody>
      </p:sp>
      <p:sp>
        <p:nvSpPr>
          <p:cNvPr id="9" name="Rectangle 8"/>
          <p:cNvSpPr/>
          <p:nvPr/>
        </p:nvSpPr>
        <p:spPr>
          <a:xfrm>
            <a:off x="6233007" y="1645920"/>
            <a:ext cx="5501487" cy="201168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15887" y="1783080"/>
            <a:ext cx="5135727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F6F63"/>
                </a:solidFill>
                <a:latin typeface="Arial"/>
              </a:rPr>
              <a:t>Year to date (Jul to May 2026)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15887" y="2240280"/>
            <a:ext cx="5135727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2F7A5D"/>
                </a:solidFill>
                <a:latin typeface="Arial"/>
              </a:rPr>
              <a:t>41¢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15887" y="3017520"/>
            <a:ext cx="5135727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5F6F63"/>
                </a:solidFill>
                <a:latin typeface="Arial"/>
              </a:rPr>
              <a:t>same period last year: not in the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cost-to-raise.pptx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9 of 11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Community Services Ltd · What does it cost to raise a dollar?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What it shows · Source: Fundraising events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5501487" cy="438912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F6F63"/>
                </a:solidFill>
                <a:latin typeface="Arial"/>
              </a:rPr>
              <a:t>WHAT IT SHOWS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5342A"/>
                </a:solidFill>
                <a:latin typeface="Arial"/>
              </a:rPr>
              <a:t>Fundraising events cost 41¢ to raise each dollar this financial year to date ($17,800 of event costs for $43,000).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33007" y="1554480"/>
            <a:ext cx="5501487" cy="438912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61607" y="1691640"/>
            <a:ext cx="504428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5F6F63"/>
                </a:solidFill>
                <a:latin typeface="Arial"/>
              </a:rPr>
              <a:t>WHAT YOU'D DO ABOUT 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61607" y="2103120"/>
            <a:ext cx="5044287" cy="37490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25342A"/>
                </a:solidFill>
                <a:latin typeface="Arial"/>
              </a:rPr>
              <a:t>Usually the dearest money to raise: events are worth counting for what else they bring too (new donors, profile).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cost-to-raise.pptx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10 of 11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5F6F63"/>
                </a:solidFill>
                <a:latin typeface="Arial"/>
              </a:rPr>
              <a:t>Sample Community Services Ltd · What does it cost to raise a dollar?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25342A"/>
                </a:solidFill>
                <a:latin typeface="Arial"/>
              </a:rPr>
              <a:t>Cost to raise a dollar, by month (cents) · Cents per $1 · Every source at once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F6F63"/>
                </a:solidFill>
                <a:latin typeface="Arial"/>
              </a:rPr>
              <a:t>Months with an event (the gala, the Christmas appeal) jump. A gap means nothing was raised that month.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463040"/>
          <a:ext cx="11247120" cy="4754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F6F63"/>
                </a:solidFill>
                <a:latin typeface="Arial"/>
              </a:rPr>
              <a:t>cost-to-raise.pptx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649224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5F6F63"/>
                </a:solidFill>
                <a:latin typeface="Arial"/>
              </a:rPr>
              <a:t>Data retrieved 2pm, Tue 6 Oct 2026 · Sample 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F6F63"/>
                </a:solidFill>
                <a:latin typeface="Arial"/>
              </a:rPr>
              <a:t>Slide 11 of 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