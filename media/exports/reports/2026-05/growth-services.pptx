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94520</c:v>
                </c:pt>
                <c:pt idx="1">
                  <c:v>108140</c:v>
                </c:pt>
                <c:pt idx="2">
                  <c:v>114895</c:v>
                </c:pt>
                <c:pt idx="3">
                  <c:v>88250</c:v>
                </c:pt>
                <c:pt idx="4">
                  <c:v>111010</c:v>
                </c:pt>
                <c:pt idx="5">
                  <c:v>77175</c:v>
                </c:pt>
                <c:pt idx="6">
                  <c:v>63970</c:v>
                </c:pt>
                <c:pt idx="7">
                  <c:v>95555</c:v>
                </c:pt>
                <c:pt idx="8">
                  <c:v>90220</c:v>
                </c:pt>
                <c:pt idx="9">
                  <c:v>86320</c:v>
                </c:pt>
                <c:pt idx="10">
                  <c:v>61475</c:v>
                </c:pt>
                <c:pt idx="11">
                  <c:v>59535</c:v>
                </c:pt>
                <c:pt idx="12">
                  <c:v>71260</c:v>
                </c:pt>
                <c:pt idx="13">
                  <c:v>83940</c:v>
                </c:pt>
                <c:pt idx="14">
                  <c:v>69420</c:v>
                </c:pt>
                <c:pt idx="15">
                  <c:v>92370</c:v>
                </c:pt>
                <c:pt idx="16">
                  <c:v>100055</c:v>
                </c:pt>
                <c:pt idx="17">
                  <c:v>109865</c:v>
                </c:pt>
                <c:pt idx="18">
                  <c:v>80590</c:v>
                </c:pt>
                <c:pt idx="19">
                  <c:v>77090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70720</c:v>
                </c:pt>
                <c:pt idx="1">
                  <c:v>88540</c:v>
                </c:pt>
                <c:pt idx="2">
                  <c:v>94695</c:v>
                </c:pt>
                <c:pt idx="3">
                  <c:v>66850</c:v>
                </c:pt>
                <c:pt idx="4">
                  <c:v>84410</c:v>
                </c:pt>
                <c:pt idx="5">
                  <c:v>48975</c:v>
                </c:pt>
                <c:pt idx="6">
                  <c:v>37570</c:v>
                </c:pt>
                <c:pt idx="7">
                  <c:v>59755</c:v>
                </c:pt>
                <c:pt idx="8">
                  <c:v>64520</c:v>
                </c:pt>
                <c:pt idx="9">
                  <c:v>64820</c:v>
                </c:pt>
                <c:pt idx="10">
                  <c:v>38775</c:v>
                </c:pt>
                <c:pt idx="11">
                  <c:v>38035</c:v>
                </c:pt>
                <c:pt idx="12">
                  <c:v>45860</c:v>
                </c:pt>
                <c:pt idx="13">
                  <c:v>46840</c:v>
                </c:pt>
                <c:pt idx="14">
                  <c:v>29520</c:v>
                </c:pt>
                <c:pt idx="15">
                  <c:v>60170</c:v>
                </c:pt>
                <c:pt idx="16">
                  <c:v>62955</c:v>
                </c:pt>
                <c:pt idx="17">
                  <c:v>75165</c:v>
                </c:pt>
                <c:pt idx="18">
                  <c:v>47090</c:v>
                </c:pt>
                <c:pt idx="19">
                  <c:v>43590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15000</c:v>
                </c:pt>
                <c:pt idx="1">
                  <c:v>15000</c:v>
                </c:pt>
                <c:pt idx="2">
                  <c:v>15000</c:v>
                </c:pt>
                <c:pt idx="3">
                  <c:v>15000</c:v>
                </c:pt>
                <c:pt idx="4">
                  <c:v>15000</c:v>
                </c:pt>
                <c:pt idx="5">
                  <c:v>21800</c:v>
                </c:pt>
                <c:pt idx="6">
                  <c:v>21800</c:v>
                </c:pt>
                <c:pt idx="7">
                  <c:v>21800</c:v>
                </c:pt>
                <c:pt idx="8">
                  <c:v>21800</c:v>
                </c:pt>
                <c:pt idx="9">
                  <c:v>16300</c:v>
                </c:pt>
                <c:pt idx="10">
                  <c:v>16300</c:v>
                </c:pt>
                <c:pt idx="11">
                  <c:v>16300</c:v>
                </c:pt>
                <c:pt idx="12">
                  <c:v>16300</c:v>
                </c:pt>
                <c:pt idx="13">
                  <c:v>28300</c:v>
                </c:pt>
                <c:pt idx="14">
                  <c:v>28300</c:v>
                </c:pt>
                <c:pt idx="15">
                  <c:v>28300</c:v>
                </c:pt>
                <c:pt idx="16">
                  <c:v>28300</c:v>
                </c:pt>
                <c:pt idx="17">
                  <c:v>28300</c:v>
                </c:pt>
                <c:pt idx="18">
                  <c:v>28300</c:v>
                </c:pt>
                <c:pt idx="19">
                  <c:v>28300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3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$#,##0;[Red]($#,##0);"-"</c:formatCode>
                <c:ptCount val="20"/>
                <c:pt idx="0">
                  <c:v>8800</c:v>
                </c:pt>
                <c:pt idx="1">
                  <c:v>4600</c:v>
                </c:pt>
                <c:pt idx="2">
                  <c:v>5200</c:v>
                </c:pt>
                <c:pt idx="3">
                  <c:v>6400</c:v>
                </c:pt>
                <c:pt idx="4">
                  <c:v>11600</c:v>
                </c:pt>
                <c:pt idx="5">
                  <c:v>6400</c:v>
                </c:pt>
                <c:pt idx="6">
                  <c:v>4600</c:v>
                </c:pt>
                <c:pt idx="7">
                  <c:v>14000</c:v>
                </c:pt>
                <c:pt idx="8">
                  <c:v>3900</c:v>
                </c:pt>
                <c:pt idx="9">
                  <c:v>5200</c:v>
                </c:pt>
                <c:pt idx="10">
                  <c:v>6400</c:v>
                </c:pt>
                <c:pt idx="11">
                  <c:v>5200</c:v>
                </c:pt>
                <c:pt idx="12">
                  <c:v>9100</c:v>
                </c:pt>
                <c:pt idx="13">
                  <c:v>8800</c:v>
                </c:pt>
                <c:pt idx="14">
                  <c:v>11600</c:v>
                </c:pt>
                <c:pt idx="15">
                  <c:v>3900</c:v>
                </c:pt>
                <c:pt idx="16">
                  <c:v>8800</c:v>
                </c:pt>
                <c:pt idx="17">
                  <c:v>6400</c:v>
                </c:pt>
                <c:pt idx="18">
                  <c:v>5200</c:v>
                </c:pt>
                <c:pt idx="19">
                  <c:v>5200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Sample Advisory Pty Ltd. Period: May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All. May against May last year: (19.3%); Year to date (Jul to May 2026): $891,920; Gross margin, year to date: 64.0%. Revenue is $891,920 this financial year to date (Jul to May 2026). Training makes the highest gross margin (75.1%); Projects the lowest (61.7%). The business needs 93.0% gross margin just to cover overheads. Projects: 61.7% gross margin, 21.7 points over the 40.0% target ($119,872 ahead on $552,820 this financial year to date). Training: 75.1% gross margin, 35.1 points over the 40.0% target ($26,580 ahead on $75,800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Projects. May against May last year: (27.1%); Year to date (Jul to May 2026): $552,820; Gross margin, year to date: 61.7%. Projects brought in $552,820 this financial year to date, at a 61.7% gross margin (below the 64.0% overall). Projects: 61.7% gross margin, 21.7 points over the 40.0% target ($119,872 ahead on $552,820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Retainers. May against May last year: 29.8%; Year to date (Jul to May 2026): $263,300; Gross margin, year to date: 65.7%. Retainers brought in $263,300 this financial year to date, at a 65.7% gross margin (above the 64.0% overall). Retainers: 65.7% gross margin, 25.7 points over the 40.0% target ($67,680 ahead on $263,300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Training. May against May last year: (62.9%); Year to date (Jul to May 2026): $75,800; Gross margin, year to date: 75.1%. Training brought in $75,800 this financial year to date, at a 75.1% gross margin (above the 64.0% overall). Training: 75.1% gross margin, 35.1 points over the 40.0% target ($26,580 ahead on $75,800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type of work: financial year to date (Jul to May 2026) against the same period last year · Services. Same period last year: Not available: the data starts October 2024. From gross margin to profit: May's client work made $49,410 gross margin (64.1%). Consultant time not charged to client work took $19,920 and overheads $51,750, leaving ($22,260) profit before tax ((28.9%) of revenue). To cover overheads, client work needs a 93.0%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Advisory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May 2026.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against May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(19.3%)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$77,090 against $95,555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May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$891,920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64.0%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$570,900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$891,920 this financial year to date (Jul to May 2026). Training makes the highest gross margin (75.1%); Projects the lowest (61.7%). The business needs 93.0%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61.7% gross margin, 21.7 points over the 40.0% target ($119,872 ahead on $552,820 this financial year to date). Training: 75.1% gross margin, 35.1 points over the 40.0% target ($26,580 ahead on $75,800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against May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(27.1%)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$43,590 against $59,755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May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$552,820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61.7%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$341,000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 brought in $552,820 this financial year to date, at a 61.7% gross margin (below the 64.0%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61.7% gross margin, 21.7 points over the 40.0% target ($119,872 ahead on $552,820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Retainers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Retainers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against May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29.8%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$28,300 against $21,800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May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$263,300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65.7%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$173,000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 brought in $263,300 this financial year to date, at a 65.7% gross margin (above the 64.0%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Retainers: 65.7% gross margin, 25.7 points over the 40.0% target ($67,680 ahead on $263,300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against May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(62.9%)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$5,200 against $14,000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May 2026)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$75,800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75.1%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$56,900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 brought in $75,800 this financial year to date, at a 75.1% gross margin (above the 64.0%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Training: 75.1% gross margin, 35.1 points over the 40.0% target ($26,580 ahead on $75,800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type of work: financial year to date (Jul to May 2026) against the same period last year ·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Advisory Pty Ltd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May's client work made $49,410 gross margin (64.1%). Consultant time not charged to client work took $19,920 and overheads $51,750, leaving ($22,260) profit before tax ((28.9%) of revenue). To cover overheads, client work needs a 93.0%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$552,820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$341,000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$263,300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$173,000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65.7%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$75,800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$56,900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$891,920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$570,900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64.0%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growth-services.pptx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