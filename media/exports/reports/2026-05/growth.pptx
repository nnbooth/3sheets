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0"/>
  <c:chart>
    <c:autoTitleDeleted val="0"/>
    <c:plotArea>
      <c:layout/>
      <c:areaChart>
        <c:grouping val="standard"/>
        <c:varyColors val="0"/>
        <c:ser>
          <c:idx val="0"/>
          <c:order val="0"/>
          <c:tx>
            <c:strRef>
              <c:f>Sheet1!$B$1</c:f>
              <c:strCache>
                <c:ptCount val="1"/>
                <c:pt idx="0">
                  <c:v>Value</c:v>
                </c:pt>
              </c:strCache>
            </c:strRef>
          </c:tx>
          <c:spPr>
            <a:solidFill>
              <a:srgbClr val="0E9F6E">
                <a:alpha val="25000"/>
              </a:srgbClr>
            </a:solidFill>
            <a:ln w="31750">
              <a:solidFill>
                <a:srgbClr val="0E9F6E"/>
              </a:solidFill>
            </a:ln>
          </c:spPr>
          <c:cat>
            <c:strRef>
              <c:f>Sheet1!$A$2:$A$21</c:f>
              <c:strCache>
                <c:ptCount val="20"/>
                <c:pt idx="0">
                  <c:v>Oct 24</c:v>
                </c:pt>
                <c:pt idx="1">
                  <c:v>Nov 24</c:v>
                </c:pt>
                <c:pt idx="2">
                  <c:v>Dec 24</c:v>
                </c:pt>
                <c:pt idx="3">
                  <c:v>Jan 25</c:v>
                </c:pt>
                <c:pt idx="4">
                  <c:v>Feb 25</c:v>
                </c:pt>
                <c:pt idx="5">
                  <c:v>Mar 25</c:v>
                </c:pt>
                <c:pt idx="6">
                  <c:v>Apr 25</c:v>
                </c:pt>
                <c:pt idx="7">
                  <c:v>May 25</c:v>
                </c:pt>
                <c:pt idx="8">
                  <c:v>Jun 25</c:v>
                </c:pt>
                <c:pt idx="9">
                  <c:v>Jul 25</c:v>
                </c:pt>
                <c:pt idx="10">
                  <c:v>Aug 25</c:v>
                </c:pt>
                <c:pt idx="11">
                  <c:v>Sep 25</c:v>
                </c:pt>
                <c:pt idx="12">
                  <c:v>Oct 25</c:v>
                </c:pt>
                <c:pt idx="13">
                  <c:v>Nov 25</c:v>
                </c:pt>
                <c:pt idx="14">
                  <c:v>Dec 25</c:v>
                </c:pt>
                <c:pt idx="15">
                  <c:v>Jan 26</c:v>
                </c:pt>
                <c:pt idx="16">
                  <c:v>Feb 26</c:v>
                </c:pt>
                <c:pt idx="17">
                  <c:v>Mar 26</c:v>
                </c:pt>
                <c:pt idx="18">
                  <c:v>Apr 26</c:v>
                </c:pt>
                <c:pt idx="19">
                  <c:v>May 26</c:v>
                </c:pt>
              </c:strCache>
            </c:strRef>
          </c:cat>
          <c:val>
            <c:numRef>
              <c:f>Sheet1!$B$2:$B$21</c:f>
              <c:numCache>
                <c:formatCode>$#,##0;[Red]($#,##0);"-"</c:formatCode>
                <c:ptCount val="20"/>
                <c:pt idx="0">
                  <c:v>171009</c:v>
                </c:pt>
                <c:pt idx="1">
                  <c:v>179474</c:v>
                </c:pt>
                <c:pt idx="2">
                  <c:v>143156</c:v>
                </c:pt>
                <c:pt idx="3">
                  <c:v>140909</c:v>
                </c:pt>
                <c:pt idx="4">
                  <c:v>160943</c:v>
                </c:pt>
                <c:pt idx="5">
                  <c:v>135082</c:v>
                </c:pt>
                <c:pt idx="6">
                  <c:v>124705</c:v>
                </c:pt>
                <c:pt idx="7">
                  <c:v>129816</c:v>
                </c:pt>
                <c:pt idx="8">
                  <c:v>164113</c:v>
                </c:pt>
                <c:pt idx="9">
                  <c:v>186760</c:v>
                </c:pt>
                <c:pt idx="10">
                  <c:v>139164</c:v>
                </c:pt>
                <c:pt idx="11">
                  <c:v>128255</c:v>
                </c:pt>
                <c:pt idx="12">
                  <c:v>128898</c:v>
                </c:pt>
                <c:pt idx="13">
                  <c:v>174786</c:v>
                </c:pt>
                <c:pt idx="14">
                  <c:v>135079</c:v>
                </c:pt>
                <c:pt idx="15">
                  <c:v>164780</c:v>
                </c:pt>
                <c:pt idx="16">
                  <c:v>196372</c:v>
                </c:pt>
                <c:pt idx="17">
                  <c:v>191500</c:v>
                </c:pt>
                <c:pt idx="18">
                  <c:v>164987</c:v>
                </c:pt>
                <c:pt idx="19">
                  <c:v>161963</c:v>
                </c:pt>
              </c:numCache>
            </c:numRef>
          </c:val>
        </c:ser>
        <c:dLbls>
          <c:showLegendKey val="0"/>
          <c:showVal val="0"/>
          <c:showCatName val="0"/>
          <c:showSerName val="0"/>
          <c:showPercent val="0"/>
          <c:showBubbleSize val="0"/>
        </c:dLbls>
        <c:axId val="-2101159928"/>
        <c:axId val="-2100718248"/>
      </c:areaChart>
      <c:catAx>
        <c:axId val="-2101159928"/>
        <c:scaling>
          <c:orientation val="minMax"/>
        </c:scaling>
        <c:delete val="0"/>
        <c:axPos val="b"/>
        <c:numFmt formatCode="General" sourceLinked="1"/>
        <c:majorTickMark val="out"/>
        <c:minorTickMark val="none"/>
        <c:tickLblPos val="nextTo"/>
        <c:txPr>
          <a:bodyPr/>
          <a:lstStyle/>
          <a:p>
            <a:pPr>
              <a:defRPr sz="1000"/>
            </a:pPr>
          </a:p>
        </c:txPr>
        <c:crossAx val="-2100718248"/>
        <c:crosses val="autoZero"/>
        <c:auto val="1"/>
        <c:lblAlgn val="ctr"/>
        <c:lblOffset val="100"/>
        <c:noMultiLvlLbl val="0"/>
      </c:catAx>
      <c:valAx>
        <c:axId val="-2100718248"/>
        <c:scaling>
          <c:orientation val="minMax"/>
        </c:scaling>
        <c:delete val="0"/>
        <c:axPos val="l"/>
        <c:majorGridlines>
          <c:spPr>
            <a:ln>
              <a:solidFill>
                <a:srgbClr val="E6EAE7"/>
              </a:solidFill>
            </a:ln>
          </c:spPr>
        </c:majorGridlines>
        <c:numFmt formatCode="$#,##0;[Red]($#,##0);&quot;-&quot;" sourceLinked="0"/>
        <c:majorTickMark val="out"/>
        <c:minorTickMark val="none"/>
        <c:tickLblPos val="nextTo"/>
        <c:spPr>
          <a:ln>
            <a:noFill/>
          </a:ln>
        </c:spPr>
        <c:txPr>
          <a:bodyPr/>
          <a:lstStyle/>
          <a:p>
            <a:pPr>
              <a:defRPr sz="1000"/>
            </a:pPr>
          </a:p>
        </c:txPr>
        <c:crossAx val="-2101159928"/>
        <c:crosses val="autoZero"/>
        <c:crossBetween val="midCat"/>
      </c:valAx>
    </c:plotArea>
    <c:plotVisOnly val="1"/>
    <c:dispBlanksAs val="zero"/>
    <c:showDLblsOverMax val="0"/>
  </c:chart>
  <c:txPr>
    <a:bodyPr/>
    <a:lstStyle/>
    <a:p>
      <a:pPr>
        <a:defRPr sz="1800"/>
      </a:pPr>
      <a:endParaRPr/>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0"/>
  <c:chart>
    <c:autoTitleDeleted val="0"/>
    <c:plotArea>
      <c:layout/>
      <c:areaChart>
        <c:grouping val="standard"/>
        <c:varyColors val="0"/>
        <c:ser>
          <c:idx val="0"/>
          <c:order val="0"/>
          <c:tx>
            <c:strRef>
              <c:f>Sheet1!$B$1</c:f>
              <c:strCache>
                <c:ptCount val="1"/>
                <c:pt idx="0">
                  <c:v>Value</c:v>
                </c:pt>
              </c:strCache>
            </c:strRef>
          </c:tx>
          <c:spPr>
            <a:solidFill>
              <a:srgbClr val="0E9F6E">
                <a:alpha val="25000"/>
              </a:srgbClr>
            </a:solidFill>
            <a:ln w="31750">
              <a:solidFill>
                <a:srgbClr val="0E9F6E"/>
              </a:solidFill>
            </a:ln>
          </c:spPr>
          <c:cat>
            <c:strRef>
              <c:f>Sheet1!$A$2:$A$21</c:f>
              <c:strCache>
                <c:ptCount val="20"/>
                <c:pt idx="0">
                  <c:v>Oct 24</c:v>
                </c:pt>
                <c:pt idx="1">
                  <c:v>Nov 24</c:v>
                </c:pt>
                <c:pt idx="2">
                  <c:v>Dec 24</c:v>
                </c:pt>
                <c:pt idx="3">
                  <c:v>Jan 25</c:v>
                </c:pt>
                <c:pt idx="4">
                  <c:v>Feb 25</c:v>
                </c:pt>
                <c:pt idx="5">
                  <c:v>Mar 25</c:v>
                </c:pt>
                <c:pt idx="6">
                  <c:v>Apr 25</c:v>
                </c:pt>
                <c:pt idx="7">
                  <c:v>May 25</c:v>
                </c:pt>
                <c:pt idx="8">
                  <c:v>Jun 25</c:v>
                </c:pt>
                <c:pt idx="9">
                  <c:v>Jul 25</c:v>
                </c:pt>
                <c:pt idx="10">
                  <c:v>Aug 25</c:v>
                </c:pt>
                <c:pt idx="11">
                  <c:v>Sep 25</c:v>
                </c:pt>
                <c:pt idx="12">
                  <c:v>Oct 25</c:v>
                </c:pt>
                <c:pt idx="13">
                  <c:v>Nov 25</c:v>
                </c:pt>
                <c:pt idx="14">
                  <c:v>Dec 25</c:v>
                </c:pt>
                <c:pt idx="15">
                  <c:v>Jan 26</c:v>
                </c:pt>
                <c:pt idx="16">
                  <c:v>Feb 26</c:v>
                </c:pt>
                <c:pt idx="17">
                  <c:v>Mar 26</c:v>
                </c:pt>
                <c:pt idx="18">
                  <c:v>Apr 26</c:v>
                </c:pt>
                <c:pt idx="19">
                  <c:v>May 26</c:v>
                </c:pt>
              </c:strCache>
            </c:strRef>
          </c:cat>
          <c:val>
            <c:numRef>
              <c:f>Sheet1!$B$2:$B$21</c:f>
              <c:numCache>
                <c:formatCode>0.0"%";[Red](0.0"%")</c:formatCode>
                <c:ptCount val="20"/>
                <c:pt idx="0">
                  <c:v>33.1</c:v>
                </c:pt>
                <c:pt idx="1">
                  <c:v>37.0</c:v>
                </c:pt>
                <c:pt idx="2">
                  <c:v>40.4</c:v>
                </c:pt>
                <c:pt idx="3">
                  <c:v>42.7</c:v>
                </c:pt>
                <c:pt idx="4">
                  <c:v>36.4</c:v>
                </c:pt>
                <c:pt idx="5">
                  <c:v>36.5</c:v>
                </c:pt>
                <c:pt idx="6">
                  <c:v>38.4</c:v>
                </c:pt>
                <c:pt idx="7">
                  <c:v>35.5</c:v>
                </c:pt>
                <c:pt idx="8">
                  <c:v>40.5</c:v>
                </c:pt>
                <c:pt idx="9">
                  <c:v>35.6</c:v>
                </c:pt>
                <c:pt idx="10">
                  <c:v>43.8</c:v>
                </c:pt>
                <c:pt idx="11">
                  <c:v>37.6</c:v>
                </c:pt>
                <c:pt idx="12">
                  <c:v>38.4</c:v>
                </c:pt>
                <c:pt idx="13">
                  <c:v>33.7</c:v>
                </c:pt>
                <c:pt idx="14">
                  <c:v>37.4</c:v>
                </c:pt>
                <c:pt idx="15">
                  <c:v>35.3</c:v>
                </c:pt>
                <c:pt idx="16">
                  <c:v>38.6</c:v>
                </c:pt>
                <c:pt idx="17">
                  <c:v>35.6</c:v>
                </c:pt>
                <c:pt idx="18">
                  <c:v>41.7</c:v>
                </c:pt>
                <c:pt idx="19">
                  <c:v>39.0</c:v>
                </c:pt>
              </c:numCache>
            </c:numRef>
          </c:val>
        </c:ser>
        <c:dLbls>
          <c:showLegendKey val="0"/>
          <c:showVal val="0"/>
          <c:showCatName val="0"/>
          <c:showSerName val="0"/>
          <c:showPercent val="0"/>
          <c:showBubbleSize val="0"/>
        </c:dLbls>
        <c:axId val="-2101159928"/>
        <c:axId val="-2100718248"/>
      </c:areaChart>
      <c:catAx>
        <c:axId val="-2101159928"/>
        <c:scaling>
          <c:orientation val="minMax"/>
        </c:scaling>
        <c:delete val="0"/>
        <c:axPos val="b"/>
        <c:numFmt formatCode="General" sourceLinked="1"/>
        <c:majorTickMark val="out"/>
        <c:minorTickMark val="none"/>
        <c:tickLblPos val="nextTo"/>
        <c:txPr>
          <a:bodyPr/>
          <a:lstStyle/>
          <a:p>
            <a:pPr>
              <a:defRPr sz="1000"/>
            </a:pPr>
          </a:p>
        </c:txPr>
        <c:crossAx val="-2100718248"/>
        <c:crosses val="autoZero"/>
        <c:auto val="1"/>
        <c:lblAlgn val="ctr"/>
        <c:lblOffset val="100"/>
        <c:noMultiLvlLbl val="0"/>
      </c:catAx>
      <c:valAx>
        <c:axId val="-2100718248"/>
        <c:scaling>
          <c:orientation val="minMax"/>
        </c:scaling>
        <c:delete val="0"/>
        <c:axPos val="l"/>
        <c:majorGridlines>
          <c:spPr>
            <a:ln>
              <a:solidFill>
                <a:srgbClr val="E6EAE7"/>
              </a:solidFill>
            </a:ln>
          </c:spPr>
        </c:majorGridlines>
        <c:numFmt formatCode="0.0&quot;%&quot;;[Red](0.0&quot;%&quot;)" sourceLinked="0"/>
        <c:majorTickMark val="out"/>
        <c:minorTickMark val="none"/>
        <c:tickLblPos val="nextTo"/>
        <c:spPr>
          <a:ln>
            <a:noFill/>
          </a:ln>
        </c:spPr>
        <c:txPr>
          <a:bodyPr/>
          <a:lstStyle/>
          <a:p>
            <a:pPr>
              <a:defRPr sz="1000"/>
            </a:pPr>
          </a:p>
        </c:txPr>
        <c:crossAx val="-2101159928"/>
        <c:crosses val="autoZero"/>
        <c:crossBetween val="midCat"/>
      </c:valAx>
    </c:plotArea>
    <c:plotVisOnly val="1"/>
    <c:dispBlanksAs val="zero"/>
    <c:showDLblsOverMax val="0"/>
  </c:chart>
  <c:txPr>
    <a:bodyPr/>
    <a:lstStyle/>
    <a:p>
      <a:pPr>
        <a:defRPr sz="1800"/>
      </a:pPr>
      <a:endParaRPr/>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0"/>
  <c:chart>
    <c:autoTitleDeleted val="0"/>
    <c:plotArea>
      <c:layout/>
      <c:areaChart>
        <c:grouping val="standard"/>
        <c:varyColors val="0"/>
        <c:ser>
          <c:idx val="0"/>
          <c:order val="0"/>
          <c:tx>
            <c:strRef>
              <c:f>Sheet1!$B$1</c:f>
              <c:strCache>
                <c:ptCount val="1"/>
                <c:pt idx="0">
                  <c:v>Value</c:v>
                </c:pt>
              </c:strCache>
            </c:strRef>
          </c:tx>
          <c:spPr>
            <a:solidFill>
              <a:srgbClr val="0E9F6E">
                <a:alpha val="25000"/>
              </a:srgbClr>
            </a:solidFill>
            <a:ln w="31750">
              <a:solidFill>
                <a:srgbClr val="0E9F6E"/>
              </a:solidFill>
            </a:ln>
          </c:spPr>
          <c:cat>
            <c:strRef>
              <c:f>Sheet1!$A$2:$A$21</c:f>
              <c:strCache>
                <c:ptCount val="20"/>
                <c:pt idx="0">
                  <c:v>Oct 24</c:v>
                </c:pt>
                <c:pt idx="1">
                  <c:v>Nov 24</c:v>
                </c:pt>
                <c:pt idx="2">
                  <c:v>Dec 24</c:v>
                </c:pt>
                <c:pt idx="3">
                  <c:v>Jan 25</c:v>
                </c:pt>
                <c:pt idx="4">
                  <c:v>Feb 25</c:v>
                </c:pt>
                <c:pt idx="5">
                  <c:v>Mar 25</c:v>
                </c:pt>
                <c:pt idx="6">
                  <c:v>Apr 25</c:v>
                </c:pt>
                <c:pt idx="7">
                  <c:v>May 25</c:v>
                </c:pt>
                <c:pt idx="8">
                  <c:v>Jun 25</c:v>
                </c:pt>
                <c:pt idx="9">
                  <c:v>Jul 25</c:v>
                </c:pt>
                <c:pt idx="10">
                  <c:v>Aug 25</c:v>
                </c:pt>
                <c:pt idx="11">
                  <c:v>Sep 25</c:v>
                </c:pt>
                <c:pt idx="12">
                  <c:v>Oct 25</c:v>
                </c:pt>
                <c:pt idx="13">
                  <c:v>Nov 25</c:v>
                </c:pt>
                <c:pt idx="14">
                  <c:v>Dec 25</c:v>
                </c:pt>
                <c:pt idx="15">
                  <c:v>Jan 26</c:v>
                </c:pt>
                <c:pt idx="16">
                  <c:v>Feb 26</c:v>
                </c:pt>
                <c:pt idx="17">
                  <c:v>Mar 26</c:v>
                </c:pt>
                <c:pt idx="18">
                  <c:v>Apr 26</c:v>
                </c:pt>
                <c:pt idx="19">
                  <c:v>May 26</c:v>
                </c:pt>
              </c:strCache>
            </c:strRef>
          </c:cat>
          <c:val>
            <c:numRef>
              <c:f>Sheet1!$B$2:$B$21</c:f>
              <c:numCache>
                <c:formatCode>$#,##0;[Red]($#,##0);"-"</c:formatCode>
                <c:ptCount val="20"/>
                <c:pt idx="0">
                  <c:v>94520</c:v>
                </c:pt>
                <c:pt idx="1">
                  <c:v>108140</c:v>
                </c:pt>
                <c:pt idx="2">
                  <c:v>114895</c:v>
                </c:pt>
                <c:pt idx="3">
                  <c:v>88250</c:v>
                </c:pt>
                <c:pt idx="4">
                  <c:v>111010</c:v>
                </c:pt>
                <c:pt idx="5">
                  <c:v>77175</c:v>
                </c:pt>
                <c:pt idx="6">
                  <c:v>63970</c:v>
                </c:pt>
                <c:pt idx="7">
                  <c:v>95555</c:v>
                </c:pt>
                <c:pt idx="8">
                  <c:v>90220</c:v>
                </c:pt>
                <c:pt idx="9">
                  <c:v>86320</c:v>
                </c:pt>
                <c:pt idx="10">
                  <c:v>61475</c:v>
                </c:pt>
                <c:pt idx="11">
                  <c:v>59535</c:v>
                </c:pt>
                <c:pt idx="12">
                  <c:v>71260</c:v>
                </c:pt>
                <c:pt idx="13">
                  <c:v>83940</c:v>
                </c:pt>
                <c:pt idx="14">
                  <c:v>69420</c:v>
                </c:pt>
                <c:pt idx="15">
                  <c:v>92370</c:v>
                </c:pt>
                <c:pt idx="16">
                  <c:v>100055</c:v>
                </c:pt>
                <c:pt idx="17">
                  <c:v>109865</c:v>
                </c:pt>
                <c:pt idx="18">
                  <c:v>80590</c:v>
                </c:pt>
                <c:pt idx="19">
                  <c:v>77090</c:v>
                </c:pt>
              </c:numCache>
            </c:numRef>
          </c:val>
        </c:ser>
        <c:dLbls>
          <c:showLegendKey val="0"/>
          <c:showVal val="0"/>
          <c:showCatName val="0"/>
          <c:showSerName val="0"/>
          <c:showPercent val="0"/>
          <c:showBubbleSize val="0"/>
        </c:dLbls>
        <c:axId val="-2101159928"/>
        <c:axId val="-2100718248"/>
      </c:areaChart>
      <c:catAx>
        <c:axId val="-2101159928"/>
        <c:scaling>
          <c:orientation val="minMax"/>
        </c:scaling>
        <c:delete val="0"/>
        <c:axPos val="b"/>
        <c:numFmt formatCode="General" sourceLinked="1"/>
        <c:majorTickMark val="out"/>
        <c:minorTickMark val="none"/>
        <c:tickLblPos val="nextTo"/>
        <c:txPr>
          <a:bodyPr/>
          <a:lstStyle/>
          <a:p>
            <a:pPr>
              <a:defRPr sz="1000"/>
            </a:pPr>
          </a:p>
        </c:txPr>
        <c:crossAx val="-2100718248"/>
        <c:crosses val="autoZero"/>
        <c:auto val="1"/>
        <c:lblAlgn val="ctr"/>
        <c:lblOffset val="100"/>
        <c:noMultiLvlLbl val="0"/>
      </c:catAx>
      <c:valAx>
        <c:axId val="-2100718248"/>
        <c:scaling>
          <c:orientation val="minMax"/>
        </c:scaling>
        <c:delete val="0"/>
        <c:axPos val="l"/>
        <c:majorGridlines>
          <c:spPr>
            <a:ln>
              <a:solidFill>
                <a:srgbClr val="E6EAE7"/>
              </a:solidFill>
            </a:ln>
          </c:spPr>
        </c:majorGridlines>
        <c:numFmt formatCode="$#,##0;[Red]($#,##0);&quot;-&quot;" sourceLinked="0"/>
        <c:majorTickMark val="out"/>
        <c:minorTickMark val="none"/>
        <c:tickLblPos val="nextTo"/>
        <c:spPr>
          <a:ln>
            <a:noFill/>
          </a:ln>
        </c:spPr>
        <c:txPr>
          <a:bodyPr/>
          <a:lstStyle/>
          <a:p>
            <a:pPr>
              <a:defRPr sz="1000"/>
            </a:pPr>
          </a:p>
        </c:txPr>
        <c:crossAx val="-2101159928"/>
        <c:crosses val="autoZero"/>
        <c:crossBetween val="midCat"/>
      </c:valAx>
    </c:plotArea>
    <c:plotVisOnly val="1"/>
    <c:dispBlanksAs val="zero"/>
    <c:showDLblsOverMax val="0"/>
  </c:chart>
  <c:txPr>
    <a:bodyPr/>
    <a:lstStyle/>
    <a:p>
      <a:pPr>
        <a:defRPr sz="1800"/>
      </a:pPr>
      <a:endParaRPr/>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0"/>
  <c:chart>
    <c:autoTitleDeleted val="0"/>
    <c:plotArea>
      <c:layout/>
      <c:areaChart>
        <c:grouping val="standard"/>
        <c:varyColors val="0"/>
        <c:ser>
          <c:idx val="0"/>
          <c:order val="0"/>
          <c:tx>
            <c:strRef>
              <c:f>Sheet1!$B$1</c:f>
              <c:strCache>
                <c:ptCount val="1"/>
                <c:pt idx="0">
                  <c:v>Value</c:v>
                </c:pt>
              </c:strCache>
            </c:strRef>
          </c:tx>
          <c:spPr>
            <a:solidFill>
              <a:srgbClr val="0E9F6E">
                <a:alpha val="25000"/>
              </a:srgbClr>
            </a:solidFill>
            <a:ln w="31750">
              <a:solidFill>
                <a:srgbClr val="0E9F6E"/>
              </a:solidFill>
            </a:ln>
          </c:spPr>
          <c:cat>
            <c:strRef>
              <c:f>Sheet1!$A$2:$A$21</c:f>
              <c:strCache>
                <c:ptCount val="20"/>
                <c:pt idx="0">
                  <c:v>Oct 24</c:v>
                </c:pt>
                <c:pt idx="1">
                  <c:v>Nov 24</c:v>
                </c:pt>
                <c:pt idx="2">
                  <c:v>Dec 24</c:v>
                </c:pt>
                <c:pt idx="3">
                  <c:v>Jan 25</c:v>
                </c:pt>
                <c:pt idx="4">
                  <c:v>Feb 25</c:v>
                </c:pt>
                <c:pt idx="5">
                  <c:v>Mar 25</c:v>
                </c:pt>
                <c:pt idx="6">
                  <c:v>Apr 25</c:v>
                </c:pt>
                <c:pt idx="7">
                  <c:v>May 25</c:v>
                </c:pt>
                <c:pt idx="8">
                  <c:v>Jun 25</c:v>
                </c:pt>
                <c:pt idx="9">
                  <c:v>Jul 25</c:v>
                </c:pt>
                <c:pt idx="10">
                  <c:v>Aug 25</c:v>
                </c:pt>
                <c:pt idx="11">
                  <c:v>Sep 25</c:v>
                </c:pt>
                <c:pt idx="12">
                  <c:v>Oct 25</c:v>
                </c:pt>
                <c:pt idx="13">
                  <c:v>Nov 25</c:v>
                </c:pt>
                <c:pt idx="14">
                  <c:v>Dec 25</c:v>
                </c:pt>
                <c:pt idx="15">
                  <c:v>Jan 26</c:v>
                </c:pt>
                <c:pt idx="16">
                  <c:v>Feb 26</c:v>
                </c:pt>
                <c:pt idx="17">
                  <c:v>Mar 26</c:v>
                </c:pt>
                <c:pt idx="18">
                  <c:v>Apr 26</c:v>
                </c:pt>
                <c:pt idx="19">
                  <c:v>May 26</c:v>
                </c:pt>
              </c:strCache>
            </c:strRef>
          </c:cat>
          <c:val>
            <c:numRef>
              <c:f>Sheet1!$B$2:$B$21</c:f>
              <c:numCache>
                <c:formatCode>0.0"%";[Red](0.0"%")</c:formatCode>
                <c:ptCount val="20"/>
                <c:pt idx="0">
                  <c:v>62.6</c:v>
                </c:pt>
                <c:pt idx="1">
                  <c:v>63.0</c:v>
                </c:pt>
                <c:pt idx="2">
                  <c:v>62.6</c:v>
                </c:pt>
                <c:pt idx="3">
                  <c:v>62.3</c:v>
                </c:pt>
                <c:pt idx="4">
                  <c:v>61.4</c:v>
                </c:pt>
                <c:pt idx="5">
                  <c:v>58.6</c:v>
                </c:pt>
                <c:pt idx="6">
                  <c:v>60.1</c:v>
                </c:pt>
                <c:pt idx="7">
                  <c:v>62.2</c:v>
                </c:pt>
                <c:pt idx="8">
                  <c:v>60.8</c:v>
                </c:pt>
                <c:pt idx="9">
                  <c:v>62.0</c:v>
                </c:pt>
                <c:pt idx="10">
                  <c:v>65.3</c:v>
                </c:pt>
                <c:pt idx="11">
                  <c:v>65.9</c:v>
                </c:pt>
                <c:pt idx="12">
                  <c:v>64.2</c:v>
                </c:pt>
                <c:pt idx="13">
                  <c:v>62.9</c:v>
                </c:pt>
                <c:pt idx="14">
                  <c:v>64.7</c:v>
                </c:pt>
                <c:pt idx="15">
                  <c:v>64.8</c:v>
                </c:pt>
                <c:pt idx="16">
                  <c:v>63.4</c:v>
                </c:pt>
                <c:pt idx="17">
                  <c:v>62.9</c:v>
                </c:pt>
                <c:pt idx="18">
                  <c:v>65.4</c:v>
                </c:pt>
                <c:pt idx="19">
                  <c:v>64.1</c:v>
                </c:pt>
              </c:numCache>
            </c:numRef>
          </c:val>
        </c:ser>
        <c:dLbls>
          <c:showLegendKey val="0"/>
          <c:showVal val="0"/>
          <c:showCatName val="0"/>
          <c:showSerName val="0"/>
          <c:showPercent val="0"/>
          <c:showBubbleSize val="0"/>
        </c:dLbls>
        <c:axId val="-2101159928"/>
        <c:axId val="-2100718248"/>
      </c:areaChart>
      <c:catAx>
        <c:axId val="-2101159928"/>
        <c:scaling>
          <c:orientation val="minMax"/>
        </c:scaling>
        <c:delete val="0"/>
        <c:axPos val="b"/>
        <c:numFmt formatCode="General" sourceLinked="1"/>
        <c:majorTickMark val="out"/>
        <c:minorTickMark val="none"/>
        <c:tickLblPos val="nextTo"/>
        <c:txPr>
          <a:bodyPr/>
          <a:lstStyle/>
          <a:p>
            <a:pPr>
              <a:defRPr sz="1000"/>
            </a:pPr>
          </a:p>
        </c:txPr>
        <c:crossAx val="-2100718248"/>
        <c:crosses val="autoZero"/>
        <c:auto val="1"/>
        <c:lblAlgn val="ctr"/>
        <c:lblOffset val="100"/>
        <c:noMultiLvlLbl val="0"/>
      </c:catAx>
      <c:valAx>
        <c:axId val="-2100718248"/>
        <c:scaling>
          <c:orientation val="minMax"/>
        </c:scaling>
        <c:delete val="0"/>
        <c:axPos val="l"/>
        <c:majorGridlines>
          <c:spPr>
            <a:ln>
              <a:solidFill>
                <a:srgbClr val="E6EAE7"/>
              </a:solidFill>
            </a:ln>
          </c:spPr>
        </c:majorGridlines>
        <c:numFmt formatCode="0.0&quot;%&quot;;[Red](0.0&quot;%&quot;)" sourceLinked="0"/>
        <c:majorTickMark val="out"/>
        <c:minorTickMark val="none"/>
        <c:tickLblPos val="nextTo"/>
        <c:spPr>
          <a:ln>
            <a:noFill/>
          </a:ln>
        </c:spPr>
        <c:txPr>
          <a:bodyPr/>
          <a:lstStyle/>
          <a:p>
            <a:pPr>
              <a:defRPr sz="1000"/>
            </a:pPr>
          </a:p>
        </c:txPr>
        <c:crossAx val="-2101159928"/>
        <c:crosses val="autoZero"/>
        <c:crossBetween val="midCat"/>
      </c:valAx>
    </c:plotArea>
    <c:plotVisOnly val="1"/>
    <c:dispBlanksAs val="zero"/>
    <c:showDLblsOverMax val="0"/>
  </c:chart>
  <c:txPr>
    <a:bodyPr/>
    <a:lstStyle/>
    <a:p>
      <a:pPr>
        <a:defRPr sz="1800"/>
      </a:pPr>
      <a:endParaRPr/>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548640"/>
            <a:ext cx="640080" cy="640080"/>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r>
              <a:rPr sz="1600" b="1">
                <a:solidFill>
                  <a:srgbClr val="FFFFFF"/>
                </a:solidFill>
              </a:rPr>
              <a:t>4th</a:t>
            </a:r>
          </a:p>
        </p:txBody>
      </p:sp>
      <p:sp>
        <p:nvSpPr>
          <p:cNvPr id="3" name="TextBox 2"/>
          <p:cNvSpPr txBox="1"/>
          <p:nvPr/>
        </p:nvSpPr>
        <p:spPr>
          <a:xfrm>
            <a:off x="1234440" y="658368"/>
            <a:ext cx="5486400" cy="457200"/>
          </a:xfrm>
          <a:prstGeom prst="rect">
            <a:avLst/>
          </a:prstGeom>
          <a:noFill/>
        </p:spPr>
        <p:txBody>
          <a:bodyPr wrap="square">
            <a:spAutoFit/>
          </a:bodyPr>
          <a:lstStyle/>
          <a:p>
            <a:r>
              <a:rPr sz="1800" b="1">
                <a:solidFill>
                  <a:srgbClr val="25342A"/>
                </a:solidFill>
                <a:latin typeface="Arial"/>
              </a:rPr>
              <a:t>The 4th Sheet</a:t>
            </a:r>
          </a:p>
        </p:txBody>
      </p:sp>
      <p:sp>
        <p:nvSpPr>
          <p:cNvPr id="4" name="TextBox 3"/>
          <p:cNvSpPr txBox="1"/>
          <p:nvPr/>
        </p:nvSpPr>
        <p:spPr>
          <a:xfrm>
            <a:off x="457200" y="1554480"/>
            <a:ext cx="10972800" cy="365760"/>
          </a:xfrm>
          <a:prstGeom prst="rect">
            <a:avLst/>
          </a:prstGeom>
          <a:noFill/>
        </p:spPr>
        <p:txBody>
          <a:bodyPr wrap="square">
            <a:spAutoFit/>
          </a:bodyPr>
          <a:lstStyle/>
          <a:p>
            <a:r>
              <a:rPr sz="1100" b="1">
                <a:solidFill>
                  <a:srgbClr val="8A7A52"/>
                </a:solidFill>
                <a:latin typeface="Arial"/>
              </a:rPr>
              <a:t>SAMPLE DATA · invented figures for demonstration</a:t>
            </a:r>
          </a:p>
        </p:txBody>
      </p:sp>
      <p:sp>
        <p:nvSpPr>
          <p:cNvPr id="5" name="TextBox 4"/>
          <p:cNvSpPr txBox="1"/>
          <p:nvPr/>
        </p:nvSpPr>
        <p:spPr>
          <a:xfrm>
            <a:off x="457200" y="2011680"/>
            <a:ext cx="11247120" cy="1097280"/>
          </a:xfrm>
          <a:prstGeom prst="rect">
            <a:avLst/>
          </a:prstGeom>
          <a:noFill/>
        </p:spPr>
        <p:txBody>
          <a:bodyPr wrap="square">
            <a:spAutoFit/>
          </a:bodyPr>
          <a:lstStyle/>
          <a:p>
            <a:r>
              <a:rPr sz="3400" b="1">
                <a:solidFill>
                  <a:srgbClr val="25342A"/>
                </a:solidFill>
                <a:latin typeface="Arial"/>
              </a:rPr>
              <a:t>Which products and services are growing?</a:t>
            </a:r>
          </a:p>
        </p:txBody>
      </p:sp>
      <p:sp>
        <p:nvSpPr>
          <p:cNvPr id="6" name="TextBox 5"/>
          <p:cNvSpPr txBox="1"/>
          <p:nvPr/>
        </p:nvSpPr>
        <p:spPr>
          <a:xfrm>
            <a:off x="457200" y="3154680"/>
            <a:ext cx="11247120" cy="457200"/>
          </a:xfrm>
          <a:prstGeom prst="rect">
            <a:avLst/>
          </a:prstGeom>
          <a:noFill/>
        </p:spPr>
        <p:txBody>
          <a:bodyPr wrap="square">
            <a:spAutoFit/>
          </a:bodyPr>
          <a:lstStyle/>
          <a:p>
            <a:r>
              <a:rPr sz="1600" b="0">
                <a:solidFill>
                  <a:srgbClr val="5F6F63"/>
                </a:solidFill>
                <a:latin typeface="Arial"/>
              </a:rPr>
              <a:t>SME sample businesses</a:t>
            </a:r>
          </a:p>
        </p:txBody>
      </p:sp>
      <p:sp>
        <p:nvSpPr>
          <p:cNvPr id="7" name="TextBox 6"/>
          <p:cNvSpPr txBox="1"/>
          <p:nvPr/>
        </p:nvSpPr>
        <p:spPr>
          <a:xfrm>
            <a:off x="457200" y="3703320"/>
            <a:ext cx="11247120" cy="1097280"/>
          </a:xfrm>
          <a:prstGeom prst="rect">
            <a:avLst/>
          </a:prstGeom>
          <a:noFill/>
        </p:spPr>
        <p:txBody>
          <a:bodyPr wrap="square">
            <a:spAutoFit/>
          </a:bodyPr>
          <a:lstStyle/>
          <a:p>
            <a:r>
              <a:rPr sz="1400" b="0">
                <a:solidFill>
                  <a:srgbClr val="25342A"/>
                </a:solidFill>
                <a:latin typeface="Arial"/>
              </a:rPr>
              <a:t>Period: May 2026. Revenue, gross margin and growth (year on year) by product or service line over 24 months. Pick a line and every number, chart and note follows it.</a:t>
            </a:r>
          </a:p>
        </p:txBody>
      </p:sp>
      <p:sp>
        <p:nvSpPr>
          <p:cNvPr id="8" name="TextBox 7"/>
          <p:cNvSpPr txBox="1"/>
          <p:nvPr/>
        </p:nvSpPr>
        <p:spPr>
          <a:xfrm>
            <a:off x="457200" y="4937760"/>
            <a:ext cx="11247120" cy="1097280"/>
          </a:xfrm>
          <a:prstGeom prst="rect">
            <a:avLst/>
          </a:prstGeom>
          <a:noFill/>
        </p:spPr>
        <p:txBody>
          <a:bodyPr wrap="square">
            <a:spAutoFit/>
          </a:bodyPr>
          <a:lstStyle/>
          <a:p>
            <a:r>
              <a:rPr sz="1100" b="0">
                <a:solidFill>
                  <a:srgbClr val="5F6F63"/>
                </a:solidFill>
                <a:latin typeface="Arial"/>
              </a:rPr>
              <a:t>How final is this data?</a:t>
            </a:r>
          </a:p>
          <a:p>
            <a:r>
              <a:rPr sz="1100" b="0">
                <a:solidFill>
                  <a:srgbClr val="5F6F63"/>
                </a:solidFill>
                <a:latin typeface="Arial"/>
              </a:rPr>
              <a:t>April 2026: Locked. April 2026 is locked (closed 5 May 2026). These numbers won't change.</a:t>
            </a:r>
          </a:p>
          <a:p>
            <a:r>
              <a:rPr sz="1100" b="0">
                <a:solidFill>
                  <a:srgbClr val="5F6F63"/>
                </a:solidFill>
                <a:latin typeface="Arial"/>
              </a:rPr>
              <a:t>May 2026: Locked. May 2026 is locked (closed 2 Jun 2026). These numbers won't change.</a:t>
            </a:r>
          </a:p>
          <a:p>
            <a:r>
              <a:rPr sz="1100" b="0">
                <a:solidFill>
                  <a:srgbClr val="5F6F63"/>
                </a:solidFill>
                <a:latin typeface="Arial"/>
              </a:rPr>
              <a:t>October 2026: Incomplete. October 2026 is still in progress: figures to 6 Oct only.</a:t>
            </a:r>
          </a:p>
        </p:txBody>
      </p:sp>
      <p:sp>
        <p:nvSpPr>
          <p:cNvPr id="9" name="TextBox 8"/>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growth.pptx</a:t>
            </a:r>
          </a:p>
        </p:txBody>
      </p:sp>
      <p:sp>
        <p:nvSpPr>
          <p:cNvPr id="10" name="TextBox 9"/>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1" name="TextBox 10"/>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 of 27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Gross margin, not profit</a:t>
            </a:r>
          </a:p>
        </p:txBody>
      </p:sp>
      <p:sp>
        <p:nvSpPr>
          <p:cNvPr id="5" name="Rectangle 4"/>
          <p:cNvSpPr/>
          <p:nvPr/>
        </p:nvSpPr>
        <p:spPr>
          <a:xfrm>
            <a:off x="457200" y="1554480"/>
            <a:ext cx="11277295"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691640"/>
            <a:ext cx="10820095" cy="365760"/>
          </a:xfrm>
          <a:prstGeom prst="rect">
            <a:avLst/>
          </a:prstGeom>
          <a:noFill/>
        </p:spPr>
        <p:txBody>
          <a:bodyPr wrap="square">
            <a:spAutoFit/>
          </a:bodyPr>
          <a:lstStyle/>
          <a:p>
            <a:r>
              <a:rPr sz="1100" b="1">
                <a:solidFill>
                  <a:srgbClr val="5F6F63"/>
                </a:solidFill>
                <a:latin typeface="Arial"/>
              </a:rPr>
              <a:t>GROSS MARGIN, NOT PROFIT</a:t>
            </a:r>
          </a:p>
        </p:txBody>
      </p:sp>
      <p:sp>
        <p:nvSpPr>
          <p:cNvPr id="7" name="TextBox 6"/>
          <p:cNvSpPr txBox="1"/>
          <p:nvPr/>
        </p:nvSpPr>
        <p:spPr>
          <a:xfrm>
            <a:off x="685800" y="2103120"/>
            <a:ext cx="10820095" cy="3749039"/>
          </a:xfrm>
          <a:prstGeom prst="rect">
            <a:avLst/>
          </a:prstGeom>
          <a:noFill/>
        </p:spPr>
        <p:txBody>
          <a:bodyPr wrap="square">
            <a:spAutoFit/>
          </a:bodyPr>
          <a:lstStyle/>
          <a:p>
            <a:r>
              <a:rPr sz="1600" b="0">
                <a:solidFill>
                  <a:srgbClr val="25342A"/>
                </a:solidFill>
                <a:latin typeface="Arial"/>
              </a:rPr>
              <a:t>Gross margin is not profit. Job gross margin = revenue less materials, subcontractors and technician time charged to the job at $68 an hour (wages and all on-costs). Not included: technician time not charged to any job (travel, training, waiting), and overheads (office wages, marketing, vehicles, rent, insurance, IT, depreciation, interest). Profit is what's left after those. Wages always include all on-costs: super, payroll tax, workers' compensation insurance and leave.</a:t>
            </a:r>
          </a:p>
        </p:txBody>
      </p:sp>
      <p:sp>
        <p:nvSpPr>
          <p:cNvPr id="8" name="TextBox 7"/>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growth.pptx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2 of 27</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From gross margin to profit · Trades</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May's jobs made $63,105 gross margin (39.0%). Technician time not charged to jobs took $5,402 and overheads $59,270, leaving ($1,567) profit before tax ((1.0%) of revenue). To cover overheads, jobs need a 39.9% gross margin on average.</a:t>
            </a:r>
          </a:p>
        </p:txBody>
      </p:sp>
      <p:graphicFrame>
        <p:nvGraphicFramePr>
          <p:cNvPr id="6" name="Table 5"/>
          <p:cNvGraphicFramePr>
            <a:graphicFrameLocks noGrp="1"/>
          </p:cNvGraphicFramePr>
          <p:nvPr/>
        </p:nvGraphicFramePr>
        <p:xfrm>
          <a:off x="457200" y="1463040"/>
          <a:ext cx="11247120" cy="3950208"/>
        </p:xfrm>
        <a:graphic>
          <a:graphicData uri="http://schemas.openxmlformats.org/drawingml/2006/table">
            <a:tbl>
              <a:tblPr firstRow="1" bandRow="1">
                <a:tableStyleId>{5C22544A-7EE6-4342-B048-85BDC9FD1C3A}</a:tableStyleId>
              </a:tblPr>
              <a:tblGrid>
                <a:gridCol w="5623560"/>
                <a:gridCol w="5623560"/>
              </a:tblGrid>
              <a:tr h="329184">
                <a:tc>
                  <a:txBody>
                    <a:bodyPr/>
                    <a:lstStyle/>
                    <a:p/>
                  </a:txBody>
                  <a:tcPr>
                    <a:solidFill>
                      <a:srgbClr val="2F7A5D"/>
                    </a:solidFill>
                  </a:tcPr>
                </a:tc>
                <a:tc>
                  <a:txBody>
                    <a:bodyPr/>
                    <a:lstStyle/>
                    <a:p>
                      <a:pPr algn="r"/>
                      <a:r>
                        <a:rPr sz="1100" b="1">
                          <a:solidFill>
                            <a:srgbClr val="FFFFFF"/>
                          </a:solidFill>
                        </a:rPr>
                        <a:t>May 2026</a:t>
                      </a:r>
                    </a:p>
                  </a:txBody>
                  <a:tcPr>
                    <a:solidFill>
                      <a:srgbClr val="2F7A5D"/>
                    </a:solidFill>
                  </a:tcPr>
                </a:tc>
              </a:tr>
              <a:tr h="329184">
                <a:tc>
                  <a:txBody>
                    <a:bodyPr/>
                    <a:lstStyle/>
                    <a:p>
                      <a:r>
                        <a:rPr sz="1050">
                          <a:solidFill>
                            <a:srgbClr val="25342A"/>
                          </a:solidFill>
                        </a:rPr>
                        <a:t>Gross margin on jobs</a:t>
                      </a:r>
                    </a:p>
                  </a:txBody>
                  <a:tcPr>
                    <a:solidFill>
                      <a:srgbClr val="FFFFFF"/>
                    </a:solidFill>
                  </a:tcPr>
                </a:tc>
                <a:tc>
                  <a:txBody>
                    <a:bodyPr/>
                    <a:lstStyle/>
                    <a:p>
                      <a:pPr algn="r"/>
                      <a:r>
                        <a:rPr sz="1050">
                          <a:solidFill>
                            <a:srgbClr val="25342A"/>
                          </a:solidFill>
                        </a:rPr>
                        <a:t>$63,105</a:t>
                      </a:r>
                    </a:p>
                  </a:txBody>
                  <a:tcPr>
                    <a:solidFill>
                      <a:srgbClr val="FFFFFF"/>
                    </a:solidFill>
                  </a:tcPr>
                </a:tc>
              </a:tr>
              <a:tr h="329184">
                <a:tc>
                  <a:txBody>
                    <a:bodyPr/>
                    <a:lstStyle/>
                    <a:p>
                      <a:r>
                        <a:rPr sz="1050">
                          <a:solidFill>
                            <a:srgbClr val="25342A"/>
                          </a:solidFill>
                        </a:rPr>
                        <a:t>Technician wages and on-costs</a:t>
                      </a:r>
                    </a:p>
                  </a:txBody>
                  <a:tcPr>
                    <a:solidFill>
                      <a:srgbClr val="F7FAF7"/>
                    </a:solidFill>
                  </a:tcPr>
                </a:tc>
                <a:tc>
                  <a:txBody>
                    <a:bodyPr/>
                    <a:lstStyle/>
                    <a:p>
                      <a:pPr algn="r"/>
                      <a:r>
                        <a:rPr sz="1050">
                          <a:solidFill>
                            <a:srgbClr val="25342A"/>
                          </a:solidFill>
                        </a:rPr>
                        <a:t>$54,600</a:t>
                      </a:r>
                    </a:p>
                  </a:txBody>
                  <a:tcPr>
                    <a:solidFill>
                      <a:srgbClr val="F7FAF7"/>
                    </a:solidFill>
                  </a:tcPr>
                </a:tc>
              </a:tr>
              <a:tr h="329184">
                <a:tc>
                  <a:txBody>
                    <a:bodyPr/>
                    <a:lstStyle/>
                    <a:p>
                      <a:r>
                        <a:rPr sz="1050">
                          <a:solidFill>
                            <a:srgbClr val="25342A"/>
                          </a:solidFill>
                        </a:rPr>
                        <a:t>Technician time charged to jobs (at cost)</a:t>
                      </a:r>
                    </a:p>
                  </a:txBody>
                  <a:tcPr>
                    <a:solidFill>
                      <a:srgbClr val="FFFFFF"/>
                    </a:solidFill>
                  </a:tcPr>
                </a:tc>
                <a:tc>
                  <a:txBody>
                    <a:bodyPr/>
                    <a:lstStyle/>
                    <a:p>
                      <a:pPr algn="r"/>
                      <a:r>
                        <a:rPr sz="1050">
                          <a:solidFill>
                            <a:srgbClr val="25342A"/>
                          </a:solidFill>
                        </a:rPr>
                        <a:t>$49,198</a:t>
                      </a:r>
                    </a:p>
                  </a:txBody>
                  <a:tcPr>
                    <a:solidFill>
                      <a:srgbClr val="FFFFFF"/>
                    </a:solidFill>
                  </a:tcPr>
                </a:tc>
              </a:tr>
              <a:tr h="329184">
                <a:tc>
                  <a:txBody>
                    <a:bodyPr/>
                    <a:lstStyle/>
                    <a:p>
                      <a:r>
                        <a:rPr sz="1050">
                          <a:solidFill>
                            <a:srgbClr val="25342A"/>
                          </a:solidFill>
                        </a:rPr>
                        <a:t>Technician time not charged to jobs</a:t>
                      </a:r>
                    </a:p>
                  </a:txBody>
                  <a:tcPr>
                    <a:solidFill>
                      <a:srgbClr val="F7FAF7"/>
                    </a:solidFill>
                  </a:tcPr>
                </a:tc>
                <a:tc>
                  <a:txBody>
                    <a:bodyPr/>
                    <a:lstStyle/>
                    <a:p>
                      <a:pPr algn="r"/>
                      <a:r>
                        <a:rPr sz="1050">
                          <a:solidFill>
                            <a:srgbClr val="25342A"/>
                          </a:solidFill>
                        </a:rPr>
                        <a:t>$5,402</a:t>
                      </a:r>
                    </a:p>
                  </a:txBody>
                  <a:tcPr>
                    <a:solidFill>
                      <a:srgbClr val="F7FAF7"/>
                    </a:solidFill>
                  </a:tcPr>
                </a:tc>
              </a:tr>
              <a:tr h="329184">
                <a:tc>
                  <a:txBody>
                    <a:bodyPr/>
                    <a:lstStyle/>
                    <a:p>
                      <a:r>
                        <a:rPr sz="1050">
                          <a:solidFill>
                            <a:srgbClr val="25342A"/>
                          </a:solidFill>
                        </a:rPr>
                        <a:t>Gross profit (the P&amp;L)</a:t>
                      </a:r>
                    </a:p>
                  </a:txBody>
                  <a:tcPr>
                    <a:solidFill>
                      <a:srgbClr val="FFFFFF"/>
                    </a:solidFill>
                  </a:tcPr>
                </a:tc>
                <a:tc>
                  <a:txBody>
                    <a:bodyPr/>
                    <a:lstStyle/>
                    <a:p>
                      <a:pPr algn="r"/>
                      <a:r>
                        <a:rPr sz="1050">
                          <a:solidFill>
                            <a:srgbClr val="25342A"/>
                          </a:solidFill>
                        </a:rPr>
                        <a:t>$57,703</a:t>
                      </a:r>
                    </a:p>
                  </a:txBody>
                  <a:tcPr>
                    <a:solidFill>
                      <a:srgbClr val="FFFFFF"/>
                    </a:solidFill>
                  </a:tcPr>
                </a:tc>
              </a:tr>
              <a:tr h="329184">
                <a:tc>
                  <a:txBody>
                    <a:bodyPr/>
                    <a:lstStyle/>
                    <a:p>
                      <a:r>
                        <a:rPr sz="1050">
                          <a:solidFill>
                            <a:srgbClr val="25342A"/>
                          </a:solidFill>
                        </a:rPr>
                        <a:t>Overheads (operating expenses, depreciation, interest)</a:t>
                      </a:r>
                    </a:p>
                  </a:txBody>
                  <a:tcPr>
                    <a:solidFill>
                      <a:srgbClr val="F7FAF7"/>
                    </a:solidFill>
                  </a:tcPr>
                </a:tc>
                <a:tc>
                  <a:txBody>
                    <a:bodyPr/>
                    <a:lstStyle/>
                    <a:p>
                      <a:pPr algn="r"/>
                      <a:r>
                        <a:rPr sz="1050">
                          <a:solidFill>
                            <a:srgbClr val="25342A"/>
                          </a:solidFill>
                        </a:rPr>
                        <a:t>$59,270</a:t>
                      </a:r>
                    </a:p>
                  </a:txBody>
                  <a:tcPr>
                    <a:solidFill>
                      <a:srgbClr val="F7FAF7"/>
                    </a:solidFill>
                  </a:tcPr>
                </a:tc>
              </a:tr>
              <a:tr h="329184">
                <a:tc>
                  <a:txBody>
                    <a:bodyPr/>
                    <a:lstStyle/>
                    <a:p>
                      <a:r>
                        <a:rPr sz="1050">
                          <a:solidFill>
                            <a:srgbClr val="25342A"/>
                          </a:solidFill>
                        </a:rPr>
                        <a:t>Profit before tax (the P&amp;L)</a:t>
                      </a:r>
                    </a:p>
                  </a:txBody>
                  <a:tcPr>
                    <a:solidFill>
                      <a:srgbClr val="FFFFFF"/>
                    </a:solidFill>
                  </a:tcPr>
                </a:tc>
                <a:tc>
                  <a:txBody>
                    <a:bodyPr/>
                    <a:lstStyle/>
                    <a:p>
                      <a:pPr algn="r"/>
                      <a:r>
                        <a:rPr sz="1050">
                          <a:solidFill>
                            <a:srgbClr val="B42318"/>
                          </a:solidFill>
                        </a:rPr>
                        <a:t>($1,567)</a:t>
                      </a:r>
                    </a:p>
                  </a:txBody>
                  <a:tcPr>
                    <a:solidFill>
                      <a:srgbClr val="FFFFFF"/>
                    </a:solidFill>
                  </a:tcPr>
                </a:tc>
              </a:tr>
              <a:tr h="329184">
                <a:tc>
                  <a:txBody>
                    <a:bodyPr/>
                    <a:lstStyle/>
                    <a:p>
                      <a:r>
                        <a:rPr sz="1050">
                          <a:solidFill>
                            <a:srgbClr val="25342A"/>
                          </a:solidFill>
                        </a:rPr>
                        <a:t>Revenue</a:t>
                      </a:r>
                    </a:p>
                  </a:txBody>
                  <a:tcPr>
                    <a:solidFill>
                      <a:srgbClr val="F7FAF7"/>
                    </a:solidFill>
                  </a:tcPr>
                </a:tc>
                <a:tc>
                  <a:txBody>
                    <a:bodyPr/>
                    <a:lstStyle/>
                    <a:p>
                      <a:pPr algn="r"/>
                      <a:r>
                        <a:rPr sz="1050">
                          <a:solidFill>
                            <a:srgbClr val="25342A"/>
                          </a:solidFill>
                        </a:rPr>
                        <a:t>$161,963</a:t>
                      </a:r>
                    </a:p>
                  </a:txBody>
                  <a:tcPr>
                    <a:solidFill>
                      <a:srgbClr val="F7FAF7"/>
                    </a:solidFill>
                  </a:tcPr>
                </a:tc>
              </a:tr>
              <a:tr h="329184">
                <a:tc>
                  <a:txBody>
                    <a:bodyPr/>
                    <a:lstStyle/>
                    <a:p>
                      <a:r>
                        <a:rPr sz="1050">
                          <a:solidFill>
                            <a:srgbClr val="25342A"/>
                          </a:solidFill>
                        </a:rPr>
                        <a:t>Gross margin on jobs, %</a:t>
                      </a:r>
                    </a:p>
                  </a:txBody>
                  <a:tcPr>
                    <a:solidFill>
                      <a:srgbClr val="FFFFFF"/>
                    </a:solidFill>
                  </a:tcPr>
                </a:tc>
                <a:tc>
                  <a:txBody>
                    <a:bodyPr/>
                    <a:lstStyle/>
                    <a:p>
                      <a:pPr algn="r"/>
                      <a:r>
                        <a:rPr sz="1050">
                          <a:solidFill>
                            <a:srgbClr val="25342A"/>
                          </a:solidFill>
                        </a:rPr>
                        <a:t>39.0%</a:t>
                      </a:r>
                    </a:p>
                  </a:txBody>
                  <a:tcPr>
                    <a:solidFill>
                      <a:srgbClr val="FFFFFF"/>
                    </a:solidFill>
                  </a:tcPr>
                </a:tc>
              </a:tr>
              <a:tr h="329184">
                <a:tc>
                  <a:txBody>
                    <a:bodyPr/>
                    <a:lstStyle/>
                    <a:p>
                      <a:r>
                        <a:rPr sz="1050">
                          <a:solidFill>
                            <a:srgbClr val="25342A"/>
                          </a:solidFill>
                        </a:rPr>
                        <a:t>Profit before tax, % of revenue</a:t>
                      </a:r>
                    </a:p>
                  </a:txBody>
                  <a:tcPr>
                    <a:solidFill>
                      <a:srgbClr val="F7FAF7"/>
                    </a:solidFill>
                  </a:tcPr>
                </a:tc>
                <a:tc>
                  <a:txBody>
                    <a:bodyPr/>
                    <a:lstStyle/>
                    <a:p>
                      <a:pPr algn="r"/>
                      <a:r>
                        <a:rPr sz="1050">
                          <a:solidFill>
                            <a:srgbClr val="B42318"/>
                          </a:solidFill>
                        </a:rPr>
                        <a:t>(1.0%)</a:t>
                      </a:r>
                    </a:p>
                  </a:txBody>
                  <a:tcPr>
                    <a:solidFill>
                      <a:srgbClr val="F7FAF7"/>
                    </a:solidFill>
                  </a:tcPr>
                </a:tc>
              </a:tr>
              <a:tr h="329184">
                <a:tc>
                  <a:txBody>
                    <a:bodyPr/>
                    <a:lstStyle/>
                    <a:p>
                      <a:r>
                        <a:rPr sz="1050">
                          <a:solidFill>
                            <a:srgbClr val="25342A"/>
                          </a:solidFill>
                        </a:rPr>
                        <a:t>Gross margin jobs need just to cover overheads and time not charged</a:t>
                      </a:r>
                    </a:p>
                  </a:txBody>
                  <a:tcPr>
                    <a:solidFill>
                      <a:srgbClr val="FFFFFF"/>
                    </a:solidFill>
                  </a:tcPr>
                </a:tc>
                <a:tc>
                  <a:txBody>
                    <a:bodyPr/>
                    <a:lstStyle/>
                    <a:p>
                      <a:pPr algn="r"/>
                      <a:r>
                        <a:rPr sz="1050">
                          <a:solidFill>
                            <a:srgbClr val="25342A"/>
                          </a:solidFill>
                        </a:rPr>
                        <a:t>39.9%</a:t>
                      </a:r>
                    </a:p>
                  </a:txBody>
                  <a:tcPr>
                    <a:solidFill>
                      <a:srgbClr val="FFFFFF"/>
                    </a:solidFill>
                  </a:tcPr>
                </a:tc>
              </a:tr>
            </a:tbl>
          </a:graphicData>
        </a:graphic>
      </p:graphicFrame>
      <p:sp>
        <p:nvSpPr>
          <p:cNvPr id="7" name="TextBox 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growth.pptx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3 of 27</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Headline numbers · Trades · Line: All</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783080"/>
            <a:ext cx="3210458" cy="457200"/>
          </a:xfrm>
          <a:prstGeom prst="rect">
            <a:avLst/>
          </a:prstGeom>
          <a:noFill/>
        </p:spPr>
        <p:txBody>
          <a:bodyPr wrap="square">
            <a:spAutoFit/>
          </a:bodyPr>
          <a:lstStyle/>
          <a:p>
            <a:r>
              <a:rPr sz="1200" b="0">
                <a:solidFill>
                  <a:srgbClr val="5F6F63"/>
                </a:solidFill>
                <a:latin typeface="Arial"/>
              </a:rPr>
              <a:t>May against May last year</a:t>
            </a:r>
          </a:p>
        </p:txBody>
      </p:sp>
      <p:sp>
        <p:nvSpPr>
          <p:cNvPr id="7" name="TextBox 6"/>
          <p:cNvSpPr txBox="1"/>
          <p:nvPr/>
        </p:nvSpPr>
        <p:spPr>
          <a:xfrm>
            <a:off x="640080" y="2240280"/>
            <a:ext cx="3210458" cy="731520"/>
          </a:xfrm>
          <a:prstGeom prst="rect">
            <a:avLst/>
          </a:prstGeom>
          <a:noFill/>
        </p:spPr>
        <p:txBody>
          <a:bodyPr wrap="square">
            <a:spAutoFit/>
          </a:bodyPr>
          <a:lstStyle/>
          <a:p>
            <a:r>
              <a:rPr sz="3000" b="1">
                <a:solidFill>
                  <a:srgbClr val="2F7A5D"/>
                </a:solidFill>
                <a:latin typeface="Arial"/>
              </a:rPr>
              <a:t>24.8%</a:t>
            </a:r>
          </a:p>
        </p:txBody>
      </p:sp>
      <p:sp>
        <p:nvSpPr>
          <p:cNvPr id="8" name="TextBox 7"/>
          <p:cNvSpPr txBox="1"/>
          <p:nvPr/>
        </p:nvSpPr>
        <p:spPr>
          <a:xfrm>
            <a:off x="640080" y="3017520"/>
            <a:ext cx="3210458" cy="548640"/>
          </a:xfrm>
          <a:prstGeom prst="rect">
            <a:avLst/>
          </a:prstGeom>
          <a:noFill/>
        </p:spPr>
        <p:txBody>
          <a:bodyPr wrap="square">
            <a:spAutoFit/>
          </a:bodyPr>
          <a:lstStyle/>
          <a:p>
            <a:r>
              <a:rPr sz="1100" b="0">
                <a:solidFill>
                  <a:srgbClr val="5F6F63"/>
                </a:solidFill>
                <a:latin typeface="Arial"/>
              </a:rPr>
              <a:t>$161,963 against $129,816</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490618" y="1783080"/>
            <a:ext cx="3210458" cy="457200"/>
          </a:xfrm>
          <a:prstGeom prst="rect">
            <a:avLst/>
          </a:prstGeom>
          <a:noFill/>
        </p:spPr>
        <p:txBody>
          <a:bodyPr wrap="square">
            <a:spAutoFit/>
          </a:bodyPr>
          <a:lstStyle/>
          <a:p>
            <a:r>
              <a:rPr sz="1200" b="0">
                <a:solidFill>
                  <a:srgbClr val="5F6F63"/>
                </a:solidFill>
                <a:latin typeface="Arial"/>
              </a:rPr>
              <a:t>Year to date (Jul to May 2026)</a:t>
            </a:r>
          </a:p>
        </p:txBody>
      </p:sp>
      <p:sp>
        <p:nvSpPr>
          <p:cNvPr id="11" name="TextBox 10"/>
          <p:cNvSpPr txBox="1"/>
          <p:nvPr/>
        </p:nvSpPr>
        <p:spPr>
          <a:xfrm>
            <a:off x="4490618" y="2240280"/>
            <a:ext cx="3210458" cy="731520"/>
          </a:xfrm>
          <a:prstGeom prst="rect">
            <a:avLst/>
          </a:prstGeom>
          <a:noFill/>
        </p:spPr>
        <p:txBody>
          <a:bodyPr wrap="square">
            <a:spAutoFit/>
          </a:bodyPr>
          <a:lstStyle/>
          <a:p>
            <a:r>
              <a:rPr sz="3000" b="1">
                <a:solidFill>
                  <a:srgbClr val="2F7A5D"/>
                </a:solidFill>
                <a:latin typeface="Arial"/>
              </a:rPr>
              <a:t>$1,772,544</a:t>
            </a:r>
          </a:p>
        </p:txBody>
      </p:sp>
      <p:sp>
        <p:nvSpPr>
          <p:cNvPr id="12" name="TextBox 11"/>
          <p:cNvSpPr txBox="1"/>
          <p:nvPr/>
        </p:nvSpPr>
        <p:spPr>
          <a:xfrm>
            <a:off x="4490618" y="3017520"/>
            <a:ext cx="3210458" cy="548640"/>
          </a:xfrm>
          <a:prstGeom prst="rect">
            <a:avLst/>
          </a:prstGeom>
          <a:noFill/>
        </p:spPr>
        <p:txBody>
          <a:bodyPr wrap="square">
            <a:spAutoFit/>
          </a:bodyPr>
          <a:lstStyle/>
          <a:p>
            <a:r>
              <a:rPr sz="1100" b="0">
                <a:solidFill>
                  <a:srgbClr val="5F6F63"/>
                </a:solidFill>
                <a:latin typeface="Arial"/>
              </a:rPr>
              <a:t>same period last year: not in the data</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341156" y="1783080"/>
            <a:ext cx="3210458" cy="457200"/>
          </a:xfrm>
          <a:prstGeom prst="rect">
            <a:avLst/>
          </a:prstGeom>
          <a:noFill/>
        </p:spPr>
        <p:txBody>
          <a:bodyPr wrap="square">
            <a:spAutoFit/>
          </a:bodyPr>
          <a:lstStyle/>
          <a:p>
            <a:r>
              <a:rPr sz="1200" b="0">
                <a:solidFill>
                  <a:srgbClr val="5F6F63"/>
                </a:solidFill>
                <a:latin typeface="Arial"/>
              </a:rPr>
              <a:t>Gross margin, year to date</a:t>
            </a:r>
          </a:p>
        </p:txBody>
      </p:sp>
      <p:sp>
        <p:nvSpPr>
          <p:cNvPr id="15" name="TextBox 14"/>
          <p:cNvSpPr txBox="1"/>
          <p:nvPr/>
        </p:nvSpPr>
        <p:spPr>
          <a:xfrm>
            <a:off x="8341156" y="2240280"/>
            <a:ext cx="3210458" cy="731520"/>
          </a:xfrm>
          <a:prstGeom prst="rect">
            <a:avLst/>
          </a:prstGeom>
          <a:noFill/>
        </p:spPr>
        <p:txBody>
          <a:bodyPr wrap="square">
            <a:spAutoFit/>
          </a:bodyPr>
          <a:lstStyle/>
          <a:p>
            <a:r>
              <a:rPr sz="3000" b="1">
                <a:solidFill>
                  <a:srgbClr val="2F7A5D"/>
                </a:solidFill>
                <a:latin typeface="Arial"/>
              </a:rPr>
              <a:t>37.7%</a:t>
            </a:r>
          </a:p>
        </p:txBody>
      </p:sp>
      <p:sp>
        <p:nvSpPr>
          <p:cNvPr id="16" name="TextBox 15"/>
          <p:cNvSpPr txBox="1"/>
          <p:nvPr/>
        </p:nvSpPr>
        <p:spPr>
          <a:xfrm>
            <a:off x="8341156" y="3017520"/>
            <a:ext cx="3210458" cy="548640"/>
          </a:xfrm>
          <a:prstGeom prst="rect">
            <a:avLst/>
          </a:prstGeom>
          <a:noFill/>
        </p:spPr>
        <p:txBody>
          <a:bodyPr wrap="square">
            <a:spAutoFit/>
          </a:bodyPr>
          <a:lstStyle/>
          <a:p>
            <a:r>
              <a:rPr sz="1100" b="0">
                <a:solidFill>
                  <a:srgbClr val="5F6F63"/>
                </a:solidFill>
                <a:latin typeface="Arial"/>
              </a:rPr>
              <a:t>$668,290 before overheads</a:t>
            </a:r>
          </a:p>
        </p:txBody>
      </p:sp>
      <p:sp>
        <p:nvSpPr>
          <p:cNvPr id="17" name="TextBox 1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growth.pptx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4 of 27</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What it shows · Trades · Line: All</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691640"/>
            <a:ext cx="5044287" cy="365760"/>
          </a:xfrm>
          <a:prstGeom prst="rect">
            <a:avLst/>
          </a:prstGeom>
          <a:noFill/>
        </p:spPr>
        <p:txBody>
          <a:bodyPr wrap="square">
            <a:spAutoFit/>
          </a:bodyPr>
          <a:lstStyle/>
          <a:p>
            <a:r>
              <a:rPr sz="1100" b="1">
                <a:solidFill>
                  <a:srgbClr val="5F6F63"/>
                </a:solidFill>
                <a:latin typeface="Arial"/>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r>
              <a:rPr sz="1600" b="0">
                <a:solidFill>
                  <a:srgbClr val="25342A"/>
                </a:solidFill>
                <a:latin typeface="Arial"/>
              </a:rPr>
              <a:t>Revenue is $1,772,544 this financial year to date (Jul to May 2026). Maintenance contracts make the highest gross margin (59.5%); Installations the lowest (28.4%). The business needs 39.9% gross margin just to cover overheads.</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61607" y="1691640"/>
            <a:ext cx="5044287" cy="365760"/>
          </a:xfrm>
          <a:prstGeom prst="rect">
            <a:avLst/>
          </a:prstGeom>
          <a:noFill/>
        </p:spPr>
        <p:txBody>
          <a:bodyPr wrap="square">
            <a:spAutoFit/>
          </a:bodyPr>
          <a:lstStyle/>
          <a:p>
            <a:r>
              <a:rPr sz="1100" b="1">
                <a:solidFill>
                  <a:srgbClr val="5F6F63"/>
                </a:solidFill>
                <a:latin typeface="Arial"/>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r>
              <a:rPr sz="1600" b="0">
                <a:solidFill>
                  <a:srgbClr val="25342A"/>
                </a:solidFill>
                <a:latin typeface="Arial"/>
              </a:rPr>
              <a:t>Maintenance contracts: 59.5% gross margin, the most profitable work you do. Installations: 28.4% gross margin, below the 39.9% needed to cover overheads.</a:t>
            </a:r>
          </a:p>
        </p:txBody>
      </p:sp>
      <p:sp>
        <p:nvSpPr>
          <p:cNvPr id="11" name="TextBox 10"/>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growth.pptx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5 of 27</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Headline numbers · Trades · Line: Maintenance contracts</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783080"/>
            <a:ext cx="3210458" cy="457200"/>
          </a:xfrm>
          <a:prstGeom prst="rect">
            <a:avLst/>
          </a:prstGeom>
          <a:noFill/>
        </p:spPr>
        <p:txBody>
          <a:bodyPr wrap="square">
            <a:spAutoFit/>
          </a:bodyPr>
          <a:lstStyle/>
          <a:p>
            <a:r>
              <a:rPr sz="1200" b="0">
                <a:solidFill>
                  <a:srgbClr val="5F6F63"/>
                </a:solidFill>
                <a:latin typeface="Arial"/>
              </a:rPr>
              <a:t>May against May last year</a:t>
            </a:r>
          </a:p>
        </p:txBody>
      </p:sp>
      <p:sp>
        <p:nvSpPr>
          <p:cNvPr id="7" name="TextBox 6"/>
          <p:cNvSpPr txBox="1"/>
          <p:nvPr/>
        </p:nvSpPr>
        <p:spPr>
          <a:xfrm>
            <a:off x="640080" y="2240280"/>
            <a:ext cx="3210458" cy="731520"/>
          </a:xfrm>
          <a:prstGeom prst="rect">
            <a:avLst/>
          </a:prstGeom>
          <a:noFill/>
        </p:spPr>
        <p:txBody>
          <a:bodyPr wrap="square">
            <a:spAutoFit/>
          </a:bodyPr>
          <a:lstStyle/>
          <a:p>
            <a:r>
              <a:rPr sz="3000" b="1">
                <a:solidFill>
                  <a:srgbClr val="2F7A5D"/>
                </a:solidFill>
                <a:latin typeface="Arial"/>
              </a:rPr>
              <a:t>45.0%</a:t>
            </a:r>
          </a:p>
        </p:txBody>
      </p:sp>
      <p:sp>
        <p:nvSpPr>
          <p:cNvPr id="8" name="TextBox 7"/>
          <p:cNvSpPr txBox="1"/>
          <p:nvPr/>
        </p:nvSpPr>
        <p:spPr>
          <a:xfrm>
            <a:off x="640080" y="3017520"/>
            <a:ext cx="3210458" cy="548640"/>
          </a:xfrm>
          <a:prstGeom prst="rect">
            <a:avLst/>
          </a:prstGeom>
          <a:noFill/>
        </p:spPr>
        <p:txBody>
          <a:bodyPr wrap="square">
            <a:spAutoFit/>
          </a:bodyPr>
          <a:lstStyle/>
          <a:p>
            <a:r>
              <a:rPr sz="1100" b="0">
                <a:solidFill>
                  <a:srgbClr val="5F6F63"/>
                </a:solidFill>
                <a:latin typeface="Arial"/>
              </a:rPr>
              <a:t>$40,500 against $27,930</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490618" y="1783080"/>
            <a:ext cx="3210458" cy="457200"/>
          </a:xfrm>
          <a:prstGeom prst="rect">
            <a:avLst/>
          </a:prstGeom>
          <a:noFill/>
        </p:spPr>
        <p:txBody>
          <a:bodyPr wrap="square">
            <a:spAutoFit/>
          </a:bodyPr>
          <a:lstStyle/>
          <a:p>
            <a:r>
              <a:rPr sz="1200" b="0">
                <a:solidFill>
                  <a:srgbClr val="5F6F63"/>
                </a:solidFill>
                <a:latin typeface="Arial"/>
              </a:rPr>
              <a:t>Year to date (Jul to May 2026)</a:t>
            </a:r>
          </a:p>
        </p:txBody>
      </p:sp>
      <p:sp>
        <p:nvSpPr>
          <p:cNvPr id="11" name="TextBox 10"/>
          <p:cNvSpPr txBox="1"/>
          <p:nvPr/>
        </p:nvSpPr>
        <p:spPr>
          <a:xfrm>
            <a:off x="4490618" y="2240280"/>
            <a:ext cx="3210458" cy="731520"/>
          </a:xfrm>
          <a:prstGeom prst="rect">
            <a:avLst/>
          </a:prstGeom>
          <a:noFill/>
        </p:spPr>
        <p:txBody>
          <a:bodyPr wrap="square">
            <a:spAutoFit/>
          </a:bodyPr>
          <a:lstStyle/>
          <a:p>
            <a:r>
              <a:rPr sz="3000" b="1">
                <a:solidFill>
                  <a:srgbClr val="2F7A5D"/>
                </a:solidFill>
                <a:latin typeface="Arial"/>
              </a:rPr>
              <a:t>$395,800</a:t>
            </a:r>
          </a:p>
        </p:txBody>
      </p:sp>
      <p:sp>
        <p:nvSpPr>
          <p:cNvPr id="12" name="TextBox 11"/>
          <p:cNvSpPr txBox="1"/>
          <p:nvPr/>
        </p:nvSpPr>
        <p:spPr>
          <a:xfrm>
            <a:off x="4490618" y="3017520"/>
            <a:ext cx="3210458" cy="548640"/>
          </a:xfrm>
          <a:prstGeom prst="rect">
            <a:avLst/>
          </a:prstGeom>
          <a:noFill/>
        </p:spPr>
        <p:txBody>
          <a:bodyPr wrap="square">
            <a:spAutoFit/>
          </a:bodyPr>
          <a:lstStyle/>
          <a:p>
            <a:r>
              <a:rPr sz="1100" b="0">
                <a:solidFill>
                  <a:srgbClr val="5F6F63"/>
                </a:solidFill>
                <a:latin typeface="Arial"/>
              </a:rPr>
              <a:t>same period last year: not in the data</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341156" y="1783080"/>
            <a:ext cx="3210458" cy="457200"/>
          </a:xfrm>
          <a:prstGeom prst="rect">
            <a:avLst/>
          </a:prstGeom>
          <a:noFill/>
        </p:spPr>
        <p:txBody>
          <a:bodyPr wrap="square">
            <a:spAutoFit/>
          </a:bodyPr>
          <a:lstStyle/>
          <a:p>
            <a:r>
              <a:rPr sz="1200" b="0">
                <a:solidFill>
                  <a:srgbClr val="5F6F63"/>
                </a:solidFill>
                <a:latin typeface="Arial"/>
              </a:rPr>
              <a:t>Gross margin, year to date</a:t>
            </a:r>
          </a:p>
        </p:txBody>
      </p:sp>
      <p:sp>
        <p:nvSpPr>
          <p:cNvPr id="15" name="TextBox 14"/>
          <p:cNvSpPr txBox="1"/>
          <p:nvPr/>
        </p:nvSpPr>
        <p:spPr>
          <a:xfrm>
            <a:off x="8341156" y="2240280"/>
            <a:ext cx="3210458" cy="731520"/>
          </a:xfrm>
          <a:prstGeom prst="rect">
            <a:avLst/>
          </a:prstGeom>
          <a:noFill/>
        </p:spPr>
        <p:txBody>
          <a:bodyPr wrap="square">
            <a:spAutoFit/>
          </a:bodyPr>
          <a:lstStyle/>
          <a:p>
            <a:r>
              <a:rPr sz="3000" b="1">
                <a:solidFill>
                  <a:srgbClr val="2F7A5D"/>
                </a:solidFill>
                <a:latin typeface="Arial"/>
              </a:rPr>
              <a:t>59.5%</a:t>
            </a:r>
          </a:p>
        </p:txBody>
      </p:sp>
      <p:sp>
        <p:nvSpPr>
          <p:cNvPr id="16" name="TextBox 15"/>
          <p:cNvSpPr txBox="1"/>
          <p:nvPr/>
        </p:nvSpPr>
        <p:spPr>
          <a:xfrm>
            <a:off x="8341156" y="3017520"/>
            <a:ext cx="3210458" cy="548640"/>
          </a:xfrm>
          <a:prstGeom prst="rect">
            <a:avLst/>
          </a:prstGeom>
          <a:noFill/>
        </p:spPr>
        <p:txBody>
          <a:bodyPr wrap="square">
            <a:spAutoFit/>
          </a:bodyPr>
          <a:lstStyle/>
          <a:p>
            <a:r>
              <a:rPr sz="1100" b="0">
                <a:solidFill>
                  <a:srgbClr val="5F6F63"/>
                </a:solidFill>
                <a:latin typeface="Arial"/>
              </a:rPr>
              <a:t>$235,540 before overheads</a:t>
            </a:r>
          </a:p>
        </p:txBody>
      </p:sp>
      <p:sp>
        <p:nvSpPr>
          <p:cNvPr id="17" name="TextBox 1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growth.pptx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6 of 27</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What it shows · Trades · Line: Maintenance contracts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691640"/>
            <a:ext cx="5044287" cy="365760"/>
          </a:xfrm>
          <a:prstGeom prst="rect">
            <a:avLst/>
          </a:prstGeom>
          <a:noFill/>
        </p:spPr>
        <p:txBody>
          <a:bodyPr wrap="square">
            <a:spAutoFit/>
          </a:bodyPr>
          <a:lstStyle/>
          <a:p>
            <a:r>
              <a:rPr sz="1100" b="1">
                <a:solidFill>
                  <a:srgbClr val="5F6F63"/>
                </a:solidFill>
                <a:latin typeface="Arial"/>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r>
              <a:rPr sz="1600" b="0">
                <a:solidFill>
                  <a:srgbClr val="25342A"/>
                </a:solidFill>
                <a:latin typeface="Arial"/>
              </a:rPr>
              <a:t>Maintenance contracts brought in $395,800 this financial year to date, at a 59.5% gross margin (above the 37.7% overall).</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61607" y="1691640"/>
            <a:ext cx="5044287" cy="365760"/>
          </a:xfrm>
          <a:prstGeom prst="rect">
            <a:avLst/>
          </a:prstGeom>
          <a:noFill/>
        </p:spPr>
        <p:txBody>
          <a:bodyPr wrap="square">
            <a:spAutoFit/>
          </a:bodyPr>
          <a:lstStyle/>
          <a:p>
            <a:r>
              <a:rPr sz="1100" b="1">
                <a:solidFill>
                  <a:srgbClr val="5F6F63"/>
                </a:solidFill>
                <a:latin typeface="Arial"/>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r>
              <a:rPr sz="1600" b="0">
                <a:solidFill>
                  <a:srgbClr val="25342A"/>
                </a:solidFill>
                <a:latin typeface="Arial"/>
              </a:rPr>
              <a:t>Maintenance contracts: 59.5% gross margin, 19.6 points clear of the 39.9% overheads need.</a:t>
            </a:r>
          </a:p>
        </p:txBody>
      </p:sp>
      <p:sp>
        <p:nvSpPr>
          <p:cNvPr id="11" name="TextBox 10"/>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growth.pptx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7 of 27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Headline numbers · Trades · Line: Installations</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783080"/>
            <a:ext cx="3210458" cy="457200"/>
          </a:xfrm>
          <a:prstGeom prst="rect">
            <a:avLst/>
          </a:prstGeom>
          <a:noFill/>
        </p:spPr>
        <p:txBody>
          <a:bodyPr wrap="square">
            <a:spAutoFit/>
          </a:bodyPr>
          <a:lstStyle/>
          <a:p>
            <a:r>
              <a:rPr sz="1200" b="0">
                <a:solidFill>
                  <a:srgbClr val="5F6F63"/>
                </a:solidFill>
                <a:latin typeface="Arial"/>
              </a:rPr>
              <a:t>May against May last year</a:t>
            </a:r>
          </a:p>
        </p:txBody>
      </p:sp>
      <p:sp>
        <p:nvSpPr>
          <p:cNvPr id="7" name="TextBox 6"/>
          <p:cNvSpPr txBox="1"/>
          <p:nvPr/>
        </p:nvSpPr>
        <p:spPr>
          <a:xfrm>
            <a:off x="640080" y="2240280"/>
            <a:ext cx="3210458" cy="731520"/>
          </a:xfrm>
          <a:prstGeom prst="rect">
            <a:avLst/>
          </a:prstGeom>
          <a:noFill/>
        </p:spPr>
        <p:txBody>
          <a:bodyPr wrap="square">
            <a:spAutoFit/>
          </a:bodyPr>
          <a:lstStyle/>
          <a:p>
            <a:r>
              <a:rPr sz="3000" b="1">
                <a:solidFill>
                  <a:srgbClr val="2F7A5D"/>
                </a:solidFill>
                <a:latin typeface="Arial"/>
              </a:rPr>
              <a:t>15.1%</a:t>
            </a:r>
          </a:p>
        </p:txBody>
      </p:sp>
      <p:sp>
        <p:nvSpPr>
          <p:cNvPr id="8" name="TextBox 7"/>
          <p:cNvSpPr txBox="1"/>
          <p:nvPr/>
        </p:nvSpPr>
        <p:spPr>
          <a:xfrm>
            <a:off x="640080" y="3017520"/>
            <a:ext cx="3210458" cy="548640"/>
          </a:xfrm>
          <a:prstGeom prst="rect">
            <a:avLst/>
          </a:prstGeom>
          <a:noFill/>
        </p:spPr>
        <p:txBody>
          <a:bodyPr wrap="square">
            <a:spAutoFit/>
          </a:bodyPr>
          <a:lstStyle/>
          <a:p>
            <a:r>
              <a:rPr sz="1100" b="0">
                <a:solidFill>
                  <a:srgbClr val="5F6F63"/>
                </a:solidFill>
                <a:latin typeface="Arial"/>
              </a:rPr>
              <a:t>$92,400 against $80,300</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490618" y="1783080"/>
            <a:ext cx="3210458" cy="457200"/>
          </a:xfrm>
          <a:prstGeom prst="rect">
            <a:avLst/>
          </a:prstGeom>
          <a:noFill/>
        </p:spPr>
        <p:txBody>
          <a:bodyPr wrap="square">
            <a:spAutoFit/>
          </a:bodyPr>
          <a:lstStyle/>
          <a:p>
            <a:r>
              <a:rPr sz="1200" b="0">
                <a:solidFill>
                  <a:srgbClr val="5F6F63"/>
                </a:solidFill>
                <a:latin typeface="Arial"/>
              </a:rPr>
              <a:t>Year to date (Jul to May 2026)</a:t>
            </a:r>
          </a:p>
        </p:txBody>
      </p:sp>
      <p:sp>
        <p:nvSpPr>
          <p:cNvPr id="11" name="TextBox 10"/>
          <p:cNvSpPr txBox="1"/>
          <p:nvPr/>
        </p:nvSpPr>
        <p:spPr>
          <a:xfrm>
            <a:off x="4490618" y="2240280"/>
            <a:ext cx="3210458" cy="731520"/>
          </a:xfrm>
          <a:prstGeom prst="rect">
            <a:avLst/>
          </a:prstGeom>
          <a:noFill/>
        </p:spPr>
        <p:txBody>
          <a:bodyPr wrap="square">
            <a:spAutoFit/>
          </a:bodyPr>
          <a:lstStyle/>
          <a:p>
            <a:r>
              <a:rPr sz="3000" b="1">
                <a:solidFill>
                  <a:srgbClr val="2F7A5D"/>
                </a:solidFill>
                <a:latin typeface="Arial"/>
              </a:rPr>
              <a:t>$1,103,900</a:t>
            </a:r>
          </a:p>
        </p:txBody>
      </p:sp>
      <p:sp>
        <p:nvSpPr>
          <p:cNvPr id="12" name="TextBox 11"/>
          <p:cNvSpPr txBox="1"/>
          <p:nvPr/>
        </p:nvSpPr>
        <p:spPr>
          <a:xfrm>
            <a:off x="4490618" y="3017520"/>
            <a:ext cx="3210458" cy="548640"/>
          </a:xfrm>
          <a:prstGeom prst="rect">
            <a:avLst/>
          </a:prstGeom>
          <a:noFill/>
        </p:spPr>
        <p:txBody>
          <a:bodyPr wrap="square">
            <a:spAutoFit/>
          </a:bodyPr>
          <a:lstStyle/>
          <a:p>
            <a:r>
              <a:rPr sz="1100" b="0">
                <a:solidFill>
                  <a:srgbClr val="5F6F63"/>
                </a:solidFill>
                <a:latin typeface="Arial"/>
              </a:rPr>
              <a:t>same period last year: not in the data</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341156" y="1783080"/>
            <a:ext cx="3210458" cy="457200"/>
          </a:xfrm>
          <a:prstGeom prst="rect">
            <a:avLst/>
          </a:prstGeom>
          <a:noFill/>
        </p:spPr>
        <p:txBody>
          <a:bodyPr wrap="square">
            <a:spAutoFit/>
          </a:bodyPr>
          <a:lstStyle/>
          <a:p>
            <a:r>
              <a:rPr sz="1200" b="0">
                <a:solidFill>
                  <a:srgbClr val="5F6F63"/>
                </a:solidFill>
                <a:latin typeface="Arial"/>
              </a:rPr>
              <a:t>Gross margin, year to date</a:t>
            </a:r>
          </a:p>
        </p:txBody>
      </p:sp>
      <p:sp>
        <p:nvSpPr>
          <p:cNvPr id="15" name="TextBox 14"/>
          <p:cNvSpPr txBox="1"/>
          <p:nvPr/>
        </p:nvSpPr>
        <p:spPr>
          <a:xfrm>
            <a:off x="8341156" y="2240280"/>
            <a:ext cx="3210458" cy="731520"/>
          </a:xfrm>
          <a:prstGeom prst="rect">
            <a:avLst/>
          </a:prstGeom>
          <a:noFill/>
        </p:spPr>
        <p:txBody>
          <a:bodyPr wrap="square">
            <a:spAutoFit/>
          </a:bodyPr>
          <a:lstStyle/>
          <a:p>
            <a:r>
              <a:rPr sz="3000" b="1">
                <a:solidFill>
                  <a:srgbClr val="2F7A5D"/>
                </a:solidFill>
                <a:latin typeface="Arial"/>
              </a:rPr>
              <a:t>28.4%</a:t>
            </a:r>
          </a:p>
        </p:txBody>
      </p:sp>
      <p:sp>
        <p:nvSpPr>
          <p:cNvPr id="16" name="TextBox 15"/>
          <p:cNvSpPr txBox="1"/>
          <p:nvPr/>
        </p:nvSpPr>
        <p:spPr>
          <a:xfrm>
            <a:off x="8341156" y="3017520"/>
            <a:ext cx="3210458" cy="548640"/>
          </a:xfrm>
          <a:prstGeom prst="rect">
            <a:avLst/>
          </a:prstGeom>
          <a:noFill/>
        </p:spPr>
        <p:txBody>
          <a:bodyPr wrap="square">
            <a:spAutoFit/>
          </a:bodyPr>
          <a:lstStyle/>
          <a:p>
            <a:r>
              <a:rPr sz="1100" b="0">
                <a:solidFill>
                  <a:srgbClr val="5F6F63"/>
                </a:solidFill>
                <a:latin typeface="Arial"/>
              </a:rPr>
              <a:t>$313,422 before overheads</a:t>
            </a:r>
          </a:p>
        </p:txBody>
      </p:sp>
      <p:sp>
        <p:nvSpPr>
          <p:cNvPr id="17" name="TextBox 1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growth.pptx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8 of 27</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What it shows · Trades · Line: Installations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691640"/>
            <a:ext cx="5044287" cy="365760"/>
          </a:xfrm>
          <a:prstGeom prst="rect">
            <a:avLst/>
          </a:prstGeom>
          <a:noFill/>
        </p:spPr>
        <p:txBody>
          <a:bodyPr wrap="square">
            <a:spAutoFit/>
          </a:bodyPr>
          <a:lstStyle/>
          <a:p>
            <a:r>
              <a:rPr sz="1100" b="1">
                <a:solidFill>
                  <a:srgbClr val="5F6F63"/>
                </a:solidFill>
                <a:latin typeface="Arial"/>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r>
              <a:rPr sz="1600" b="0">
                <a:solidFill>
                  <a:srgbClr val="25342A"/>
                </a:solidFill>
                <a:latin typeface="Arial"/>
              </a:rPr>
              <a:t>Installations brought in $1,103,900 this financial year to date, at a 28.4% gross margin (below the 37.7% overall).</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61607" y="1691640"/>
            <a:ext cx="5044287" cy="365760"/>
          </a:xfrm>
          <a:prstGeom prst="rect">
            <a:avLst/>
          </a:prstGeom>
          <a:noFill/>
        </p:spPr>
        <p:txBody>
          <a:bodyPr wrap="square">
            <a:spAutoFit/>
          </a:bodyPr>
          <a:lstStyle/>
          <a:p>
            <a:r>
              <a:rPr sz="1100" b="1">
                <a:solidFill>
                  <a:srgbClr val="5F6F63"/>
                </a:solidFill>
                <a:latin typeface="Arial"/>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r>
              <a:rPr sz="1600" b="0">
                <a:solidFill>
                  <a:srgbClr val="25342A"/>
                </a:solidFill>
                <a:latin typeface="Arial"/>
              </a:rPr>
              <a:t>Installations: 28.4% gross margin, below the 39.9% needed to cover overheads.</a:t>
            </a:r>
          </a:p>
        </p:txBody>
      </p:sp>
      <p:sp>
        <p:nvSpPr>
          <p:cNvPr id="11" name="TextBox 10"/>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growth.pptx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9 of 27</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Headline numbers · Trades · Line: Call-outs and repairs</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783080"/>
            <a:ext cx="3210458" cy="457200"/>
          </a:xfrm>
          <a:prstGeom prst="rect">
            <a:avLst/>
          </a:prstGeom>
          <a:noFill/>
        </p:spPr>
        <p:txBody>
          <a:bodyPr wrap="square">
            <a:spAutoFit/>
          </a:bodyPr>
          <a:lstStyle/>
          <a:p>
            <a:r>
              <a:rPr sz="1200" b="0">
                <a:solidFill>
                  <a:srgbClr val="5F6F63"/>
                </a:solidFill>
                <a:latin typeface="Arial"/>
              </a:rPr>
              <a:t>May against May last year</a:t>
            </a:r>
          </a:p>
        </p:txBody>
      </p:sp>
      <p:sp>
        <p:nvSpPr>
          <p:cNvPr id="7" name="TextBox 6"/>
          <p:cNvSpPr txBox="1"/>
          <p:nvPr/>
        </p:nvSpPr>
        <p:spPr>
          <a:xfrm>
            <a:off x="640080" y="2240280"/>
            <a:ext cx="3210458" cy="731520"/>
          </a:xfrm>
          <a:prstGeom prst="rect">
            <a:avLst/>
          </a:prstGeom>
          <a:noFill/>
        </p:spPr>
        <p:txBody>
          <a:bodyPr wrap="square">
            <a:spAutoFit/>
          </a:bodyPr>
          <a:lstStyle/>
          <a:p>
            <a:r>
              <a:rPr sz="3000" b="1">
                <a:solidFill>
                  <a:srgbClr val="2F7A5D"/>
                </a:solidFill>
                <a:latin typeface="Arial"/>
              </a:rPr>
              <a:t>34.6%</a:t>
            </a:r>
          </a:p>
        </p:txBody>
      </p:sp>
      <p:sp>
        <p:nvSpPr>
          <p:cNvPr id="8" name="TextBox 7"/>
          <p:cNvSpPr txBox="1"/>
          <p:nvPr/>
        </p:nvSpPr>
        <p:spPr>
          <a:xfrm>
            <a:off x="640080" y="3017520"/>
            <a:ext cx="3210458" cy="548640"/>
          </a:xfrm>
          <a:prstGeom prst="rect">
            <a:avLst/>
          </a:prstGeom>
          <a:noFill/>
        </p:spPr>
        <p:txBody>
          <a:bodyPr wrap="square">
            <a:spAutoFit/>
          </a:bodyPr>
          <a:lstStyle/>
          <a:p>
            <a:r>
              <a:rPr sz="1100" b="0">
                <a:solidFill>
                  <a:srgbClr val="5F6F63"/>
                </a:solidFill>
                <a:latin typeface="Arial"/>
              </a:rPr>
              <a:t>$29,063 against $21,586</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490618" y="1783080"/>
            <a:ext cx="3210458" cy="457200"/>
          </a:xfrm>
          <a:prstGeom prst="rect">
            <a:avLst/>
          </a:prstGeom>
          <a:noFill/>
        </p:spPr>
        <p:txBody>
          <a:bodyPr wrap="square">
            <a:spAutoFit/>
          </a:bodyPr>
          <a:lstStyle/>
          <a:p>
            <a:r>
              <a:rPr sz="1200" b="0">
                <a:solidFill>
                  <a:srgbClr val="5F6F63"/>
                </a:solidFill>
                <a:latin typeface="Arial"/>
              </a:rPr>
              <a:t>Year to date (Jul to May 2026)</a:t>
            </a:r>
          </a:p>
        </p:txBody>
      </p:sp>
      <p:sp>
        <p:nvSpPr>
          <p:cNvPr id="11" name="TextBox 10"/>
          <p:cNvSpPr txBox="1"/>
          <p:nvPr/>
        </p:nvSpPr>
        <p:spPr>
          <a:xfrm>
            <a:off x="4490618" y="2240280"/>
            <a:ext cx="3210458" cy="731520"/>
          </a:xfrm>
          <a:prstGeom prst="rect">
            <a:avLst/>
          </a:prstGeom>
          <a:noFill/>
        </p:spPr>
        <p:txBody>
          <a:bodyPr wrap="square">
            <a:spAutoFit/>
          </a:bodyPr>
          <a:lstStyle/>
          <a:p>
            <a:r>
              <a:rPr sz="3000" b="1">
                <a:solidFill>
                  <a:srgbClr val="2F7A5D"/>
                </a:solidFill>
                <a:latin typeface="Arial"/>
              </a:rPr>
              <a:t>$272,844</a:t>
            </a:r>
          </a:p>
        </p:txBody>
      </p:sp>
      <p:sp>
        <p:nvSpPr>
          <p:cNvPr id="12" name="TextBox 11"/>
          <p:cNvSpPr txBox="1"/>
          <p:nvPr/>
        </p:nvSpPr>
        <p:spPr>
          <a:xfrm>
            <a:off x="4490618" y="3017520"/>
            <a:ext cx="3210458" cy="548640"/>
          </a:xfrm>
          <a:prstGeom prst="rect">
            <a:avLst/>
          </a:prstGeom>
          <a:noFill/>
        </p:spPr>
        <p:txBody>
          <a:bodyPr wrap="square">
            <a:spAutoFit/>
          </a:bodyPr>
          <a:lstStyle/>
          <a:p>
            <a:r>
              <a:rPr sz="1100" b="0">
                <a:solidFill>
                  <a:srgbClr val="5F6F63"/>
                </a:solidFill>
                <a:latin typeface="Arial"/>
              </a:rPr>
              <a:t>same period last year: not in the data</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341156" y="1783080"/>
            <a:ext cx="3210458" cy="457200"/>
          </a:xfrm>
          <a:prstGeom prst="rect">
            <a:avLst/>
          </a:prstGeom>
          <a:noFill/>
        </p:spPr>
        <p:txBody>
          <a:bodyPr wrap="square">
            <a:spAutoFit/>
          </a:bodyPr>
          <a:lstStyle/>
          <a:p>
            <a:r>
              <a:rPr sz="1200" b="0">
                <a:solidFill>
                  <a:srgbClr val="5F6F63"/>
                </a:solidFill>
                <a:latin typeface="Arial"/>
              </a:rPr>
              <a:t>Gross margin, year to date</a:t>
            </a:r>
          </a:p>
        </p:txBody>
      </p:sp>
      <p:sp>
        <p:nvSpPr>
          <p:cNvPr id="15" name="TextBox 14"/>
          <p:cNvSpPr txBox="1"/>
          <p:nvPr/>
        </p:nvSpPr>
        <p:spPr>
          <a:xfrm>
            <a:off x="8341156" y="2240280"/>
            <a:ext cx="3210458" cy="731520"/>
          </a:xfrm>
          <a:prstGeom prst="rect">
            <a:avLst/>
          </a:prstGeom>
          <a:noFill/>
        </p:spPr>
        <p:txBody>
          <a:bodyPr wrap="square">
            <a:spAutoFit/>
          </a:bodyPr>
          <a:lstStyle/>
          <a:p>
            <a:r>
              <a:rPr sz="3000" b="1">
                <a:solidFill>
                  <a:srgbClr val="2F7A5D"/>
                </a:solidFill>
                <a:latin typeface="Arial"/>
              </a:rPr>
              <a:t>43.7%</a:t>
            </a:r>
          </a:p>
        </p:txBody>
      </p:sp>
      <p:sp>
        <p:nvSpPr>
          <p:cNvPr id="16" name="TextBox 15"/>
          <p:cNvSpPr txBox="1"/>
          <p:nvPr/>
        </p:nvSpPr>
        <p:spPr>
          <a:xfrm>
            <a:off x="8341156" y="3017520"/>
            <a:ext cx="3210458" cy="548640"/>
          </a:xfrm>
          <a:prstGeom prst="rect">
            <a:avLst/>
          </a:prstGeom>
          <a:noFill/>
        </p:spPr>
        <p:txBody>
          <a:bodyPr wrap="square">
            <a:spAutoFit/>
          </a:bodyPr>
          <a:lstStyle/>
          <a:p>
            <a:r>
              <a:rPr sz="1100" b="0">
                <a:solidFill>
                  <a:srgbClr val="5F6F63"/>
                </a:solidFill>
                <a:latin typeface="Arial"/>
              </a:rPr>
              <a:t>$119,328 before overheads</a:t>
            </a:r>
          </a:p>
        </p:txBody>
      </p:sp>
      <p:sp>
        <p:nvSpPr>
          <p:cNvPr id="17" name="TextBox 1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growth.pptx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10 of 27</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What it shows · Trades · Line: Call-outs and repairs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691640"/>
            <a:ext cx="5044287" cy="365760"/>
          </a:xfrm>
          <a:prstGeom prst="rect">
            <a:avLst/>
          </a:prstGeom>
          <a:noFill/>
        </p:spPr>
        <p:txBody>
          <a:bodyPr wrap="square">
            <a:spAutoFit/>
          </a:bodyPr>
          <a:lstStyle/>
          <a:p>
            <a:r>
              <a:rPr sz="1100" b="1">
                <a:solidFill>
                  <a:srgbClr val="5F6F63"/>
                </a:solidFill>
                <a:latin typeface="Arial"/>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r>
              <a:rPr sz="1600" b="0">
                <a:solidFill>
                  <a:srgbClr val="25342A"/>
                </a:solidFill>
                <a:latin typeface="Arial"/>
              </a:rPr>
              <a:t>Call-outs and repairs brought in $272,844 this financial year to date, at a 43.7% gross margin (above the 37.7% overall).</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61607" y="1691640"/>
            <a:ext cx="5044287" cy="365760"/>
          </a:xfrm>
          <a:prstGeom prst="rect">
            <a:avLst/>
          </a:prstGeom>
          <a:noFill/>
        </p:spPr>
        <p:txBody>
          <a:bodyPr wrap="square">
            <a:spAutoFit/>
          </a:bodyPr>
          <a:lstStyle/>
          <a:p>
            <a:r>
              <a:rPr sz="1100" b="1">
                <a:solidFill>
                  <a:srgbClr val="5F6F63"/>
                </a:solidFill>
                <a:latin typeface="Arial"/>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r>
              <a:rPr sz="1600" b="0">
                <a:solidFill>
                  <a:srgbClr val="25342A"/>
                </a:solidFill>
                <a:latin typeface="Arial"/>
              </a:rPr>
              <a:t>Call-outs and repairs: 43.7% gross margin, 3.8 points clear of the 39.9% overheads need.</a:t>
            </a:r>
          </a:p>
        </p:txBody>
      </p:sp>
      <p:sp>
        <p:nvSpPr>
          <p:cNvPr id="11" name="TextBox 10"/>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growth.pptx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11 of 27</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Revenue, gross margin and growth by line, by month · Revenue $ · Trades · Every line at once</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Gross margin = revenue less direct cost (materials, subcontractors and time at cost for trades; contractors and consultant time for services), before overheads. Growth is year on year: each month against the same month a year earlier.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growth.pptx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12 of 27</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Revenue, gross margin and growth by line, by month · Gross margin % · Trades · Every line at once</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Gross margin = revenue less direct cost (materials, subcontractors and time at cost for trades; contractors and consultant time for services), before overheads. Growth is year on year: each month against the same month a year earlier.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growth.pptx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13 of 27</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By line: financial year to date (Jul to May 2026) against the same period last year · Trades · Every line at once</a:t>
            </a:r>
          </a:p>
        </p:txBody>
      </p:sp>
      <p:graphicFrame>
        <p:nvGraphicFramePr>
          <p:cNvPr id="5" name="Table 4"/>
          <p:cNvGraphicFramePr>
            <a:graphicFrameLocks noGrp="1"/>
          </p:cNvGraphicFramePr>
          <p:nvPr/>
        </p:nvGraphicFramePr>
        <p:xfrm>
          <a:off x="457200" y="1188720"/>
          <a:ext cx="11247120" cy="1645920"/>
        </p:xfrm>
        <a:graphic>
          <a:graphicData uri="http://schemas.openxmlformats.org/drawingml/2006/table">
            <a:tbl>
              <a:tblPr firstRow="1" bandRow="1">
                <a:tableStyleId>{5C22544A-7EE6-4342-B048-85BDC9FD1C3A}</a:tableStyleId>
              </a:tblPr>
              <a:tblGrid>
                <a:gridCol w="1874520"/>
                <a:gridCol w="1874520"/>
                <a:gridCol w="1874520"/>
                <a:gridCol w="1874520"/>
                <a:gridCol w="1874520"/>
                <a:gridCol w="1874520"/>
              </a:tblGrid>
              <a:tr h="329184">
                <a:tc>
                  <a:txBody>
                    <a:bodyPr/>
                    <a:lstStyle/>
                    <a:p/>
                  </a:txBody>
                  <a:tcPr>
                    <a:solidFill>
                      <a:srgbClr val="2F7A5D"/>
                    </a:solidFill>
                  </a:tcPr>
                </a:tc>
                <a:tc>
                  <a:txBody>
                    <a:bodyPr/>
                    <a:lstStyle/>
                    <a:p>
                      <a:pPr algn="r"/>
                      <a:r>
                        <a:rPr sz="1100" b="1">
                          <a:solidFill>
                            <a:srgbClr val="FFFFFF"/>
                          </a:solidFill>
                        </a:rPr>
                        <a:t>Year to date</a:t>
                      </a:r>
                    </a:p>
                  </a:txBody>
                  <a:tcPr>
                    <a:solidFill>
                      <a:srgbClr val="2F7A5D"/>
                    </a:solidFill>
                  </a:tcPr>
                </a:tc>
                <a:tc>
                  <a:txBody>
                    <a:bodyPr/>
                    <a:lstStyle/>
                    <a:p>
                      <a:pPr algn="r"/>
                      <a:r>
                        <a:rPr sz="1100" b="1">
                          <a:solidFill>
                            <a:srgbClr val="FFFFFF"/>
                          </a:solidFill>
                        </a:rPr>
                        <a:t>Same period last year</a:t>
                      </a:r>
                    </a:p>
                  </a:txBody>
                  <a:tcPr>
                    <a:solidFill>
                      <a:srgbClr val="2F7A5D"/>
                    </a:solidFill>
                  </a:tcPr>
                </a:tc>
                <a:tc>
                  <a:txBody>
                    <a:bodyPr/>
                    <a:lstStyle/>
                    <a:p>
                      <a:pPr algn="r"/>
                      <a:r>
                        <a:rPr sz="1100" b="1">
                          <a:solidFill>
                            <a:srgbClr val="FFFFFF"/>
                          </a:solidFill>
                        </a:rPr>
                        <a:t>Growth</a:t>
                      </a:r>
                    </a:p>
                  </a:txBody>
                  <a:tcPr>
                    <a:solidFill>
                      <a:srgbClr val="2F7A5D"/>
                    </a:solidFill>
                  </a:tcPr>
                </a:tc>
                <a:tc>
                  <a:txBody>
                    <a:bodyPr/>
                    <a:lstStyle/>
                    <a:p>
                      <a:pPr algn="r"/>
                      <a:r>
                        <a:rPr sz="1100" b="1">
                          <a:solidFill>
                            <a:srgbClr val="FFFFFF"/>
                          </a:solidFill>
                        </a:rPr>
                        <a:t>Gross margin $</a:t>
                      </a:r>
                    </a:p>
                  </a:txBody>
                  <a:tcPr>
                    <a:solidFill>
                      <a:srgbClr val="2F7A5D"/>
                    </a:solidFill>
                  </a:tcPr>
                </a:tc>
                <a:tc>
                  <a:txBody>
                    <a:bodyPr/>
                    <a:lstStyle/>
                    <a:p>
                      <a:pPr algn="r"/>
                      <a:r>
                        <a:rPr sz="1100" b="1">
                          <a:solidFill>
                            <a:srgbClr val="FFFFFF"/>
                          </a:solidFill>
                        </a:rPr>
                        <a:t>Gross margin %</a:t>
                      </a:r>
                    </a:p>
                  </a:txBody>
                  <a:tcPr>
                    <a:solidFill>
                      <a:srgbClr val="2F7A5D"/>
                    </a:solidFill>
                  </a:tcPr>
                </a:tc>
              </a:tr>
              <a:tr h="329184">
                <a:tc>
                  <a:txBody>
                    <a:bodyPr/>
                    <a:lstStyle/>
                    <a:p>
                      <a:r>
                        <a:rPr sz="1050">
                          <a:solidFill>
                            <a:srgbClr val="25342A"/>
                          </a:solidFill>
                        </a:rPr>
                        <a:t>Maintenance contracts</a:t>
                      </a:r>
                    </a:p>
                  </a:txBody>
                  <a:tcPr>
                    <a:solidFill>
                      <a:srgbClr val="FFFFFF"/>
                    </a:solidFill>
                  </a:tcPr>
                </a:tc>
                <a:tc>
                  <a:txBody>
                    <a:bodyPr/>
                    <a:lstStyle/>
                    <a:p>
                      <a:pPr algn="r"/>
                      <a:r>
                        <a:rPr sz="1050">
                          <a:solidFill>
                            <a:srgbClr val="25342A"/>
                          </a:solidFill>
                        </a:rPr>
                        <a:t>$395,800</a:t>
                      </a:r>
                    </a:p>
                  </a:txBody>
                  <a:tcPr>
                    <a:solidFill>
                      <a:srgbClr val="FFFFFF"/>
                    </a:solidFill>
                  </a:tcPr>
                </a:tc>
                <a:tc>
                  <a:txBody>
                    <a:bodyPr/>
                    <a:lstStyle/>
                    <a:p>
                      <a:pPr algn="r"/>
                      <a:r>
                        <a:rPr sz="1050">
                          <a:solidFill>
                            <a:srgbClr val="25342A"/>
                          </a:solidFill>
                        </a:rPr>
                        <a:t>–</a:t>
                      </a:r>
                    </a:p>
                  </a:txBody>
                  <a:tcPr>
                    <a:solidFill>
                      <a:srgbClr val="FFFFFF"/>
                    </a:solidFill>
                  </a:tcPr>
                </a:tc>
                <a:tc>
                  <a:txBody>
                    <a:bodyPr/>
                    <a:lstStyle/>
                    <a:p>
                      <a:pPr algn="r"/>
                      <a:r>
                        <a:rPr sz="1050">
                          <a:solidFill>
                            <a:srgbClr val="25342A"/>
                          </a:solidFill>
                        </a:rPr>
                        <a:t>–</a:t>
                      </a:r>
                    </a:p>
                  </a:txBody>
                  <a:tcPr>
                    <a:solidFill>
                      <a:srgbClr val="FFFFFF"/>
                    </a:solidFill>
                  </a:tcPr>
                </a:tc>
                <a:tc>
                  <a:txBody>
                    <a:bodyPr/>
                    <a:lstStyle/>
                    <a:p>
                      <a:pPr algn="r"/>
                      <a:r>
                        <a:rPr sz="1050">
                          <a:solidFill>
                            <a:srgbClr val="25342A"/>
                          </a:solidFill>
                        </a:rPr>
                        <a:t>$235,540</a:t>
                      </a:r>
                    </a:p>
                  </a:txBody>
                  <a:tcPr>
                    <a:solidFill>
                      <a:srgbClr val="FFFFFF"/>
                    </a:solidFill>
                  </a:tcPr>
                </a:tc>
                <a:tc>
                  <a:txBody>
                    <a:bodyPr/>
                    <a:lstStyle/>
                    <a:p>
                      <a:pPr algn="r"/>
                      <a:r>
                        <a:rPr sz="1050">
                          <a:solidFill>
                            <a:srgbClr val="25342A"/>
                          </a:solidFill>
                        </a:rPr>
                        <a:t>59.5%</a:t>
                      </a:r>
                    </a:p>
                  </a:txBody>
                  <a:tcPr>
                    <a:solidFill>
                      <a:srgbClr val="FFFFFF"/>
                    </a:solidFill>
                  </a:tcPr>
                </a:tc>
              </a:tr>
              <a:tr h="329184">
                <a:tc>
                  <a:txBody>
                    <a:bodyPr/>
                    <a:lstStyle/>
                    <a:p>
                      <a:r>
                        <a:rPr sz="1050">
                          <a:solidFill>
                            <a:srgbClr val="25342A"/>
                          </a:solidFill>
                        </a:rPr>
                        <a:t>Installations</a:t>
                      </a:r>
                    </a:p>
                  </a:txBody>
                  <a:tcPr>
                    <a:solidFill>
                      <a:srgbClr val="F7FAF7"/>
                    </a:solidFill>
                  </a:tcPr>
                </a:tc>
                <a:tc>
                  <a:txBody>
                    <a:bodyPr/>
                    <a:lstStyle/>
                    <a:p>
                      <a:pPr algn="r"/>
                      <a:r>
                        <a:rPr sz="1050">
                          <a:solidFill>
                            <a:srgbClr val="25342A"/>
                          </a:solidFill>
                        </a:rPr>
                        <a:t>$1,103,900</a:t>
                      </a:r>
                    </a:p>
                  </a:txBody>
                  <a:tcPr>
                    <a:solidFill>
                      <a:srgbClr val="F7FAF7"/>
                    </a:solidFill>
                  </a:tcPr>
                </a:tc>
                <a:tc>
                  <a:txBody>
                    <a:bodyPr/>
                    <a:lstStyle/>
                    <a:p>
                      <a:pPr algn="r"/>
                      <a:r>
                        <a:rPr sz="1050">
                          <a:solidFill>
                            <a:srgbClr val="25342A"/>
                          </a:solidFill>
                        </a:rPr>
                        <a:t>–</a:t>
                      </a:r>
                    </a:p>
                  </a:txBody>
                  <a:tcPr>
                    <a:solidFill>
                      <a:srgbClr val="F7FAF7"/>
                    </a:solidFill>
                  </a:tcPr>
                </a:tc>
                <a:tc>
                  <a:txBody>
                    <a:bodyPr/>
                    <a:lstStyle/>
                    <a:p>
                      <a:pPr algn="r"/>
                      <a:r>
                        <a:rPr sz="1050">
                          <a:solidFill>
                            <a:srgbClr val="25342A"/>
                          </a:solidFill>
                        </a:rPr>
                        <a:t>–</a:t>
                      </a:r>
                    </a:p>
                  </a:txBody>
                  <a:tcPr>
                    <a:solidFill>
                      <a:srgbClr val="F7FAF7"/>
                    </a:solidFill>
                  </a:tcPr>
                </a:tc>
                <a:tc>
                  <a:txBody>
                    <a:bodyPr/>
                    <a:lstStyle/>
                    <a:p>
                      <a:pPr algn="r"/>
                      <a:r>
                        <a:rPr sz="1050">
                          <a:solidFill>
                            <a:srgbClr val="25342A"/>
                          </a:solidFill>
                        </a:rPr>
                        <a:t>$313,422</a:t>
                      </a:r>
                    </a:p>
                  </a:txBody>
                  <a:tcPr>
                    <a:solidFill>
                      <a:srgbClr val="F7FAF7"/>
                    </a:solidFill>
                  </a:tcPr>
                </a:tc>
                <a:tc>
                  <a:txBody>
                    <a:bodyPr/>
                    <a:lstStyle/>
                    <a:p>
                      <a:pPr algn="r"/>
                      <a:r>
                        <a:rPr sz="1050">
                          <a:solidFill>
                            <a:srgbClr val="25342A"/>
                          </a:solidFill>
                        </a:rPr>
                        <a:t>28.4%</a:t>
                      </a:r>
                    </a:p>
                  </a:txBody>
                  <a:tcPr>
                    <a:solidFill>
                      <a:srgbClr val="F7FAF7"/>
                    </a:solidFill>
                  </a:tcPr>
                </a:tc>
              </a:tr>
              <a:tr h="329184">
                <a:tc>
                  <a:txBody>
                    <a:bodyPr/>
                    <a:lstStyle/>
                    <a:p>
                      <a:r>
                        <a:rPr sz="1050">
                          <a:solidFill>
                            <a:srgbClr val="25342A"/>
                          </a:solidFill>
                        </a:rPr>
                        <a:t>Call-outs and repairs</a:t>
                      </a:r>
                    </a:p>
                  </a:txBody>
                  <a:tcPr>
                    <a:solidFill>
                      <a:srgbClr val="FFFFFF"/>
                    </a:solidFill>
                  </a:tcPr>
                </a:tc>
                <a:tc>
                  <a:txBody>
                    <a:bodyPr/>
                    <a:lstStyle/>
                    <a:p>
                      <a:pPr algn="r"/>
                      <a:r>
                        <a:rPr sz="1050">
                          <a:solidFill>
                            <a:srgbClr val="25342A"/>
                          </a:solidFill>
                        </a:rPr>
                        <a:t>$272,844</a:t>
                      </a:r>
                    </a:p>
                  </a:txBody>
                  <a:tcPr>
                    <a:solidFill>
                      <a:srgbClr val="FFFFFF"/>
                    </a:solidFill>
                  </a:tcPr>
                </a:tc>
                <a:tc>
                  <a:txBody>
                    <a:bodyPr/>
                    <a:lstStyle/>
                    <a:p>
                      <a:pPr algn="r"/>
                      <a:r>
                        <a:rPr sz="1050">
                          <a:solidFill>
                            <a:srgbClr val="25342A"/>
                          </a:solidFill>
                        </a:rPr>
                        <a:t>–</a:t>
                      </a:r>
                    </a:p>
                  </a:txBody>
                  <a:tcPr>
                    <a:solidFill>
                      <a:srgbClr val="FFFFFF"/>
                    </a:solidFill>
                  </a:tcPr>
                </a:tc>
                <a:tc>
                  <a:txBody>
                    <a:bodyPr/>
                    <a:lstStyle/>
                    <a:p>
                      <a:pPr algn="r"/>
                      <a:r>
                        <a:rPr sz="1050">
                          <a:solidFill>
                            <a:srgbClr val="25342A"/>
                          </a:solidFill>
                        </a:rPr>
                        <a:t>–</a:t>
                      </a:r>
                    </a:p>
                  </a:txBody>
                  <a:tcPr>
                    <a:solidFill>
                      <a:srgbClr val="FFFFFF"/>
                    </a:solidFill>
                  </a:tcPr>
                </a:tc>
                <a:tc>
                  <a:txBody>
                    <a:bodyPr/>
                    <a:lstStyle/>
                    <a:p>
                      <a:pPr algn="r"/>
                      <a:r>
                        <a:rPr sz="1050">
                          <a:solidFill>
                            <a:srgbClr val="25342A"/>
                          </a:solidFill>
                        </a:rPr>
                        <a:t>$119,328</a:t>
                      </a:r>
                    </a:p>
                  </a:txBody>
                  <a:tcPr>
                    <a:solidFill>
                      <a:srgbClr val="FFFFFF"/>
                    </a:solidFill>
                  </a:tcPr>
                </a:tc>
                <a:tc>
                  <a:txBody>
                    <a:bodyPr/>
                    <a:lstStyle/>
                    <a:p>
                      <a:pPr algn="r"/>
                      <a:r>
                        <a:rPr sz="1050">
                          <a:solidFill>
                            <a:srgbClr val="25342A"/>
                          </a:solidFill>
                        </a:rPr>
                        <a:t>43.7%</a:t>
                      </a:r>
                    </a:p>
                  </a:txBody>
                  <a:tcPr>
                    <a:solidFill>
                      <a:srgbClr val="FFFFFF"/>
                    </a:solidFill>
                  </a:tcPr>
                </a:tc>
              </a:tr>
              <a:tr h="329184">
                <a:tc>
                  <a:txBody>
                    <a:bodyPr/>
                    <a:lstStyle/>
                    <a:p>
                      <a:r>
                        <a:rPr sz="1050" b="1">
                          <a:solidFill>
                            <a:srgbClr val="25342A"/>
                          </a:solidFill>
                        </a:rPr>
                        <a:t>Total</a:t>
                      </a:r>
                    </a:p>
                  </a:txBody>
                  <a:tcPr>
                    <a:solidFill>
                      <a:srgbClr val="F7FAF7"/>
                    </a:solidFill>
                  </a:tcPr>
                </a:tc>
                <a:tc>
                  <a:txBody>
                    <a:bodyPr/>
                    <a:lstStyle/>
                    <a:p>
                      <a:pPr algn="r"/>
                      <a:r>
                        <a:rPr sz="1050" b="1">
                          <a:solidFill>
                            <a:srgbClr val="25342A"/>
                          </a:solidFill>
                        </a:rPr>
                        <a:t>$1,772,544</a:t>
                      </a:r>
                    </a:p>
                  </a:txBody>
                  <a:tcPr>
                    <a:solidFill>
                      <a:srgbClr val="F7FAF7"/>
                    </a:solidFill>
                  </a:tcPr>
                </a:tc>
                <a:tc>
                  <a:txBody>
                    <a:bodyPr/>
                    <a:lstStyle/>
                    <a:p>
                      <a:pPr algn="r"/>
                      <a:r>
                        <a:rPr sz="1050" b="1">
                          <a:solidFill>
                            <a:srgbClr val="25342A"/>
                          </a:solidFill>
                        </a:rPr>
                        <a:t>–</a:t>
                      </a:r>
                    </a:p>
                  </a:txBody>
                  <a:tcPr>
                    <a:solidFill>
                      <a:srgbClr val="F7FAF7"/>
                    </a:solidFill>
                  </a:tcPr>
                </a:tc>
                <a:tc>
                  <a:txBody>
                    <a:bodyPr/>
                    <a:lstStyle/>
                    <a:p>
                      <a:pPr algn="r"/>
                      <a:r>
                        <a:rPr sz="1050" b="1">
                          <a:solidFill>
                            <a:srgbClr val="25342A"/>
                          </a:solidFill>
                        </a:rPr>
                        <a:t>–</a:t>
                      </a:r>
                    </a:p>
                  </a:txBody>
                  <a:tcPr>
                    <a:solidFill>
                      <a:srgbClr val="F7FAF7"/>
                    </a:solidFill>
                  </a:tcPr>
                </a:tc>
                <a:tc>
                  <a:txBody>
                    <a:bodyPr/>
                    <a:lstStyle/>
                    <a:p>
                      <a:pPr algn="r"/>
                      <a:r>
                        <a:rPr sz="1050" b="1">
                          <a:solidFill>
                            <a:srgbClr val="25342A"/>
                          </a:solidFill>
                        </a:rPr>
                        <a:t>$668,290</a:t>
                      </a:r>
                    </a:p>
                  </a:txBody>
                  <a:tcPr>
                    <a:solidFill>
                      <a:srgbClr val="F7FAF7"/>
                    </a:solidFill>
                  </a:tcPr>
                </a:tc>
                <a:tc>
                  <a:txBody>
                    <a:bodyPr/>
                    <a:lstStyle/>
                    <a:p>
                      <a:pPr algn="r"/>
                      <a:r>
                        <a:rPr sz="1050" b="1">
                          <a:solidFill>
                            <a:srgbClr val="25342A"/>
                          </a:solidFill>
                        </a:rPr>
                        <a:t>37.7%</a:t>
                      </a:r>
                    </a:p>
                  </a:txBody>
                  <a:tcPr>
                    <a:solidFill>
                      <a:srgbClr val="F7FAF7"/>
                    </a:solidFill>
                  </a:tcPr>
                </a:tc>
              </a:tr>
            </a:tbl>
          </a:graphicData>
        </a:graphic>
      </p:graphicFrame>
      <p:sp>
        <p:nvSpPr>
          <p:cNvPr id="6" name="TextBox 5"/>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growth.pptx</a:t>
            </a:r>
          </a:p>
        </p:txBody>
      </p:sp>
      <p:sp>
        <p:nvSpPr>
          <p:cNvPr id="7" name="TextBox 6"/>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8" name="TextBox 7"/>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14 of 27</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Gross margin, not profit</a:t>
            </a:r>
          </a:p>
        </p:txBody>
      </p:sp>
      <p:sp>
        <p:nvSpPr>
          <p:cNvPr id="5" name="Rectangle 4"/>
          <p:cNvSpPr/>
          <p:nvPr/>
        </p:nvSpPr>
        <p:spPr>
          <a:xfrm>
            <a:off x="457200" y="1554480"/>
            <a:ext cx="11277295"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691640"/>
            <a:ext cx="10820095" cy="365760"/>
          </a:xfrm>
          <a:prstGeom prst="rect">
            <a:avLst/>
          </a:prstGeom>
          <a:noFill/>
        </p:spPr>
        <p:txBody>
          <a:bodyPr wrap="square">
            <a:spAutoFit/>
          </a:bodyPr>
          <a:lstStyle/>
          <a:p>
            <a:r>
              <a:rPr sz="1100" b="1">
                <a:solidFill>
                  <a:srgbClr val="5F6F63"/>
                </a:solidFill>
                <a:latin typeface="Arial"/>
              </a:rPr>
              <a:t>GROSS MARGIN, NOT PROFIT</a:t>
            </a:r>
          </a:p>
        </p:txBody>
      </p:sp>
      <p:sp>
        <p:nvSpPr>
          <p:cNvPr id="7" name="TextBox 6"/>
          <p:cNvSpPr txBox="1"/>
          <p:nvPr/>
        </p:nvSpPr>
        <p:spPr>
          <a:xfrm>
            <a:off x="685800" y="2103120"/>
            <a:ext cx="10820095" cy="3749039"/>
          </a:xfrm>
          <a:prstGeom prst="rect">
            <a:avLst/>
          </a:prstGeom>
          <a:noFill/>
        </p:spPr>
        <p:txBody>
          <a:bodyPr wrap="square">
            <a:spAutoFit/>
          </a:bodyPr>
          <a:lstStyle/>
          <a:p>
            <a:r>
              <a:rPr sz="1600" b="0">
                <a:solidFill>
                  <a:srgbClr val="25342A"/>
                </a:solidFill>
                <a:latin typeface="Arial"/>
              </a:rPr>
              <a:t>Gross margin is not profit. Gross margin = revenue less contractors and consultant time charged to the work at $60 an hour (wages and all on-costs). Not included: consultant time not charged to clients, and overheads (management and admin wages, marketing, rent, IT, insurance, travel, depreciation, interest). Profit is what's left after those. Wages always include all on-costs: super, payroll tax, workers' compensation insurance and leave.</a:t>
            </a:r>
          </a:p>
        </p:txBody>
      </p:sp>
      <p:sp>
        <p:nvSpPr>
          <p:cNvPr id="8" name="TextBox 7"/>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growth.pptx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15 of 27</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From gross margin to profit · Services</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May's client work made $49,410 gross margin (64.1%). Consultant time not charged to client work took $19,920 and overheads $51,750, leaving ($22,260) profit before tax ((28.9%) of revenue). To cover overheads, client work needs a 93.0% gross margin on average.</a:t>
            </a:r>
          </a:p>
        </p:txBody>
      </p:sp>
      <p:graphicFrame>
        <p:nvGraphicFramePr>
          <p:cNvPr id="6" name="Table 5"/>
          <p:cNvGraphicFramePr>
            <a:graphicFrameLocks noGrp="1"/>
          </p:cNvGraphicFramePr>
          <p:nvPr/>
        </p:nvGraphicFramePr>
        <p:xfrm>
          <a:off x="457200" y="1463040"/>
          <a:ext cx="11247120" cy="3950208"/>
        </p:xfrm>
        <a:graphic>
          <a:graphicData uri="http://schemas.openxmlformats.org/drawingml/2006/table">
            <a:tbl>
              <a:tblPr firstRow="1" bandRow="1">
                <a:tableStyleId>{5C22544A-7EE6-4342-B048-85BDC9FD1C3A}</a:tableStyleId>
              </a:tblPr>
              <a:tblGrid>
                <a:gridCol w="5623560"/>
                <a:gridCol w="5623560"/>
              </a:tblGrid>
              <a:tr h="329184">
                <a:tc>
                  <a:txBody>
                    <a:bodyPr/>
                    <a:lstStyle/>
                    <a:p/>
                  </a:txBody>
                  <a:tcPr>
                    <a:solidFill>
                      <a:srgbClr val="2F7A5D"/>
                    </a:solidFill>
                  </a:tcPr>
                </a:tc>
                <a:tc>
                  <a:txBody>
                    <a:bodyPr/>
                    <a:lstStyle/>
                    <a:p>
                      <a:pPr algn="r"/>
                      <a:r>
                        <a:rPr sz="1100" b="1">
                          <a:solidFill>
                            <a:srgbClr val="FFFFFF"/>
                          </a:solidFill>
                        </a:rPr>
                        <a:t>May 2026</a:t>
                      </a:r>
                    </a:p>
                  </a:txBody>
                  <a:tcPr>
                    <a:solidFill>
                      <a:srgbClr val="2F7A5D"/>
                    </a:solidFill>
                  </a:tcPr>
                </a:tc>
              </a:tr>
              <a:tr h="329184">
                <a:tc>
                  <a:txBody>
                    <a:bodyPr/>
                    <a:lstStyle/>
                    <a:p>
                      <a:r>
                        <a:rPr sz="1050">
                          <a:solidFill>
                            <a:srgbClr val="25342A"/>
                          </a:solidFill>
                        </a:rPr>
                        <a:t>Gross margin on client work</a:t>
                      </a:r>
                    </a:p>
                  </a:txBody>
                  <a:tcPr>
                    <a:solidFill>
                      <a:srgbClr val="FFFFFF"/>
                    </a:solidFill>
                  </a:tcPr>
                </a:tc>
                <a:tc>
                  <a:txBody>
                    <a:bodyPr/>
                    <a:lstStyle/>
                    <a:p>
                      <a:pPr algn="r"/>
                      <a:r>
                        <a:rPr sz="1050">
                          <a:solidFill>
                            <a:srgbClr val="25342A"/>
                          </a:solidFill>
                        </a:rPr>
                        <a:t>$49,410</a:t>
                      </a:r>
                    </a:p>
                  </a:txBody>
                  <a:tcPr>
                    <a:solidFill>
                      <a:srgbClr val="FFFFFF"/>
                    </a:solidFill>
                  </a:tcPr>
                </a:tc>
              </a:tr>
              <a:tr h="329184">
                <a:tc>
                  <a:txBody>
                    <a:bodyPr/>
                    <a:lstStyle/>
                    <a:p>
                      <a:r>
                        <a:rPr sz="1050">
                          <a:solidFill>
                            <a:srgbClr val="25342A"/>
                          </a:solidFill>
                        </a:rPr>
                        <a:t>Consultant wages and on-costs</a:t>
                      </a:r>
                    </a:p>
                  </a:txBody>
                  <a:tcPr>
                    <a:solidFill>
                      <a:srgbClr val="F7FAF7"/>
                    </a:solidFill>
                  </a:tcPr>
                </a:tc>
                <a:tc>
                  <a:txBody>
                    <a:bodyPr/>
                    <a:lstStyle/>
                    <a:p>
                      <a:pPr algn="r"/>
                      <a:r>
                        <a:rPr sz="1050">
                          <a:solidFill>
                            <a:srgbClr val="25342A"/>
                          </a:solidFill>
                        </a:rPr>
                        <a:t>$46,500</a:t>
                      </a:r>
                    </a:p>
                  </a:txBody>
                  <a:tcPr>
                    <a:solidFill>
                      <a:srgbClr val="F7FAF7"/>
                    </a:solidFill>
                  </a:tcPr>
                </a:tc>
              </a:tr>
              <a:tr h="329184">
                <a:tc>
                  <a:txBody>
                    <a:bodyPr/>
                    <a:lstStyle/>
                    <a:p>
                      <a:r>
                        <a:rPr sz="1050">
                          <a:solidFill>
                            <a:srgbClr val="25342A"/>
                          </a:solidFill>
                        </a:rPr>
                        <a:t>Consultant time charged to client work (at cost)</a:t>
                      </a:r>
                    </a:p>
                  </a:txBody>
                  <a:tcPr>
                    <a:solidFill>
                      <a:srgbClr val="FFFFFF"/>
                    </a:solidFill>
                  </a:tcPr>
                </a:tc>
                <a:tc>
                  <a:txBody>
                    <a:bodyPr/>
                    <a:lstStyle/>
                    <a:p>
                      <a:pPr algn="r"/>
                      <a:r>
                        <a:rPr sz="1050">
                          <a:solidFill>
                            <a:srgbClr val="25342A"/>
                          </a:solidFill>
                        </a:rPr>
                        <a:t>$26,580</a:t>
                      </a:r>
                    </a:p>
                  </a:txBody>
                  <a:tcPr>
                    <a:solidFill>
                      <a:srgbClr val="FFFFFF"/>
                    </a:solidFill>
                  </a:tcPr>
                </a:tc>
              </a:tr>
              <a:tr h="329184">
                <a:tc>
                  <a:txBody>
                    <a:bodyPr/>
                    <a:lstStyle/>
                    <a:p>
                      <a:r>
                        <a:rPr sz="1050">
                          <a:solidFill>
                            <a:srgbClr val="25342A"/>
                          </a:solidFill>
                        </a:rPr>
                        <a:t>Consultant time not charged to client work</a:t>
                      </a:r>
                    </a:p>
                  </a:txBody>
                  <a:tcPr>
                    <a:solidFill>
                      <a:srgbClr val="F7FAF7"/>
                    </a:solidFill>
                  </a:tcPr>
                </a:tc>
                <a:tc>
                  <a:txBody>
                    <a:bodyPr/>
                    <a:lstStyle/>
                    <a:p>
                      <a:pPr algn="r"/>
                      <a:r>
                        <a:rPr sz="1050">
                          <a:solidFill>
                            <a:srgbClr val="25342A"/>
                          </a:solidFill>
                        </a:rPr>
                        <a:t>$19,920</a:t>
                      </a:r>
                    </a:p>
                  </a:txBody>
                  <a:tcPr>
                    <a:solidFill>
                      <a:srgbClr val="F7FAF7"/>
                    </a:solidFill>
                  </a:tcPr>
                </a:tc>
              </a:tr>
              <a:tr h="329184">
                <a:tc>
                  <a:txBody>
                    <a:bodyPr/>
                    <a:lstStyle/>
                    <a:p>
                      <a:r>
                        <a:rPr sz="1050">
                          <a:solidFill>
                            <a:srgbClr val="25342A"/>
                          </a:solidFill>
                        </a:rPr>
                        <a:t>Gross profit (the P&amp;L)</a:t>
                      </a:r>
                    </a:p>
                  </a:txBody>
                  <a:tcPr>
                    <a:solidFill>
                      <a:srgbClr val="FFFFFF"/>
                    </a:solidFill>
                  </a:tcPr>
                </a:tc>
                <a:tc>
                  <a:txBody>
                    <a:bodyPr/>
                    <a:lstStyle/>
                    <a:p>
                      <a:pPr algn="r"/>
                      <a:r>
                        <a:rPr sz="1050">
                          <a:solidFill>
                            <a:srgbClr val="25342A"/>
                          </a:solidFill>
                        </a:rPr>
                        <a:t>$29,490</a:t>
                      </a:r>
                    </a:p>
                  </a:txBody>
                  <a:tcPr>
                    <a:solidFill>
                      <a:srgbClr val="FFFFFF"/>
                    </a:solidFill>
                  </a:tcPr>
                </a:tc>
              </a:tr>
              <a:tr h="329184">
                <a:tc>
                  <a:txBody>
                    <a:bodyPr/>
                    <a:lstStyle/>
                    <a:p>
                      <a:r>
                        <a:rPr sz="1050">
                          <a:solidFill>
                            <a:srgbClr val="25342A"/>
                          </a:solidFill>
                        </a:rPr>
                        <a:t>Overheads (operating expenses, depreciation, interest)</a:t>
                      </a:r>
                    </a:p>
                  </a:txBody>
                  <a:tcPr>
                    <a:solidFill>
                      <a:srgbClr val="F7FAF7"/>
                    </a:solidFill>
                  </a:tcPr>
                </a:tc>
                <a:tc>
                  <a:txBody>
                    <a:bodyPr/>
                    <a:lstStyle/>
                    <a:p>
                      <a:pPr algn="r"/>
                      <a:r>
                        <a:rPr sz="1050">
                          <a:solidFill>
                            <a:srgbClr val="25342A"/>
                          </a:solidFill>
                        </a:rPr>
                        <a:t>$51,750</a:t>
                      </a:r>
                    </a:p>
                  </a:txBody>
                  <a:tcPr>
                    <a:solidFill>
                      <a:srgbClr val="F7FAF7"/>
                    </a:solidFill>
                  </a:tcPr>
                </a:tc>
              </a:tr>
              <a:tr h="329184">
                <a:tc>
                  <a:txBody>
                    <a:bodyPr/>
                    <a:lstStyle/>
                    <a:p>
                      <a:r>
                        <a:rPr sz="1050">
                          <a:solidFill>
                            <a:srgbClr val="25342A"/>
                          </a:solidFill>
                        </a:rPr>
                        <a:t>Profit before tax (the P&amp;L)</a:t>
                      </a:r>
                    </a:p>
                  </a:txBody>
                  <a:tcPr>
                    <a:solidFill>
                      <a:srgbClr val="FFFFFF"/>
                    </a:solidFill>
                  </a:tcPr>
                </a:tc>
                <a:tc>
                  <a:txBody>
                    <a:bodyPr/>
                    <a:lstStyle/>
                    <a:p>
                      <a:pPr algn="r"/>
                      <a:r>
                        <a:rPr sz="1050">
                          <a:solidFill>
                            <a:srgbClr val="B42318"/>
                          </a:solidFill>
                        </a:rPr>
                        <a:t>($22,260)</a:t>
                      </a:r>
                    </a:p>
                  </a:txBody>
                  <a:tcPr>
                    <a:solidFill>
                      <a:srgbClr val="FFFFFF"/>
                    </a:solidFill>
                  </a:tcPr>
                </a:tc>
              </a:tr>
              <a:tr h="329184">
                <a:tc>
                  <a:txBody>
                    <a:bodyPr/>
                    <a:lstStyle/>
                    <a:p>
                      <a:r>
                        <a:rPr sz="1050">
                          <a:solidFill>
                            <a:srgbClr val="25342A"/>
                          </a:solidFill>
                        </a:rPr>
                        <a:t>Revenue</a:t>
                      </a:r>
                    </a:p>
                  </a:txBody>
                  <a:tcPr>
                    <a:solidFill>
                      <a:srgbClr val="F7FAF7"/>
                    </a:solidFill>
                  </a:tcPr>
                </a:tc>
                <a:tc>
                  <a:txBody>
                    <a:bodyPr/>
                    <a:lstStyle/>
                    <a:p>
                      <a:pPr algn="r"/>
                      <a:r>
                        <a:rPr sz="1050">
                          <a:solidFill>
                            <a:srgbClr val="25342A"/>
                          </a:solidFill>
                        </a:rPr>
                        <a:t>$77,090</a:t>
                      </a:r>
                    </a:p>
                  </a:txBody>
                  <a:tcPr>
                    <a:solidFill>
                      <a:srgbClr val="F7FAF7"/>
                    </a:solidFill>
                  </a:tcPr>
                </a:tc>
              </a:tr>
              <a:tr h="329184">
                <a:tc>
                  <a:txBody>
                    <a:bodyPr/>
                    <a:lstStyle/>
                    <a:p>
                      <a:r>
                        <a:rPr sz="1050">
                          <a:solidFill>
                            <a:srgbClr val="25342A"/>
                          </a:solidFill>
                        </a:rPr>
                        <a:t>Gross margin on client work, %</a:t>
                      </a:r>
                    </a:p>
                  </a:txBody>
                  <a:tcPr>
                    <a:solidFill>
                      <a:srgbClr val="FFFFFF"/>
                    </a:solidFill>
                  </a:tcPr>
                </a:tc>
                <a:tc>
                  <a:txBody>
                    <a:bodyPr/>
                    <a:lstStyle/>
                    <a:p>
                      <a:pPr algn="r"/>
                      <a:r>
                        <a:rPr sz="1050">
                          <a:solidFill>
                            <a:srgbClr val="25342A"/>
                          </a:solidFill>
                        </a:rPr>
                        <a:t>64.1%</a:t>
                      </a:r>
                    </a:p>
                  </a:txBody>
                  <a:tcPr>
                    <a:solidFill>
                      <a:srgbClr val="FFFFFF"/>
                    </a:solidFill>
                  </a:tcPr>
                </a:tc>
              </a:tr>
              <a:tr h="329184">
                <a:tc>
                  <a:txBody>
                    <a:bodyPr/>
                    <a:lstStyle/>
                    <a:p>
                      <a:r>
                        <a:rPr sz="1050">
                          <a:solidFill>
                            <a:srgbClr val="25342A"/>
                          </a:solidFill>
                        </a:rPr>
                        <a:t>Profit before tax, % of revenue</a:t>
                      </a:r>
                    </a:p>
                  </a:txBody>
                  <a:tcPr>
                    <a:solidFill>
                      <a:srgbClr val="F7FAF7"/>
                    </a:solidFill>
                  </a:tcPr>
                </a:tc>
                <a:tc>
                  <a:txBody>
                    <a:bodyPr/>
                    <a:lstStyle/>
                    <a:p>
                      <a:pPr algn="r"/>
                      <a:r>
                        <a:rPr sz="1050">
                          <a:solidFill>
                            <a:srgbClr val="B42318"/>
                          </a:solidFill>
                        </a:rPr>
                        <a:t>(28.9%)</a:t>
                      </a:r>
                    </a:p>
                  </a:txBody>
                  <a:tcPr>
                    <a:solidFill>
                      <a:srgbClr val="F7FAF7"/>
                    </a:solidFill>
                  </a:tcPr>
                </a:tc>
              </a:tr>
              <a:tr h="329184">
                <a:tc>
                  <a:txBody>
                    <a:bodyPr/>
                    <a:lstStyle/>
                    <a:p>
                      <a:r>
                        <a:rPr sz="1050">
                          <a:solidFill>
                            <a:srgbClr val="25342A"/>
                          </a:solidFill>
                        </a:rPr>
                        <a:t>Gross margin client work need just to cover overheads and time not charged</a:t>
                      </a:r>
                    </a:p>
                  </a:txBody>
                  <a:tcPr>
                    <a:solidFill>
                      <a:srgbClr val="FFFFFF"/>
                    </a:solidFill>
                  </a:tcPr>
                </a:tc>
                <a:tc>
                  <a:txBody>
                    <a:bodyPr/>
                    <a:lstStyle/>
                    <a:p>
                      <a:pPr algn="r"/>
                      <a:r>
                        <a:rPr sz="1050">
                          <a:solidFill>
                            <a:srgbClr val="25342A"/>
                          </a:solidFill>
                        </a:rPr>
                        <a:t>93.0%</a:t>
                      </a:r>
                    </a:p>
                  </a:txBody>
                  <a:tcPr>
                    <a:solidFill>
                      <a:srgbClr val="FFFFFF"/>
                    </a:solidFill>
                  </a:tcPr>
                </a:tc>
              </a:tr>
            </a:tbl>
          </a:graphicData>
        </a:graphic>
      </p:graphicFrame>
      <p:sp>
        <p:nvSpPr>
          <p:cNvPr id="7" name="TextBox 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growth.pptx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16 of 27</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Headline numbers · Services · Type of work: All</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783080"/>
            <a:ext cx="3210458" cy="457200"/>
          </a:xfrm>
          <a:prstGeom prst="rect">
            <a:avLst/>
          </a:prstGeom>
          <a:noFill/>
        </p:spPr>
        <p:txBody>
          <a:bodyPr wrap="square">
            <a:spAutoFit/>
          </a:bodyPr>
          <a:lstStyle/>
          <a:p>
            <a:r>
              <a:rPr sz="1200" b="0">
                <a:solidFill>
                  <a:srgbClr val="5F6F63"/>
                </a:solidFill>
                <a:latin typeface="Arial"/>
              </a:rPr>
              <a:t>May against May last year</a:t>
            </a:r>
          </a:p>
        </p:txBody>
      </p:sp>
      <p:sp>
        <p:nvSpPr>
          <p:cNvPr id="7" name="TextBox 6"/>
          <p:cNvSpPr txBox="1"/>
          <p:nvPr/>
        </p:nvSpPr>
        <p:spPr>
          <a:xfrm>
            <a:off x="640080" y="2240280"/>
            <a:ext cx="3210458" cy="731520"/>
          </a:xfrm>
          <a:prstGeom prst="rect">
            <a:avLst/>
          </a:prstGeom>
          <a:noFill/>
        </p:spPr>
        <p:txBody>
          <a:bodyPr wrap="square">
            <a:spAutoFit/>
          </a:bodyPr>
          <a:lstStyle/>
          <a:p>
            <a:r>
              <a:rPr sz="3000" b="1">
                <a:solidFill>
                  <a:srgbClr val="B42318"/>
                </a:solidFill>
                <a:latin typeface="Arial"/>
              </a:rPr>
              <a:t>(19.3%)</a:t>
            </a:r>
          </a:p>
        </p:txBody>
      </p:sp>
      <p:sp>
        <p:nvSpPr>
          <p:cNvPr id="8" name="TextBox 7"/>
          <p:cNvSpPr txBox="1"/>
          <p:nvPr/>
        </p:nvSpPr>
        <p:spPr>
          <a:xfrm>
            <a:off x="640080" y="3017520"/>
            <a:ext cx="3210458" cy="548640"/>
          </a:xfrm>
          <a:prstGeom prst="rect">
            <a:avLst/>
          </a:prstGeom>
          <a:noFill/>
        </p:spPr>
        <p:txBody>
          <a:bodyPr wrap="square">
            <a:spAutoFit/>
          </a:bodyPr>
          <a:lstStyle/>
          <a:p>
            <a:r>
              <a:rPr sz="1100" b="0">
                <a:solidFill>
                  <a:srgbClr val="5F6F63"/>
                </a:solidFill>
                <a:latin typeface="Arial"/>
              </a:rPr>
              <a:t>$77,090 against $95,555</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490618" y="1783080"/>
            <a:ext cx="3210458" cy="457200"/>
          </a:xfrm>
          <a:prstGeom prst="rect">
            <a:avLst/>
          </a:prstGeom>
          <a:noFill/>
        </p:spPr>
        <p:txBody>
          <a:bodyPr wrap="square">
            <a:spAutoFit/>
          </a:bodyPr>
          <a:lstStyle/>
          <a:p>
            <a:r>
              <a:rPr sz="1200" b="0">
                <a:solidFill>
                  <a:srgbClr val="5F6F63"/>
                </a:solidFill>
                <a:latin typeface="Arial"/>
              </a:rPr>
              <a:t>Year to date (Jul to May 2026)</a:t>
            </a:r>
          </a:p>
        </p:txBody>
      </p:sp>
      <p:sp>
        <p:nvSpPr>
          <p:cNvPr id="11" name="TextBox 10"/>
          <p:cNvSpPr txBox="1"/>
          <p:nvPr/>
        </p:nvSpPr>
        <p:spPr>
          <a:xfrm>
            <a:off x="4490618" y="2240280"/>
            <a:ext cx="3210458" cy="731520"/>
          </a:xfrm>
          <a:prstGeom prst="rect">
            <a:avLst/>
          </a:prstGeom>
          <a:noFill/>
        </p:spPr>
        <p:txBody>
          <a:bodyPr wrap="square">
            <a:spAutoFit/>
          </a:bodyPr>
          <a:lstStyle/>
          <a:p>
            <a:r>
              <a:rPr sz="3000" b="1">
                <a:solidFill>
                  <a:srgbClr val="2F7A5D"/>
                </a:solidFill>
                <a:latin typeface="Arial"/>
              </a:rPr>
              <a:t>$891,920</a:t>
            </a:r>
          </a:p>
        </p:txBody>
      </p:sp>
      <p:sp>
        <p:nvSpPr>
          <p:cNvPr id="12" name="TextBox 11"/>
          <p:cNvSpPr txBox="1"/>
          <p:nvPr/>
        </p:nvSpPr>
        <p:spPr>
          <a:xfrm>
            <a:off x="4490618" y="3017520"/>
            <a:ext cx="3210458" cy="548640"/>
          </a:xfrm>
          <a:prstGeom prst="rect">
            <a:avLst/>
          </a:prstGeom>
          <a:noFill/>
        </p:spPr>
        <p:txBody>
          <a:bodyPr wrap="square">
            <a:spAutoFit/>
          </a:bodyPr>
          <a:lstStyle/>
          <a:p>
            <a:r>
              <a:rPr sz="1100" b="0">
                <a:solidFill>
                  <a:srgbClr val="5F6F63"/>
                </a:solidFill>
                <a:latin typeface="Arial"/>
              </a:rPr>
              <a:t>same period last year: not in the data</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341156" y="1783080"/>
            <a:ext cx="3210458" cy="457200"/>
          </a:xfrm>
          <a:prstGeom prst="rect">
            <a:avLst/>
          </a:prstGeom>
          <a:noFill/>
        </p:spPr>
        <p:txBody>
          <a:bodyPr wrap="square">
            <a:spAutoFit/>
          </a:bodyPr>
          <a:lstStyle/>
          <a:p>
            <a:r>
              <a:rPr sz="1200" b="0">
                <a:solidFill>
                  <a:srgbClr val="5F6F63"/>
                </a:solidFill>
                <a:latin typeface="Arial"/>
              </a:rPr>
              <a:t>Gross margin, year to date</a:t>
            </a:r>
          </a:p>
        </p:txBody>
      </p:sp>
      <p:sp>
        <p:nvSpPr>
          <p:cNvPr id="15" name="TextBox 14"/>
          <p:cNvSpPr txBox="1"/>
          <p:nvPr/>
        </p:nvSpPr>
        <p:spPr>
          <a:xfrm>
            <a:off x="8341156" y="2240280"/>
            <a:ext cx="3210458" cy="731520"/>
          </a:xfrm>
          <a:prstGeom prst="rect">
            <a:avLst/>
          </a:prstGeom>
          <a:noFill/>
        </p:spPr>
        <p:txBody>
          <a:bodyPr wrap="square">
            <a:spAutoFit/>
          </a:bodyPr>
          <a:lstStyle/>
          <a:p>
            <a:r>
              <a:rPr sz="3000" b="1">
                <a:solidFill>
                  <a:srgbClr val="2F7A5D"/>
                </a:solidFill>
                <a:latin typeface="Arial"/>
              </a:rPr>
              <a:t>64.0%</a:t>
            </a:r>
          </a:p>
        </p:txBody>
      </p:sp>
      <p:sp>
        <p:nvSpPr>
          <p:cNvPr id="16" name="TextBox 15"/>
          <p:cNvSpPr txBox="1"/>
          <p:nvPr/>
        </p:nvSpPr>
        <p:spPr>
          <a:xfrm>
            <a:off x="8341156" y="3017520"/>
            <a:ext cx="3210458" cy="548640"/>
          </a:xfrm>
          <a:prstGeom prst="rect">
            <a:avLst/>
          </a:prstGeom>
          <a:noFill/>
        </p:spPr>
        <p:txBody>
          <a:bodyPr wrap="square">
            <a:spAutoFit/>
          </a:bodyPr>
          <a:lstStyle/>
          <a:p>
            <a:r>
              <a:rPr sz="1100" b="0">
                <a:solidFill>
                  <a:srgbClr val="5F6F63"/>
                </a:solidFill>
                <a:latin typeface="Arial"/>
              </a:rPr>
              <a:t>$570,900 before overheads</a:t>
            </a:r>
          </a:p>
        </p:txBody>
      </p:sp>
      <p:sp>
        <p:nvSpPr>
          <p:cNvPr id="17" name="TextBox 1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growth.pptx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17 of 27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What it shows · Services · Type of work: All</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691640"/>
            <a:ext cx="5044287" cy="365760"/>
          </a:xfrm>
          <a:prstGeom prst="rect">
            <a:avLst/>
          </a:prstGeom>
          <a:noFill/>
        </p:spPr>
        <p:txBody>
          <a:bodyPr wrap="square">
            <a:spAutoFit/>
          </a:bodyPr>
          <a:lstStyle/>
          <a:p>
            <a:r>
              <a:rPr sz="1100" b="1">
                <a:solidFill>
                  <a:srgbClr val="5F6F63"/>
                </a:solidFill>
                <a:latin typeface="Arial"/>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r>
              <a:rPr sz="1600" b="0">
                <a:solidFill>
                  <a:srgbClr val="25342A"/>
                </a:solidFill>
                <a:latin typeface="Arial"/>
              </a:rPr>
              <a:t>Revenue is $891,920 this financial year to date (Jul to May 2026). Training makes the highest gross margin (75.1%); Projects the lowest (61.7%). The business needs 93.0% gross margin just to cover overheads.</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61607" y="1691640"/>
            <a:ext cx="5044287" cy="365760"/>
          </a:xfrm>
          <a:prstGeom prst="rect">
            <a:avLst/>
          </a:prstGeom>
          <a:noFill/>
        </p:spPr>
        <p:txBody>
          <a:bodyPr wrap="square">
            <a:spAutoFit/>
          </a:bodyPr>
          <a:lstStyle/>
          <a:p>
            <a:r>
              <a:rPr sz="1100" b="1">
                <a:solidFill>
                  <a:srgbClr val="5F6F63"/>
                </a:solidFill>
                <a:latin typeface="Arial"/>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r>
              <a:rPr sz="1600" b="0">
                <a:solidFill>
                  <a:srgbClr val="25342A"/>
                </a:solidFill>
                <a:latin typeface="Arial"/>
              </a:rPr>
              <a:t>Training: 75.1% gross margin, the most profitable work you do. Projects: 61.7% gross margin, below the 93.0% needed to cover overheads.</a:t>
            </a:r>
          </a:p>
        </p:txBody>
      </p:sp>
      <p:sp>
        <p:nvSpPr>
          <p:cNvPr id="11" name="TextBox 10"/>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growth.pptx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18 of 27</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Headline numbers · Services · Type of work: Projects</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783080"/>
            <a:ext cx="3210458" cy="457200"/>
          </a:xfrm>
          <a:prstGeom prst="rect">
            <a:avLst/>
          </a:prstGeom>
          <a:noFill/>
        </p:spPr>
        <p:txBody>
          <a:bodyPr wrap="square">
            <a:spAutoFit/>
          </a:bodyPr>
          <a:lstStyle/>
          <a:p>
            <a:r>
              <a:rPr sz="1200" b="0">
                <a:solidFill>
                  <a:srgbClr val="5F6F63"/>
                </a:solidFill>
                <a:latin typeface="Arial"/>
              </a:rPr>
              <a:t>May against May last year</a:t>
            </a:r>
          </a:p>
        </p:txBody>
      </p:sp>
      <p:sp>
        <p:nvSpPr>
          <p:cNvPr id="7" name="TextBox 6"/>
          <p:cNvSpPr txBox="1"/>
          <p:nvPr/>
        </p:nvSpPr>
        <p:spPr>
          <a:xfrm>
            <a:off x="640080" y="2240280"/>
            <a:ext cx="3210458" cy="731520"/>
          </a:xfrm>
          <a:prstGeom prst="rect">
            <a:avLst/>
          </a:prstGeom>
          <a:noFill/>
        </p:spPr>
        <p:txBody>
          <a:bodyPr wrap="square">
            <a:spAutoFit/>
          </a:bodyPr>
          <a:lstStyle/>
          <a:p>
            <a:r>
              <a:rPr sz="3000" b="1">
                <a:solidFill>
                  <a:srgbClr val="B42318"/>
                </a:solidFill>
                <a:latin typeface="Arial"/>
              </a:rPr>
              <a:t>(27.1%)</a:t>
            </a:r>
          </a:p>
        </p:txBody>
      </p:sp>
      <p:sp>
        <p:nvSpPr>
          <p:cNvPr id="8" name="TextBox 7"/>
          <p:cNvSpPr txBox="1"/>
          <p:nvPr/>
        </p:nvSpPr>
        <p:spPr>
          <a:xfrm>
            <a:off x="640080" y="3017520"/>
            <a:ext cx="3210458" cy="548640"/>
          </a:xfrm>
          <a:prstGeom prst="rect">
            <a:avLst/>
          </a:prstGeom>
          <a:noFill/>
        </p:spPr>
        <p:txBody>
          <a:bodyPr wrap="square">
            <a:spAutoFit/>
          </a:bodyPr>
          <a:lstStyle/>
          <a:p>
            <a:r>
              <a:rPr sz="1100" b="0">
                <a:solidFill>
                  <a:srgbClr val="5F6F63"/>
                </a:solidFill>
                <a:latin typeface="Arial"/>
              </a:rPr>
              <a:t>$43,590 against $59,755</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490618" y="1783080"/>
            <a:ext cx="3210458" cy="457200"/>
          </a:xfrm>
          <a:prstGeom prst="rect">
            <a:avLst/>
          </a:prstGeom>
          <a:noFill/>
        </p:spPr>
        <p:txBody>
          <a:bodyPr wrap="square">
            <a:spAutoFit/>
          </a:bodyPr>
          <a:lstStyle/>
          <a:p>
            <a:r>
              <a:rPr sz="1200" b="0">
                <a:solidFill>
                  <a:srgbClr val="5F6F63"/>
                </a:solidFill>
                <a:latin typeface="Arial"/>
              </a:rPr>
              <a:t>Year to date (Jul to May 2026)</a:t>
            </a:r>
          </a:p>
        </p:txBody>
      </p:sp>
      <p:sp>
        <p:nvSpPr>
          <p:cNvPr id="11" name="TextBox 10"/>
          <p:cNvSpPr txBox="1"/>
          <p:nvPr/>
        </p:nvSpPr>
        <p:spPr>
          <a:xfrm>
            <a:off x="4490618" y="2240280"/>
            <a:ext cx="3210458" cy="731520"/>
          </a:xfrm>
          <a:prstGeom prst="rect">
            <a:avLst/>
          </a:prstGeom>
          <a:noFill/>
        </p:spPr>
        <p:txBody>
          <a:bodyPr wrap="square">
            <a:spAutoFit/>
          </a:bodyPr>
          <a:lstStyle/>
          <a:p>
            <a:r>
              <a:rPr sz="3000" b="1">
                <a:solidFill>
                  <a:srgbClr val="2F7A5D"/>
                </a:solidFill>
                <a:latin typeface="Arial"/>
              </a:rPr>
              <a:t>$552,820</a:t>
            </a:r>
          </a:p>
        </p:txBody>
      </p:sp>
      <p:sp>
        <p:nvSpPr>
          <p:cNvPr id="12" name="TextBox 11"/>
          <p:cNvSpPr txBox="1"/>
          <p:nvPr/>
        </p:nvSpPr>
        <p:spPr>
          <a:xfrm>
            <a:off x="4490618" y="3017520"/>
            <a:ext cx="3210458" cy="548640"/>
          </a:xfrm>
          <a:prstGeom prst="rect">
            <a:avLst/>
          </a:prstGeom>
          <a:noFill/>
        </p:spPr>
        <p:txBody>
          <a:bodyPr wrap="square">
            <a:spAutoFit/>
          </a:bodyPr>
          <a:lstStyle/>
          <a:p>
            <a:r>
              <a:rPr sz="1100" b="0">
                <a:solidFill>
                  <a:srgbClr val="5F6F63"/>
                </a:solidFill>
                <a:latin typeface="Arial"/>
              </a:rPr>
              <a:t>same period last year: not in the data</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341156" y="1783080"/>
            <a:ext cx="3210458" cy="457200"/>
          </a:xfrm>
          <a:prstGeom prst="rect">
            <a:avLst/>
          </a:prstGeom>
          <a:noFill/>
        </p:spPr>
        <p:txBody>
          <a:bodyPr wrap="square">
            <a:spAutoFit/>
          </a:bodyPr>
          <a:lstStyle/>
          <a:p>
            <a:r>
              <a:rPr sz="1200" b="0">
                <a:solidFill>
                  <a:srgbClr val="5F6F63"/>
                </a:solidFill>
                <a:latin typeface="Arial"/>
              </a:rPr>
              <a:t>Gross margin, year to date</a:t>
            </a:r>
          </a:p>
        </p:txBody>
      </p:sp>
      <p:sp>
        <p:nvSpPr>
          <p:cNvPr id="15" name="TextBox 14"/>
          <p:cNvSpPr txBox="1"/>
          <p:nvPr/>
        </p:nvSpPr>
        <p:spPr>
          <a:xfrm>
            <a:off x="8341156" y="2240280"/>
            <a:ext cx="3210458" cy="731520"/>
          </a:xfrm>
          <a:prstGeom prst="rect">
            <a:avLst/>
          </a:prstGeom>
          <a:noFill/>
        </p:spPr>
        <p:txBody>
          <a:bodyPr wrap="square">
            <a:spAutoFit/>
          </a:bodyPr>
          <a:lstStyle/>
          <a:p>
            <a:r>
              <a:rPr sz="3000" b="1">
                <a:solidFill>
                  <a:srgbClr val="2F7A5D"/>
                </a:solidFill>
                <a:latin typeface="Arial"/>
              </a:rPr>
              <a:t>61.7%</a:t>
            </a:r>
          </a:p>
        </p:txBody>
      </p:sp>
      <p:sp>
        <p:nvSpPr>
          <p:cNvPr id="16" name="TextBox 15"/>
          <p:cNvSpPr txBox="1"/>
          <p:nvPr/>
        </p:nvSpPr>
        <p:spPr>
          <a:xfrm>
            <a:off x="8341156" y="3017520"/>
            <a:ext cx="3210458" cy="548640"/>
          </a:xfrm>
          <a:prstGeom prst="rect">
            <a:avLst/>
          </a:prstGeom>
          <a:noFill/>
        </p:spPr>
        <p:txBody>
          <a:bodyPr wrap="square">
            <a:spAutoFit/>
          </a:bodyPr>
          <a:lstStyle/>
          <a:p>
            <a:r>
              <a:rPr sz="1100" b="0">
                <a:solidFill>
                  <a:srgbClr val="5F6F63"/>
                </a:solidFill>
                <a:latin typeface="Arial"/>
              </a:rPr>
              <a:t>$341,000 before overheads</a:t>
            </a:r>
          </a:p>
        </p:txBody>
      </p:sp>
      <p:sp>
        <p:nvSpPr>
          <p:cNvPr id="17" name="TextBox 1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growth.pptx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19 of 27</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What it shows · Services · Type of work: Projects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691640"/>
            <a:ext cx="5044287" cy="365760"/>
          </a:xfrm>
          <a:prstGeom prst="rect">
            <a:avLst/>
          </a:prstGeom>
          <a:noFill/>
        </p:spPr>
        <p:txBody>
          <a:bodyPr wrap="square">
            <a:spAutoFit/>
          </a:bodyPr>
          <a:lstStyle/>
          <a:p>
            <a:r>
              <a:rPr sz="1100" b="1">
                <a:solidFill>
                  <a:srgbClr val="5F6F63"/>
                </a:solidFill>
                <a:latin typeface="Arial"/>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r>
              <a:rPr sz="1600" b="0">
                <a:solidFill>
                  <a:srgbClr val="25342A"/>
                </a:solidFill>
                <a:latin typeface="Arial"/>
              </a:rPr>
              <a:t>Projects brought in $552,820 this financial year to date, at a 61.7% gross margin (below the 64.0% overall).</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61607" y="1691640"/>
            <a:ext cx="5044287" cy="365760"/>
          </a:xfrm>
          <a:prstGeom prst="rect">
            <a:avLst/>
          </a:prstGeom>
          <a:noFill/>
        </p:spPr>
        <p:txBody>
          <a:bodyPr wrap="square">
            <a:spAutoFit/>
          </a:bodyPr>
          <a:lstStyle/>
          <a:p>
            <a:r>
              <a:rPr sz="1100" b="1">
                <a:solidFill>
                  <a:srgbClr val="5F6F63"/>
                </a:solidFill>
                <a:latin typeface="Arial"/>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r>
              <a:rPr sz="1600" b="0">
                <a:solidFill>
                  <a:srgbClr val="25342A"/>
                </a:solidFill>
                <a:latin typeface="Arial"/>
              </a:rPr>
              <a:t>Projects: 61.7% gross margin, below the 93.0% needed to cover overheads.</a:t>
            </a:r>
          </a:p>
        </p:txBody>
      </p:sp>
      <p:sp>
        <p:nvSpPr>
          <p:cNvPr id="11" name="TextBox 10"/>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growth.pptx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20 of 27</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Headline numbers · Services · Type of work: Retainers</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783080"/>
            <a:ext cx="3210458" cy="457200"/>
          </a:xfrm>
          <a:prstGeom prst="rect">
            <a:avLst/>
          </a:prstGeom>
          <a:noFill/>
        </p:spPr>
        <p:txBody>
          <a:bodyPr wrap="square">
            <a:spAutoFit/>
          </a:bodyPr>
          <a:lstStyle/>
          <a:p>
            <a:r>
              <a:rPr sz="1200" b="0">
                <a:solidFill>
                  <a:srgbClr val="5F6F63"/>
                </a:solidFill>
                <a:latin typeface="Arial"/>
              </a:rPr>
              <a:t>May against May last year</a:t>
            </a:r>
          </a:p>
        </p:txBody>
      </p:sp>
      <p:sp>
        <p:nvSpPr>
          <p:cNvPr id="7" name="TextBox 6"/>
          <p:cNvSpPr txBox="1"/>
          <p:nvPr/>
        </p:nvSpPr>
        <p:spPr>
          <a:xfrm>
            <a:off x="640080" y="2240280"/>
            <a:ext cx="3210458" cy="731520"/>
          </a:xfrm>
          <a:prstGeom prst="rect">
            <a:avLst/>
          </a:prstGeom>
          <a:noFill/>
        </p:spPr>
        <p:txBody>
          <a:bodyPr wrap="square">
            <a:spAutoFit/>
          </a:bodyPr>
          <a:lstStyle/>
          <a:p>
            <a:r>
              <a:rPr sz="3000" b="1">
                <a:solidFill>
                  <a:srgbClr val="2F7A5D"/>
                </a:solidFill>
                <a:latin typeface="Arial"/>
              </a:rPr>
              <a:t>29.8%</a:t>
            </a:r>
          </a:p>
        </p:txBody>
      </p:sp>
      <p:sp>
        <p:nvSpPr>
          <p:cNvPr id="8" name="TextBox 7"/>
          <p:cNvSpPr txBox="1"/>
          <p:nvPr/>
        </p:nvSpPr>
        <p:spPr>
          <a:xfrm>
            <a:off x="640080" y="3017520"/>
            <a:ext cx="3210458" cy="548640"/>
          </a:xfrm>
          <a:prstGeom prst="rect">
            <a:avLst/>
          </a:prstGeom>
          <a:noFill/>
        </p:spPr>
        <p:txBody>
          <a:bodyPr wrap="square">
            <a:spAutoFit/>
          </a:bodyPr>
          <a:lstStyle/>
          <a:p>
            <a:r>
              <a:rPr sz="1100" b="0">
                <a:solidFill>
                  <a:srgbClr val="5F6F63"/>
                </a:solidFill>
                <a:latin typeface="Arial"/>
              </a:rPr>
              <a:t>$28,300 against $21,800</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490618" y="1783080"/>
            <a:ext cx="3210458" cy="457200"/>
          </a:xfrm>
          <a:prstGeom prst="rect">
            <a:avLst/>
          </a:prstGeom>
          <a:noFill/>
        </p:spPr>
        <p:txBody>
          <a:bodyPr wrap="square">
            <a:spAutoFit/>
          </a:bodyPr>
          <a:lstStyle/>
          <a:p>
            <a:r>
              <a:rPr sz="1200" b="0">
                <a:solidFill>
                  <a:srgbClr val="5F6F63"/>
                </a:solidFill>
                <a:latin typeface="Arial"/>
              </a:rPr>
              <a:t>Year to date (Jul to May 2026)</a:t>
            </a:r>
          </a:p>
        </p:txBody>
      </p:sp>
      <p:sp>
        <p:nvSpPr>
          <p:cNvPr id="11" name="TextBox 10"/>
          <p:cNvSpPr txBox="1"/>
          <p:nvPr/>
        </p:nvSpPr>
        <p:spPr>
          <a:xfrm>
            <a:off x="4490618" y="2240280"/>
            <a:ext cx="3210458" cy="731520"/>
          </a:xfrm>
          <a:prstGeom prst="rect">
            <a:avLst/>
          </a:prstGeom>
          <a:noFill/>
        </p:spPr>
        <p:txBody>
          <a:bodyPr wrap="square">
            <a:spAutoFit/>
          </a:bodyPr>
          <a:lstStyle/>
          <a:p>
            <a:r>
              <a:rPr sz="3000" b="1">
                <a:solidFill>
                  <a:srgbClr val="2F7A5D"/>
                </a:solidFill>
                <a:latin typeface="Arial"/>
              </a:rPr>
              <a:t>$263,300</a:t>
            </a:r>
          </a:p>
        </p:txBody>
      </p:sp>
      <p:sp>
        <p:nvSpPr>
          <p:cNvPr id="12" name="TextBox 11"/>
          <p:cNvSpPr txBox="1"/>
          <p:nvPr/>
        </p:nvSpPr>
        <p:spPr>
          <a:xfrm>
            <a:off x="4490618" y="3017520"/>
            <a:ext cx="3210458" cy="548640"/>
          </a:xfrm>
          <a:prstGeom prst="rect">
            <a:avLst/>
          </a:prstGeom>
          <a:noFill/>
        </p:spPr>
        <p:txBody>
          <a:bodyPr wrap="square">
            <a:spAutoFit/>
          </a:bodyPr>
          <a:lstStyle/>
          <a:p>
            <a:r>
              <a:rPr sz="1100" b="0">
                <a:solidFill>
                  <a:srgbClr val="5F6F63"/>
                </a:solidFill>
                <a:latin typeface="Arial"/>
              </a:rPr>
              <a:t>same period last year: not in the data</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341156" y="1783080"/>
            <a:ext cx="3210458" cy="457200"/>
          </a:xfrm>
          <a:prstGeom prst="rect">
            <a:avLst/>
          </a:prstGeom>
          <a:noFill/>
        </p:spPr>
        <p:txBody>
          <a:bodyPr wrap="square">
            <a:spAutoFit/>
          </a:bodyPr>
          <a:lstStyle/>
          <a:p>
            <a:r>
              <a:rPr sz="1200" b="0">
                <a:solidFill>
                  <a:srgbClr val="5F6F63"/>
                </a:solidFill>
                <a:latin typeface="Arial"/>
              </a:rPr>
              <a:t>Gross margin, year to date</a:t>
            </a:r>
          </a:p>
        </p:txBody>
      </p:sp>
      <p:sp>
        <p:nvSpPr>
          <p:cNvPr id="15" name="TextBox 14"/>
          <p:cNvSpPr txBox="1"/>
          <p:nvPr/>
        </p:nvSpPr>
        <p:spPr>
          <a:xfrm>
            <a:off x="8341156" y="2240280"/>
            <a:ext cx="3210458" cy="731520"/>
          </a:xfrm>
          <a:prstGeom prst="rect">
            <a:avLst/>
          </a:prstGeom>
          <a:noFill/>
        </p:spPr>
        <p:txBody>
          <a:bodyPr wrap="square">
            <a:spAutoFit/>
          </a:bodyPr>
          <a:lstStyle/>
          <a:p>
            <a:r>
              <a:rPr sz="3000" b="1">
                <a:solidFill>
                  <a:srgbClr val="2F7A5D"/>
                </a:solidFill>
                <a:latin typeface="Arial"/>
              </a:rPr>
              <a:t>65.7%</a:t>
            </a:r>
          </a:p>
        </p:txBody>
      </p:sp>
      <p:sp>
        <p:nvSpPr>
          <p:cNvPr id="16" name="TextBox 15"/>
          <p:cNvSpPr txBox="1"/>
          <p:nvPr/>
        </p:nvSpPr>
        <p:spPr>
          <a:xfrm>
            <a:off x="8341156" y="3017520"/>
            <a:ext cx="3210458" cy="548640"/>
          </a:xfrm>
          <a:prstGeom prst="rect">
            <a:avLst/>
          </a:prstGeom>
          <a:noFill/>
        </p:spPr>
        <p:txBody>
          <a:bodyPr wrap="square">
            <a:spAutoFit/>
          </a:bodyPr>
          <a:lstStyle/>
          <a:p>
            <a:r>
              <a:rPr sz="1100" b="0">
                <a:solidFill>
                  <a:srgbClr val="5F6F63"/>
                </a:solidFill>
                <a:latin typeface="Arial"/>
              </a:rPr>
              <a:t>$173,000 before overheads</a:t>
            </a:r>
          </a:p>
        </p:txBody>
      </p:sp>
      <p:sp>
        <p:nvSpPr>
          <p:cNvPr id="17" name="TextBox 1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growth.pptx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21 of 27</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What it shows · Services · Type of work: Retainers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691640"/>
            <a:ext cx="5044287" cy="365760"/>
          </a:xfrm>
          <a:prstGeom prst="rect">
            <a:avLst/>
          </a:prstGeom>
          <a:noFill/>
        </p:spPr>
        <p:txBody>
          <a:bodyPr wrap="square">
            <a:spAutoFit/>
          </a:bodyPr>
          <a:lstStyle/>
          <a:p>
            <a:r>
              <a:rPr sz="1100" b="1">
                <a:solidFill>
                  <a:srgbClr val="5F6F63"/>
                </a:solidFill>
                <a:latin typeface="Arial"/>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r>
              <a:rPr sz="1600" b="0">
                <a:solidFill>
                  <a:srgbClr val="25342A"/>
                </a:solidFill>
                <a:latin typeface="Arial"/>
              </a:rPr>
              <a:t>Retainers brought in $263,300 this financial year to date, at a 65.7% gross margin (above the 64.0% overall).</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61607" y="1691640"/>
            <a:ext cx="5044287" cy="365760"/>
          </a:xfrm>
          <a:prstGeom prst="rect">
            <a:avLst/>
          </a:prstGeom>
          <a:noFill/>
        </p:spPr>
        <p:txBody>
          <a:bodyPr wrap="square">
            <a:spAutoFit/>
          </a:bodyPr>
          <a:lstStyle/>
          <a:p>
            <a:r>
              <a:rPr sz="1100" b="1">
                <a:solidFill>
                  <a:srgbClr val="5F6F63"/>
                </a:solidFill>
                <a:latin typeface="Arial"/>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r>
              <a:rPr sz="1600" b="0">
                <a:solidFill>
                  <a:srgbClr val="25342A"/>
                </a:solidFill>
                <a:latin typeface="Arial"/>
              </a:rPr>
              <a:t>Retainers: 65.7% gross margin, below the 93.0% needed to cover overheads.</a:t>
            </a:r>
          </a:p>
        </p:txBody>
      </p:sp>
      <p:sp>
        <p:nvSpPr>
          <p:cNvPr id="11" name="TextBox 10"/>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growth.pptx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22 of 27</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Headline numbers · Services · Type of work: Training</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783080"/>
            <a:ext cx="3210458" cy="457200"/>
          </a:xfrm>
          <a:prstGeom prst="rect">
            <a:avLst/>
          </a:prstGeom>
          <a:noFill/>
        </p:spPr>
        <p:txBody>
          <a:bodyPr wrap="square">
            <a:spAutoFit/>
          </a:bodyPr>
          <a:lstStyle/>
          <a:p>
            <a:r>
              <a:rPr sz="1200" b="0">
                <a:solidFill>
                  <a:srgbClr val="5F6F63"/>
                </a:solidFill>
                <a:latin typeface="Arial"/>
              </a:rPr>
              <a:t>May against May last year</a:t>
            </a:r>
          </a:p>
        </p:txBody>
      </p:sp>
      <p:sp>
        <p:nvSpPr>
          <p:cNvPr id="7" name="TextBox 6"/>
          <p:cNvSpPr txBox="1"/>
          <p:nvPr/>
        </p:nvSpPr>
        <p:spPr>
          <a:xfrm>
            <a:off x="640080" y="2240280"/>
            <a:ext cx="3210458" cy="731520"/>
          </a:xfrm>
          <a:prstGeom prst="rect">
            <a:avLst/>
          </a:prstGeom>
          <a:noFill/>
        </p:spPr>
        <p:txBody>
          <a:bodyPr wrap="square">
            <a:spAutoFit/>
          </a:bodyPr>
          <a:lstStyle/>
          <a:p>
            <a:r>
              <a:rPr sz="3000" b="1">
                <a:solidFill>
                  <a:srgbClr val="B42318"/>
                </a:solidFill>
                <a:latin typeface="Arial"/>
              </a:rPr>
              <a:t>(62.9%)</a:t>
            </a:r>
          </a:p>
        </p:txBody>
      </p:sp>
      <p:sp>
        <p:nvSpPr>
          <p:cNvPr id="8" name="TextBox 7"/>
          <p:cNvSpPr txBox="1"/>
          <p:nvPr/>
        </p:nvSpPr>
        <p:spPr>
          <a:xfrm>
            <a:off x="640080" y="3017520"/>
            <a:ext cx="3210458" cy="548640"/>
          </a:xfrm>
          <a:prstGeom prst="rect">
            <a:avLst/>
          </a:prstGeom>
          <a:noFill/>
        </p:spPr>
        <p:txBody>
          <a:bodyPr wrap="square">
            <a:spAutoFit/>
          </a:bodyPr>
          <a:lstStyle/>
          <a:p>
            <a:r>
              <a:rPr sz="1100" b="0">
                <a:solidFill>
                  <a:srgbClr val="5F6F63"/>
                </a:solidFill>
                <a:latin typeface="Arial"/>
              </a:rPr>
              <a:t>$5,200 against $14,000</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490618" y="1783080"/>
            <a:ext cx="3210458" cy="457200"/>
          </a:xfrm>
          <a:prstGeom prst="rect">
            <a:avLst/>
          </a:prstGeom>
          <a:noFill/>
        </p:spPr>
        <p:txBody>
          <a:bodyPr wrap="square">
            <a:spAutoFit/>
          </a:bodyPr>
          <a:lstStyle/>
          <a:p>
            <a:r>
              <a:rPr sz="1200" b="0">
                <a:solidFill>
                  <a:srgbClr val="5F6F63"/>
                </a:solidFill>
                <a:latin typeface="Arial"/>
              </a:rPr>
              <a:t>Year to date (Jul to May 2026)</a:t>
            </a:r>
          </a:p>
        </p:txBody>
      </p:sp>
      <p:sp>
        <p:nvSpPr>
          <p:cNvPr id="11" name="TextBox 10"/>
          <p:cNvSpPr txBox="1"/>
          <p:nvPr/>
        </p:nvSpPr>
        <p:spPr>
          <a:xfrm>
            <a:off x="4490618" y="2240280"/>
            <a:ext cx="3210458" cy="731520"/>
          </a:xfrm>
          <a:prstGeom prst="rect">
            <a:avLst/>
          </a:prstGeom>
          <a:noFill/>
        </p:spPr>
        <p:txBody>
          <a:bodyPr wrap="square">
            <a:spAutoFit/>
          </a:bodyPr>
          <a:lstStyle/>
          <a:p>
            <a:r>
              <a:rPr sz="3000" b="1">
                <a:solidFill>
                  <a:srgbClr val="2F7A5D"/>
                </a:solidFill>
                <a:latin typeface="Arial"/>
              </a:rPr>
              <a:t>$75,800</a:t>
            </a:r>
          </a:p>
        </p:txBody>
      </p:sp>
      <p:sp>
        <p:nvSpPr>
          <p:cNvPr id="12" name="TextBox 11"/>
          <p:cNvSpPr txBox="1"/>
          <p:nvPr/>
        </p:nvSpPr>
        <p:spPr>
          <a:xfrm>
            <a:off x="4490618" y="3017520"/>
            <a:ext cx="3210458" cy="548640"/>
          </a:xfrm>
          <a:prstGeom prst="rect">
            <a:avLst/>
          </a:prstGeom>
          <a:noFill/>
        </p:spPr>
        <p:txBody>
          <a:bodyPr wrap="square">
            <a:spAutoFit/>
          </a:bodyPr>
          <a:lstStyle/>
          <a:p>
            <a:r>
              <a:rPr sz="1100" b="0">
                <a:solidFill>
                  <a:srgbClr val="5F6F63"/>
                </a:solidFill>
                <a:latin typeface="Arial"/>
              </a:rPr>
              <a:t>same period last year: not in the data</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341156" y="1783080"/>
            <a:ext cx="3210458" cy="457200"/>
          </a:xfrm>
          <a:prstGeom prst="rect">
            <a:avLst/>
          </a:prstGeom>
          <a:noFill/>
        </p:spPr>
        <p:txBody>
          <a:bodyPr wrap="square">
            <a:spAutoFit/>
          </a:bodyPr>
          <a:lstStyle/>
          <a:p>
            <a:r>
              <a:rPr sz="1200" b="0">
                <a:solidFill>
                  <a:srgbClr val="5F6F63"/>
                </a:solidFill>
                <a:latin typeface="Arial"/>
              </a:rPr>
              <a:t>Gross margin, year to date</a:t>
            </a:r>
          </a:p>
        </p:txBody>
      </p:sp>
      <p:sp>
        <p:nvSpPr>
          <p:cNvPr id="15" name="TextBox 14"/>
          <p:cNvSpPr txBox="1"/>
          <p:nvPr/>
        </p:nvSpPr>
        <p:spPr>
          <a:xfrm>
            <a:off x="8341156" y="2240280"/>
            <a:ext cx="3210458" cy="731520"/>
          </a:xfrm>
          <a:prstGeom prst="rect">
            <a:avLst/>
          </a:prstGeom>
          <a:noFill/>
        </p:spPr>
        <p:txBody>
          <a:bodyPr wrap="square">
            <a:spAutoFit/>
          </a:bodyPr>
          <a:lstStyle/>
          <a:p>
            <a:r>
              <a:rPr sz="3000" b="1">
                <a:solidFill>
                  <a:srgbClr val="2F7A5D"/>
                </a:solidFill>
                <a:latin typeface="Arial"/>
              </a:rPr>
              <a:t>75.1%</a:t>
            </a:r>
          </a:p>
        </p:txBody>
      </p:sp>
      <p:sp>
        <p:nvSpPr>
          <p:cNvPr id="16" name="TextBox 15"/>
          <p:cNvSpPr txBox="1"/>
          <p:nvPr/>
        </p:nvSpPr>
        <p:spPr>
          <a:xfrm>
            <a:off x="8341156" y="3017520"/>
            <a:ext cx="3210458" cy="548640"/>
          </a:xfrm>
          <a:prstGeom prst="rect">
            <a:avLst/>
          </a:prstGeom>
          <a:noFill/>
        </p:spPr>
        <p:txBody>
          <a:bodyPr wrap="square">
            <a:spAutoFit/>
          </a:bodyPr>
          <a:lstStyle/>
          <a:p>
            <a:r>
              <a:rPr sz="1100" b="0">
                <a:solidFill>
                  <a:srgbClr val="5F6F63"/>
                </a:solidFill>
                <a:latin typeface="Arial"/>
              </a:rPr>
              <a:t>$56,900 before overheads</a:t>
            </a:r>
          </a:p>
        </p:txBody>
      </p:sp>
      <p:sp>
        <p:nvSpPr>
          <p:cNvPr id="17" name="TextBox 1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growth.pptx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23 of 27</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What it shows · Services · Type of work: Training</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691640"/>
            <a:ext cx="5044287" cy="365760"/>
          </a:xfrm>
          <a:prstGeom prst="rect">
            <a:avLst/>
          </a:prstGeom>
          <a:noFill/>
        </p:spPr>
        <p:txBody>
          <a:bodyPr wrap="square">
            <a:spAutoFit/>
          </a:bodyPr>
          <a:lstStyle/>
          <a:p>
            <a:r>
              <a:rPr sz="1100" b="1">
                <a:solidFill>
                  <a:srgbClr val="5F6F63"/>
                </a:solidFill>
                <a:latin typeface="Arial"/>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r>
              <a:rPr sz="1600" b="0">
                <a:solidFill>
                  <a:srgbClr val="25342A"/>
                </a:solidFill>
                <a:latin typeface="Arial"/>
              </a:rPr>
              <a:t>Training brought in $75,800 this financial year to date, at a 75.1% gross margin (above the 64.0% overall).</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61607" y="1691640"/>
            <a:ext cx="5044287" cy="365760"/>
          </a:xfrm>
          <a:prstGeom prst="rect">
            <a:avLst/>
          </a:prstGeom>
          <a:noFill/>
        </p:spPr>
        <p:txBody>
          <a:bodyPr wrap="square">
            <a:spAutoFit/>
          </a:bodyPr>
          <a:lstStyle/>
          <a:p>
            <a:r>
              <a:rPr sz="1100" b="1">
                <a:solidFill>
                  <a:srgbClr val="5F6F63"/>
                </a:solidFill>
                <a:latin typeface="Arial"/>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r>
              <a:rPr sz="1600" b="0">
                <a:solidFill>
                  <a:srgbClr val="25342A"/>
                </a:solidFill>
                <a:latin typeface="Arial"/>
              </a:rPr>
              <a:t>Training: 75.1% gross margin, below the 93.0% needed to cover overheads.</a:t>
            </a:r>
          </a:p>
        </p:txBody>
      </p:sp>
      <p:sp>
        <p:nvSpPr>
          <p:cNvPr id="11" name="TextBox 10"/>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growth.pptx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24 of 27</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Revenue, gross margin and growth by type of work, by month · Revenue $ · Services · Every type of work at once</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Gross margin = revenue less direct cost (materials, subcontractors and time at cost for trades; contractors and consultant time for services), before overheads. Growth is year on year: each month against the same month a year earlier.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growth.pptx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25 of 27</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Revenue, gross margin and growth by type of work, by month · Gross margin % · Services · Every type of work at once</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Gross margin = revenue less direct cost (materials, subcontractors and time at cost for trades; contractors and consultant time for services), before overheads. Growth is year on year: each month against the same month a year earlier.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growth.pptx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26 of 27</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By type of work: financial year to date (Jul to May 2026) against the same period last year · Services · Every type of work at once</a:t>
            </a:r>
          </a:p>
        </p:txBody>
      </p:sp>
      <p:graphicFrame>
        <p:nvGraphicFramePr>
          <p:cNvPr id="5" name="Table 4"/>
          <p:cNvGraphicFramePr>
            <a:graphicFrameLocks noGrp="1"/>
          </p:cNvGraphicFramePr>
          <p:nvPr/>
        </p:nvGraphicFramePr>
        <p:xfrm>
          <a:off x="457200" y="1188720"/>
          <a:ext cx="11247120" cy="1645920"/>
        </p:xfrm>
        <a:graphic>
          <a:graphicData uri="http://schemas.openxmlformats.org/drawingml/2006/table">
            <a:tbl>
              <a:tblPr firstRow="1" bandRow="1">
                <a:tableStyleId>{5C22544A-7EE6-4342-B048-85BDC9FD1C3A}</a:tableStyleId>
              </a:tblPr>
              <a:tblGrid>
                <a:gridCol w="1874520"/>
                <a:gridCol w="1874520"/>
                <a:gridCol w="1874520"/>
                <a:gridCol w="1874520"/>
                <a:gridCol w="1874520"/>
                <a:gridCol w="1874520"/>
              </a:tblGrid>
              <a:tr h="329184">
                <a:tc>
                  <a:txBody>
                    <a:bodyPr/>
                    <a:lstStyle/>
                    <a:p/>
                  </a:txBody>
                  <a:tcPr>
                    <a:solidFill>
                      <a:srgbClr val="2F7A5D"/>
                    </a:solidFill>
                  </a:tcPr>
                </a:tc>
                <a:tc>
                  <a:txBody>
                    <a:bodyPr/>
                    <a:lstStyle/>
                    <a:p>
                      <a:pPr algn="r"/>
                      <a:r>
                        <a:rPr sz="1100" b="1">
                          <a:solidFill>
                            <a:srgbClr val="FFFFFF"/>
                          </a:solidFill>
                        </a:rPr>
                        <a:t>Year to date</a:t>
                      </a:r>
                    </a:p>
                  </a:txBody>
                  <a:tcPr>
                    <a:solidFill>
                      <a:srgbClr val="2F7A5D"/>
                    </a:solidFill>
                  </a:tcPr>
                </a:tc>
                <a:tc>
                  <a:txBody>
                    <a:bodyPr/>
                    <a:lstStyle/>
                    <a:p>
                      <a:pPr algn="r"/>
                      <a:r>
                        <a:rPr sz="1100" b="1">
                          <a:solidFill>
                            <a:srgbClr val="FFFFFF"/>
                          </a:solidFill>
                        </a:rPr>
                        <a:t>Same period last year</a:t>
                      </a:r>
                    </a:p>
                  </a:txBody>
                  <a:tcPr>
                    <a:solidFill>
                      <a:srgbClr val="2F7A5D"/>
                    </a:solidFill>
                  </a:tcPr>
                </a:tc>
                <a:tc>
                  <a:txBody>
                    <a:bodyPr/>
                    <a:lstStyle/>
                    <a:p>
                      <a:pPr algn="r"/>
                      <a:r>
                        <a:rPr sz="1100" b="1">
                          <a:solidFill>
                            <a:srgbClr val="FFFFFF"/>
                          </a:solidFill>
                        </a:rPr>
                        <a:t>Growth</a:t>
                      </a:r>
                    </a:p>
                  </a:txBody>
                  <a:tcPr>
                    <a:solidFill>
                      <a:srgbClr val="2F7A5D"/>
                    </a:solidFill>
                  </a:tcPr>
                </a:tc>
                <a:tc>
                  <a:txBody>
                    <a:bodyPr/>
                    <a:lstStyle/>
                    <a:p>
                      <a:pPr algn="r"/>
                      <a:r>
                        <a:rPr sz="1100" b="1">
                          <a:solidFill>
                            <a:srgbClr val="FFFFFF"/>
                          </a:solidFill>
                        </a:rPr>
                        <a:t>Gross margin $</a:t>
                      </a:r>
                    </a:p>
                  </a:txBody>
                  <a:tcPr>
                    <a:solidFill>
                      <a:srgbClr val="2F7A5D"/>
                    </a:solidFill>
                  </a:tcPr>
                </a:tc>
                <a:tc>
                  <a:txBody>
                    <a:bodyPr/>
                    <a:lstStyle/>
                    <a:p>
                      <a:pPr algn="r"/>
                      <a:r>
                        <a:rPr sz="1100" b="1">
                          <a:solidFill>
                            <a:srgbClr val="FFFFFF"/>
                          </a:solidFill>
                        </a:rPr>
                        <a:t>Gross margin %</a:t>
                      </a:r>
                    </a:p>
                  </a:txBody>
                  <a:tcPr>
                    <a:solidFill>
                      <a:srgbClr val="2F7A5D"/>
                    </a:solidFill>
                  </a:tcPr>
                </a:tc>
              </a:tr>
              <a:tr h="329184">
                <a:tc>
                  <a:txBody>
                    <a:bodyPr/>
                    <a:lstStyle/>
                    <a:p>
                      <a:r>
                        <a:rPr sz="1050">
                          <a:solidFill>
                            <a:srgbClr val="25342A"/>
                          </a:solidFill>
                        </a:rPr>
                        <a:t>Projects</a:t>
                      </a:r>
                    </a:p>
                  </a:txBody>
                  <a:tcPr>
                    <a:solidFill>
                      <a:srgbClr val="FFFFFF"/>
                    </a:solidFill>
                  </a:tcPr>
                </a:tc>
                <a:tc>
                  <a:txBody>
                    <a:bodyPr/>
                    <a:lstStyle/>
                    <a:p>
                      <a:pPr algn="r"/>
                      <a:r>
                        <a:rPr sz="1050">
                          <a:solidFill>
                            <a:srgbClr val="25342A"/>
                          </a:solidFill>
                        </a:rPr>
                        <a:t>$552,820</a:t>
                      </a:r>
                    </a:p>
                  </a:txBody>
                  <a:tcPr>
                    <a:solidFill>
                      <a:srgbClr val="FFFFFF"/>
                    </a:solidFill>
                  </a:tcPr>
                </a:tc>
                <a:tc>
                  <a:txBody>
                    <a:bodyPr/>
                    <a:lstStyle/>
                    <a:p>
                      <a:pPr algn="r"/>
                      <a:r>
                        <a:rPr sz="1050">
                          <a:solidFill>
                            <a:srgbClr val="25342A"/>
                          </a:solidFill>
                        </a:rPr>
                        <a:t>–</a:t>
                      </a:r>
                    </a:p>
                  </a:txBody>
                  <a:tcPr>
                    <a:solidFill>
                      <a:srgbClr val="FFFFFF"/>
                    </a:solidFill>
                  </a:tcPr>
                </a:tc>
                <a:tc>
                  <a:txBody>
                    <a:bodyPr/>
                    <a:lstStyle/>
                    <a:p>
                      <a:pPr algn="r"/>
                      <a:r>
                        <a:rPr sz="1050">
                          <a:solidFill>
                            <a:srgbClr val="25342A"/>
                          </a:solidFill>
                        </a:rPr>
                        <a:t>–</a:t>
                      </a:r>
                    </a:p>
                  </a:txBody>
                  <a:tcPr>
                    <a:solidFill>
                      <a:srgbClr val="FFFFFF"/>
                    </a:solidFill>
                  </a:tcPr>
                </a:tc>
                <a:tc>
                  <a:txBody>
                    <a:bodyPr/>
                    <a:lstStyle/>
                    <a:p>
                      <a:pPr algn="r"/>
                      <a:r>
                        <a:rPr sz="1050">
                          <a:solidFill>
                            <a:srgbClr val="25342A"/>
                          </a:solidFill>
                        </a:rPr>
                        <a:t>$341,000</a:t>
                      </a:r>
                    </a:p>
                  </a:txBody>
                  <a:tcPr>
                    <a:solidFill>
                      <a:srgbClr val="FFFFFF"/>
                    </a:solidFill>
                  </a:tcPr>
                </a:tc>
                <a:tc>
                  <a:txBody>
                    <a:bodyPr/>
                    <a:lstStyle/>
                    <a:p>
                      <a:pPr algn="r"/>
                      <a:r>
                        <a:rPr sz="1050">
                          <a:solidFill>
                            <a:srgbClr val="25342A"/>
                          </a:solidFill>
                        </a:rPr>
                        <a:t>61.7%</a:t>
                      </a:r>
                    </a:p>
                  </a:txBody>
                  <a:tcPr>
                    <a:solidFill>
                      <a:srgbClr val="FFFFFF"/>
                    </a:solidFill>
                  </a:tcPr>
                </a:tc>
              </a:tr>
              <a:tr h="329184">
                <a:tc>
                  <a:txBody>
                    <a:bodyPr/>
                    <a:lstStyle/>
                    <a:p>
                      <a:r>
                        <a:rPr sz="1050">
                          <a:solidFill>
                            <a:srgbClr val="25342A"/>
                          </a:solidFill>
                        </a:rPr>
                        <a:t>Retainers</a:t>
                      </a:r>
                    </a:p>
                  </a:txBody>
                  <a:tcPr>
                    <a:solidFill>
                      <a:srgbClr val="F7FAF7"/>
                    </a:solidFill>
                  </a:tcPr>
                </a:tc>
                <a:tc>
                  <a:txBody>
                    <a:bodyPr/>
                    <a:lstStyle/>
                    <a:p>
                      <a:pPr algn="r"/>
                      <a:r>
                        <a:rPr sz="1050">
                          <a:solidFill>
                            <a:srgbClr val="25342A"/>
                          </a:solidFill>
                        </a:rPr>
                        <a:t>$263,300</a:t>
                      </a:r>
                    </a:p>
                  </a:txBody>
                  <a:tcPr>
                    <a:solidFill>
                      <a:srgbClr val="F7FAF7"/>
                    </a:solidFill>
                  </a:tcPr>
                </a:tc>
                <a:tc>
                  <a:txBody>
                    <a:bodyPr/>
                    <a:lstStyle/>
                    <a:p>
                      <a:pPr algn="r"/>
                      <a:r>
                        <a:rPr sz="1050">
                          <a:solidFill>
                            <a:srgbClr val="25342A"/>
                          </a:solidFill>
                        </a:rPr>
                        <a:t>–</a:t>
                      </a:r>
                    </a:p>
                  </a:txBody>
                  <a:tcPr>
                    <a:solidFill>
                      <a:srgbClr val="F7FAF7"/>
                    </a:solidFill>
                  </a:tcPr>
                </a:tc>
                <a:tc>
                  <a:txBody>
                    <a:bodyPr/>
                    <a:lstStyle/>
                    <a:p>
                      <a:pPr algn="r"/>
                      <a:r>
                        <a:rPr sz="1050">
                          <a:solidFill>
                            <a:srgbClr val="25342A"/>
                          </a:solidFill>
                        </a:rPr>
                        <a:t>–</a:t>
                      </a:r>
                    </a:p>
                  </a:txBody>
                  <a:tcPr>
                    <a:solidFill>
                      <a:srgbClr val="F7FAF7"/>
                    </a:solidFill>
                  </a:tcPr>
                </a:tc>
                <a:tc>
                  <a:txBody>
                    <a:bodyPr/>
                    <a:lstStyle/>
                    <a:p>
                      <a:pPr algn="r"/>
                      <a:r>
                        <a:rPr sz="1050">
                          <a:solidFill>
                            <a:srgbClr val="25342A"/>
                          </a:solidFill>
                        </a:rPr>
                        <a:t>$173,000</a:t>
                      </a:r>
                    </a:p>
                  </a:txBody>
                  <a:tcPr>
                    <a:solidFill>
                      <a:srgbClr val="F7FAF7"/>
                    </a:solidFill>
                  </a:tcPr>
                </a:tc>
                <a:tc>
                  <a:txBody>
                    <a:bodyPr/>
                    <a:lstStyle/>
                    <a:p>
                      <a:pPr algn="r"/>
                      <a:r>
                        <a:rPr sz="1050">
                          <a:solidFill>
                            <a:srgbClr val="25342A"/>
                          </a:solidFill>
                        </a:rPr>
                        <a:t>65.7%</a:t>
                      </a:r>
                    </a:p>
                  </a:txBody>
                  <a:tcPr>
                    <a:solidFill>
                      <a:srgbClr val="F7FAF7"/>
                    </a:solidFill>
                  </a:tcPr>
                </a:tc>
              </a:tr>
              <a:tr h="329184">
                <a:tc>
                  <a:txBody>
                    <a:bodyPr/>
                    <a:lstStyle/>
                    <a:p>
                      <a:r>
                        <a:rPr sz="1050">
                          <a:solidFill>
                            <a:srgbClr val="25342A"/>
                          </a:solidFill>
                        </a:rPr>
                        <a:t>Training</a:t>
                      </a:r>
                    </a:p>
                  </a:txBody>
                  <a:tcPr>
                    <a:solidFill>
                      <a:srgbClr val="FFFFFF"/>
                    </a:solidFill>
                  </a:tcPr>
                </a:tc>
                <a:tc>
                  <a:txBody>
                    <a:bodyPr/>
                    <a:lstStyle/>
                    <a:p>
                      <a:pPr algn="r"/>
                      <a:r>
                        <a:rPr sz="1050">
                          <a:solidFill>
                            <a:srgbClr val="25342A"/>
                          </a:solidFill>
                        </a:rPr>
                        <a:t>$75,800</a:t>
                      </a:r>
                    </a:p>
                  </a:txBody>
                  <a:tcPr>
                    <a:solidFill>
                      <a:srgbClr val="FFFFFF"/>
                    </a:solidFill>
                  </a:tcPr>
                </a:tc>
                <a:tc>
                  <a:txBody>
                    <a:bodyPr/>
                    <a:lstStyle/>
                    <a:p>
                      <a:pPr algn="r"/>
                      <a:r>
                        <a:rPr sz="1050">
                          <a:solidFill>
                            <a:srgbClr val="25342A"/>
                          </a:solidFill>
                        </a:rPr>
                        <a:t>–</a:t>
                      </a:r>
                    </a:p>
                  </a:txBody>
                  <a:tcPr>
                    <a:solidFill>
                      <a:srgbClr val="FFFFFF"/>
                    </a:solidFill>
                  </a:tcPr>
                </a:tc>
                <a:tc>
                  <a:txBody>
                    <a:bodyPr/>
                    <a:lstStyle/>
                    <a:p>
                      <a:pPr algn="r"/>
                      <a:r>
                        <a:rPr sz="1050">
                          <a:solidFill>
                            <a:srgbClr val="25342A"/>
                          </a:solidFill>
                        </a:rPr>
                        <a:t>–</a:t>
                      </a:r>
                    </a:p>
                  </a:txBody>
                  <a:tcPr>
                    <a:solidFill>
                      <a:srgbClr val="FFFFFF"/>
                    </a:solidFill>
                  </a:tcPr>
                </a:tc>
                <a:tc>
                  <a:txBody>
                    <a:bodyPr/>
                    <a:lstStyle/>
                    <a:p>
                      <a:pPr algn="r"/>
                      <a:r>
                        <a:rPr sz="1050">
                          <a:solidFill>
                            <a:srgbClr val="25342A"/>
                          </a:solidFill>
                        </a:rPr>
                        <a:t>$56,900</a:t>
                      </a:r>
                    </a:p>
                  </a:txBody>
                  <a:tcPr>
                    <a:solidFill>
                      <a:srgbClr val="FFFFFF"/>
                    </a:solidFill>
                  </a:tcPr>
                </a:tc>
                <a:tc>
                  <a:txBody>
                    <a:bodyPr/>
                    <a:lstStyle/>
                    <a:p>
                      <a:pPr algn="r"/>
                      <a:r>
                        <a:rPr sz="1050">
                          <a:solidFill>
                            <a:srgbClr val="25342A"/>
                          </a:solidFill>
                        </a:rPr>
                        <a:t>75.1%</a:t>
                      </a:r>
                    </a:p>
                  </a:txBody>
                  <a:tcPr>
                    <a:solidFill>
                      <a:srgbClr val="FFFFFF"/>
                    </a:solidFill>
                  </a:tcPr>
                </a:tc>
              </a:tr>
              <a:tr h="329184">
                <a:tc>
                  <a:txBody>
                    <a:bodyPr/>
                    <a:lstStyle/>
                    <a:p>
                      <a:r>
                        <a:rPr sz="1050" b="1">
                          <a:solidFill>
                            <a:srgbClr val="25342A"/>
                          </a:solidFill>
                        </a:rPr>
                        <a:t>Total</a:t>
                      </a:r>
                    </a:p>
                  </a:txBody>
                  <a:tcPr>
                    <a:solidFill>
                      <a:srgbClr val="F7FAF7"/>
                    </a:solidFill>
                  </a:tcPr>
                </a:tc>
                <a:tc>
                  <a:txBody>
                    <a:bodyPr/>
                    <a:lstStyle/>
                    <a:p>
                      <a:pPr algn="r"/>
                      <a:r>
                        <a:rPr sz="1050" b="1">
                          <a:solidFill>
                            <a:srgbClr val="25342A"/>
                          </a:solidFill>
                        </a:rPr>
                        <a:t>$891,920</a:t>
                      </a:r>
                    </a:p>
                  </a:txBody>
                  <a:tcPr>
                    <a:solidFill>
                      <a:srgbClr val="F7FAF7"/>
                    </a:solidFill>
                  </a:tcPr>
                </a:tc>
                <a:tc>
                  <a:txBody>
                    <a:bodyPr/>
                    <a:lstStyle/>
                    <a:p>
                      <a:pPr algn="r"/>
                      <a:r>
                        <a:rPr sz="1050" b="1">
                          <a:solidFill>
                            <a:srgbClr val="25342A"/>
                          </a:solidFill>
                        </a:rPr>
                        <a:t>–</a:t>
                      </a:r>
                    </a:p>
                  </a:txBody>
                  <a:tcPr>
                    <a:solidFill>
                      <a:srgbClr val="F7FAF7"/>
                    </a:solidFill>
                  </a:tcPr>
                </a:tc>
                <a:tc>
                  <a:txBody>
                    <a:bodyPr/>
                    <a:lstStyle/>
                    <a:p>
                      <a:pPr algn="r"/>
                      <a:r>
                        <a:rPr sz="1050" b="1">
                          <a:solidFill>
                            <a:srgbClr val="25342A"/>
                          </a:solidFill>
                        </a:rPr>
                        <a:t>–</a:t>
                      </a:r>
                    </a:p>
                  </a:txBody>
                  <a:tcPr>
                    <a:solidFill>
                      <a:srgbClr val="F7FAF7"/>
                    </a:solidFill>
                  </a:tcPr>
                </a:tc>
                <a:tc>
                  <a:txBody>
                    <a:bodyPr/>
                    <a:lstStyle/>
                    <a:p>
                      <a:pPr algn="r"/>
                      <a:r>
                        <a:rPr sz="1050" b="1">
                          <a:solidFill>
                            <a:srgbClr val="25342A"/>
                          </a:solidFill>
                        </a:rPr>
                        <a:t>$570,900</a:t>
                      </a:r>
                    </a:p>
                  </a:txBody>
                  <a:tcPr>
                    <a:solidFill>
                      <a:srgbClr val="F7FAF7"/>
                    </a:solidFill>
                  </a:tcPr>
                </a:tc>
                <a:tc>
                  <a:txBody>
                    <a:bodyPr/>
                    <a:lstStyle/>
                    <a:p>
                      <a:pPr algn="r"/>
                      <a:r>
                        <a:rPr sz="1050" b="1">
                          <a:solidFill>
                            <a:srgbClr val="25342A"/>
                          </a:solidFill>
                        </a:rPr>
                        <a:t>64.0%</a:t>
                      </a:r>
                    </a:p>
                  </a:txBody>
                  <a:tcPr>
                    <a:solidFill>
                      <a:srgbClr val="F7FAF7"/>
                    </a:solidFill>
                  </a:tcPr>
                </a:tc>
              </a:tr>
            </a:tbl>
          </a:graphicData>
        </a:graphic>
      </p:graphicFrame>
      <p:sp>
        <p:nvSpPr>
          <p:cNvPr id="6" name="TextBox 5"/>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growth.pptx</a:t>
            </a:r>
          </a:p>
        </p:txBody>
      </p:sp>
      <p:sp>
        <p:nvSpPr>
          <p:cNvPr id="7" name="TextBox 6"/>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8" name="TextBox 7"/>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27 of 27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