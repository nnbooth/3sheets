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May's jobs made $63,105 gross margin (39.0%). Technician time not charged to jobs took $5,402 and overheads $59,270, leaving ($1,567) profit before tax ((1.0%) of revenue). To cover overheads, jobs need a 39.9%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$63,105</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$49,198</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$5,402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$57,703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$59,270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($1,567)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$161,963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39.0%</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24.8%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$161,963 against $129,816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$1,772,544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$668,290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$1,772,544 this financial year to date (Jul to May 2026). Maintenance contracts make the highest gross margin (59.5%); Installations the lowest (28.4%). The business needs 39.9%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28.4% gross margin, 6.6 points under the 35.0% target: about $72,943 on $1,103,900 of revenue this financial year to date. It's below the 39.9% needed to cover overheads, too. Maintenance contracts: 59.5% gross margin, 24.5 points over the 35.0% target ($97,010 ahead on $395,800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$395,800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$235,540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$395,800 this financial year to date, at a 59.5% gross margin (above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24.5 points over the 35.0% target ($97,010 ahead on $395,800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$92,400 against $80,300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$1,103,900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$313,422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$1,103,900 this financial year to date, at a 28.4% gross margin (below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28.4% gross margin, 6.6 points under the 35.0% target: about $72,943 on $1,103,900 of revenue this financial year to date. It's below the 39.9%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$29,063 against $21,586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$272,844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$119,328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$272,844 this financial year to date, at a 43.7% gross margin (above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8.7 points over the 35.0% target ($23,833 ahead on $272,844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May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$395,800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$235,540</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$1,103,900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$313,422</a:t>
                      </a:r>
                    </a:p>
                  </a:txBody>
                  <a:tcPr>
                    <a:solidFill>
                      <a:srgbClr val="F7FAF7"/>
                    </a:solidFill>
                  </a:tcPr>
                </a:tc>
                <a:tc>
                  <a:txBody>
                    <a:bodyPr/>
                    <a:lstStyle/>
                    <a:p>
                      <a:pPr algn="r">
                        <a:defRPr>
                          <a:latin typeface="Roboto"/>
                        </a:defRPr>
                      </a:pPr>
                      <a:r>
                        <a:rPr sz="1050">
                          <a:solidFill>
                            <a:srgbClr val="25342A"/>
                          </a:solidFill>
                          <a:latin typeface="Roboto"/>
                        </a:rPr>
                        <a:t>28.4%</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$272,844</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$119,328</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$1,772,544</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$668,290</a:t>
                      </a:r>
                    </a:p>
                  </a:txBody>
                  <a:tcPr>
                    <a:solidFill>
                      <a:srgbClr val="F7FAF7"/>
                    </a:solidFill>
                  </a:tcPr>
                </a:tc>
                <a:tc>
                  <a:txBody>
                    <a:bodyPr/>
                    <a:lstStyle/>
                    <a:p>
                      <a:pPr algn="r">
                        <a:defRPr>
                          <a:latin typeface="Roboto"/>
                        </a:defRPr>
                      </a:pPr>
                      <a:r>
                        <a:rPr sz="1050" b="1">
                          <a:solidFill>
                            <a:srgbClr val="25342A"/>
                          </a:solidFill>
                          <a:latin typeface="Roboto"/>
                        </a:rPr>
                        <a:t>37.7%</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May's client work made $49,410 gross margin (64.1%). Consultant time not charged to client work took $19,920 and overheads $51,750, leaving ($22,260) profit before tax ((28.9%) of revenue). To cover overheads, client work needs a 93.0%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May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$49,410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$26,580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$19,920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$29,490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$51,750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($22,260)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$77,090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64.1%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(28.9%)</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93.0%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(19.3%)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$77,090 against $95,555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$891,920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$570,900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$891,920 this financial year to date (Jul to May 2026). Training makes the highest gross margin (75.1%); Projects the lowest (61.7%). The business needs 93.0%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61.7% gross margin, 21.7 points over the 40.0% target ($119,872 ahead on $552,820 this financial year to date). Training: 75.1% gross margin, 35.1 points over the 40.0% target ($26,580 ahead on $75,800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(27.1%)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$43,590 against $59,755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$552,820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$341,000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$552,820 this financial year to date, at a 61.7%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61.7% gross margin, 21.7 points over the 40.0% target ($119,872 ahead on $552,820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$263,300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$173,000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$263,300 this financial year to date, at a 65.7%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65.7% gross margin, 25.7 points over the 40.0% target ($67,680 ahead on $263,300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(62.9%)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$5,200 against $14,000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$75,800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75.1%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$56,900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$75,800 this financial year to date, at a 75.1%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75.1% gross margin, 35.1 points over the 40.0% target ($26,580 ahead on $75,800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May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$552,820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$341,000</a:t>
                      </a:r>
                    </a:p>
                  </a:txBody>
                  <a:tcPr>
                    <a:solidFill>
                      <a:srgbClr val="FFFFFF"/>
                    </a:solidFill>
                  </a:tcPr>
                </a:tc>
                <a:tc>
                  <a:txBody>
                    <a:bodyPr/>
                    <a:lstStyle/>
                    <a:p>
                      <a:pPr algn="r">
                        <a:defRPr>
                          <a:latin typeface="Roboto"/>
                        </a:defRPr>
                      </a:pPr>
                      <a:r>
                        <a:rPr sz="1050">
                          <a:solidFill>
                            <a:srgbClr val="25342A"/>
                          </a:solidFill>
                          <a:latin typeface="Roboto"/>
                        </a:rPr>
                        <a:t>61.7%</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$263,300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$173,000</a:t>
                      </a:r>
                    </a:p>
                  </a:txBody>
                  <a:tcPr>
                    <a:solidFill>
                      <a:srgbClr val="F7FAF7"/>
                    </a:solidFill>
                  </a:tcPr>
                </a:tc>
                <a:tc>
                  <a:txBody>
                    <a:bodyPr/>
                    <a:lstStyle/>
                    <a:p>
                      <a:pPr algn="r">
                        <a:defRPr>
                          <a:latin typeface="Roboto"/>
                        </a:defRPr>
                      </a:pPr>
                      <a:r>
                        <a:rPr sz="1050">
                          <a:solidFill>
                            <a:srgbClr val="25342A"/>
                          </a:solidFill>
                          <a:latin typeface="Roboto"/>
                        </a:rPr>
                        <a:t>65.7%</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$75,800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$56,900</a:t>
                      </a:r>
                    </a:p>
                  </a:txBody>
                  <a:tcPr>
                    <a:solidFill>
                      <a:srgbClr val="FFFFFF"/>
                    </a:solidFill>
                  </a:tcPr>
                </a:tc>
                <a:tc>
                  <a:txBody>
                    <a:bodyPr/>
                    <a:lstStyle/>
                    <a:p>
                      <a:pPr algn="r">
                        <a:defRPr>
                          <a:latin typeface="Roboto"/>
                        </a:defRPr>
                      </a:pPr>
                      <a:r>
                        <a:rPr sz="1050">
                          <a:solidFill>
                            <a:srgbClr val="25342A"/>
                          </a:solidFill>
                          <a:latin typeface="Roboto"/>
                        </a:rPr>
                        <a:t>75.1%</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$891,920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$570,900</a:t>
                      </a:r>
                    </a:p>
                  </a:txBody>
                  <a:tcPr>
                    <a:solidFill>
                      <a:srgbClr val="F7FAF7"/>
                    </a:solidFill>
                  </a:tcPr>
                </a:tc>
                <a:tc>
                  <a:txBody>
                    <a:bodyPr/>
                    <a:lstStyle/>
                    <a:p>
                      <a:pPr algn="r">
                        <a:defRPr>
                          <a:latin typeface="Roboto"/>
                        </a:defRPr>
                      </a:pPr>
                      <a:r>
                        <a:rPr sz="1050" b="1">
                          <a:solidFill>
                            <a:srgbClr val="25342A"/>
                          </a:solidFill>
                          <a:latin typeface="Roboto"/>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