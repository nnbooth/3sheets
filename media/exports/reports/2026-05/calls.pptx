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dPt>
            <c:idx val="2"/>
            <c:spPr>
              <a:solidFill>
                <a:srgbClr val="0E9F6E"/>
              </a:solidFill>
            </c:spPr>
          </c:dPt>
          <c:dPt>
            <c:idx val="3"/>
            <c:spPr>
              <a:solidFill>
                <a:srgbClr val="0E9F6E"/>
              </a:solidFill>
            </c:spPr>
          </c:dPt>
          <c:dPt>
            <c:idx val="4"/>
            <c:spPr>
              <a:solidFill>
                <a:srgbClr val="0E9F6E"/>
              </a:solidFill>
            </c:spPr>
          </c:dPt>
          <c:dPt>
            <c:idx val="5"/>
            <c:spPr>
              <a:solidFill>
                <a:srgbClr val="0E9F6E"/>
              </a:solidFill>
            </c:spPr>
          </c:dPt>
          <c:dPt>
            <c:idx val="6"/>
            <c:spPr>
              <a:solidFill>
                <a:srgbClr val="0E9F6E"/>
              </a:solidFill>
            </c:spPr>
          </c:dPt>
          <c:cat>
            <c:strRef>
              <c:f>Sheet1!$A$2:$A$8</c:f>
              <c:strCache>
                <c:ptCount val="7"/>
                <c:pt idx="0">
                  <c:v>After 8pm</c:v>
                </c:pt>
                <c:pt idx="1">
                  <c:v>5 to 8pm</c:v>
                </c:pt>
                <c:pt idx="2">
                  <c:v>2 to 5pm</c:v>
                </c:pt>
                <c:pt idx="3">
                  <c:v>Noon to 2pm</c:v>
                </c:pt>
                <c:pt idx="4">
                  <c:v>10am to noon</c:v>
                </c:pt>
                <c:pt idx="5">
                  <c:v>8:30 to 10am</c:v>
                </c:pt>
                <c:pt idx="6">
                  <c:v>Before 8:30am</c:v>
                </c:pt>
              </c:strCache>
            </c:strRef>
          </c:cat>
          <c:val>
            <c:numRef>
              <c:f>Sheet1!$B$2:$B$8</c:f>
              <c:numCache>
                <c:formatCode>#,##0;[Red](#,##0)</c:formatCode>
                <c:ptCount val="7"/>
                <c:pt idx="0">
                  <c:v>82</c:v>
                </c:pt>
                <c:pt idx="1">
                  <c:v>162</c:v>
                </c:pt>
                <c:pt idx="2">
                  <c:v>144</c:v>
                </c:pt>
                <c:pt idx="3">
                  <c:v>72</c:v>
                </c:pt>
                <c:pt idx="4">
                  <c:v>119</c:v>
                </c:pt>
                <c:pt idx="5">
                  <c:v>82</c:v>
                </c:pt>
                <c:pt idx="6">
                  <c:v>96</c:v>
                </c:pt>
              </c:numCache>
            </c:numRef>
          </c:val>
        </c:ser>
        <c:dLbls>
          <c:numFmt formatCode="#,##0;[Red](#,##0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86.29999999999998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Calls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Sheet1!$A$2:$A$21</c:f>
              <c:strCache>
                <c:ptCount val="20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</c:strCache>
            </c:strRef>
          </c:cat>
          <c:val>
            <c:numRef>
              <c:f>Sheet1!$B$2:$B$21</c:f>
              <c:numCache>
                <c:formatCode>#,##0;[Red](#,##0)</c:formatCode>
                <c:ptCount val="20"/>
                <c:pt idx="0">
                  <c:v>685</c:v>
                </c:pt>
                <c:pt idx="1">
                  <c:v>633</c:v>
                </c:pt>
                <c:pt idx="2">
                  <c:v>684</c:v>
                </c:pt>
                <c:pt idx="3">
                  <c:v>690</c:v>
                </c:pt>
                <c:pt idx="4">
                  <c:v>664</c:v>
                </c:pt>
                <c:pt idx="5">
                  <c:v>685</c:v>
                </c:pt>
                <c:pt idx="6">
                  <c:v>629</c:v>
                </c:pt>
                <c:pt idx="7">
                  <c:v>724</c:v>
                </c:pt>
                <c:pt idx="8">
                  <c:v>820</c:v>
                </c:pt>
                <c:pt idx="9">
                  <c:v>909</c:v>
                </c:pt>
                <c:pt idx="10">
                  <c:v>826</c:v>
                </c:pt>
                <c:pt idx="11">
                  <c:v>756</c:v>
                </c:pt>
                <c:pt idx="12">
                  <c:v>770</c:v>
                </c:pt>
                <c:pt idx="13">
                  <c:v>746</c:v>
                </c:pt>
                <c:pt idx="14">
                  <c:v>776</c:v>
                </c:pt>
                <c:pt idx="15">
                  <c:v>726</c:v>
                </c:pt>
                <c:pt idx="16">
                  <c:v>678</c:v>
                </c:pt>
                <c:pt idx="17">
                  <c:v>865</c:v>
                </c:pt>
                <c:pt idx="18">
                  <c:v>731</c:v>
                </c:pt>
                <c:pt idx="19">
                  <c:v>757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10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2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Sample Community Services Ltd. Period: May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calls for help come in, and are we there to answer?. Calls for help, May: 757; Answered while staffed, May: 82.8%; Calls outside staffed hours, May: 55.4%; Median wait when answered, May: 84 sec. 757 calls for help came in during May. While the line was staffed, 82.8% were answered (target 90.0%); 55.4% of all calls came outside staffed hours and went to voicemail. The busiest time was 5 to 8pm (162 calls). 162 calls came between 5 and 8pm, when no-one is on the line. 58 callers hung up waiting while the line was staffed.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Calls for help by month. Tap a month for its workings.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May 2026. Every call to the help line: when it came in, whether someone answered, and how long the caller waited. The line is staffed 8:30am to 5pm on working days.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April 2026: Locked. April 2026 is locked (closed 5 May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May 2026: Locked. May 2026 is locked (closed 2 Jun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When do calls for help come in, and are we there to answer?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When the calls come in, May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for help, May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757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April 731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3673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3470833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Answered while staffed, May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0833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B42318"/>
                </a:solidFill>
                <a:latin typeface="Roboto"/>
              </a:rPr>
              <a:t>82.8%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0833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target 90.0%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347307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Calls outside staffed hours, May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47307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55.4%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419 calls to voicemail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86621" y="1278636"/>
            <a:ext cx="2647873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9223781" y="1351788"/>
            <a:ext cx="2373553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Median wait when answered, May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3781" y="1717548"/>
            <a:ext cx="2373553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84 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23781" y="2083308"/>
            <a:ext cx="2373553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280 answered calls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457200" y="2604516"/>
          <a:ext cx="11277295" cy="231800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Rectangle 22"/>
          <p:cNvSpPr/>
          <p:nvPr/>
        </p:nvSpPr>
        <p:spPr>
          <a:xfrm>
            <a:off x="457200" y="5013960"/>
            <a:ext cx="5501487" cy="129540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594360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757 calls for help came in during May. While the line was staffed, 82.8% were answered (target 90.0%); 55.4% of all calls came outside staffed hours and went to voicemail. The busiest time was 5 to 8pm (162 calls).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33007" y="5013960"/>
            <a:ext cx="5501487" cy="129540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7" name="TextBox 26"/>
          <p:cNvSpPr txBox="1"/>
          <p:nvPr/>
        </p:nvSpPr>
        <p:spPr>
          <a:xfrm>
            <a:off x="6370167" y="506882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70167" y="5343144"/>
            <a:ext cx="5227167" cy="929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162 calls came between 5 and 8pm, when no-one is on the line. 58 callers hung up waiting while the line was staffed.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Calls for help by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When do calls for help come in, and are we there to answer?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Tap a month for its workings.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78636"/>
          <a:ext cx="11277295" cy="4802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calls.pptx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8 Oct 2026, 11:41pm · Sample data · Made with Python (python-pptx)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