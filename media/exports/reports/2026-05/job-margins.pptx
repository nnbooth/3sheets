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A7B0B8"/>
              </a:solidFill>
            </c:spPr>
          </c:dPt>
          <c:dPt>
            <c:idx val="1"/>
            <c:spPr>
              <a:solidFill>
                <a:srgbClr val="0E9F6E"/>
              </a:solidFill>
            </c:spPr>
          </c:dPt>
          <c:dPt>
            <c:idx val="2"/>
            <c:spPr>
              <a:solidFill>
                <a:srgbClr val="0E9F6E"/>
              </a:solidFill>
            </c:spPr>
          </c:dPt>
          <c:cat>
            <c:strRef>
              <c:f>Sheet1!$A$2:$A$4</c:f>
              <c:strCache>
                <c:ptCount val="3"/>
                <c:pt idx="0">
                  <c:v>Installations</c:v>
                </c:pt>
                <c:pt idx="1">
                  <c:v>Call-outs and repairs</c:v>
                </c:pt>
                <c:pt idx="2">
                  <c:v>Maintenance contracts</c:v>
                </c:pt>
              </c:strCache>
            </c:strRef>
          </c:cat>
          <c:val>
            <c:numRef>
              <c:f>Sheet1!$B$2:$B$4</c:f>
              <c:numCache>
                <c:formatCode>0.0"%";[Red](0.0"%")</c:formatCode>
                <c:ptCount val="3"/>
                <c:pt idx="0">
                  <c:v>28.3</c:v>
                </c:pt>
                <c:pt idx="1">
                  <c:v>44.1</c:v>
                </c:pt>
                <c:pt idx="2">
                  <c:v>59.5</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A7B0B8"/>
              </a:solidFill>
            </c:spPr>
          </c:dPt>
          <c:dPt>
            <c:idx val="1"/>
            <c:spPr>
              <a:solidFill>
                <a:srgbClr val="0E9F6E"/>
              </a:solidFill>
            </c:spPr>
          </c:dPt>
          <c:dPt>
            <c:idx val="2"/>
            <c:spPr>
              <a:solidFill>
                <a:srgbClr val="0E9F6E"/>
              </a:solidFill>
            </c:spPr>
          </c:dPt>
          <c:cat>
            <c:strRef>
              <c:f>Sheet1!$A$2:$A$4</c:f>
              <c:strCache>
                <c:ptCount val="3"/>
                <c:pt idx="0">
                  <c:v>Installations</c:v>
                </c:pt>
                <c:pt idx="1">
                  <c:v>Call-outs and repairs</c:v>
                </c:pt>
                <c:pt idx="2">
                  <c:v>Maintenance contracts</c:v>
                </c:pt>
              </c:strCache>
            </c:strRef>
          </c:cat>
          <c:val>
            <c:numRef>
              <c:f>Sheet1!$B$2:$B$4</c:f>
              <c:numCache>
                <c:formatCode>$#,##0;[Red]($#,##0);"-"</c:formatCode>
                <c:ptCount val="3"/>
                <c:pt idx="0">
                  <c:v>26160</c:v>
                </c:pt>
                <c:pt idx="1">
                  <c:v>12829</c:v>
                </c:pt>
                <c:pt idx="2">
                  <c:v>24116</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dPt>
            <c:idx val="5"/>
            <c:spPr>
              <a:solidFill>
                <a:srgbClr val="0E9F6E"/>
              </a:solidFill>
            </c:spPr>
          </c:dPt>
          <c:dPt>
            <c:idx val="6"/>
            <c:spPr>
              <a:solidFill>
                <a:srgbClr val="0E9F6E"/>
              </a:solidFill>
            </c:spPr>
          </c:dPt>
          <c:dPt>
            <c:idx val="7"/>
            <c:spPr>
              <a:solidFill>
                <a:srgbClr val="0E9F6E"/>
              </a:solidFill>
            </c:spPr>
          </c:dPt>
          <c:dPt>
            <c:idx val="8"/>
            <c:spPr>
              <a:solidFill>
                <a:srgbClr val="0E9F6E"/>
              </a:solidFill>
            </c:spPr>
          </c:dPt>
          <c:dPt>
            <c:idx val="9"/>
            <c:spPr>
              <a:solidFill>
                <a:srgbClr val="0E9F6E"/>
              </a:solidFill>
            </c:spPr>
          </c:dPt>
          <c:dPt>
            <c:idx val="10"/>
            <c:spPr>
              <a:solidFill>
                <a:srgbClr val="0E9F6E"/>
              </a:solidFill>
            </c:spPr>
          </c:dPt>
          <c:dPt>
            <c:idx val="11"/>
            <c:spPr>
              <a:solidFill>
                <a:srgbClr val="0E9F6E"/>
              </a:solidFill>
            </c:spPr>
          </c:dPt>
          <c:dPt>
            <c:idx val="12"/>
            <c:spPr>
              <a:solidFill>
                <a:srgbClr val="0E9F6E"/>
              </a:solidFill>
            </c:spPr>
          </c:dPt>
          <c:dPt>
            <c:idx val="13"/>
            <c:spPr>
              <a:solidFill>
                <a:srgbClr val="0E9F6E"/>
              </a:solidFill>
            </c:spPr>
          </c:dPt>
          <c:cat>
            <c:strRef>
              <c:f>Sheet1!$A$2:$A$15</c:f>
              <c:strCache>
                <c:ptCount val="14"/>
                <c:pt idx="0">
                  <c:v>Kangaroo Point townhouses</c:v>
                </c:pt>
                <c:pt idx="1">
                  <c:v>West End brewery</c:v>
                </c:pt>
                <c:pt idx="2">
                  <c:v>Rocklea factory</c:v>
                </c:pt>
                <c:pt idx="3">
                  <c:v>Milton office tower</c:v>
                </c:pt>
                <c:pt idx="4">
                  <c:v>Bulimba school</c:v>
                </c:pt>
                <c:pt idx="5">
                  <c:v>Wacol logistics depot</c:v>
                </c:pt>
                <c:pt idx="6">
                  <c:v>Chermside retail centre</c:v>
                </c:pt>
                <c:pt idx="7">
                  <c:v>Fortitude Valley hotel</c:v>
                </c:pt>
                <c:pt idx="8">
                  <c:v>Riverside Apartments (strata)</c:v>
                </c:pt>
                <c:pt idx="9">
                  <c:v>Newstead gym</c:v>
                </c:pt>
                <c:pt idx="10">
                  <c:v>Southbank cafe group</c:v>
                </c:pt>
                <c:pt idx="11">
                  <c:v>Ashgrove aged care</c:v>
                </c:pt>
                <c:pt idx="12">
                  <c:v>Wynnum medical centre</c:v>
                </c:pt>
                <c:pt idx="13">
                  <c:v>Carindale vet clinic</c:v>
                </c:pt>
              </c:strCache>
            </c:strRef>
          </c:cat>
          <c:val>
            <c:numRef>
              <c:f>Sheet1!$B$2:$B$15</c:f>
              <c:numCache>
                <c:formatCode>0.0"%";[Red](0.0"%")</c:formatCode>
                <c:ptCount val="14"/>
                <c:pt idx="0">
                  <c:v>58.2</c:v>
                </c:pt>
                <c:pt idx="1">
                  <c:v>58.8</c:v>
                </c:pt>
                <c:pt idx="2">
                  <c:v>58.8</c:v>
                </c:pt>
                <c:pt idx="3">
                  <c:v>59.0</c:v>
                </c:pt>
                <c:pt idx="4">
                  <c:v>59.0</c:v>
                </c:pt>
                <c:pt idx="5">
                  <c:v>59.1</c:v>
                </c:pt>
                <c:pt idx="6">
                  <c:v>59.4</c:v>
                </c:pt>
                <c:pt idx="7">
                  <c:v>59.9</c:v>
                </c:pt>
                <c:pt idx="8">
                  <c:v>59.9</c:v>
                </c:pt>
                <c:pt idx="9">
                  <c:v>59.9</c:v>
                </c:pt>
                <c:pt idx="10">
                  <c:v>60.0</c:v>
                </c:pt>
                <c:pt idx="11">
                  <c:v>60.0</c:v>
                </c:pt>
                <c:pt idx="12">
                  <c:v>61.1</c:v>
                </c:pt>
                <c:pt idx="13">
                  <c:v>62.2</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dPt>
            <c:idx val="5"/>
            <c:spPr>
              <a:solidFill>
                <a:srgbClr val="0E9F6E"/>
              </a:solidFill>
            </c:spPr>
          </c:dPt>
          <c:dPt>
            <c:idx val="6"/>
            <c:spPr>
              <a:solidFill>
                <a:srgbClr val="0E9F6E"/>
              </a:solidFill>
            </c:spPr>
          </c:dPt>
          <c:dPt>
            <c:idx val="7"/>
            <c:spPr>
              <a:solidFill>
                <a:srgbClr val="0E9F6E"/>
              </a:solidFill>
            </c:spPr>
          </c:dPt>
          <c:dPt>
            <c:idx val="8"/>
            <c:spPr>
              <a:solidFill>
                <a:srgbClr val="0E9F6E"/>
              </a:solidFill>
            </c:spPr>
          </c:dPt>
          <c:dPt>
            <c:idx val="9"/>
            <c:spPr>
              <a:solidFill>
                <a:srgbClr val="0E9F6E"/>
              </a:solidFill>
            </c:spPr>
          </c:dPt>
          <c:dPt>
            <c:idx val="10"/>
            <c:spPr>
              <a:solidFill>
                <a:srgbClr val="0E9F6E"/>
              </a:solidFill>
            </c:spPr>
          </c:dPt>
          <c:dPt>
            <c:idx val="11"/>
            <c:spPr>
              <a:solidFill>
                <a:srgbClr val="0E9F6E"/>
              </a:solidFill>
            </c:spPr>
          </c:dPt>
          <c:dPt>
            <c:idx val="12"/>
            <c:spPr>
              <a:solidFill>
                <a:srgbClr val="0E9F6E"/>
              </a:solidFill>
            </c:spPr>
          </c:dPt>
          <c:dPt>
            <c:idx val="13"/>
            <c:spPr>
              <a:solidFill>
                <a:srgbClr val="0E9F6E"/>
              </a:solidFill>
            </c:spPr>
          </c:dPt>
          <c:cat>
            <c:strRef>
              <c:f>Sheet1!$A$2:$A$15</c:f>
              <c:strCache>
                <c:ptCount val="14"/>
                <c:pt idx="0">
                  <c:v>Kangaroo Point townhouses</c:v>
                </c:pt>
                <c:pt idx="1">
                  <c:v>West End brewery</c:v>
                </c:pt>
                <c:pt idx="2">
                  <c:v>Rocklea factory</c:v>
                </c:pt>
                <c:pt idx="3">
                  <c:v>Milton office tower</c:v>
                </c:pt>
                <c:pt idx="4">
                  <c:v>Bulimba school</c:v>
                </c:pt>
                <c:pt idx="5">
                  <c:v>Wacol logistics depot</c:v>
                </c:pt>
                <c:pt idx="6">
                  <c:v>Chermside retail centre</c:v>
                </c:pt>
                <c:pt idx="7">
                  <c:v>Fortitude Valley hotel</c:v>
                </c:pt>
                <c:pt idx="8">
                  <c:v>Riverside Apartments (strata)</c:v>
                </c:pt>
                <c:pt idx="9">
                  <c:v>Newstead gym</c:v>
                </c:pt>
                <c:pt idx="10">
                  <c:v>Southbank cafe group</c:v>
                </c:pt>
                <c:pt idx="11">
                  <c:v>Ashgrove aged care</c:v>
                </c:pt>
                <c:pt idx="12">
                  <c:v>Wynnum medical centre</c:v>
                </c:pt>
                <c:pt idx="13">
                  <c:v>Carindale vet clinic</c:v>
                </c:pt>
              </c:strCache>
            </c:strRef>
          </c:cat>
          <c:val>
            <c:numRef>
              <c:f>Sheet1!$B$2:$B$15</c:f>
              <c:numCache>
                <c:formatCode>$#,##0;[Red]($#,##0);"-"</c:formatCode>
                <c:ptCount val="14"/>
                <c:pt idx="0">
                  <c:v>1398</c:v>
                </c:pt>
                <c:pt idx="1">
                  <c:v>1530</c:v>
                </c:pt>
                <c:pt idx="2">
                  <c:v>2294</c:v>
                </c:pt>
                <c:pt idx="3">
                  <c:v>2478</c:v>
                </c:pt>
                <c:pt idx="4">
                  <c:v>1652</c:v>
                </c:pt>
                <c:pt idx="5">
                  <c:v>1774</c:v>
                </c:pt>
                <c:pt idx="6">
                  <c:v>2436</c:v>
                </c:pt>
                <c:pt idx="7">
                  <c:v>2038</c:v>
                </c:pt>
                <c:pt idx="8">
                  <c:v>1916</c:v>
                </c:pt>
                <c:pt idx="9">
                  <c:v>958</c:v>
                </c:pt>
                <c:pt idx="10">
                  <c:v>1080</c:v>
                </c:pt>
                <c:pt idx="11">
                  <c:v>2160</c:v>
                </c:pt>
                <c:pt idx="12">
                  <c:v>1344</c:v>
                </c:pt>
                <c:pt idx="13">
                  <c:v>1058</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A7B0B8"/>
              </a:solidFill>
            </c:spPr>
          </c:dPt>
          <c:dPt>
            <c:idx val="1"/>
            <c:spPr>
              <a:solidFill>
                <a:srgbClr val="A7B0B8"/>
              </a:solidFill>
            </c:spPr>
          </c:dPt>
          <c:dPt>
            <c:idx val="2"/>
            <c:spPr>
              <a:solidFill>
                <a:srgbClr val="A7B0B8"/>
              </a:solidFill>
            </c:spPr>
          </c:dPt>
          <c:dPt>
            <c:idx val="3"/>
            <c:spPr>
              <a:solidFill>
                <a:srgbClr val="A7B0B8"/>
              </a:solidFill>
            </c:spPr>
          </c:dPt>
          <c:cat>
            <c:strRef>
              <c:f>Sheet1!$A$2:$A$5</c:f>
              <c:strCache>
                <c:ptCount val="4"/>
                <c:pt idx="0">
                  <c:v>Installation 3, May</c:v>
                </c:pt>
                <c:pt idx="1">
                  <c:v>Installation 1, May</c:v>
                </c:pt>
                <c:pt idx="2">
                  <c:v>Installation 2, May</c:v>
                </c:pt>
                <c:pt idx="3">
                  <c:v>Installation 4, May</c:v>
                </c:pt>
              </c:strCache>
            </c:strRef>
          </c:cat>
          <c:val>
            <c:numRef>
              <c:f>Sheet1!$B$2:$B$5</c:f>
              <c:numCache>
                <c:formatCode>0.0"%";[Red](0.0"%")</c:formatCode>
                <c:ptCount val="4"/>
                <c:pt idx="0">
                  <c:v>28.1</c:v>
                </c:pt>
                <c:pt idx="1">
                  <c:v>28.2</c:v>
                </c:pt>
                <c:pt idx="2">
                  <c:v>28.7</c:v>
                </c:pt>
                <c:pt idx="3">
                  <c:v>29.1</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A7B0B8"/>
              </a:solidFill>
            </c:spPr>
          </c:dPt>
          <c:dPt>
            <c:idx val="1"/>
            <c:spPr>
              <a:solidFill>
                <a:srgbClr val="A7B0B8"/>
              </a:solidFill>
            </c:spPr>
          </c:dPt>
          <c:dPt>
            <c:idx val="2"/>
            <c:spPr>
              <a:solidFill>
                <a:srgbClr val="A7B0B8"/>
              </a:solidFill>
            </c:spPr>
          </c:dPt>
          <c:dPt>
            <c:idx val="3"/>
            <c:spPr>
              <a:solidFill>
                <a:srgbClr val="A7B0B8"/>
              </a:solidFill>
            </c:spPr>
          </c:dPt>
          <c:cat>
            <c:strRef>
              <c:f>Sheet1!$A$2:$A$5</c:f>
              <c:strCache>
                <c:ptCount val="4"/>
                <c:pt idx="0">
                  <c:v>Installation 3, May</c:v>
                </c:pt>
                <c:pt idx="1">
                  <c:v>Installation 1, May</c:v>
                </c:pt>
                <c:pt idx="2">
                  <c:v>Installation 2, May</c:v>
                </c:pt>
                <c:pt idx="3">
                  <c:v>Installation 4, May</c:v>
                </c:pt>
              </c:strCache>
            </c:strRef>
          </c:cat>
          <c:val>
            <c:numRef>
              <c:f>Sheet1!$B$2:$B$5</c:f>
              <c:numCache>
                <c:formatCode>$#,##0;[Red]($#,##0);"-"</c:formatCode>
                <c:ptCount val="4"/>
                <c:pt idx="0">
                  <c:v>11032</c:v>
                </c:pt>
                <c:pt idx="1">
                  <c:v>9036</c:v>
                </c:pt>
                <c:pt idx="2">
                  <c:v>2980</c:v>
                </c:pt>
                <c:pt idx="3">
                  <c:v>3112</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dPt>
            <c:idx val="5"/>
            <c:spPr>
              <a:solidFill>
                <a:srgbClr val="0E9F6E"/>
              </a:solidFill>
            </c:spPr>
          </c:dPt>
          <c:cat>
            <c:strRef>
              <c:f>Sheet1!$A$2:$A$7</c:f>
              <c:strCache>
                <c:ptCount val="6"/>
                <c:pt idx="0">
                  <c:v>1-hour call-outs (3)</c:v>
                </c:pt>
                <c:pt idx="1">
                  <c:v>2-hour call-outs (14)</c:v>
                </c:pt>
                <c:pt idx="2">
                  <c:v>1.5-hour call-outs (4)</c:v>
                </c:pt>
                <c:pt idx="3">
                  <c:v>2.5-hour call-outs (9)</c:v>
                </c:pt>
                <c:pt idx="4">
                  <c:v>3-hour call-outs (19)</c:v>
                </c:pt>
                <c:pt idx="5">
                  <c:v>4-hour call-outs (6)</c:v>
                </c:pt>
              </c:strCache>
            </c:strRef>
          </c:cat>
          <c:val>
            <c:numRef>
              <c:f>Sheet1!$B$2:$B$7</c:f>
              <c:numCache>
                <c:formatCode>0.0"%";[Red](0.0"%")</c:formatCode>
                <c:ptCount val="6"/>
                <c:pt idx="0">
                  <c:v>40.6</c:v>
                </c:pt>
                <c:pt idx="1">
                  <c:v>42.2</c:v>
                </c:pt>
                <c:pt idx="2">
                  <c:v>42.5</c:v>
                </c:pt>
                <c:pt idx="3">
                  <c:v>43.7</c:v>
                </c:pt>
                <c:pt idx="4">
                  <c:v>44.9</c:v>
                </c:pt>
                <c:pt idx="5">
                  <c:v>46.5</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dPt>
            <c:idx val="5"/>
            <c:spPr>
              <a:solidFill>
                <a:srgbClr val="0E9F6E"/>
              </a:solidFill>
            </c:spPr>
          </c:dPt>
          <c:cat>
            <c:strRef>
              <c:f>Sheet1!$A$2:$A$7</c:f>
              <c:strCache>
                <c:ptCount val="6"/>
                <c:pt idx="0">
                  <c:v>1-hour call-outs (3)</c:v>
                </c:pt>
                <c:pt idx="1">
                  <c:v>2-hour call-outs (14)</c:v>
                </c:pt>
                <c:pt idx="2">
                  <c:v>1.5-hour call-outs (4)</c:v>
                </c:pt>
                <c:pt idx="3">
                  <c:v>2.5-hour call-outs (9)</c:v>
                </c:pt>
                <c:pt idx="4">
                  <c:v>3-hour call-outs (19)</c:v>
                </c:pt>
                <c:pt idx="5">
                  <c:v>4-hour call-outs (6)</c:v>
                </c:pt>
              </c:strCache>
            </c:strRef>
          </c:cat>
          <c:val>
            <c:numRef>
              <c:f>Sheet1!$B$2:$B$7</c:f>
              <c:numCache>
                <c:formatCode>$#,##0;[Red]($#,##0);"-"</c:formatCode>
                <c:ptCount val="6"/>
                <c:pt idx="0">
                  <c:v>303</c:v>
                </c:pt>
                <c:pt idx="1">
                  <c:v>2687</c:v>
                </c:pt>
                <c:pt idx="2">
                  <c:v>575</c:v>
                </c:pt>
                <c:pt idx="3">
                  <c:v>2085</c:v>
                </c:pt>
                <c:pt idx="4">
                  <c:v>5103</c:v>
                </c:pt>
                <c:pt idx="5">
                  <c:v>2076</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Sheet1!$A$2:$A$21</c:f>
              <c:strCache>
                <c:ptCount val="20"/>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pt idx="17">
                  <c:v>Mar 26</c:v>
                </c:pt>
                <c:pt idx="18">
                  <c:v>Apr 26</c:v>
                </c:pt>
                <c:pt idx="19">
                  <c:v>May 26</c:v>
                </c:pt>
              </c:strCache>
            </c:strRef>
          </c:cat>
          <c:val>
            <c:numRef>
              <c:f>Sheet1!$B$2:$B$21</c:f>
              <c:numCache>
                <c:formatCode>0.0"%";[Red](0.0"%")</c:formatCode>
                <c:ptCount val="20"/>
                <c:pt idx="0">
                  <c:v>33.1</c:v>
                </c:pt>
                <c:pt idx="1">
                  <c:v>37.0</c:v>
                </c:pt>
                <c:pt idx="2">
                  <c:v>40.4</c:v>
                </c:pt>
                <c:pt idx="3">
                  <c:v>42.7</c:v>
                </c:pt>
                <c:pt idx="4">
                  <c:v>36.4</c:v>
                </c:pt>
                <c:pt idx="5">
                  <c:v>36.5</c:v>
                </c:pt>
                <c:pt idx="6">
                  <c:v>38.4</c:v>
                </c:pt>
                <c:pt idx="7">
                  <c:v>35.5</c:v>
                </c:pt>
                <c:pt idx="8">
                  <c:v>40.5</c:v>
                </c:pt>
                <c:pt idx="9">
                  <c:v>35.6</c:v>
                </c:pt>
                <c:pt idx="10">
                  <c:v>43.8</c:v>
                </c:pt>
                <c:pt idx="11">
                  <c:v>37.6</c:v>
                </c:pt>
                <c:pt idx="12">
                  <c:v>38.4</c:v>
                </c:pt>
                <c:pt idx="13">
                  <c:v>33.7</c:v>
                </c:pt>
                <c:pt idx="14">
                  <c:v>37.4</c:v>
                </c:pt>
                <c:pt idx="15">
                  <c:v>35.3</c:v>
                </c:pt>
                <c:pt idx="16">
                  <c:v>38.6</c:v>
                </c:pt>
                <c:pt idx="17">
                  <c:v>35.6</c:v>
                </c:pt>
                <c:pt idx="18">
                  <c:v>41.7</c:v>
                </c:pt>
                <c:pt idx="19">
                  <c:v>39.0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0&quot;%&quot;;[Red](0.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pPr>
      <a:endParaR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Sheet1!$A$2:$A$21</c:f>
              <c:strCache>
                <c:ptCount val="20"/>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pt idx="17">
                  <c:v>Mar 26</c:v>
                </c:pt>
                <c:pt idx="18">
                  <c:v>Apr 26</c:v>
                </c:pt>
                <c:pt idx="19">
                  <c:v>May 26</c:v>
                </c:pt>
              </c:strCache>
            </c:strRef>
          </c:cat>
          <c:val>
            <c:numRef>
              <c:f>Sheet1!$B$2:$B$21</c:f>
              <c:numCache>
                <c:formatCode>$#,##0;[Red]($#,##0);"-"</c:formatCode>
                <c:ptCount val="20"/>
                <c:pt idx="0">
                  <c:v>56675</c:v>
                </c:pt>
                <c:pt idx="1">
                  <c:v>66458</c:v>
                </c:pt>
                <c:pt idx="2">
                  <c:v>57840</c:v>
                </c:pt>
                <c:pt idx="3">
                  <c:v>60167</c:v>
                </c:pt>
                <c:pt idx="4">
                  <c:v>58595</c:v>
                </c:pt>
                <c:pt idx="5">
                  <c:v>49330</c:v>
                </c:pt>
                <c:pt idx="6">
                  <c:v>47897</c:v>
                </c:pt>
                <c:pt idx="7">
                  <c:v>46116</c:v>
                </c:pt>
                <c:pt idx="8">
                  <c:v>66529</c:v>
                </c:pt>
                <c:pt idx="9">
                  <c:v>66434</c:v>
                </c:pt>
                <c:pt idx="10">
                  <c:v>60906</c:v>
                </c:pt>
                <c:pt idx="11">
                  <c:v>48201</c:v>
                </c:pt>
                <c:pt idx="12">
                  <c:v>49446</c:v>
                </c:pt>
                <c:pt idx="13">
                  <c:v>58844</c:v>
                </c:pt>
                <c:pt idx="14">
                  <c:v>50453</c:v>
                </c:pt>
                <c:pt idx="15">
                  <c:v>58190</c:v>
                </c:pt>
                <c:pt idx="16">
                  <c:v>75710</c:v>
                </c:pt>
                <c:pt idx="17">
                  <c:v>68158</c:v>
                </c:pt>
                <c:pt idx="18">
                  <c:v>68843</c:v>
                </c:pt>
                <c:pt idx="19">
                  <c:v>63105</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548640"/>
            <a:ext cx="640080" cy="640080"/>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1600" b="1">
                <a:solidFill>
                  <a:srgbClr val="FFFFFF"/>
                </a:solidFill>
              </a:rPr>
              <a:t>4th</a:t>
            </a:r>
          </a:p>
        </p:txBody>
      </p:sp>
      <p:sp>
        <p:nvSpPr>
          <p:cNvPr id="3" name="TextBox 2"/>
          <p:cNvSpPr txBox="1"/>
          <p:nvPr/>
        </p:nvSpPr>
        <p:spPr>
          <a:xfrm>
            <a:off x="1234440" y="658368"/>
            <a:ext cx="5486400" cy="457200"/>
          </a:xfrm>
          <a:prstGeom prst="rect">
            <a:avLst/>
          </a:prstGeom>
          <a:noFill/>
        </p:spPr>
        <p:txBody>
          <a:bodyPr wrap="square">
            <a:spAutoFit/>
          </a:bodyPr>
          <a:lstStyle/>
          <a:p>
            <a:r>
              <a:rPr sz="1800" b="1">
                <a:solidFill>
                  <a:srgbClr val="25342A"/>
                </a:solidFill>
                <a:latin typeface="Arial"/>
              </a:rPr>
              <a:t>The 4th Sheet</a:t>
            </a:r>
          </a:p>
        </p:txBody>
      </p:sp>
      <p:sp>
        <p:nvSpPr>
          <p:cNvPr id="4" name="TextBox 3"/>
          <p:cNvSpPr txBox="1"/>
          <p:nvPr/>
        </p:nvSpPr>
        <p:spPr>
          <a:xfrm>
            <a:off x="457200" y="1554480"/>
            <a:ext cx="10972800" cy="365760"/>
          </a:xfrm>
          <a:prstGeom prst="rect">
            <a:avLst/>
          </a:prstGeom>
          <a:noFill/>
        </p:spPr>
        <p:txBody>
          <a:bodyPr wrap="square">
            <a:spAutoFit/>
          </a:bodyPr>
          <a:lstStyle/>
          <a:p>
            <a:r>
              <a:rPr sz="1100" b="1">
                <a:solidFill>
                  <a:srgbClr val="8A7A52"/>
                </a:solidFill>
                <a:latin typeface="Arial"/>
              </a:rPr>
              <a:t>SAMPLE DATA · invented figures for demonstration</a:t>
            </a:r>
          </a:p>
        </p:txBody>
      </p:sp>
      <p:sp>
        <p:nvSpPr>
          <p:cNvPr id="5" name="TextBox 4"/>
          <p:cNvSpPr txBox="1"/>
          <p:nvPr/>
        </p:nvSpPr>
        <p:spPr>
          <a:xfrm>
            <a:off x="457200" y="2011680"/>
            <a:ext cx="11247120" cy="1097280"/>
          </a:xfrm>
          <a:prstGeom prst="rect">
            <a:avLst/>
          </a:prstGeom>
          <a:noFill/>
        </p:spPr>
        <p:txBody>
          <a:bodyPr wrap="square">
            <a:spAutoFit/>
          </a:bodyPr>
          <a:lstStyle/>
          <a:p>
            <a:r>
              <a:rPr sz="3400" b="1">
                <a:solidFill>
                  <a:srgbClr val="25342A"/>
                </a:solidFill>
                <a:latin typeface="Arial"/>
              </a:rPr>
              <a:t>Which jobs actually make money?</a:t>
            </a:r>
          </a:p>
        </p:txBody>
      </p:sp>
      <p:sp>
        <p:nvSpPr>
          <p:cNvPr id="6" name="TextBox 5"/>
          <p:cNvSpPr txBox="1"/>
          <p:nvPr/>
        </p:nvSpPr>
        <p:spPr>
          <a:xfrm>
            <a:off x="457200" y="3154680"/>
            <a:ext cx="11247120" cy="457200"/>
          </a:xfrm>
          <a:prstGeom prst="rect">
            <a:avLst/>
          </a:prstGeom>
          <a:noFill/>
        </p:spPr>
        <p:txBody>
          <a:bodyPr wrap="square">
            <a:spAutoFit/>
          </a:bodyPr>
          <a:lstStyle/>
          <a:p>
            <a:r>
              <a:rPr sz="1600" b="0">
                <a:solidFill>
                  <a:srgbClr val="5F6F63"/>
                </a:solidFill>
                <a:latin typeface="Arial"/>
              </a:rPr>
              <a:t>Sample Electrical &amp; Air Pty Ltd</a:t>
            </a:r>
          </a:p>
        </p:txBody>
      </p:sp>
      <p:sp>
        <p:nvSpPr>
          <p:cNvPr id="7" name="TextBox 6"/>
          <p:cNvSpPr txBox="1"/>
          <p:nvPr/>
        </p:nvSpPr>
        <p:spPr>
          <a:xfrm>
            <a:off x="457200" y="3703320"/>
            <a:ext cx="11247120" cy="1097280"/>
          </a:xfrm>
          <a:prstGeom prst="rect">
            <a:avLst/>
          </a:prstGeom>
          <a:noFill/>
        </p:spPr>
        <p:txBody>
          <a:bodyPr wrap="square">
            <a:spAutoFit/>
          </a:bodyPr>
          <a:lstStyle/>
          <a:p>
            <a:r>
              <a:rPr sz="1400" b="0">
                <a:solidFill>
                  <a:srgbClr val="25342A"/>
                </a:solidFill>
                <a:latin typeface="Arial"/>
              </a:rPr>
              <a:t>Period: May 2026. Every job's gross margin: revenue less materials, subcontractors and technician time at $68 an hour (fully loaded: wages and all on-costs). Before overheads, so this is not profit. Pick a type of job and every number, chart and note on the page follows it.</a:t>
            </a:r>
          </a:p>
        </p:txBody>
      </p:sp>
      <p:sp>
        <p:nvSpPr>
          <p:cNvPr id="8" name="TextBox 7"/>
          <p:cNvSpPr txBox="1"/>
          <p:nvPr/>
        </p:nvSpPr>
        <p:spPr>
          <a:xfrm>
            <a:off x="457200" y="4937760"/>
            <a:ext cx="11247120" cy="1097280"/>
          </a:xfrm>
          <a:prstGeom prst="rect">
            <a:avLst/>
          </a:prstGeom>
          <a:noFill/>
        </p:spPr>
        <p:txBody>
          <a:bodyPr wrap="square">
            <a:spAutoFit/>
          </a:bodyPr>
          <a:lstStyle/>
          <a:p>
            <a:r>
              <a:rPr sz="1100" b="0">
                <a:solidFill>
                  <a:srgbClr val="5F6F63"/>
                </a:solidFill>
                <a:latin typeface="Arial"/>
              </a:rPr>
              <a:t>How final is this data?</a:t>
            </a:r>
          </a:p>
          <a:p>
            <a:r>
              <a:rPr sz="1100" b="0">
                <a:solidFill>
                  <a:srgbClr val="5F6F63"/>
                </a:solidFill>
                <a:latin typeface="Arial"/>
              </a:rPr>
              <a:t>April 2026: Locked. April 2026 is locked (closed 5 May 2026). These numbers won't change.</a:t>
            </a:r>
          </a:p>
          <a:p>
            <a:r>
              <a:rPr sz="1100" b="0">
                <a:solidFill>
                  <a:srgbClr val="5F6F63"/>
                </a:solidFill>
                <a:latin typeface="Arial"/>
              </a:rPr>
              <a:t>May 2026: Locked. May 2026 is locked (closed 2 Jun 2026). These numbers won't change.</a:t>
            </a:r>
          </a:p>
          <a:p>
            <a:r>
              <a:rPr sz="1100" b="0">
                <a:solidFill>
                  <a:srgbClr val="5F6F63"/>
                </a:solidFill>
                <a:latin typeface="Arial"/>
              </a:rPr>
              <a:t>October 2026: Incomplete. October 2026 is still in progress: figures to 6 Oct only.</a:t>
            </a:r>
          </a:p>
        </p:txBody>
      </p:sp>
      <p:sp>
        <p:nvSpPr>
          <p:cNvPr id="9" name="TextBox 8"/>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 of 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Gross margin, not profit</a:t>
            </a:r>
          </a:p>
        </p:txBody>
      </p:sp>
      <p:sp>
        <p:nvSpPr>
          <p:cNvPr id="5" name="Rectangle 4"/>
          <p:cNvSpPr/>
          <p:nvPr/>
        </p:nvSpPr>
        <p:spPr>
          <a:xfrm>
            <a:off x="457200" y="1554480"/>
            <a:ext cx="11277295"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10820095" cy="365760"/>
          </a:xfrm>
          <a:prstGeom prst="rect">
            <a:avLst/>
          </a:prstGeom>
          <a:noFill/>
        </p:spPr>
        <p:txBody>
          <a:bodyPr wrap="square">
            <a:spAutoFit/>
          </a:bodyPr>
          <a:lstStyle/>
          <a:p>
            <a:r>
              <a:rPr sz="1100" b="1">
                <a:solidFill>
                  <a:srgbClr val="5F6F63"/>
                </a:solidFill>
                <a:latin typeface="Arial"/>
              </a:rPr>
              <a:t>GROSS MARGIN, NOT PROFIT</a:t>
            </a:r>
          </a:p>
        </p:txBody>
      </p:sp>
      <p:sp>
        <p:nvSpPr>
          <p:cNvPr id="7" name="TextBox 6"/>
          <p:cNvSpPr txBox="1"/>
          <p:nvPr/>
        </p:nvSpPr>
        <p:spPr>
          <a:xfrm>
            <a:off x="685800" y="2103120"/>
            <a:ext cx="10820095" cy="3749039"/>
          </a:xfrm>
          <a:prstGeom prst="rect">
            <a:avLst/>
          </a:prstGeom>
          <a:noFill/>
        </p:spPr>
        <p:txBody>
          <a:bodyPr wrap="square">
            <a:spAutoFit/>
          </a:bodyPr>
          <a:lstStyle/>
          <a:p>
            <a:r>
              <a:rPr sz="1600" b="0">
                <a:solidFill>
                  <a:srgbClr val="25342A"/>
                </a:solidFill>
                <a:latin typeface="Arial"/>
              </a:rPr>
              <a:t>Gross margin is not profit. Job gross margin = revenue less materials, subcontractors and technician time charged to the job at $68 an hour (wages and all on-costs). Not included: technician time not charged to any job (travel, training, waiting), and overheads (office wages, marketing, vehicles, rent, insurance, IT, depreciation, interest). Profit is what's left after those. Wages always include all on-costs: super, payroll tax, workers' compensation insurance and leave.</a:t>
            </a:r>
          </a:p>
        </p:txBody>
      </p:sp>
      <p:sp>
        <p:nvSpPr>
          <p:cNvPr id="8" name="TextBox 7"/>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2 of 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From gross margin to profit</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May's jobs made $63,105 gross margin (39.0%). Technician time not charged to jobs took $5,402 and overheads $59,270, leaving ($1,567) profit before tax ((1.0%) of revenue). To cover overheads, jobs need a 39.9% gross margin on average.</a:t>
            </a:r>
          </a:p>
        </p:txBody>
      </p:sp>
      <p:graphicFrame>
        <p:nvGraphicFramePr>
          <p:cNvPr id="6" name="Table 5"/>
          <p:cNvGraphicFramePr>
            <a:graphicFrameLocks noGrp="1"/>
          </p:cNvGraphicFramePr>
          <p:nvPr/>
        </p:nvGraphicFramePr>
        <p:xfrm>
          <a:off x="457200" y="1463040"/>
          <a:ext cx="11247120" cy="3950208"/>
        </p:xfrm>
        <a:graphic>
          <a:graphicData uri="http://schemas.openxmlformats.org/drawingml/2006/table">
            <a:tbl>
              <a:tblPr firstRow="1" bandRow="1">
                <a:tableStyleId>{5C22544A-7EE6-4342-B048-85BDC9FD1C3A}</a:tableStyleId>
              </a:tblPr>
              <a:tblGrid>
                <a:gridCol w="5623560"/>
                <a:gridCol w="5623560"/>
              </a:tblGrid>
              <a:tr h="329184">
                <a:tc>
                  <a:txBody>
                    <a:bodyPr/>
                    <a:lstStyle/>
                    <a:p/>
                  </a:txBody>
                  <a:tcPr>
                    <a:solidFill>
                      <a:srgbClr val="2F7A5D"/>
                    </a:solidFill>
                  </a:tcPr>
                </a:tc>
                <a:tc>
                  <a:txBody>
                    <a:bodyPr/>
                    <a:lstStyle/>
                    <a:p>
                      <a:pPr algn="r"/>
                      <a:r>
                        <a:rPr sz="1100" b="1">
                          <a:solidFill>
                            <a:srgbClr val="FFFFFF"/>
                          </a:solidFill>
                        </a:rPr>
                        <a:t>May 2026</a:t>
                      </a:r>
                    </a:p>
                  </a:txBody>
                  <a:tcPr>
                    <a:solidFill>
                      <a:srgbClr val="2F7A5D"/>
                    </a:solidFill>
                  </a:tcPr>
                </a:tc>
              </a:tr>
              <a:tr h="329184">
                <a:tc>
                  <a:txBody>
                    <a:bodyPr/>
                    <a:lstStyle/>
                    <a:p>
                      <a:r>
                        <a:rPr sz="1050">
                          <a:solidFill>
                            <a:srgbClr val="25342A"/>
                          </a:solidFill>
                        </a:rPr>
                        <a:t>Gross margin on jobs</a:t>
                      </a:r>
                    </a:p>
                  </a:txBody>
                  <a:tcPr>
                    <a:solidFill>
                      <a:srgbClr val="FFFFFF"/>
                    </a:solidFill>
                  </a:tcPr>
                </a:tc>
                <a:tc>
                  <a:txBody>
                    <a:bodyPr/>
                    <a:lstStyle/>
                    <a:p>
                      <a:pPr algn="r"/>
                      <a:r>
                        <a:rPr sz="1050">
                          <a:solidFill>
                            <a:srgbClr val="25342A"/>
                          </a:solidFill>
                        </a:rPr>
                        <a:t>$63,105</a:t>
                      </a:r>
                    </a:p>
                  </a:txBody>
                  <a:tcPr>
                    <a:solidFill>
                      <a:srgbClr val="FFFFFF"/>
                    </a:solidFill>
                  </a:tcPr>
                </a:tc>
              </a:tr>
              <a:tr h="329184">
                <a:tc>
                  <a:txBody>
                    <a:bodyPr/>
                    <a:lstStyle/>
                    <a:p>
                      <a:r>
                        <a:rPr sz="1050">
                          <a:solidFill>
                            <a:srgbClr val="25342A"/>
                          </a:solidFill>
                        </a:rPr>
                        <a:t>Technician wages and on-costs</a:t>
                      </a:r>
                    </a:p>
                  </a:txBody>
                  <a:tcPr>
                    <a:solidFill>
                      <a:srgbClr val="F7FAF7"/>
                    </a:solidFill>
                  </a:tcPr>
                </a:tc>
                <a:tc>
                  <a:txBody>
                    <a:bodyPr/>
                    <a:lstStyle/>
                    <a:p>
                      <a:pPr algn="r"/>
                      <a:r>
                        <a:rPr sz="1050">
                          <a:solidFill>
                            <a:srgbClr val="25342A"/>
                          </a:solidFill>
                        </a:rPr>
                        <a:t>$54,600</a:t>
                      </a:r>
                    </a:p>
                  </a:txBody>
                  <a:tcPr>
                    <a:solidFill>
                      <a:srgbClr val="F7FAF7"/>
                    </a:solidFill>
                  </a:tcPr>
                </a:tc>
              </a:tr>
              <a:tr h="329184">
                <a:tc>
                  <a:txBody>
                    <a:bodyPr/>
                    <a:lstStyle/>
                    <a:p>
                      <a:r>
                        <a:rPr sz="1050">
                          <a:solidFill>
                            <a:srgbClr val="25342A"/>
                          </a:solidFill>
                        </a:rPr>
                        <a:t>Technician time charged to jobs (at cost)</a:t>
                      </a:r>
                    </a:p>
                  </a:txBody>
                  <a:tcPr>
                    <a:solidFill>
                      <a:srgbClr val="FFFFFF"/>
                    </a:solidFill>
                  </a:tcPr>
                </a:tc>
                <a:tc>
                  <a:txBody>
                    <a:bodyPr/>
                    <a:lstStyle/>
                    <a:p>
                      <a:pPr algn="r"/>
                      <a:r>
                        <a:rPr sz="1050">
                          <a:solidFill>
                            <a:srgbClr val="25342A"/>
                          </a:solidFill>
                        </a:rPr>
                        <a:t>$49,198</a:t>
                      </a:r>
                    </a:p>
                  </a:txBody>
                  <a:tcPr>
                    <a:solidFill>
                      <a:srgbClr val="FFFFFF"/>
                    </a:solidFill>
                  </a:tcPr>
                </a:tc>
              </a:tr>
              <a:tr h="329184">
                <a:tc>
                  <a:txBody>
                    <a:bodyPr/>
                    <a:lstStyle/>
                    <a:p>
                      <a:r>
                        <a:rPr sz="1050">
                          <a:solidFill>
                            <a:srgbClr val="25342A"/>
                          </a:solidFill>
                        </a:rPr>
                        <a:t>Technician time not charged to jobs</a:t>
                      </a:r>
                    </a:p>
                  </a:txBody>
                  <a:tcPr>
                    <a:solidFill>
                      <a:srgbClr val="F7FAF7"/>
                    </a:solidFill>
                  </a:tcPr>
                </a:tc>
                <a:tc>
                  <a:txBody>
                    <a:bodyPr/>
                    <a:lstStyle/>
                    <a:p>
                      <a:pPr algn="r"/>
                      <a:r>
                        <a:rPr sz="1050">
                          <a:solidFill>
                            <a:srgbClr val="25342A"/>
                          </a:solidFill>
                        </a:rPr>
                        <a:t>$5,402</a:t>
                      </a:r>
                    </a:p>
                  </a:txBody>
                  <a:tcPr>
                    <a:solidFill>
                      <a:srgbClr val="F7FAF7"/>
                    </a:solidFill>
                  </a:tcPr>
                </a:tc>
              </a:tr>
              <a:tr h="329184">
                <a:tc>
                  <a:txBody>
                    <a:bodyPr/>
                    <a:lstStyle/>
                    <a:p>
                      <a:r>
                        <a:rPr sz="1050">
                          <a:solidFill>
                            <a:srgbClr val="25342A"/>
                          </a:solidFill>
                        </a:rPr>
                        <a:t>Gross profit (the P&amp;L)</a:t>
                      </a:r>
                    </a:p>
                  </a:txBody>
                  <a:tcPr>
                    <a:solidFill>
                      <a:srgbClr val="FFFFFF"/>
                    </a:solidFill>
                  </a:tcPr>
                </a:tc>
                <a:tc>
                  <a:txBody>
                    <a:bodyPr/>
                    <a:lstStyle/>
                    <a:p>
                      <a:pPr algn="r"/>
                      <a:r>
                        <a:rPr sz="1050">
                          <a:solidFill>
                            <a:srgbClr val="25342A"/>
                          </a:solidFill>
                        </a:rPr>
                        <a:t>$57,703</a:t>
                      </a:r>
                    </a:p>
                  </a:txBody>
                  <a:tcPr>
                    <a:solidFill>
                      <a:srgbClr val="FFFFFF"/>
                    </a:solidFill>
                  </a:tcPr>
                </a:tc>
              </a:tr>
              <a:tr h="329184">
                <a:tc>
                  <a:txBody>
                    <a:bodyPr/>
                    <a:lstStyle/>
                    <a:p>
                      <a:r>
                        <a:rPr sz="1050">
                          <a:solidFill>
                            <a:srgbClr val="25342A"/>
                          </a:solidFill>
                        </a:rPr>
                        <a:t>Overheads (operating expenses, depreciation, interest)</a:t>
                      </a:r>
                    </a:p>
                  </a:txBody>
                  <a:tcPr>
                    <a:solidFill>
                      <a:srgbClr val="F7FAF7"/>
                    </a:solidFill>
                  </a:tcPr>
                </a:tc>
                <a:tc>
                  <a:txBody>
                    <a:bodyPr/>
                    <a:lstStyle/>
                    <a:p>
                      <a:pPr algn="r"/>
                      <a:r>
                        <a:rPr sz="1050">
                          <a:solidFill>
                            <a:srgbClr val="25342A"/>
                          </a:solidFill>
                        </a:rPr>
                        <a:t>$59,270</a:t>
                      </a:r>
                    </a:p>
                  </a:txBody>
                  <a:tcPr>
                    <a:solidFill>
                      <a:srgbClr val="F7FAF7"/>
                    </a:solidFill>
                  </a:tcPr>
                </a:tc>
              </a:tr>
              <a:tr h="329184">
                <a:tc>
                  <a:txBody>
                    <a:bodyPr/>
                    <a:lstStyle/>
                    <a:p>
                      <a:r>
                        <a:rPr sz="1050">
                          <a:solidFill>
                            <a:srgbClr val="25342A"/>
                          </a:solidFill>
                        </a:rPr>
                        <a:t>Profit before tax (the P&amp;L)</a:t>
                      </a:r>
                    </a:p>
                  </a:txBody>
                  <a:tcPr>
                    <a:solidFill>
                      <a:srgbClr val="FFFFFF"/>
                    </a:solidFill>
                  </a:tcPr>
                </a:tc>
                <a:tc>
                  <a:txBody>
                    <a:bodyPr/>
                    <a:lstStyle/>
                    <a:p>
                      <a:pPr algn="r"/>
                      <a:r>
                        <a:rPr sz="1050">
                          <a:solidFill>
                            <a:srgbClr val="B42318"/>
                          </a:solidFill>
                        </a:rPr>
                        <a:t>($1,567)</a:t>
                      </a:r>
                    </a:p>
                  </a:txBody>
                  <a:tcPr>
                    <a:solidFill>
                      <a:srgbClr val="FFFFFF"/>
                    </a:solidFill>
                  </a:tcPr>
                </a:tc>
              </a:tr>
              <a:tr h="329184">
                <a:tc>
                  <a:txBody>
                    <a:bodyPr/>
                    <a:lstStyle/>
                    <a:p>
                      <a:r>
                        <a:rPr sz="1050">
                          <a:solidFill>
                            <a:srgbClr val="25342A"/>
                          </a:solidFill>
                        </a:rPr>
                        <a:t>Revenue</a:t>
                      </a:r>
                    </a:p>
                  </a:txBody>
                  <a:tcPr>
                    <a:solidFill>
                      <a:srgbClr val="F7FAF7"/>
                    </a:solidFill>
                  </a:tcPr>
                </a:tc>
                <a:tc>
                  <a:txBody>
                    <a:bodyPr/>
                    <a:lstStyle/>
                    <a:p>
                      <a:pPr algn="r"/>
                      <a:r>
                        <a:rPr sz="1050">
                          <a:solidFill>
                            <a:srgbClr val="25342A"/>
                          </a:solidFill>
                        </a:rPr>
                        <a:t>$161,963</a:t>
                      </a:r>
                    </a:p>
                  </a:txBody>
                  <a:tcPr>
                    <a:solidFill>
                      <a:srgbClr val="F7FAF7"/>
                    </a:solidFill>
                  </a:tcPr>
                </a:tc>
              </a:tr>
              <a:tr h="329184">
                <a:tc>
                  <a:txBody>
                    <a:bodyPr/>
                    <a:lstStyle/>
                    <a:p>
                      <a:r>
                        <a:rPr sz="1050">
                          <a:solidFill>
                            <a:srgbClr val="25342A"/>
                          </a:solidFill>
                        </a:rPr>
                        <a:t>Gross margin on jobs, %</a:t>
                      </a:r>
                    </a:p>
                  </a:txBody>
                  <a:tcPr>
                    <a:solidFill>
                      <a:srgbClr val="FFFFFF"/>
                    </a:solidFill>
                  </a:tcPr>
                </a:tc>
                <a:tc>
                  <a:txBody>
                    <a:bodyPr/>
                    <a:lstStyle/>
                    <a:p>
                      <a:pPr algn="r"/>
                      <a:r>
                        <a:rPr sz="1050">
                          <a:solidFill>
                            <a:srgbClr val="25342A"/>
                          </a:solidFill>
                        </a:rPr>
                        <a:t>39.0%</a:t>
                      </a:r>
                    </a:p>
                  </a:txBody>
                  <a:tcPr>
                    <a:solidFill>
                      <a:srgbClr val="FFFFFF"/>
                    </a:solidFill>
                  </a:tcPr>
                </a:tc>
              </a:tr>
              <a:tr h="329184">
                <a:tc>
                  <a:txBody>
                    <a:bodyPr/>
                    <a:lstStyle/>
                    <a:p>
                      <a:r>
                        <a:rPr sz="1050">
                          <a:solidFill>
                            <a:srgbClr val="25342A"/>
                          </a:solidFill>
                        </a:rPr>
                        <a:t>Profit before tax, % of revenue</a:t>
                      </a:r>
                    </a:p>
                  </a:txBody>
                  <a:tcPr>
                    <a:solidFill>
                      <a:srgbClr val="F7FAF7"/>
                    </a:solidFill>
                  </a:tcPr>
                </a:tc>
                <a:tc>
                  <a:txBody>
                    <a:bodyPr/>
                    <a:lstStyle/>
                    <a:p>
                      <a:pPr algn="r"/>
                      <a:r>
                        <a:rPr sz="1050">
                          <a:solidFill>
                            <a:srgbClr val="B42318"/>
                          </a:solidFill>
                        </a:rPr>
                        <a:t>(1.0%)</a:t>
                      </a:r>
                    </a:p>
                  </a:txBody>
                  <a:tcPr>
                    <a:solidFill>
                      <a:srgbClr val="F7FAF7"/>
                    </a:solidFill>
                  </a:tcPr>
                </a:tc>
              </a:tr>
              <a:tr h="329184">
                <a:tc>
                  <a:txBody>
                    <a:bodyPr/>
                    <a:lstStyle/>
                    <a:p>
                      <a:r>
                        <a:rPr sz="1050">
                          <a:solidFill>
                            <a:srgbClr val="25342A"/>
                          </a:solidFill>
                        </a:rPr>
                        <a:t>Gross margin jobs need just to cover overheads and time not charged</a:t>
                      </a:r>
                    </a:p>
                  </a:txBody>
                  <a:tcPr>
                    <a:solidFill>
                      <a:srgbClr val="FFFFFF"/>
                    </a:solidFill>
                  </a:tcPr>
                </a:tc>
                <a:tc>
                  <a:txBody>
                    <a:bodyPr/>
                    <a:lstStyle/>
                    <a:p>
                      <a:pPr algn="r"/>
                      <a:r>
                        <a:rPr sz="1050">
                          <a:solidFill>
                            <a:srgbClr val="25342A"/>
                          </a:solidFill>
                        </a:rPr>
                        <a:t>39.9%</a:t>
                      </a:r>
                    </a:p>
                  </a:txBody>
                  <a:tcPr>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3 of 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Headline numbers · Type of job: All jobs</a:t>
            </a:r>
          </a:p>
        </p:txBody>
      </p:sp>
      <p:sp>
        <p:nvSpPr>
          <p:cNvPr id="5" name="Rectangle 4"/>
          <p:cNvSpPr/>
          <p:nvPr/>
        </p:nvSpPr>
        <p:spPr>
          <a:xfrm>
            <a:off x="457200" y="1645920"/>
            <a:ext cx="11277295"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10911535" cy="457200"/>
          </a:xfrm>
          <a:prstGeom prst="rect">
            <a:avLst/>
          </a:prstGeom>
          <a:noFill/>
        </p:spPr>
        <p:txBody>
          <a:bodyPr wrap="square">
            <a:spAutoFit/>
          </a:bodyPr>
          <a:lstStyle/>
          <a:p>
            <a:r>
              <a:rPr sz="1200" b="0">
                <a:solidFill>
                  <a:srgbClr val="5F6F63"/>
                </a:solidFill>
                <a:latin typeface="Arial"/>
              </a:rPr>
              <a:t>Job gross margin, May · All jobs</a:t>
            </a:r>
          </a:p>
        </p:txBody>
      </p:sp>
      <p:sp>
        <p:nvSpPr>
          <p:cNvPr id="7" name="TextBox 6"/>
          <p:cNvSpPr txBox="1"/>
          <p:nvPr/>
        </p:nvSpPr>
        <p:spPr>
          <a:xfrm>
            <a:off x="640080" y="2240280"/>
            <a:ext cx="10911535" cy="731520"/>
          </a:xfrm>
          <a:prstGeom prst="rect">
            <a:avLst/>
          </a:prstGeom>
          <a:noFill/>
        </p:spPr>
        <p:txBody>
          <a:bodyPr wrap="square">
            <a:spAutoFit/>
          </a:bodyPr>
          <a:lstStyle/>
          <a:p>
            <a:r>
              <a:rPr sz="3000" b="1">
                <a:solidFill>
                  <a:srgbClr val="2F7A5D"/>
                </a:solidFill>
                <a:latin typeface="Arial"/>
              </a:rPr>
              <a:t>39.0%</a:t>
            </a:r>
          </a:p>
        </p:txBody>
      </p:sp>
      <p:sp>
        <p:nvSpPr>
          <p:cNvPr id="8" name="TextBox 7"/>
          <p:cNvSpPr txBox="1"/>
          <p:nvPr/>
        </p:nvSpPr>
        <p:spPr>
          <a:xfrm>
            <a:off x="640080" y="3017520"/>
            <a:ext cx="10911535" cy="548640"/>
          </a:xfrm>
          <a:prstGeom prst="rect">
            <a:avLst/>
          </a:prstGeom>
          <a:noFill/>
        </p:spPr>
        <p:txBody>
          <a:bodyPr wrap="square">
            <a:spAutoFit/>
          </a:bodyPr>
          <a:lstStyle/>
          <a:p>
            <a:r>
              <a:rPr sz="1100" b="0">
                <a:solidFill>
                  <a:srgbClr val="5F6F63"/>
                </a:solidFill>
                <a:latin typeface="Arial"/>
              </a:rPr>
              <a:t>April 41.7%</a:t>
            </a:r>
          </a:p>
        </p:txBody>
      </p:sp>
      <p:sp>
        <p:nvSpPr>
          <p:cNvPr id="9" name="TextBox 8"/>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4 of 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Job gross margin by type of job, May 2026 · Gross margin % · Type of job: All jobs</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Revenue less materials, subcontractors and technician time at $68/hour.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r>
              <a:rPr sz="1000" b="0">
                <a:solidFill>
                  <a:srgbClr val="5F6F63"/>
                </a:solidFill>
                <a:latin typeface="Arial"/>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5 of 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Job gross margin by type of job, May 2026 · Gross margin $ · Type of job: All jobs</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Revenue less materials, subcontractors and technician time at $68/hour.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6 of 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What it shows · Type of job: All jobs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5044287" cy="365760"/>
          </a:xfrm>
          <a:prstGeom prst="rect">
            <a:avLst/>
          </a:prstGeom>
          <a:noFill/>
        </p:spPr>
        <p:txBody>
          <a:bodyPr wrap="square">
            <a:spAutoFit/>
          </a:bodyPr>
          <a:lstStyle/>
          <a:p>
            <a:r>
              <a:rPr sz="1100" b="1">
                <a:solidFill>
                  <a:srgbClr val="5F6F63"/>
                </a:solidFill>
                <a:latin typeface="Arial"/>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r>
              <a:rPr sz="1600" b="0">
                <a:solidFill>
                  <a:srgbClr val="25342A"/>
                </a:solidFill>
                <a:latin typeface="Arial"/>
              </a:rPr>
              <a:t>In May maintenance contracts made a 59.5% job gross margin, installations made a 28.3% job gross margin, call-outs and repairs made a 44.1% job gross margin (technician time at $68 an hour, wages and all on-costs). Jobs need 39.9%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1691640"/>
            <a:ext cx="5044287" cy="365760"/>
          </a:xfrm>
          <a:prstGeom prst="rect">
            <a:avLst/>
          </a:prstGeom>
          <a:noFill/>
        </p:spPr>
        <p:txBody>
          <a:bodyPr wrap="square">
            <a:spAutoFit/>
          </a:bodyPr>
          <a:lstStyle/>
          <a:p>
            <a:r>
              <a:rPr sz="1100" b="1">
                <a:solidFill>
                  <a:srgbClr val="5F6F63"/>
                </a:solidFill>
                <a:latin typeface="Arial"/>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r>
              <a:rPr sz="1600" b="0">
                <a:solidFill>
                  <a:srgbClr val="25342A"/>
                </a:solidFill>
                <a:latin typeface="Arial"/>
              </a:rPr>
              <a:t>Maintenance contracts: 59.5% gross margin, the most profitable work you do. Installations: 28.3% gross margin, below the 39.9% needed to cover overheads.</a:t>
            </a:r>
          </a:p>
        </p:txBody>
      </p:sp>
      <p:sp>
        <p:nvSpPr>
          <p:cNvPr id="11" name="TextBox 10"/>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7 of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Headline numbers · Type of job: Maintenance contracts</a:t>
            </a:r>
          </a:p>
        </p:txBody>
      </p:sp>
      <p:sp>
        <p:nvSpPr>
          <p:cNvPr id="5" name="Rectangle 4"/>
          <p:cNvSpPr/>
          <p:nvPr/>
        </p:nvSpPr>
        <p:spPr>
          <a:xfrm>
            <a:off x="457200" y="1645920"/>
            <a:ext cx="11277295"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10911535" cy="457200"/>
          </a:xfrm>
          <a:prstGeom prst="rect">
            <a:avLst/>
          </a:prstGeom>
          <a:noFill/>
        </p:spPr>
        <p:txBody>
          <a:bodyPr wrap="square">
            <a:spAutoFit/>
          </a:bodyPr>
          <a:lstStyle/>
          <a:p>
            <a:r>
              <a:rPr sz="1200" b="0">
                <a:solidFill>
                  <a:srgbClr val="5F6F63"/>
                </a:solidFill>
                <a:latin typeface="Arial"/>
              </a:rPr>
              <a:t>Job gross margin, May · Maintenance contracts</a:t>
            </a:r>
          </a:p>
        </p:txBody>
      </p:sp>
      <p:sp>
        <p:nvSpPr>
          <p:cNvPr id="7" name="TextBox 6"/>
          <p:cNvSpPr txBox="1"/>
          <p:nvPr/>
        </p:nvSpPr>
        <p:spPr>
          <a:xfrm>
            <a:off x="640080" y="2240280"/>
            <a:ext cx="10911535" cy="731520"/>
          </a:xfrm>
          <a:prstGeom prst="rect">
            <a:avLst/>
          </a:prstGeom>
          <a:noFill/>
        </p:spPr>
        <p:txBody>
          <a:bodyPr wrap="square">
            <a:spAutoFit/>
          </a:bodyPr>
          <a:lstStyle/>
          <a:p>
            <a:r>
              <a:rPr sz="3000" b="1">
                <a:solidFill>
                  <a:srgbClr val="2F7A5D"/>
                </a:solidFill>
                <a:latin typeface="Arial"/>
              </a:rPr>
              <a:t>59.5%</a:t>
            </a:r>
          </a:p>
        </p:txBody>
      </p:sp>
      <p:sp>
        <p:nvSpPr>
          <p:cNvPr id="8" name="TextBox 7"/>
          <p:cNvSpPr txBox="1"/>
          <p:nvPr/>
        </p:nvSpPr>
        <p:spPr>
          <a:xfrm>
            <a:off x="640080" y="3017520"/>
            <a:ext cx="10911535" cy="548640"/>
          </a:xfrm>
          <a:prstGeom prst="rect">
            <a:avLst/>
          </a:prstGeom>
          <a:noFill/>
        </p:spPr>
        <p:txBody>
          <a:bodyPr wrap="square">
            <a:spAutoFit/>
          </a:bodyPr>
          <a:lstStyle/>
          <a:p>
            <a:r>
              <a:rPr sz="1100" b="0">
                <a:solidFill>
                  <a:srgbClr val="5F6F63"/>
                </a:solidFill>
                <a:latin typeface="Arial"/>
              </a:rPr>
              <a:t>April 59.6%</a:t>
            </a:r>
          </a:p>
        </p:txBody>
      </p:sp>
      <p:sp>
        <p:nvSpPr>
          <p:cNvPr id="9" name="TextBox 8"/>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8 of 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Job gross margin on each maintenance contract, May 2026 · Gross margin % · Type of job: Maintenance contracts</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The month's fee less materials and technician time at $68/hour.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r>
              <a:rPr sz="1000" b="0">
                <a:solidFill>
                  <a:srgbClr val="5F6F63"/>
                </a:solidFill>
                <a:latin typeface="Arial"/>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9 of 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Job gross margin on each maintenance contract, May 2026 · Gross margin $ · Type of job: Maintenance contracts</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The month's fee less materials and technician time at $68/hour.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10 of 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What it shows · Type of job: Maintenance contracts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5044287" cy="365760"/>
          </a:xfrm>
          <a:prstGeom prst="rect">
            <a:avLst/>
          </a:prstGeom>
          <a:noFill/>
        </p:spPr>
        <p:txBody>
          <a:bodyPr wrap="square">
            <a:spAutoFit/>
          </a:bodyPr>
          <a:lstStyle/>
          <a:p>
            <a:r>
              <a:rPr sz="1100" b="1">
                <a:solidFill>
                  <a:srgbClr val="5F6F63"/>
                </a:solidFill>
                <a:latin typeface="Arial"/>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r>
              <a:rPr sz="1600" b="0">
                <a:solidFill>
                  <a:srgbClr val="25342A"/>
                </a:solidFill>
                <a:latin typeface="Arial"/>
              </a:rPr>
              <a:t>All 14 contracts made more than the 35.0% job gross margin target. The thinnest was Kangaroo Point townhouses at 58.2% job gross margin: 14.0 h of technician time on a $2,400 monthly fee.</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1691640"/>
            <a:ext cx="5044287" cy="365760"/>
          </a:xfrm>
          <a:prstGeom prst="rect">
            <a:avLst/>
          </a:prstGeom>
          <a:noFill/>
        </p:spPr>
        <p:txBody>
          <a:bodyPr wrap="square">
            <a:spAutoFit/>
          </a:bodyPr>
          <a:lstStyle/>
          <a:p>
            <a:r>
              <a:rPr sz="1100" b="1">
                <a:solidFill>
                  <a:srgbClr val="5F6F63"/>
                </a:solidFill>
                <a:latin typeface="Arial"/>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r>
              <a:rPr sz="1600" b="0">
                <a:solidFill>
                  <a:srgbClr val="25342A"/>
                </a:solidFill>
                <a:latin typeface="Arial"/>
              </a:rPr>
              <a:t>The Kangaroo Point townhouses contract: 58.2% gross margin, 18.3 points clear of the 39.9% overheads need. Maintenance contracts overall: 59.5% gross margin.</a:t>
            </a:r>
          </a:p>
        </p:txBody>
      </p:sp>
      <p:sp>
        <p:nvSpPr>
          <p:cNvPr id="11" name="TextBox 10"/>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11 of 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Headline numbers · Type of job: Installations</a:t>
            </a:r>
          </a:p>
        </p:txBody>
      </p:sp>
      <p:sp>
        <p:nvSpPr>
          <p:cNvPr id="5" name="Rectangle 4"/>
          <p:cNvSpPr/>
          <p:nvPr/>
        </p:nvSpPr>
        <p:spPr>
          <a:xfrm>
            <a:off x="457200" y="1645920"/>
            <a:ext cx="11277295"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10911535" cy="457200"/>
          </a:xfrm>
          <a:prstGeom prst="rect">
            <a:avLst/>
          </a:prstGeom>
          <a:noFill/>
        </p:spPr>
        <p:txBody>
          <a:bodyPr wrap="square">
            <a:spAutoFit/>
          </a:bodyPr>
          <a:lstStyle/>
          <a:p>
            <a:r>
              <a:rPr sz="1200" b="0">
                <a:solidFill>
                  <a:srgbClr val="5F6F63"/>
                </a:solidFill>
                <a:latin typeface="Arial"/>
              </a:rPr>
              <a:t>Job gross margin, May · Installations</a:t>
            </a:r>
          </a:p>
        </p:txBody>
      </p:sp>
      <p:sp>
        <p:nvSpPr>
          <p:cNvPr id="7" name="TextBox 6"/>
          <p:cNvSpPr txBox="1"/>
          <p:nvPr/>
        </p:nvSpPr>
        <p:spPr>
          <a:xfrm>
            <a:off x="640080" y="2240280"/>
            <a:ext cx="10911535" cy="731520"/>
          </a:xfrm>
          <a:prstGeom prst="rect">
            <a:avLst/>
          </a:prstGeom>
          <a:noFill/>
        </p:spPr>
        <p:txBody>
          <a:bodyPr wrap="square">
            <a:spAutoFit/>
          </a:bodyPr>
          <a:lstStyle/>
          <a:p>
            <a:r>
              <a:rPr sz="3000" b="1">
                <a:solidFill>
                  <a:srgbClr val="2F7A5D"/>
                </a:solidFill>
                <a:latin typeface="Arial"/>
              </a:rPr>
              <a:t>28.3%</a:t>
            </a:r>
          </a:p>
        </p:txBody>
      </p:sp>
      <p:sp>
        <p:nvSpPr>
          <p:cNvPr id="8" name="TextBox 7"/>
          <p:cNvSpPr txBox="1"/>
          <p:nvPr/>
        </p:nvSpPr>
        <p:spPr>
          <a:xfrm>
            <a:off x="640080" y="3017520"/>
            <a:ext cx="10911535" cy="548640"/>
          </a:xfrm>
          <a:prstGeom prst="rect">
            <a:avLst/>
          </a:prstGeom>
          <a:noFill/>
        </p:spPr>
        <p:txBody>
          <a:bodyPr wrap="square">
            <a:spAutoFit/>
          </a:bodyPr>
          <a:lstStyle/>
          <a:p>
            <a:r>
              <a:rPr sz="1100" b="0">
                <a:solidFill>
                  <a:srgbClr val="5F6F63"/>
                </a:solidFill>
                <a:latin typeface="Arial"/>
              </a:rPr>
              <a:t>April 34.9%</a:t>
            </a:r>
          </a:p>
        </p:txBody>
      </p:sp>
      <p:sp>
        <p:nvSpPr>
          <p:cNvPr id="9" name="TextBox 8"/>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12 of 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Job gross margin on each installation invoiced in May 2026 · Gross margin % · Type of job: Installations</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Whole job, recognised when invoiced: revenue less materials, subcontractors and technician time at $68/hour. Before overheads: not profit. One 35.0% target for every job for now.</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r>
              <a:rPr sz="1000" b="0">
                <a:solidFill>
                  <a:srgbClr val="5F6F63"/>
                </a:solidFill>
                <a:latin typeface="Arial"/>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13 of 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Job gross margin on each installation invoiced in May 2026 · Gross margin $ · Type of job: Installations</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Whole job, recognised when invoiced: revenue less materials, subcontractors and technician time at $68/hour. Before overheads: not profit. One 35.0% target for every job for now.</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14 of 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What it shows · Type of job: Installations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5044287" cy="365760"/>
          </a:xfrm>
          <a:prstGeom prst="rect">
            <a:avLst/>
          </a:prstGeom>
          <a:noFill/>
        </p:spPr>
        <p:txBody>
          <a:bodyPr wrap="square">
            <a:spAutoFit/>
          </a:bodyPr>
          <a:lstStyle/>
          <a:p>
            <a:r>
              <a:rPr sz="1100" b="1">
                <a:solidFill>
                  <a:srgbClr val="5F6F63"/>
                </a:solidFill>
                <a:latin typeface="Arial"/>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r>
              <a:rPr sz="1600" b="0">
                <a:solidFill>
                  <a:srgbClr val="25342A"/>
                </a:solidFill>
                <a:latin typeface="Arial"/>
              </a:rPr>
              <a:t>4 of the 4 installation jobs invoiced in May made less than the 35.0% job gross margin target. The Installation 3, May made a 28.1% job gross margin: 151.0 h of technician time ($10,268) and $3,100 of subcontractors on a $39,300 job. Jobs need 39.9% gross margin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1691640"/>
            <a:ext cx="5044287" cy="365760"/>
          </a:xfrm>
          <a:prstGeom prst="rect">
            <a:avLst/>
          </a:prstGeom>
          <a:noFill/>
        </p:spPr>
        <p:txBody>
          <a:bodyPr wrap="square">
            <a:spAutoFit/>
          </a:bodyPr>
          <a:lstStyle/>
          <a:p>
            <a:r>
              <a:rPr sz="1100" b="1">
                <a:solidFill>
                  <a:srgbClr val="5F6F63"/>
                </a:solidFill>
                <a:latin typeface="Arial"/>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r>
              <a:rPr sz="1600" b="0">
                <a:solidFill>
                  <a:srgbClr val="25342A"/>
                </a:solidFill>
                <a:latin typeface="Arial"/>
              </a:rPr>
              <a:t>Below the 39.9% overheads need: Installation 4, May (29.1%), Installation 2, May (28.7%), Installation 1, May (28.2%), Installation 3, May (28.1%). Most profitable: Installation 4, May (29.1%).</a:t>
            </a:r>
          </a:p>
        </p:txBody>
      </p:sp>
      <p:sp>
        <p:nvSpPr>
          <p:cNvPr id="11" name="TextBox 10"/>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15 of 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Headline numbers · Type of job: Call-outs and repairs</a:t>
            </a:r>
          </a:p>
        </p:txBody>
      </p:sp>
      <p:sp>
        <p:nvSpPr>
          <p:cNvPr id="5" name="Rectangle 4"/>
          <p:cNvSpPr/>
          <p:nvPr/>
        </p:nvSpPr>
        <p:spPr>
          <a:xfrm>
            <a:off x="457200" y="1645920"/>
            <a:ext cx="11277295"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10911535" cy="457200"/>
          </a:xfrm>
          <a:prstGeom prst="rect">
            <a:avLst/>
          </a:prstGeom>
          <a:noFill/>
        </p:spPr>
        <p:txBody>
          <a:bodyPr wrap="square">
            <a:spAutoFit/>
          </a:bodyPr>
          <a:lstStyle/>
          <a:p>
            <a:r>
              <a:rPr sz="1200" b="0">
                <a:solidFill>
                  <a:srgbClr val="5F6F63"/>
                </a:solidFill>
                <a:latin typeface="Arial"/>
              </a:rPr>
              <a:t>Job gross margin, May · Call-outs and repairs</a:t>
            </a:r>
          </a:p>
        </p:txBody>
      </p:sp>
      <p:sp>
        <p:nvSpPr>
          <p:cNvPr id="7" name="TextBox 6"/>
          <p:cNvSpPr txBox="1"/>
          <p:nvPr/>
        </p:nvSpPr>
        <p:spPr>
          <a:xfrm>
            <a:off x="640080" y="2240280"/>
            <a:ext cx="10911535" cy="731520"/>
          </a:xfrm>
          <a:prstGeom prst="rect">
            <a:avLst/>
          </a:prstGeom>
          <a:noFill/>
        </p:spPr>
        <p:txBody>
          <a:bodyPr wrap="square">
            <a:spAutoFit/>
          </a:bodyPr>
          <a:lstStyle/>
          <a:p>
            <a:r>
              <a:rPr sz="3000" b="1">
                <a:solidFill>
                  <a:srgbClr val="2F7A5D"/>
                </a:solidFill>
                <a:latin typeface="Arial"/>
              </a:rPr>
              <a:t>44.1%</a:t>
            </a:r>
          </a:p>
        </p:txBody>
      </p:sp>
      <p:sp>
        <p:nvSpPr>
          <p:cNvPr id="8" name="TextBox 7"/>
          <p:cNvSpPr txBox="1"/>
          <p:nvPr/>
        </p:nvSpPr>
        <p:spPr>
          <a:xfrm>
            <a:off x="640080" y="3017520"/>
            <a:ext cx="10911535" cy="548640"/>
          </a:xfrm>
          <a:prstGeom prst="rect">
            <a:avLst/>
          </a:prstGeom>
          <a:noFill/>
        </p:spPr>
        <p:txBody>
          <a:bodyPr wrap="square">
            <a:spAutoFit/>
          </a:bodyPr>
          <a:lstStyle/>
          <a:p>
            <a:r>
              <a:rPr sz="1100" b="0">
                <a:solidFill>
                  <a:srgbClr val="5F6F63"/>
                </a:solidFill>
                <a:latin typeface="Arial"/>
              </a:rPr>
              <a:t>April 43.8%</a:t>
            </a:r>
          </a:p>
        </p:txBody>
      </p:sp>
      <p:sp>
        <p:nvSpPr>
          <p:cNvPr id="9" name="TextBox 8"/>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16 of 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Job gross margin on call-outs by length, May 2026 · Gross margin % · Type of job: Call-outs and repairs</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Charged at $145/hour plus materials at cost × 1.3; technician time at $68/hour.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r>
              <a:rPr sz="1000" b="0">
                <a:solidFill>
                  <a:srgbClr val="5F6F63"/>
                </a:solidFill>
                <a:latin typeface="Arial"/>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17 of 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Job gross margin on call-outs by length, May 2026 · Gross margin $ · Type of job: Call-outs and repairs</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Charged at $145/hour plus materials at cost × 1.3; technician time at $68/hour.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18 of 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What it shows · Type of job: Call-outs and repairs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5044287" cy="365760"/>
          </a:xfrm>
          <a:prstGeom prst="rect">
            <a:avLst/>
          </a:prstGeom>
          <a:noFill/>
        </p:spPr>
        <p:txBody>
          <a:bodyPr wrap="square">
            <a:spAutoFit/>
          </a:bodyPr>
          <a:lstStyle/>
          <a:p>
            <a:r>
              <a:rPr sz="1100" b="1">
                <a:solidFill>
                  <a:srgbClr val="5F6F63"/>
                </a:solidFill>
                <a:latin typeface="Arial"/>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r>
              <a:rPr sz="1600" b="0">
                <a:solidFill>
                  <a:srgbClr val="25342A"/>
                </a:solidFill>
                <a:latin typeface="Arial"/>
              </a:rPr>
              <a:t>55 call-outs in May made a 44.1% job gross margin between them. Gross margins run from 40.6% to 46.5% by length: the hourly rate covers technician time comfortably, so the gross margin mostly moves with how much material goes on the van.</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1691640"/>
            <a:ext cx="5044287" cy="365760"/>
          </a:xfrm>
          <a:prstGeom prst="rect">
            <a:avLst/>
          </a:prstGeom>
          <a:noFill/>
        </p:spPr>
        <p:txBody>
          <a:bodyPr wrap="square">
            <a:spAutoFit/>
          </a:bodyPr>
          <a:lstStyle/>
          <a:p>
            <a:r>
              <a:rPr sz="1100" b="1">
                <a:solidFill>
                  <a:srgbClr val="5F6F63"/>
                </a:solidFill>
                <a:latin typeface="Arial"/>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r>
              <a:rPr sz="1600" b="0">
                <a:solidFill>
                  <a:srgbClr val="25342A"/>
                </a:solidFill>
                <a:latin typeface="Arial"/>
              </a:rPr>
              <a:t>Call-outs: 44.1% gross margin, 4.2 points clear of the 39.9% overheads need.</a:t>
            </a:r>
          </a:p>
        </p:txBody>
      </p:sp>
      <p:sp>
        <p:nvSpPr>
          <p:cNvPr id="11" name="TextBox 10"/>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19 of 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Job gross margin by month · Gross margin % · Every type of job at once</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Tap a month for its workings.</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20 of 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Job gross margin by month · Gross margin $ · Every type of job at once</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Tap a month for its workings.</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21 of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