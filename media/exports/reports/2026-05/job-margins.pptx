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44.1</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26160</c:v>
                </c:pt>
                <c:pt idx="1">
                  <c:v>12829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0.0"%";[Red](0.0"%")</c:formatCode>
                <c:ptCount val="4"/>
                <c:pt idx="0">
                  <c:v>28.1</c:v>
                </c:pt>
                <c:pt idx="1">
                  <c:v>28.2</c:v>
                </c:pt>
                <c:pt idx="2">
                  <c:v>28.7</c:v>
                </c:pt>
                <c:pt idx="3">
                  <c:v>29.1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A7B0B8"/>
              </a:solidFill>
            </c:spPr>
          </c:dPt>
          <c:cat>
            <c:strRef>
              <c:f>Sheet1!$A$2:$A$5</c:f>
              <c:strCache>
                <c:ptCount val="4"/>
                <c:pt idx="0">
                  <c:v>Installation 3, May</c:v>
                </c:pt>
                <c:pt idx="1">
                  <c:v>Installation 1, May</c:v>
                </c:pt>
                <c:pt idx="2">
                  <c:v>Installation 2, May</c:v>
                </c:pt>
                <c:pt idx="3">
                  <c:v>Installation 4, May</c:v>
                </c:pt>
              </c:strCache>
            </c:strRef>
          </c:cat>
          <c:val>
            <c:numRef>
              <c:f>Sheet1!$B$2:$B$5</c:f>
              <c:numCache>
                <c:formatCode>$#,##0;[Red]($#,##0);"-"</c:formatCode>
                <c:ptCount val="4"/>
                <c:pt idx="0">
                  <c:v>11032</c:v>
                </c:pt>
                <c:pt idx="1">
                  <c:v>9036</c:v>
                </c:pt>
                <c:pt idx="2">
                  <c:v>2980</c:v>
                </c:pt>
                <c:pt idx="3">
                  <c:v>3112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0.0"%";[Red](0.0"%")</c:formatCode>
                <c:ptCount val="6"/>
                <c:pt idx="0">
                  <c:v>40.6</c:v>
                </c:pt>
                <c:pt idx="1">
                  <c:v>42.2</c:v>
                </c:pt>
                <c:pt idx="2">
                  <c:v>42.5</c:v>
                </c:pt>
                <c:pt idx="3">
                  <c:v>43.7</c:v>
                </c:pt>
                <c:pt idx="4">
                  <c:v>44.9</c:v>
                </c:pt>
                <c:pt idx="5">
                  <c:v>46.5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(3)</c:v>
                </c:pt>
                <c:pt idx="1">
                  <c:v>2-hour call-outs (14)</c:v>
                </c:pt>
                <c:pt idx="2">
                  <c:v>1.5-hour call-outs (4)</c:v>
                </c:pt>
                <c:pt idx="3">
                  <c:v>2.5-hour call-outs (9)</c:v>
                </c:pt>
                <c:pt idx="4">
                  <c:v>3-hour call-outs (19)</c:v>
                </c:pt>
                <c:pt idx="5">
                  <c:v>4-hour call-outs (6)</c:v>
                </c:pt>
              </c:strCache>
            </c:strRef>
          </c:cat>
          <c:val>
            <c:numRef>
              <c:f>Sheet1!$B$2:$B$7</c:f>
              <c:numCache>
                <c:formatCode>$#,##0;[Red]($#,##0);"-"</c:formatCode>
                <c:ptCount val="6"/>
                <c:pt idx="0">
                  <c:v>303</c:v>
                </c:pt>
                <c:pt idx="1">
                  <c:v>2687</c:v>
                </c:pt>
                <c:pt idx="2">
                  <c:v>575</c:v>
                </c:pt>
                <c:pt idx="3">
                  <c:v>2085</c:v>
                </c:pt>
                <c:pt idx="4">
                  <c:v>5103</c:v>
                </c:pt>
                <c:pt idx="5">
                  <c:v>2076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0.0"%";[Red](0.0"%")</c:formatCode>
                <c:ptCount val="20"/>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Sheet1!$A$2:$A$21</c:f>
              <c:strCache>
                <c:ptCount val="20"/>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strCache>
            </c:strRef>
          </c:cat>
          <c:val>
            <c:numRef>
              <c:f>Sheet1!$B$2:$B$21</c:f>
              <c:numCache>
                <c:formatCode>$#,##0;[Red]($#,##0);"-"</c:formatCode>
                <c:ptCount val="20"/>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May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April 2026: Locked. April 2026 is locked (closed 5 May 2026). These numbers won't change.</a:t>
            </a:r>
          </a:p>
          <a:p>
            <a:r>
              <a:rPr sz="1100" b="0">
                <a:solidFill>
                  <a:srgbClr val="5F6F63"/>
                </a:solidFill>
                <a:latin typeface="Arial"/>
              </a:rPr>
              <a:t>May 2026: Locked. May 2026 is locked (closed 2 Jun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May's jobs made $63,105 gross margin (39.0%). Technician time not charged to jobs took $5,402 and overheads $59,270, leaving ($1,567) profit before tax ((1.0%) of revenue). To cover overheads, jobs need a 39.9%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May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$63,105</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$49,198</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$5,402</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$57,703</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$59,270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($1,567)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$161,963</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39.0%</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(1.0%)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39.9%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May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39.0%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April 41.7%</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May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May maintenance contracts made a 59.5% job gross margin, installations made a 28.3% job gross margin, call-outs and repairs made a 44.1% job gross margin (technician time at $68 an hour, wages and all on-costs). Jobs need 39.9%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28.3% gross margin, below the 39.9%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April 59.6%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May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18.3 points clear of the 39.9%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May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28.3%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April 34.9%</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May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 of the 4 installation jobs invoiced in May made less than the 35.0% job gross margin target. The Installation 3, May made a 28.1% job gross margin: 151.0 h of technician time ($10,268) and $3,100 of subcontractors on a $39,300 job. Jobs need 39.9%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39.9% overheads need: Installation 4, May (29.1%), Installation 2, May (28.7%), Installation 1, May (28.2%), Installation 3, May (28.1%). Most profitable: Installation 4, May (29.1%).</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Job gross margin, May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44.1%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April 43.8%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Technician time charged, May</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$20,379</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70.1%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Materials charged, May</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$8,684</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$6,680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May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55 call-outs in May billed $20,379 of technician time and $8,684 of materials ($6,680 at cost plus 30%), and made a 44.1% job gross margin between them. Gross margins run from 40.6% to 46.5%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44.1% gross margin, 4.2 points clear of the 39.9%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