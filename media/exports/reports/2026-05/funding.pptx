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Cost to raise a dollar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cat>
            <c:strRef>
              <c:f>Sheet1!$A$2:$A$3</c:f>
              <c:strCache>
                <c:ptCount val="2"/>
                <c:pt idx="0">
                  <c:v>Grants</c:v>
                </c:pt>
                <c:pt idx="1">
                  <c:v>Donations</c:v>
                </c:pt>
              </c:strCache>
            </c:strRef>
          </c:cat>
          <c:val>
            <c:numRef>
              <c:f>Sheet1!$B$2:$B$3</c:f>
              <c:numCache>
                <c:formatCode>0"¢";[Red](0"¢")</c:formatCode>
                <c:ptCount val="2"/>
                <c:pt idx="0">
                  <c:v>10</c:v>
                </c:pt>
                <c:pt idx="1">
                  <c:v>13</c:v>
                </c:pt>
              </c:numCache>
            </c:numRef>
          </c:val>
        </c:ser>
        <c:dLbls>
          <c:numFmt formatCode="0&quot;¢&quot;;[Red](0&quot;¢&quot;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4.95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Raised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Sheet1!$A$2:$A$21</c:f>
              <c:strCache>
                <c:ptCount val="20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</c:strCache>
            </c:strRef>
          </c:cat>
          <c:val>
            <c:numRef>
              <c:f>Sheet1!$B$2:$B$21</c:f>
              <c:numCache>
                <c:formatCode>$#,##0;[Red]($#,##0);"-"</c:formatCode>
                <c:ptCount val="20"/>
                <c:pt idx="0">
                  <c:v>26600</c:v>
                </c:pt>
                <c:pt idx="1">
                  <c:v>31800</c:v>
                </c:pt>
                <c:pt idx="2">
                  <c:v>29700</c:v>
                </c:pt>
                <c:pt idx="3">
                  <c:v>62700</c:v>
                </c:pt>
                <c:pt idx="4">
                  <c:v>61700</c:v>
                </c:pt>
                <c:pt idx="5">
                  <c:v>54500</c:v>
                </c:pt>
                <c:pt idx="6">
                  <c:v>61500</c:v>
                </c:pt>
                <c:pt idx="7">
                  <c:v>61700</c:v>
                </c:pt>
                <c:pt idx="8">
                  <c:v>52200</c:v>
                </c:pt>
                <c:pt idx="9">
                  <c:v>59063</c:v>
                </c:pt>
                <c:pt idx="10">
                  <c:v>61544</c:v>
                </c:pt>
                <c:pt idx="11">
                  <c:v>62137</c:v>
                </c:pt>
                <c:pt idx="12">
                  <c:v>69185</c:v>
                </c:pt>
                <c:pt idx="13">
                  <c:v>70164</c:v>
                </c:pt>
                <c:pt idx="14">
                  <c:v>68793</c:v>
                </c:pt>
                <c:pt idx="15">
                  <c:v>59785</c:v>
                </c:pt>
                <c:pt idx="16">
                  <c:v>55759</c:v>
                </c:pt>
                <c:pt idx="17">
                  <c:v>53806</c:v>
                </c:pt>
                <c:pt idx="18">
                  <c:v>66729</c:v>
                </c:pt>
                <c:pt idx="19">
                  <c:v>72245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8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Raised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Sheet1!$A$2:$A$21</c:f>
              <c:strCache>
                <c:ptCount val="20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</c:strCache>
            </c:strRef>
          </c:cat>
          <c:val>
            <c:numRef>
              <c:f>Sheet1!$B$2:$B$21</c:f>
              <c:numCache>
                <c:formatCode>$#,##0;[Red]($#,##0);"-"</c:formatCode>
                <c:ptCount val="20"/>
                <c:pt idx="0">
                  <c:v>15300</c:v>
                </c:pt>
                <c:pt idx="1">
                  <c:v>17700</c:v>
                </c:pt>
                <c:pt idx="2">
                  <c:v>24700</c:v>
                </c:pt>
                <c:pt idx="3">
                  <c:v>12400</c:v>
                </c:pt>
                <c:pt idx="4">
                  <c:v>15600</c:v>
                </c:pt>
                <c:pt idx="5">
                  <c:v>15700</c:v>
                </c:pt>
                <c:pt idx="6">
                  <c:v>15700</c:v>
                </c:pt>
                <c:pt idx="7">
                  <c:v>15800</c:v>
                </c:pt>
                <c:pt idx="8">
                  <c:v>38100</c:v>
                </c:pt>
                <c:pt idx="9">
                  <c:v>13500</c:v>
                </c:pt>
                <c:pt idx="10">
                  <c:v>16000</c:v>
                </c:pt>
                <c:pt idx="11">
                  <c:v>16100</c:v>
                </c:pt>
                <c:pt idx="12">
                  <c:v>16200</c:v>
                </c:pt>
                <c:pt idx="13">
                  <c:v>18700</c:v>
                </c:pt>
                <c:pt idx="14">
                  <c:v>26100</c:v>
                </c:pt>
                <c:pt idx="15">
                  <c:v>13100</c:v>
                </c:pt>
                <c:pt idx="16">
                  <c:v>16400</c:v>
                </c:pt>
                <c:pt idx="17">
                  <c:v>16500</c:v>
                </c:pt>
                <c:pt idx="18">
                  <c:v>16600</c:v>
                </c:pt>
                <c:pt idx="19">
                  <c:v>16600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4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Raised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Sheet1!$A$2:$A$21</c:f>
              <c:strCache>
                <c:ptCount val="20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</c:strCache>
            </c:strRef>
          </c:cat>
          <c:val>
            <c:numRef>
              <c:f>Sheet1!$B$2:$B$21</c:f>
              <c:numCache>
                <c:formatCode>$#,##0;[Red]($#,##0);"-"</c:formatCode>
                <c:ptCount val="20"/>
                <c:pt idx="0">
                  <c:v>0</c:v>
                </c:pt>
                <c:pt idx="1">
                  <c:v>0</c:v>
                </c:pt>
                <c:pt idx="2">
                  <c:v>6200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36800</c:v>
                </c:pt>
                <c:pt idx="12">
                  <c:v>0</c:v>
                </c:pt>
                <c:pt idx="13">
                  <c:v>0</c:v>
                </c:pt>
                <c:pt idx="14">
                  <c:v>6200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4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Which funding is worth chasing?. Sample Community Services Ltd. Period: May 2026. In short: Grants cost 10¢ to raise each dollar in May; donations 13¢. Each source of money compared on what it raises and what it costs to raise. Pick a source and every chart, table row and note follows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sources. In May it cost: Grants 10¢, donations 13¢ to raise each dollar. Cheapest to raise in May: grants (10¢ a dollar). Dearest: donations (13¢). Events are worth counting for what else they bring too (new donors, profile).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Grants. Grants: $699,210 raised this financial year to date (75.3% of everything raised), $78,100 to raise it, so $621,110 left for programs: 11¢ per dollar. Most of the money, and usually the cheapest to raise, starting with grants that renew.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Donations. Donations: $185,800 raised this financial year to date (20.0% of everything raised), $27,300 to raise it, so $158,500 left for programs: 15¢ per dollar. Cheap and flexible (untied): the money that builds reserves.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Fundraising events. Fundraising events: $43,000 raised this financial year to date (4.6% of everything raised), $17,800 to raise it, so $25,200 left for programs: 41¢ per dollar. The dearest per dollar: worth measuring the new donors each event brings in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Which funding is worth chasing?: Cheapest to raise: Grants 10¢; Dearest to raise: Donations 13¢; Raised, year to date $928,010.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Financial year to date (Jul to May 2026), by source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Which funding is worth chasing?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May 2026. In short: Grants cost 10¢ to raise each dollar in May; donations 13¢. Each source of money compared on what it raises and what it costs to raise. Pick a source and every chart, table row and note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April 2026: Locked. April 2026 is locked (closed 5 May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May 2026: Locked. May 2026 is locked (closed 2 Jun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All sources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Cost to raise a dollar, by source, May 2026 (cents)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1499616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2869692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2924556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198876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 May it cost: Grants 10¢, donations 13¢ to raise each dollar.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2869692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2924556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3198876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Cheapest to raise in May: grants (10¢ a dollar). Dearest: donations (13¢). Events are worth counting for what else they bring too (new donors, profile).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Grants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Raised and left after costs, by month · Grants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8420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Grants: $699,210 raised this financial year to date (75.3% of everything raised), $78,100 to raise it, so $621,110 left for programs: 11¢ per dollar.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Most of the money, and usually the cheapest to raise, starting with grants that renew.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Donations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Raised and left after costs, by month · Donations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8420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Donations: $185,800 raised this financial year to date (20.0% of everything raised), $27,300 to raise it, so $158,500 left for programs: 15¢ per dollar.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Cheap and flexible (untied): the money that builds reserves.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Fundraising events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Raised and left after costs, by month · Fundraising events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8420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Fundraising events: $43,000 raised this financial year to date (4.6% of everything raised), $17,800 to raise it, so $25,200 left for programs: 41¢ per dollar.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dearest per dollar: worth measuring the new donors each event brings in too.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Which funding is worth chasing?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606698" cy="173736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594360" y="1261872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Cheapest to raise: Grants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27632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600" b="1">
                <a:solidFill>
                  <a:srgbClr val="2F7A5D"/>
                </a:solidFill>
                <a:latin typeface="Roboto"/>
              </a:rPr>
              <a:t>10¢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542032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per $1 raised in May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2498" y="1188720"/>
            <a:ext cx="3606698" cy="173736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4429658" y="1261872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Dearest to raise: Donations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29658" y="1627632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600" b="1">
                <a:solidFill>
                  <a:srgbClr val="2F7A5D"/>
                </a:solidFill>
                <a:latin typeface="Roboto"/>
              </a:rPr>
              <a:t>13¢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2542032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per $1 raised in May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27796" y="1188720"/>
            <a:ext cx="3606698" cy="173736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8264956" y="1261872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Raised, year to 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4956" y="1627632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600" b="1">
                <a:solidFill>
                  <a:srgbClr val="2F7A5D"/>
                </a:solidFill>
                <a:latin typeface="Roboto"/>
              </a:rPr>
              <a:t>$928,010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2542032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Jul to May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6 of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Financial year to date (Jul to May 2026), by source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960120"/>
          <a:ext cx="11277295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459"/>
                <a:gridCol w="2255459"/>
                <a:gridCol w="2255459"/>
                <a:gridCol w="2255459"/>
                <a:gridCol w="2255459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Raised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Cost of raising it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Left after costs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Cost per $1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Grants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$699,210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$78,100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$621,110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11¢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Donations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$185,800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$27,300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$158,500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15¢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Fundraising events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$43,000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$17,800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$25,200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41¢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7 of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