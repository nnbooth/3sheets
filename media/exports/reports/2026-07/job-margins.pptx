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28.3</c:v>
                </c:pt>
                <c:pt idx="1">
                  <c:v>43.4</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36080</c:v>
                </c:pt>
                <c:pt idx="1">
                  <c:v>10925</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7D8790"/>
              </a:solidFill>
            </c:spPr>
          </c:dPt>
          <c:cat>
            <c:strRef>
              <c:f>Sheet1!$A$2:$A$5</c:f>
              <c:strCache>
                <c:ptCount val="4"/>
                <c:pt idx="0">
                  <c:v>Installation 4, July</c:v>
                </c:pt>
                <c:pt idx="1">
                  <c:v>Installation 2, July</c:v>
                </c:pt>
                <c:pt idx="2">
                  <c:v>Installation 1, July</c:v>
                </c:pt>
                <c:pt idx="3">
                  <c:v>Installation 3, July</c:v>
                </c:pt>
              </c:strCache>
            </c:strRef>
          </c:cat>
          <c:val>
            <c:numRef>
              <c:f>Sheet1!$B$2:$B$5</c:f>
              <c:numCache>
                <c:formatCode>0.0"%";[Red](0.0"%")</c:formatCode>
                <c:ptCount val="4"/>
                <c:pt idx="0">
                  <c:v>28.2</c:v>
                </c:pt>
                <c:pt idx="1">
                  <c:v>28.2</c:v>
                </c:pt>
                <c:pt idx="2">
                  <c:v>28.3</c:v>
                </c:pt>
                <c:pt idx="3">
                  <c:v>28.4</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7D8790"/>
              </a:solidFill>
            </c:spPr>
          </c:dPt>
          <c:dPt>
            <c:idx val="1"/>
            <c:spPr>
              <a:solidFill>
                <a:srgbClr val="7D8790"/>
              </a:solidFill>
            </c:spPr>
          </c:dPt>
          <c:dPt>
            <c:idx val="2"/>
            <c:spPr>
              <a:solidFill>
                <a:srgbClr val="7D8790"/>
              </a:solidFill>
            </c:spPr>
          </c:dPt>
          <c:dPt>
            <c:idx val="3"/>
            <c:spPr>
              <a:solidFill>
                <a:srgbClr val="7D8790"/>
              </a:solidFill>
            </c:spPr>
          </c:dPt>
          <c:cat>
            <c:strRef>
              <c:f>Sheet1!$A$2:$A$5</c:f>
              <c:strCache>
                <c:ptCount val="4"/>
                <c:pt idx="0">
                  <c:v>Installation 4, July</c:v>
                </c:pt>
                <c:pt idx="1">
                  <c:v>Installation 2, July</c:v>
                </c:pt>
                <c:pt idx="2">
                  <c:v>Installation 1, July</c:v>
                </c:pt>
                <c:pt idx="3">
                  <c:v>Installation 3, July</c:v>
                </c:pt>
              </c:strCache>
            </c:strRef>
          </c:cat>
          <c:val>
            <c:numRef>
              <c:f>Sheet1!$B$2:$B$5</c:f>
              <c:numCache>
                <c:formatCode>$#,##0;[Red]($#,##0);"-"</c:formatCode>
                <c:ptCount val="4"/>
                <c:pt idx="0">
                  <c:v>9396</c:v>
                </c:pt>
                <c:pt idx="1">
                  <c:v>9756</c:v>
                </c:pt>
                <c:pt idx="2">
                  <c:v>8644</c:v>
                </c:pt>
                <c:pt idx="3">
                  <c:v>8284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(8)</c:v>
                </c:pt>
                <c:pt idx="1">
                  <c:v>1.5-hour call-outs (10)</c:v>
                </c:pt>
                <c:pt idx="2">
                  <c:v>2-hour call-outs (15)</c:v>
                </c:pt>
                <c:pt idx="3">
                  <c:v>2.5-hour call-outs (7)</c:v>
                </c:pt>
                <c:pt idx="4">
                  <c:v>3-hour call-outs (9)</c:v>
                </c:pt>
                <c:pt idx="5">
                  <c:v>4-hour call-outs (5)</c:v>
                </c:pt>
              </c:strCache>
            </c:strRef>
          </c:cat>
          <c:val>
            <c:numRef>
              <c:f>Sheet1!$B$2:$B$7</c:f>
              <c:numCache>
                <c:formatCode>0.0"%";[Red](0.0"%")</c:formatCode>
                <c:ptCount val="6"/>
                <c:pt idx="0">
                  <c:v>37.0</c:v>
                </c:pt>
                <c:pt idx="1">
                  <c:v>41.0</c:v>
                </c:pt>
                <c:pt idx="2">
                  <c:v>44.3</c:v>
                </c:pt>
                <c:pt idx="3">
                  <c:v>44.7</c:v>
                </c:pt>
                <c:pt idx="4">
                  <c:v>44.8</c:v>
                </c:pt>
                <c:pt idx="5">
                  <c:v>45.5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(8)</c:v>
                </c:pt>
                <c:pt idx="1">
                  <c:v>1.5-hour call-outs (10)</c:v>
                </c:pt>
                <c:pt idx="2">
                  <c:v>2-hour call-outs (15)</c:v>
                </c:pt>
                <c:pt idx="3">
                  <c:v>2.5-hour call-outs (7)</c:v>
                </c:pt>
                <c:pt idx="4">
                  <c:v>3-hour call-outs (9)</c:v>
                </c:pt>
                <c:pt idx="5">
                  <c:v>4-hour call-outs (5)</c:v>
                </c:pt>
              </c:strCache>
            </c:strRef>
          </c:cat>
          <c:val>
            <c:numRef>
              <c:f>Sheet1!$B$2:$B$7</c:f>
              <c:numCache>
                <c:formatCode>$#,##0;[Red]($#,##0);"-"</c:formatCode>
                <c:ptCount val="6"/>
                <c:pt idx="0">
                  <c:v>925</c:v>
                </c:pt>
                <c:pt idx="1">
                  <c:v>1505</c:v>
                </c:pt>
                <c:pt idx="2">
                  <c:v>2727</c:v>
                </c:pt>
                <c:pt idx="3">
                  <c:v>1579</c:v>
                </c:pt>
                <c:pt idx="4">
                  <c:v>2424</c:v>
                </c:pt>
                <c:pt idx="5">
                  <c:v>1765</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Sheet1!$A$2:$A$23</c:f>
              <c:strCache>
                <c:ptCount val="22"/>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strCache>
            </c:strRef>
          </c:cat>
          <c:val>
            <c:numRef>
              <c:f>Sheet1!$B$2:$B$23</c:f>
              <c:numCache>
                <c:formatCode>0.0"%";[Red](0.0"%")</c:formatCode>
                <c:ptCount val="22"/>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Sheet1!$A$2:$A$23</c:f>
              <c:strCache>
                <c:ptCount val="22"/>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strCache>
            </c:strRef>
          </c:cat>
          <c:val>
            <c:numRef>
              <c:f>Sheet1!$B$2:$B$23</c:f>
              <c:numCache>
                <c:formatCode>$#,##0;[Red]($#,##0);"-"</c:formatCode>
                <c:ptCount val="22"/>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pt idx="20">
                  <c:v>66663</c:v>
                </c:pt>
                <c:pt idx="21">
                  <c:v>71121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July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June 2026: Locked. June 2026 is locked (closed 2 Jul 2026). These numbers won't change.</a:t>
            </a:r>
          </a:p>
          <a:p>
            <a:pPr>
              <a:defRPr>
                <a:latin typeface="Roboto"/>
              </a:defRPr>
            </a:pPr>
            <a:r>
              <a:rPr sz="1100" b="0">
                <a:solidFill>
                  <a:srgbClr val="5F6F63"/>
                </a:solidFill>
                <a:latin typeface="Roboto"/>
              </a:rPr>
              <a:t>July 2026: Locked. July 2026 is locked (closed 4 Aug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July's jobs made $71,121 gross margin (36.8%). Technician time not charged to jobs took ($2,214) and overheads $59,440, leaving $13,895 profit before tax (7.2% of revenue). To cover overheads, jobs need a 29.6%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July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$71,121</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$56,814</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B42318"/>
                          </a:solidFill>
                          <a:latin typeface="Roboto"/>
                        </a:rPr>
                        <a:t>($2,214)</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$73,335</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$59,440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$13,895</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$193,245</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36.8%</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7.2%</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29.6%</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July · All jobs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36.8%</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June 38.5%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July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type of job, July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 July maintenance contracts made a 59.5% job gross margin, installations made a 28.3% job gross margin, call-outs and repairs made a 43.4% job gross margin (technician time at $68 an hour, wages and all on-costs). Jobs need 29.6%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28.3% gross margin, below the 29.6%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July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June 59.5%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July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maintenance contract, July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The Kangaroo Point townhouses contract: 58.2% gross margin, 28.6 points clear of the 29.6%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10911535"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July · Installations</a:t>
            </a:r>
          </a:p>
        </p:txBody>
      </p:sp>
      <p:sp>
        <p:nvSpPr>
          <p:cNvPr id="7" name="TextBox 6"/>
          <p:cNvSpPr txBox="1"/>
          <p:nvPr/>
        </p:nvSpPr>
        <p:spPr>
          <a:xfrm>
            <a:off x="640080" y="2240280"/>
            <a:ext cx="10911535" cy="731520"/>
          </a:xfrm>
          <a:prstGeom prst="rect">
            <a:avLst/>
          </a:prstGeom>
          <a:noFill/>
        </p:spPr>
        <p:txBody>
          <a:bodyPr wrap="square">
            <a:spAutoFit/>
          </a:bodyPr>
          <a:lstStyle/>
          <a:p>
            <a:pPr>
              <a:defRPr>
                <a:latin typeface="Roboto"/>
              </a:defRPr>
            </a:pPr>
            <a:r>
              <a:rPr sz="3000" b="1">
                <a:solidFill>
                  <a:srgbClr val="2F7A5D"/>
                </a:solidFill>
                <a:latin typeface="Roboto"/>
              </a:rPr>
              <a:t>28.3%</a:t>
            </a:r>
          </a:p>
        </p:txBody>
      </p:sp>
      <p:sp>
        <p:nvSpPr>
          <p:cNvPr id="8" name="TextBox 7"/>
          <p:cNvSpPr txBox="1"/>
          <p:nvPr/>
        </p:nvSpPr>
        <p:spPr>
          <a:xfrm>
            <a:off x="640080" y="3017520"/>
            <a:ext cx="10911535" cy="548640"/>
          </a:xfrm>
          <a:prstGeom prst="rect">
            <a:avLst/>
          </a:prstGeom>
          <a:noFill/>
        </p:spPr>
        <p:txBody>
          <a:bodyPr wrap="square">
            <a:spAutoFit/>
          </a:bodyPr>
          <a:lstStyle/>
          <a:p>
            <a:pPr>
              <a:defRPr>
                <a:latin typeface="Roboto"/>
              </a:defRPr>
            </a:pPr>
            <a:r>
              <a:rPr sz="1100" b="0">
                <a:solidFill>
                  <a:srgbClr val="5F6F63"/>
                </a:solidFill>
                <a:latin typeface="Roboto"/>
              </a:rPr>
              <a:t>June 28.5%</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July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each installation invoiced in July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4 of the 4 installation jobs invoiced in July made less than the 35.0% job gross margin target. The Installation 2, July made a 28.2% job gross margin: 133.0 h of technician time ($9,044) and $2,700 of subcontractors on a $34,600 job. Jobs need 29.6%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Below the 29.6% overheads need: Installation 3, July (28.4%), Installation 1, July (28.3%), Installation 4, July (28.2%), Installation 2, July (28.2%). Most profitable: Installation 3, July (28.4%).</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Type of job: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Job gross margin, July · Call-outs and repairs</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June 44.6%</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Technician time charged, July</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$17,046</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67.8% of call-out revenue</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Materials charged, July</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$8,099</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$6,230 at cost, plus 30%</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July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pPr>
              <a:defRPr>
                <a:latin typeface="Roboto"/>
              </a:defRPr>
            </a:pPr>
            <a:r>
              <a:rPr sz="1000" b="0">
                <a:solidFill>
                  <a:srgbClr val="5F6F63"/>
                </a:solidFill>
                <a:latin typeface="Roboto"/>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on call-outs by length, July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54 call-outs in July billed $17,046 of technician time and $8,099 of materials ($6,230 at cost plus 30%), and made a 43.4% job gross margin between them. Gross margins run from 37.0% to 45.5%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43.4% gross margin, 13.8 points clear of the 29.6%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