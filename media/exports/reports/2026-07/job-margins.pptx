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0.0"%";[Red](0.0"%")</c:formatCode>
                <c:ptCount val="3"/>
                <c:pt idx="0">
                  <c:v>28.3</c:v>
                </c:pt>
                <c:pt idx="1">
                  <c:v>43.4</c:v>
                </c:pt>
                <c:pt idx="2">
                  <c:v>59.5</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$#,##0;[Red]($#,##0);"-"</c:formatCode>
                <c:ptCount val="3"/>
                <c:pt idx="0">
                  <c:v>36080</c:v>
                </c:pt>
                <c:pt idx="1">
                  <c:v>10925</c:v>
                </c:pt>
                <c:pt idx="2">
                  <c:v>24116</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dPt>
            <c:idx val="13"/>
            <c:spPr>
              <a:solidFill>
                <a:srgbClr val="0E9F6E"/>
              </a:solidFill>
            </c:spPr>
          </c:dPt>
          <c:cat>
            <c:strRef>
              <c:f>Sheet1!$A$2:$A$15</c:f>
              <c:strCache>
                <c:ptCount val="14"/>
                <c:pt idx="0">
                  <c:v>Kangaroo Point townhouses</c:v>
                </c:pt>
                <c:pt idx="1">
                  <c:v>West End brewery</c:v>
                </c:pt>
                <c:pt idx="2">
                  <c:v>Rocklea factory</c:v>
                </c:pt>
                <c:pt idx="3">
                  <c:v>Milton office tower</c:v>
                </c:pt>
                <c:pt idx="4">
                  <c:v>Bulimba school</c:v>
                </c:pt>
                <c:pt idx="5">
                  <c:v>Wacol logistics depot</c:v>
                </c:pt>
                <c:pt idx="6">
                  <c:v>Chermside retail centre</c:v>
                </c:pt>
                <c:pt idx="7">
                  <c:v>Fortitude Valley hotel</c:v>
                </c:pt>
                <c:pt idx="8">
                  <c:v>Riverside Apartments (strata)</c:v>
                </c:pt>
                <c:pt idx="9">
                  <c:v>Newstead gym</c:v>
                </c:pt>
                <c:pt idx="10">
                  <c:v>Southbank cafe group</c:v>
                </c:pt>
                <c:pt idx="11">
                  <c:v>Ashgrove aged care</c:v>
                </c:pt>
                <c:pt idx="12">
                  <c:v>Wynnum medical centre</c:v>
                </c:pt>
                <c:pt idx="13">
                  <c:v>Carindale vet clinic</c:v>
                </c:pt>
              </c:strCache>
            </c:strRef>
          </c:cat>
          <c:val>
            <c:numRef>
              <c:f>Sheet1!$B$2:$B$15</c:f>
              <c:numCache>
                <c:formatCode>0.0"%";[Red](0.0"%")</c:formatCode>
                <c:ptCount val="14"/>
                <c:pt idx="0">
                  <c:v>58.2</c:v>
                </c:pt>
                <c:pt idx="1">
                  <c:v>58.8</c:v>
                </c:pt>
                <c:pt idx="2">
                  <c:v>58.8</c:v>
                </c:pt>
                <c:pt idx="3">
                  <c:v>59.0</c:v>
                </c:pt>
                <c:pt idx="4">
                  <c:v>59.0</c:v>
                </c:pt>
                <c:pt idx="5">
                  <c:v>59.1</c:v>
                </c:pt>
                <c:pt idx="6">
                  <c:v>59.4</c:v>
                </c:pt>
                <c:pt idx="7">
                  <c:v>59.9</c:v>
                </c:pt>
                <c:pt idx="8">
                  <c:v>59.9</c:v>
                </c:pt>
                <c:pt idx="9">
                  <c:v>59.9</c:v>
                </c:pt>
                <c:pt idx="10">
                  <c:v>60.0</c:v>
                </c:pt>
                <c:pt idx="11">
                  <c:v>60.0</c:v>
                </c:pt>
                <c:pt idx="12">
                  <c:v>61.1</c:v>
                </c:pt>
                <c:pt idx="13">
                  <c:v>62.2</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dPt>
            <c:idx val="13"/>
            <c:spPr>
              <a:solidFill>
                <a:srgbClr val="0E9F6E"/>
              </a:solidFill>
            </c:spPr>
          </c:dPt>
          <c:cat>
            <c:strRef>
              <c:f>Sheet1!$A$2:$A$15</c:f>
              <c:strCache>
                <c:ptCount val="14"/>
                <c:pt idx="0">
                  <c:v>Kangaroo Point townhouses</c:v>
                </c:pt>
                <c:pt idx="1">
                  <c:v>West End brewery</c:v>
                </c:pt>
                <c:pt idx="2">
                  <c:v>Rocklea factory</c:v>
                </c:pt>
                <c:pt idx="3">
                  <c:v>Milton office tower</c:v>
                </c:pt>
                <c:pt idx="4">
                  <c:v>Bulimba school</c:v>
                </c:pt>
                <c:pt idx="5">
                  <c:v>Wacol logistics depot</c:v>
                </c:pt>
                <c:pt idx="6">
                  <c:v>Chermside retail centre</c:v>
                </c:pt>
                <c:pt idx="7">
                  <c:v>Fortitude Valley hotel</c:v>
                </c:pt>
                <c:pt idx="8">
                  <c:v>Riverside Apartments (strata)</c:v>
                </c:pt>
                <c:pt idx="9">
                  <c:v>Newstead gym</c:v>
                </c:pt>
                <c:pt idx="10">
                  <c:v>Southbank cafe group</c:v>
                </c:pt>
                <c:pt idx="11">
                  <c:v>Ashgrove aged care</c:v>
                </c:pt>
                <c:pt idx="12">
                  <c:v>Wynnum medical centre</c:v>
                </c:pt>
                <c:pt idx="13">
                  <c:v>Carindale vet clinic</c:v>
                </c:pt>
              </c:strCache>
            </c:strRef>
          </c:cat>
          <c:val>
            <c:numRef>
              <c:f>Sheet1!$B$2:$B$15</c:f>
              <c:numCache>
                <c:formatCode>$#,##0;[Red]($#,##0);"-"</c:formatCode>
                <c:ptCount val="14"/>
                <c:pt idx="0">
                  <c:v>1398</c:v>
                </c:pt>
                <c:pt idx="1">
                  <c:v>1530</c:v>
                </c:pt>
                <c:pt idx="2">
                  <c:v>2294</c:v>
                </c:pt>
                <c:pt idx="3">
                  <c:v>2478</c:v>
                </c:pt>
                <c:pt idx="4">
                  <c:v>1652</c:v>
                </c:pt>
                <c:pt idx="5">
                  <c:v>1774</c:v>
                </c:pt>
                <c:pt idx="6">
                  <c:v>2436</c:v>
                </c:pt>
                <c:pt idx="7">
                  <c:v>2038</c:v>
                </c:pt>
                <c:pt idx="8">
                  <c:v>1916</c:v>
                </c:pt>
                <c:pt idx="9">
                  <c:v>958</c:v>
                </c:pt>
                <c:pt idx="10">
                  <c:v>1080</c:v>
                </c:pt>
                <c:pt idx="11">
                  <c:v>2160</c:v>
                </c:pt>
                <c:pt idx="12">
                  <c:v>1344</c:v>
                </c:pt>
                <c:pt idx="13">
                  <c:v>1058</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7D8790"/>
              </a:solidFill>
            </c:spPr>
          </c:dPt>
          <c:dPt>
            <c:idx val="2"/>
            <c:spPr>
              <a:solidFill>
                <a:srgbClr val="7D8790"/>
              </a:solidFill>
            </c:spPr>
          </c:dPt>
          <c:dPt>
            <c:idx val="3"/>
            <c:spPr>
              <a:solidFill>
                <a:srgbClr val="7D8790"/>
              </a:solidFill>
            </c:spPr>
          </c:dPt>
          <c:cat>
            <c:strRef>
              <c:f>Sheet1!$A$2:$A$5</c:f>
              <c:strCache>
                <c:ptCount val="4"/>
                <c:pt idx="0">
                  <c:v>Installation 4, July</c:v>
                </c:pt>
                <c:pt idx="1">
                  <c:v>Installation 2, July</c:v>
                </c:pt>
                <c:pt idx="2">
                  <c:v>Installation 1, July</c:v>
                </c:pt>
                <c:pt idx="3">
                  <c:v>Installation 3, July</c:v>
                </c:pt>
              </c:strCache>
            </c:strRef>
          </c:cat>
          <c:val>
            <c:numRef>
              <c:f>Sheet1!$B$2:$B$5</c:f>
              <c:numCache>
                <c:formatCode>0.0"%";[Red](0.0"%")</c:formatCode>
                <c:ptCount val="4"/>
                <c:pt idx="0">
                  <c:v>28.2</c:v>
                </c:pt>
                <c:pt idx="1">
                  <c:v>28.2</c:v>
                </c:pt>
                <c:pt idx="2">
                  <c:v>28.3</c:v>
                </c:pt>
                <c:pt idx="3">
                  <c:v>28.4</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7D8790"/>
              </a:solidFill>
            </c:spPr>
          </c:dPt>
          <c:dPt>
            <c:idx val="1"/>
            <c:spPr>
              <a:solidFill>
                <a:srgbClr val="7D8790"/>
              </a:solidFill>
            </c:spPr>
          </c:dPt>
          <c:dPt>
            <c:idx val="2"/>
            <c:spPr>
              <a:solidFill>
                <a:srgbClr val="7D8790"/>
              </a:solidFill>
            </c:spPr>
          </c:dPt>
          <c:dPt>
            <c:idx val="3"/>
            <c:spPr>
              <a:solidFill>
                <a:srgbClr val="7D8790"/>
              </a:solidFill>
            </c:spPr>
          </c:dPt>
          <c:cat>
            <c:strRef>
              <c:f>Sheet1!$A$2:$A$5</c:f>
              <c:strCache>
                <c:ptCount val="4"/>
                <c:pt idx="0">
                  <c:v>Installation 4, July</c:v>
                </c:pt>
                <c:pt idx="1">
                  <c:v>Installation 2, July</c:v>
                </c:pt>
                <c:pt idx="2">
                  <c:v>Installation 1, July</c:v>
                </c:pt>
                <c:pt idx="3">
                  <c:v>Installation 3, July</c:v>
                </c:pt>
              </c:strCache>
            </c:strRef>
          </c:cat>
          <c:val>
            <c:numRef>
              <c:f>Sheet1!$B$2:$B$5</c:f>
              <c:numCache>
                <c:formatCode>$#,##0;[Red]($#,##0);"-"</c:formatCode>
                <c:ptCount val="4"/>
                <c:pt idx="0">
                  <c:v>9396</c:v>
                </c:pt>
                <c:pt idx="1">
                  <c:v>9756</c:v>
                </c:pt>
                <c:pt idx="2">
                  <c:v>8644</c:v>
                </c:pt>
                <c:pt idx="3">
                  <c:v>8284</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(8)</c:v>
                </c:pt>
                <c:pt idx="1">
                  <c:v>1.5-hour call-outs (10)</c:v>
                </c:pt>
                <c:pt idx="2">
                  <c:v>2-hour call-outs (15)</c:v>
                </c:pt>
                <c:pt idx="3">
                  <c:v>2.5-hour call-outs (7)</c:v>
                </c:pt>
                <c:pt idx="4">
                  <c:v>3-hour call-outs (9)</c:v>
                </c:pt>
                <c:pt idx="5">
                  <c:v>4-hour call-outs (5)</c:v>
                </c:pt>
              </c:strCache>
            </c:strRef>
          </c:cat>
          <c:val>
            <c:numRef>
              <c:f>Sheet1!$B$2:$B$7</c:f>
              <c:numCache>
                <c:formatCode>0.0"%";[Red](0.0"%")</c:formatCode>
                <c:ptCount val="6"/>
                <c:pt idx="0">
                  <c:v>37.0</c:v>
                </c:pt>
                <c:pt idx="1">
                  <c:v>41.0</c:v>
                </c:pt>
                <c:pt idx="2">
                  <c:v>44.3</c:v>
                </c:pt>
                <c:pt idx="3">
                  <c:v>44.7</c:v>
                </c:pt>
                <c:pt idx="4">
                  <c:v>44.8</c:v>
                </c:pt>
                <c:pt idx="5">
                  <c:v>45.5</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(8)</c:v>
                </c:pt>
                <c:pt idx="1">
                  <c:v>1.5-hour call-outs (10)</c:v>
                </c:pt>
                <c:pt idx="2">
                  <c:v>2-hour call-outs (15)</c:v>
                </c:pt>
                <c:pt idx="3">
                  <c:v>2.5-hour call-outs (7)</c:v>
                </c:pt>
                <c:pt idx="4">
                  <c:v>3-hour call-outs (9)</c:v>
                </c:pt>
                <c:pt idx="5">
                  <c:v>4-hour call-outs (5)</c:v>
                </c:pt>
              </c:strCache>
            </c:strRef>
          </c:cat>
          <c:val>
            <c:numRef>
              <c:f>Sheet1!$B$2:$B$7</c:f>
              <c:numCache>
                <c:formatCode>$#,##0;[Red]($#,##0);"-"</c:formatCode>
                <c:ptCount val="6"/>
                <c:pt idx="0">
                  <c:v>925</c:v>
                </c:pt>
                <c:pt idx="1">
                  <c:v>1505</c:v>
                </c:pt>
                <c:pt idx="2">
                  <c:v>2727</c:v>
                </c:pt>
                <c:pt idx="3">
                  <c:v>1579</c:v>
                </c:pt>
                <c:pt idx="4">
                  <c:v>2424</c:v>
                </c:pt>
                <c:pt idx="5">
                  <c:v>1765</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Sheet1!$A$2:$A$23</c:f>
              <c:strCache>
                <c:ptCount val="22"/>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strCache>
            </c:strRef>
          </c:cat>
          <c:val>
            <c:numRef>
              <c:f>Sheet1!$B$2:$B$23</c:f>
              <c:numCache>
                <c:formatCode>0.0"%";[Red](0.0"%")</c:formatCode>
                <c:ptCount val="22"/>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pt idx="16">
                  <c:v>38.6</c:v>
                </c:pt>
                <c:pt idx="17">
                  <c:v>35.6</c:v>
                </c:pt>
                <c:pt idx="18">
                  <c:v>41.7</c:v>
                </c:pt>
                <c:pt idx="19">
                  <c:v>39.0</c:v>
                </c:pt>
                <c:pt idx="20">
                  <c:v>38.5</c:v>
                </c:pt>
                <c:pt idx="21">
                  <c:v>36.8</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Sheet1!$A$2:$A$23</c:f>
              <c:strCache>
                <c:ptCount val="22"/>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strCache>
            </c:strRef>
          </c:cat>
          <c:val>
            <c:numRef>
              <c:f>Sheet1!$B$2:$B$23</c:f>
              <c:numCache>
                <c:formatCode>$#,##0;[Red]($#,##0);"-"</c:formatCode>
                <c:ptCount val="22"/>
                <c:pt idx="0">
                  <c:v>56675</c:v>
                </c:pt>
                <c:pt idx="1">
                  <c:v>66458</c:v>
                </c:pt>
                <c:pt idx="2">
                  <c:v>57840</c:v>
                </c:pt>
                <c:pt idx="3">
                  <c:v>60167</c:v>
                </c:pt>
                <c:pt idx="4">
                  <c:v>58595</c:v>
                </c:pt>
                <c:pt idx="5">
                  <c:v>49330</c:v>
                </c:pt>
                <c:pt idx="6">
                  <c:v>47897</c:v>
                </c:pt>
                <c:pt idx="7">
                  <c:v>46116</c:v>
                </c:pt>
                <c:pt idx="8">
                  <c:v>66529</c:v>
                </c:pt>
                <c:pt idx="9">
                  <c:v>66434</c:v>
                </c:pt>
                <c:pt idx="10">
                  <c:v>60906</c:v>
                </c:pt>
                <c:pt idx="11">
                  <c:v>48201</c:v>
                </c:pt>
                <c:pt idx="12">
                  <c:v>49446</c:v>
                </c:pt>
                <c:pt idx="13">
                  <c:v>58844</c:v>
                </c:pt>
                <c:pt idx="14">
                  <c:v>50453</c:v>
                </c:pt>
                <c:pt idx="15">
                  <c:v>58190</c:v>
                </c:pt>
                <c:pt idx="16">
                  <c:v>75710</c:v>
                </c:pt>
                <c:pt idx="17">
                  <c:v>68158</c:v>
                </c:pt>
                <c:pt idx="18">
                  <c:v>68843</c:v>
                </c:pt>
                <c:pt idx="19">
                  <c:v>63105</c:v>
                </c:pt>
                <c:pt idx="20">
                  <c:v>66663</c:v>
                </c:pt>
                <c:pt idx="21">
                  <c:v>71121</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jobs actually make money?</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July 2026. Every job's gross margin: revenue less materials, subcontractors and technician time at $68 an hour (fully loaded: wages and all on-costs). Pick a type of job and every number, chart and note on the page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June 2026: Locked. June 2026 is locked (closed 2 Jul 2026). These numbers won't change.</a:t>
            </a:r>
          </a:p>
          <a:p>
            <a:pPr>
              <a:defRPr>
                <a:latin typeface="Roboto"/>
              </a:defRPr>
            </a:pPr>
            <a:r>
              <a:rPr sz="1100" b="0">
                <a:solidFill>
                  <a:srgbClr val="5F6F63"/>
                </a:solidFill>
                <a:latin typeface="Roboto"/>
              </a:rPr>
              <a:t>July 2026: Locked. July 2026 is locked (closed 4 Aug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July's jobs made $71,121 gross margin (36.8%). Technician time not charged to jobs took ($2,214) and overheads $59,440, leaving $13,895 profit before tax (7.2% of revenue). To cover overheads, jobs need a 29.6%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July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$71,121</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$56,814</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B42318"/>
                          </a:solidFill>
                          <a:latin typeface="Roboto"/>
                        </a:rPr>
                        <a:t>($2,214)</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$73,335</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$59,440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$13,895</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$193,245</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36.8%</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7.2%</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29.6%</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All jobs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July · All jobs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36.8%</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June · All jobs</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38.5%</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29.6%</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(July)</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July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 Target 35.0% is what to price for; break-even 29.6%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July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 Target 35.0% is what to price for; break-even 29.6%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All jobs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 July maintenance contracts made a 59.5% job gross margin, installations made a 28.3% job gross margin, call-outs and repairs made a 43.4% job gross margin (technician time at $68 an hour, wages and all on-costs). Jobs need 29.6%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28.3% gross margin, 6.7 points under the 35.0% target: about $8,580 on $127,600 of revenue in July. It's below the 29.6% needed to cover overheads, too. Maintenance contracts: 59.5% gross margin, 24.5 points over the 35.0% target ($9,941 ahead on $40,500 in July).</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July · Maintenance contracts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June · Maintenance contracts</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29.6%</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(July)</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July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 Target 35.0% is what to price for; break-even 29.6%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July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 Target 35.0% is what to price for; break-even 29.6%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All 14 contracts made more than the 35.0% job gross margin target. The thinnest was Kangaroo Point townhouses at 58.2% job gross margin: 14.0 h of technician time on a $2,400 monthly fee.</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The thinnest, Kangaroo Point townhouses: 58.2% gross margin, 23.3 points over the 35.0% target ($558 ahead on $2,400 in July). All maintenance contracts: 59.5% gross margin, 24.5 points over the 35.0% target ($9,941 ahead on $40,500 in July).</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July · Installations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28.3%</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June · Installations</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28.5%</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29.6%</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(July)</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July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One target for every job for now. Target 35.0% is what to price for; break-even 29.6%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July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One target for every job for now. Target 35.0% is what to price for; break-even 29.6%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4 of the 4 installation jobs invoiced in July made less than the 35.0% job gross margin target. The Installation 2, July made a 28.2% job gross margin: 133.0 h of technician time ($9,044) and $2,700 of subcontractors on a $34,600 job. Jobs need 29.6%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4 installations under the 35.0% target, worth about $8,580 between them on $127,600 of revenue. The biggest gap, Installation 2, July: 28.2% gross margin, 6.8 points under the 35.0% target: about $2,354 on $34,600 of revenue in July. It's below the 29.6% needed to cover overheads, too.</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Call-outs and repairs</a:t>
            </a:r>
          </a:p>
        </p:txBody>
      </p:sp>
      <p:sp>
        <p:nvSpPr>
          <p:cNvPr id="5" name="Rectangle 4"/>
          <p:cNvSpPr/>
          <p:nvPr/>
        </p:nvSpPr>
        <p:spPr>
          <a:xfrm>
            <a:off x="457200"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Job gross margin, July · Call-outs and repairs</a:t>
            </a:r>
          </a:p>
        </p:txBody>
      </p:sp>
      <p:sp>
        <p:nvSpPr>
          <p:cNvPr id="7" name="TextBox 6"/>
          <p:cNvSpPr txBox="1"/>
          <p:nvPr/>
        </p:nvSpPr>
        <p:spPr>
          <a:xfrm>
            <a:off x="640080"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43.4%</a:t>
            </a:r>
          </a:p>
        </p:txBody>
      </p:sp>
      <p:sp>
        <p:nvSpPr>
          <p:cNvPr id="8" name="TextBox 7"/>
          <p:cNvSpPr txBox="1"/>
          <p:nvPr/>
        </p:nvSpPr>
        <p:spPr>
          <a:xfrm>
            <a:off x="640080"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9" name="Rectangle 8"/>
          <p:cNvSpPr/>
          <p:nvPr/>
        </p:nvSpPr>
        <p:spPr>
          <a:xfrm>
            <a:off x="2767523"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2950403"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Job gross margin, June · Call-outs and repairs</a:t>
            </a:r>
          </a:p>
        </p:txBody>
      </p:sp>
      <p:sp>
        <p:nvSpPr>
          <p:cNvPr id="11" name="TextBox 10"/>
          <p:cNvSpPr txBox="1"/>
          <p:nvPr/>
        </p:nvSpPr>
        <p:spPr>
          <a:xfrm>
            <a:off x="2950403"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44.6%</a:t>
            </a:r>
          </a:p>
        </p:txBody>
      </p:sp>
      <p:sp>
        <p:nvSpPr>
          <p:cNvPr id="12" name="TextBox 11"/>
          <p:cNvSpPr txBox="1"/>
          <p:nvPr/>
        </p:nvSpPr>
        <p:spPr>
          <a:xfrm>
            <a:off x="2950403"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target 35.0%</a:t>
            </a:r>
          </a:p>
        </p:txBody>
      </p:sp>
      <p:sp>
        <p:nvSpPr>
          <p:cNvPr id="13" name="Rectangle 12"/>
          <p:cNvSpPr/>
          <p:nvPr/>
        </p:nvSpPr>
        <p:spPr>
          <a:xfrm>
            <a:off x="5077846"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5260726"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Gross margin jobs need to break even</a:t>
            </a:r>
          </a:p>
        </p:txBody>
      </p:sp>
      <p:sp>
        <p:nvSpPr>
          <p:cNvPr id="15" name="TextBox 14"/>
          <p:cNvSpPr txBox="1"/>
          <p:nvPr/>
        </p:nvSpPr>
        <p:spPr>
          <a:xfrm>
            <a:off x="5260726"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29.6%</a:t>
            </a:r>
          </a:p>
        </p:txBody>
      </p:sp>
      <p:sp>
        <p:nvSpPr>
          <p:cNvPr id="16" name="TextBox 15"/>
          <p:cNvSpPr txBox="1"/>
          <p:nvPr/>
        </p:nvSpPr>
        <p:spPr>
          <a:xfrm>
            <a:off x="5260726"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covers overheads and time not charged (July)</a:t>
            </a:r>
          </a:p>
        </p:txBody>
      </p:sp>
      <p:sp>
        <p:nvSpPr>
          <p:cNvPr id="17" name="Rectangle 16"/>
          <p:cNvSpPr/>
          <p:nvPr/>
        </p:nvSpPr>
        <p:spPr>
          <a:xfrm>
            <a:off x="7388169"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8" name="TextBox 17"/>
          <p:cNvSpPr txBox="1"/>
          <p:nvPr/>
        </p:nvSpPr>
        <p:spPr>
          <a:xfrm>
            <a:off x="7571049"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Technician time charged, July</a:t>
            </a:r>
          </a:p>
        </p:txBody>
      </p:sp>
      <p:sp>
        <p:nvSpPr>
          <p:cNvPr id="19" name="TextBox 18"/>
          <p:cNvSpPr txBox="1"/>
          <p:nvPr/>
        </p:nvSpPr>
        <p:spPr>
          <a:xfrm>
            <a:off x="7571049"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$17,046</a:t>
            </a:r>
          </a:p>
        </p:txBody>
      </p:sp>
      <p:sp>
        <p:nvSpPr>
          <p:cNvPr id="20" name="TextBox 19"/>
          <p:cNvSpPr txBox="1"/>
          <p:nvPr/>
        </p:nvSpPr>
        <p:spPr>
          <a:xfrm>
            <a:off x="7571049"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67.8% of call-out revenue</a:t>
            </a:r>
          </a:p>
        </p:txBody>
      </p:sp>
      <p:sp>
        <p:nvSpPr>
          <p:cNvPr id="21" name="Rectangle 20"/>
          <p:cNvSpPr/>
          <p:nvPr/>
        </p:nvSpPr>
        <p:spPr>
          <a:xfrm>
            <a:off x="9698492" y="1645920"/>
            <a:ext cx="2036003"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2" name="TextBox 21"/>
          <p:cNvSpPr txBox="1"/>
          <p:nvPr/>
        </p:nvSpPr>
        <p:spPr>
          <a:xfrm>
            <a:off x="9881372" y="1783080"/>
            <a:ext cx="1670243" cy="457200"/>
          </a:xfrm>
          <a:prstGeom prst="rect">
            <a:avLst/>
          </a:prstGeom>
          <a:noFill/>
        </p:spPr>
        <p:txBody>
          <a:bodyPr wrap="square">
            <a:spAutoFit/>
          </a:bodyPr>
          <a:lstStyle/>
          <a:p>
            <a:pPr>
              <a:defRPr>
                <a:latin typeface="Roboto"/>
              </a:defRPr>
            </a:pPr>
            <a:r>
              <a:rPr sz="1200" b="0">
                <a:solidFill>
                  <a:srgbClr val="5F6F63"/>
                </a:solidFill>
                <a:latin typeface="Roboto"/>
              </a:rPr>
              <a:t>Materials charged, July</a:t>
            </a:r>
          </a:p>
        </p:txBody>
      </p:sp>
      <p:sp>
        <p:nvSpPr>
          <p:cNvPr id="23" name="TextBox 22"/>
          <p:cNvSpPr txBox="1"/>
          <p:nvPr/>
        </p:nvSpPr>
        <p:spPr>
          <a:xfrm>
            <a:off x="9881372" y="2240280"/>
            <a:ext cx="1670243" cy="731520"/>
          </a:xfrm>
          <a:prstGeom prst="rect">
            <a:avLst/>
          </a:prstGeom>
          <a:noFill/>
        </p:spPr>
        <p:txBody>
          <a:bodyPr wrap="square">
            <a:spAutoFit/>
          </a:bodyPr>
          <a:lstStyle/>
          <a:p>
            <a:pPr>
              <a:defRPr>
                <a:latin typeface="Roboto"/>
              </a:defRPr>
            </a:pPr>
            <a:r>
              <a:rPr sz="3000" b="1">
                <a:solidFill>
                  <a:srgbClr val="2F7A5D"/>
                </a:solidFill>
                <a:latin typeface="Roboto"/>
              </a:rPr>
              <a:t>$8,099</a:t>
            </a:r>
          </a:p>
        </p:txBody>
      </p:sp>
      <p:sp>
        <p:nvSpPr>
          <p:cNvPr id="24" name="TextBox 23"/>
          <p:cNvSpPr txBox="1"/>
          <p:nvPr/>
        </p:nvSpPr>
        <p:spPr>
          <a:xfrm>
            <a:off x="9881372" y="3017520"/>
            <a:ext cx="1670243" cy="548640"/>
          </a:xfrm>
          <a:prstGeom prst="rect">
            <a:avLst/>
          </a:prstGeom>
          <a:noFill/>
        </p:spPr>
        <p:txBody>
          <a:bodyPr wrap="square">
            <a:spAutoFit/>
          </a:bodyPr>
          <a:lstStyle/>
          <a:p>
            <a:pPr>
              <a:defRPr>
                <a:latin typeface="Roboto"/>
              </a:defRPr>
            </a:pPr>
            <a:r>
              <a:rPr sz="1100" b="0">
                <a:solidFill>
                  <a:srgbClr val="5F6F63"/>
                </a:solidFill>
                <a:latin typeface="Roboto"/>
              </a:rPr>
              <a:t>$6,230 at cost, plus 30%</a:t>
            </a:r>
          </a:p>
        </p:txBody>
      </p:sp>
      <p:sp>
        <p:nvSpPr>
          <p:cNvPr id="25" name="TextBox 24"/>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26" name="TextBox 25"/>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27" name="TextBox 26"/>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July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 Target 35.0% is what to price for; break-even 29.6%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July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 Target 35.0% is what to price for; break-even 29.6% only covers overheads and time not charged.</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54 call-outs in July billed $17,046 of technician time and $8,099 of materials ($6,230 at cost plus 30%), and made a 43.4% job gross margin between them. Gross margins run from 37.0% to 45.5% by length: the hourly rate covers technician time comfortably, so the gross margin mostly moves with how much material goes on the van.</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All call-outs: 43.4% gross margin, 8.4 points over the 35.0% target ($2,124 ahead on $25,145 in July).</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