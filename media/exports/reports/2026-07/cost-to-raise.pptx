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3"/>
          <c:y val="0.03"/>
          <c:w val="0.58"/>
          <c:h val="0.88"/>
        </c:manualLayout>
      </c:layout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Cost to raise a dollar</c:v>
                </c:pt>
              </c:strCache>
            </c:strRef>
          </c:tx>
          <c:dPt>
            <c:idx val="0"/>
            <c:spPr>
              <a:solidFill>
                <a:srgbClr val="0E9F6E"/>
              </a:solidFill>
            </c:spPr>
          </c:dPt>
          <c:dPt>
            <c:idx val="1"/>
            <c:spPr>
              <a:solidFill>
                <a:srgbClr val="0E9F6E"/>
              </a:solidFill>
            </c:spPr>
          </c:dPt>
          <c:cat>
            <c:strRef>
              <c:f>Sheet1!$A$2:$A$3</c:f>
              <c:strCache>
                <c:ptCount val="2"/>
                <c:pt idx="0">
                  <c:v>Grants</c:v>
                </c:pt>
                <c:pt idx="1">
                  <c:v>Donations</c:v>
                </c:pt>
              </c:strCache>
            </c:strRef>
          </c:cat>
          <c:val>
            <c:numRef>
              <c:f>Sheet1!$B$2:$B$3</c:f>
              <c:numCache>
                <c:formatCode>0"¢";[Red](0"¢")</c:formatCode>
                <c:ptCount val="2"/>
                <c:pt idx="0">
                  <c:v>10</c:v>
                </c:pt>
                <c:pt idx="1">
                  <c:v>15</c:v>
                </c:pt>
              </c:numCache>
            </c:numRef>
          </c:val>
        </c:ser>
        <c:dLbls>
          <c:numFmt formatCode="0&quot;¢&quot;;[Red](0&quot;¢&quot;)" sourceLinked="0"/>
          <c:txPr>
            <a:bodyPr/>
            <a:lstStyle/>
            <a:p>
              <a:pPr>
                <a:defRPr sz="10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.25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>
          <a:latin typeface="Roboto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0"¢";[Red](0"¢")</c:formatCode>
                <c:ptCount val="22"/>
                <c:pt idx="0">
                  <c:v>24</c:v>
                </c:pt>
                <c:pt idx="1">
                  <c:v>20</c:v>
                </c:pt>
                <c:pt idx="2">
                  <c:v>22</c:v>
                </c:pt>
                <c:pt idx="3">
                  <c:v>10</c:v>
                </c:pt>
                <c:pt idx="4">
                  <c:v>11</c:v>
                </c:pt>
                <c:pt idx="5">
                  <c:v>12</c:v>
                </c:pt>
                <c:pt idx="6">
                  <c:v>11</c:v>
                </c:pt>
                <c:pt idx="7">
                  <c:v>11</c:v>
                </c:pt>
                <c:pt idx="8">
                  <c:v>12</c:v>
                </c:pt>
                <c:pt idx="9">
                  <c:v>12</c:v>
                </c:pt>
                <c:pt idx="10">
                  <c:v>12</c:v>
                </c:pt>
                <c:pt idx="11">
                  <c:v>11</c:v>
                </c:pt>
                <c:pt idx="12">
                  <c:v>10</c:v>
                </c:pt>
                <c:pt idx="13">
                  <c:v>10</c:v>
                </c:pt>
                <c:pt idx="14">
                  <c:v>10</c:v>
                </c:pt>
                <c:pt idx="15">
                  <c:v>12</c:v>
                </c:pt>
                <c:pt idx="16">
                  <c:v>13</c:v>
                </c:pt>
                <c:pt idx="17">
                  <c:v>13</c:v>
                </c:pt>
                <c:pt idx="18">
                  <c:v>11</c:v>
                </c:pt>
                <c:pt idx="19">
                  <c:v>10</c:v>
                </c:pt>
                <c:pt idx="20">
                  <c:v>10</c:v>
                </c:pt>
                <c:pt idx="21">
                  <c:v>10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5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Sheet1!$A$2:$A$23</c:f>
              <c:strCache>
                <c:ptCount val="22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  <c:pt idx="18">
                  <c:v>Apr 26</c:v>
                </c:pt>
                <c:pt idx="19">
                  <c:v>May 26</c:v>
                </c:pt>
                <c:pt idx="20">
                  <c:v>Jun 26</c:v>
                </c:pt>
                <c:pt idx="21">
                  <c:v>Jul 26</c:v>
                </c:pt>
              </c:strCache>
            </c:strRef>
          </c:cat>
          <c:val>
            <c:numRef>
              <c:f>Sheet1!$B$2:$B$23</c:f>
              <c:numCache>
                <c:formatCode>0"¢";[Red](0"¢")</c:formatCode>
                <c:ptCount val="22"/>
                <c:pt idx="0">
                  <c:v>14</c:v>
                </c:pt>
                <c:pt idx="1">
                  <c:v>18</c:v>
                </c:pt>
                <c:pt idx="2">
                  <c:v>18</c:v>
                </c:pt>
                <c:pt idx="3">
                  <c:v>18</c:v>
                </c:pt>
                <c:pt idx="4">
                  <c:v>14</c:v>
                </c:pt>
                <c:pt idx="5">
                  <c:v>14</c:v>
                </c:pt>
                <c:pt idx="6">
                  <c:v>14</c:v>
                </c:pt>
                <c:pt idx="7">
                  <c:v>14</c:v>
                </c:pt>
                <c:pt idx="8">
                  <c:v>14</c:v>
                </c:pt>
                <c:pt idx="9">
                  <c:v>16</c:v>
                </c:pt>
                <c:pt idx="10">
                  <c:v>14</c:v>
                </c:pt>
                <c:pt idx="11">
                  <c:v>14</c:v>
                </c:pt>
                <c:pt idx="12">
                  <c:v>14</c:v>
                </c:pt>
                <c:pt idx="13">
                  <c:v>17</c:v>
                </c:pt>
                <c:pt idx="14">
                  <c:v>17</c:v>
                </c:pt>
                <c:pt idx="15">
                  <c:v>17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14</c:v>
                </c:pt>
                <c:pt idx="21">
                  <c:v>15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3"/>
        <c:noMultiLvlLbl val="0"/>
      </c:catAx>
      <c:valAx>
        <c:axId val="-2100718248"/>
        <c:scaling>
          <c:orientation val="minMax"/>
          <c:max val="2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5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Cents per $1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Sheet1!$A$2:$A$4</c:f>
              <c:strCache>
                <c:ptCount val="3"/>
                <c:pt idx="0">
                  <c:v>Dec 24</c:v>
                </c:pt>
                <c:pt idx="1">
                  <c:v>Sep 25</c:v>
                </c:pt>
                <c:pt idx="2">
                  <c:v>Dec 25</c:v>
                </c:pt>
              </c:strCache>
            </c:strRef>
          </c:cat>
          <c:val>
            <c:numRef>
              <c:f>Sheet1!$B$2:$B$4</c:f>
              <c:numCache>
                <c:formatCode>0"¢";[Red](0"¢")</c:formatCode>
                <c:ptCount val="3"/>
                <c:pt idx="0">
                  <c:v>42</c:v>
                </c:pt>
                <c:pt idx="1">
                  <c:v>41</c:v>
                </c:pt>
                <c:pt idx="2">
                  <c:v>42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1"/>
        <c:noMultiLvlLbl val="0"/>
      </c:catAx>
      <c:valAx>
        <c:axId val="-2100718248"/>
        <c:scaling>
          <c:orientation val="minMax"/>
          <c:max val="5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0&quot;¢&quot;;[Red](0&quot;¢&quot;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raise a dollar?. Sample Community Services Ltd. Period: July 2026. In short: Each dollar raised cost 11¢ in July, and 11¢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fundraising. July · all fundraising: 11¢; Year to date (Jul 2026): 11¢. July cost 11¢ to raise each dollar, against 11¢ in June. This financial year to date it has cost 11¢ a dollar, against 13¢ in the same period last year. The year-to-date figure is steadier than single months: events make some months jump. Pick a source above to see which one moves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Grants. July · Grants: 10¢; Year to date (Jul 2026): 10¢. Grants cost 10¢ to raise each dollar this financial year to date ($7,100 of grant writing and reporting for $72,618), against 12¢ in the same period last year. Usually the cheapest money to raise, as long as the time that goes into applications and acquittals is protected.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Donations. July · Donations: 15¢; Year to date (Jul 2026): 15¢. Donations cost 15¢ to raise each dollar this financial year to date ($2,200 of donor campaigns for $14,300), against 16¢ in the same period last year. Steady and cheap, and untied: the money that builds reserves.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Fundraising events. July · Fundraising events: –; Year to date (Jul 2026): –. Fundraising events cost – to raise each dollar this financial year to date ($0 of event costs for $0). Usually the dearest money to raise: events are worth counting for what else they bring too (new donors, profile).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chart" Target="../charts/char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raise a dollar?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>
                <a:latin typeface="Roboto"/>
              </a:defRPr>
            </a:pPr>
            <a:r>
              <a:rPr sz="1600" b="1">
                <a:solidFill>
                  <a:srgbClr val="FFFFFF"/>
                </a:solidFill>
                <a:latin typeface="Roboto"/>
              </a:rPr>
              <a:t>4th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Community Services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75819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July 2026. In short: Each dollar raised cost 11¢ in July, and 11¢ a dollar this financial year to date. What fundraising costs (grant writing, donor campaigns, events) for every dollar it brings in. Pick a source and every number, chart and note follows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5295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June 2026: Locked. June 2026 is locked (closed 2 Jul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2026: Locked. July 2026 is locked (closed 4 Aug 2026). These numbers won't change.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All fundraising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source, July 2026 (cents)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all fundraising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11¢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11¢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13¢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1499616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4195572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July cost 11¢ to raise each dollar, against 11¢ in June. This financial year to date it has cost 11¢ a dollar, against 13¢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4195572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4250436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4524756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The year-to-date figure is steadier than single months: events make some months jump. Pick a source above to see which one moves it.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Grants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Grants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Grants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10¢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10¢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12¢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Grants cost 10¢ to raise each dollar this financial year to date ($7,100 of grant writing and reporting for $72,618), against 12¢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cheapest money to raise, as long as the time that goes into applications and acquittals is protected.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Donations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Donations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Donations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14¢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15¢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16¢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51612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212080"/>
            <a:ext cx="5501487" cy="109728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Donations cost 15¢ to raise each dollar this financial year to date ($2,200 of donor campaigns for $14,300), against 16¢ in the same period last year.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212080"/>
            <a:ext cx="5501487" cy="109728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26694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541264"/>
            <a:ext cx="5227167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Steady and cheap, and untied: the money that builds reserves.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Fundraising events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Community Services Ltd · What does it cost to raise a dollar?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raise a dollar, by month (cents) · Fundraising 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July · Fundraising events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June none raised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0147" y="1278636"/>
            <a:ext cx="5524347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347307" y="1351788"/>
            <a:ext cx="5250027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7307" y="1717548"/>
            <a:ext cx="5250027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47307" y="2083308"/>
            <a:ext cx="5250027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–</a:t>
            </a:r>
          </a:p>
        </p:txBody>
      </p:sp>
      <p:graphicFrame>
        <p:nvGraphicFramePr>
          <p:cNvPr id="14" name="Chart 13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Fundraising events cost – to raise each dollar this financial year to date ($0 of event costs for $0).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Usually the dearest money to raise: events are worth counting for what else they bring too (new donors, profile).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cost-to-raise.pptx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10 Oct 2026, 9:55pm · Sample data · Made with Python (python-pptx)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