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$#,##0;[Red]($#,##0);"-"</c:formatCode>
                <c:ptCount val="22"/>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pt idx="16">
                  <c:v>196372</c:v>
                </c:pt>
                <c:pt idx="17">
                  <c:v>191500</c:v>
                </c:pt>
                <c:pt idx="18">
                  <c:v>164987</c:v>
                </c:pt>
                <c:pt idx="19">
                  <c:v>161963</c:v>
                </c:pt>
                <c:pt idx="20">
                  <c:v>173163</c:v>
                </c:pt>
                <c:pt idx="21">
                  <c:v>193245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0.0"%";[Red](0.0"%")</c:formatCode>
                <c:ptCount val="22"/>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pt idx="20">
                  <c:v>38.5</c:v>
                </c:pt>
                <c:pt idx="21">
                  <c:v>36.8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$#,##0;[Red]($#,##0);"-"</c:formatCode>
                <c:ptCount val="22"/>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pt idx="16">
                  <c:v>100055</c:v>
                </c:pt>
                <c:pt idx="17">
                  <c:v>109865</c:v>
                </c:pt>
                <c:pt idx="18">
                  <c:v>80590</c:v>
                </c:pt>
                <c:pt idx="19">
                  <c:v>77090</c:v>
                </c:pt>
                <c:pt idx="20">
                  <c:v>115550</c:v>
                </c:pt>
                <c:pt idx="21">
                  <c:v>120755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0.0"%";[Red](0.0"%")</c:formatCode>
                <c:ptCount val="22"/>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pt idx="16">
                  <c:v>63.4</c:v>
                </c:pt>
                <c:pt idx="17">
                  <c:v>62.9</c:v>
                </c:pt>
                <c:pt idx="18">
                  <c:v>65.4</c:v>
                </c:pt>
                <c:pt idx="19">
                  <c:v>64.1</c:v>
                </c:pt>
                <c:pt idx="20">
                  <c:v>60.1</c:v>
                </c:pt>
                <c:pt idx="21">
                  <c:v>60.5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July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June 2026: Locked. June 2026 is locked (closed 2 Jul 2026). These numbers won't change.</a:t>
            </a:r>
          </a:p>
          <a:p>
            <a:pPr>
              <a:defRPr>
                <a:latin typeface="Roboto"/>
              </a:defRPr>
            </a:pPr>
            <a:r>
              <a:rPr sz="1100" b="0">
                <a:solidFill>
                  <a:srgbClr val="5F6F63"/>
                </a:solidFill>
                <a:latin typeface="Roboto"/>
              </a:rPr>
              <a:t>July 2026: Locked. July 2026 is locked (closed 4 Aug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July's jobs made $71,121 gross margin (36.8%). Technician time not charged to jobs took ($2,214) and overheads $59,440, leaving $13,895 profit before tax (7.2% of revenue). To cover overheads, jobs need a 29.6%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July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$71,121</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$56,814</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B42318"/>
                          </a:solidFill>
                          <a:latin typeface="Roboto"/>
                        </a:rPr>
                        <a:t>($2,214)</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$73,335</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$59,440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$13,895</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$193,245</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36.8%</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7.2%</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29.6%</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$193,245 against $186,760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$193,245 against $186,760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36.8%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$71,121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3.5% up on the same period last year, year to date ($193,245 against $186,760). Maintenance contracts make the highest gross margin (59.5%); Installations the lowest (28.3%). The business needs 29.6%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28.3% gross margin, 6.7 points under the 35.0% target: about $8,580 on $127,600 of revenue this financial year to date. It's below the 29.6% needed to cover overheads, too. Maintenance contracts: 59.5% gross margin, 24.5 points over the 35.0% target ($9,941 ahead on $40,500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$33,200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$33,200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$24,116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$40,500 this financial year to date, 22.0% on the same period last year (faster than the business as a whole, 3.5%), at a 59.5% gross margin (above the 36.8%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($9,941 ahead on $40,500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(6.0%)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$127,600 against $135,800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(6.0%)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$127,600 against $135,800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$36,080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$127,600 this financial year to date, (6.0%) on the same period last year (slower than the business as a whole, 3.5%), at a 28.3% gross margin (below the 36.8%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28.3% gross margin, 6.7 points under the 35.0% target: about $8,580 on $127,600 of revenue this financial year to date. It's below the 29.6%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41.6%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$25,145 against $17,760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41.6%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$25,145 against $17,760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$10,925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$25,145 this financial year to date, 41.6% on the same period last year (faster than the business as a whole, 3.5%), at a 43.4% gross margin (above the 36.8%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43.4% gross margin, 8.4 points over the 35.0% target ($2,124 ahead on $25,145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$40,500</a:t>
                      </a:r>
                    </a:p>
                  </a:txBody>
                  <a:tcPr>
                    <a:solidFill>
                      <a:srgbClr val="FFFFFF"/>
                    </a:solidFill>
                  </a:tcPr>
                </a:tc>
                <a:tc>
                  <a:txBody>
                    <a:bodyPr/>
                    <a:lstStyle/>
                    <a:p>
                      <a:pPr algn="r">
                        <a:defRPr>
                          <a:latin typeface="Roboto"/>
                        </a:defRPr>
                      </a:pPr>
                      <a:r>
                        <a:rPr sz="1050">
                          <a:solidFill>
                            <a:srgbClr val="25342A"/>
                          </a:solidFill>
                          <a:latin typeface="Roboto"/>
                        </a:rPr>
                        <a:t>$33,200</a:t>
                      </a:r>
                    </a:p>
                  </a:txBody>
                  <a:tcPr>
                    <a:solidFill>
                      <a:srgbClr val="FFFFFF"/>
                    </a:solidFill>
                  </a:tcPr>
                </a:tc>
                <a:tc>
                  <a:txBody>
                    <a:bodyPr/>
                    <a:lstStyle/>
                    <a:p>
                      <a:pPr algn="r">
                        <a:defRPr>
                          <a:latin typeface="Roboto"/>
                        </a:defRPr>
                      </a:pPr>
                      <a:r>
                        <a:rPr sz="1050">
                          <a:solidFill>
                            <a:srgbClr val="25342A"/>
                          </a:solidFill>
                          <a:latin typeface="Roboto"/>
                        </a:rPr>
                        <a:t>22.0%</a:t>
                      </a:r>
                    </a:p>
                  </a:txBody>
                  <a:tcPr>
                    <a:solidFill>
                      <a:srgbClr val="FFFFFF"/>
                    </a:solidFill>
                  </a:tcPr>
                </a:tc>
                <a:tc>
                  <a:txBody>
                    <a:bodyPr/>
                    <a:lstStyle/>
                    <a:p>
                      <a:pPr algn="r">
                        <a:defRPr>
                          <a:latin typeface="Roboto"/>
                        </a:defRPr>
                      </a:pPr>
                      <a:r>
                        <a:rPr sz="1050">
                          <a:solidFill>
                            <a:srgbClr val="25342A"/>
                          </a:solidFill>
                          <a:latin typeface="Roboto"/>
                        </a:rPr>
                        <a:t>$24,116</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$127,600</a:t>
                      </a:r>
                    </a:p>
                  </a:txBody>
                  <a:tcPr>
                    <a:solidFill>
                      <a:srgbClr val="F7FAF7"/>
                    </a:solidFill>
                  </a:tcPr>
                </a:tc>
                <a:tc>
                  <a:txBody>
                    <a:bodyPr/>
                    <a:lstStyle/>
                    <a:p>
                      <a:pPr algn="r">
                        <a:defRPr>
                          <a:latin typeface="Roboto"/>
                        </a:defRPr>
                      </a:pPr>
                      <a:r>
                        <a:rPr sz="1050">
                          <a:solidFill>
                            <a:srgbClr val="25342A"/>
                          </a:solidFill>
                          <a:latin typeface="Roboto"/>
                        </a:rPr>
                        <a:t>$135,800</a:t>
                      </a:r>
                    </a:p>
                  </a:txBody>
                  <a:tcPr>
                    <a:solidFill>
                      <a:srgbClr val="F7FAF7"/>
                    </a:solidFill>
                  </a:tcPr>
                </a:tc>
                <a:tc>
                  <a:txBody>
                    <a:bodyPr/>
                    <a:lstStyle/>
                    <a:p>
                      <a:pPr algn="r">
                        <a:defRPr>
                          <a:latin typeface="Roboto"/>
                        </a:defRPr>
                      </a:pPr>
                      <a:r>
                        <a:rPr sz="1050">
                          <a:solidFill>
                            <a:srgbClr val="B42318"/>
                          </a:solidFill>
                          <a:latin typeface="Roboto"/>
                        </a:rPr>
                        <a:t>(6.0%)</a:t>
                      </a:r>
                    </a:p>
                  </a:txBody>
                  <a:tcPr>
                    <a:solidFill>
                      <a:srgbClr val="F7FAF7"/>
                    </a:solidFill>
                  </a:tcPr>
                </a:tc>
                <a:tc>
                  <a:txBody>
                    <a:bodyPr/>
                    <a:lstStyle/>
                    <a:p>
                      <a:pPr algn="r">
                        <a:defRPr>
                          <a:latin typeface="Roboto"/>
                        </a:defRPr>
                      </a:pPr>
                      <a:r>
                        <a:rPr sz="1050">
                          <a:solidFill>
                            <a:srgbClr val="25342A"/>
                          </a:solidFill>
                          <a:latin typeface="Roboto"/>
                        </a:rPr>
                        <a:t>$36,080</a:t>
                      </a:r>
                    </a:p>
                  </a:txBody>
                  <a:tcPr>
                    <a:solidFill>
                      <a:srgbClr val="F7FAF7"/>
                    </a:solidFill>
                  </a:tcPr>
                </a:tc>
                <a:tc>
                  <a:txBody>
                    <a:bodyPr/>
                    <a:lstStyle/>
                    <a:p>
                      <a:pPr algn="r">
                        <a:defRPr>
                          <a:latin typeface="Roboto"/>
                        </a:defRPr>
                      </a:pPr>
                      <a:r>
                        <a:rPr sz="1050">
                          <a:solidFill>
                            <a:srgbClr val="25342A"/>
                          </a:solidFill>
                          <a:latin typeface="Roboto"/>
                        </a:rPr>
                        <a:t>28.3%</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$25,145</a:t>
                      </a:r>
                    </a:p>
                  </a:txBody>
                  <a:tcPr>
                    <a:solidFill>
                      <a:srgbClr val="FFFFFF"/>
                    </a:solidFill>
                  </a:tcPr>
                </a:tc>
                <a:tc>
                  <a:txBody>
                    <a:bodyPr/>
                    <a:lstStyle/>
                    <a:p>
                      <a:pPr algn="r">
                        <a:defRPr>
                          <a:latin typeface="Roboto"/>
                        </a:defRPr>
                      </a:pPr>
                      <a:r>
                        <a:rPr sz="1050">
                          <a:solidFill>
                            <a:srgbClr val="25342A"/>
                          </a:solidFill>
                          <a:latin typeface="Roboto"/>
                        </a:rPr>
                        <a:t>$17,760</a:t>
                      </a:r>
                    </a:p>
                  </a:txBody>
                  <a:tcPr>
                    <a:solidFill>
                      <a:srgbClr val="FFFFFF"/>
                    </a:solidFill>
                  </a:tcPr>
                </a:tc>
                <a:tc>
                  <a:txBody>
                    <a:bodyPr/>
                    <a:lstStyle/>
                    <a:p>
                      <a:pPr algn="r">
                        <a:defRPr>
                          <a:latin typeface="Roboto"/>
                        </a:defRPr>
                      </a:pPr>
                      <a:r>
                        <a:rPr sz="1050">
                          <a:solidFill>
                            <a:srgbClr val="25342A"/>
                          </a:solidFill>
                          <a:latin typeface="Roboto"/>
                        </a:rPr>
                        <a:t>41.6%</a:t>
                      </a:r>
                    </a:p>
                  </a:txBody>
                  <a:tcPr>
                    <a:solidFill>
                      <a:srgbClr val="FFFFFF"/>
                    </a:solidFill>
                  </a:tcPr>
                </a:tc>
                <a:tc>
                  <a:txBody>
                    <a:bodyPr/>
                    <a:lstStyle/>
                    <a:p>
                      <a:pPr algn="r">
                        <a:defRPr>
                          <a:latin typeface="Roboto"/>
                        </a:defRPr>
                      </a:pPr>
                      <a:r>
                        <a:rPr sz="1050">
                          <a:solidFill>
                            <a:srgbClr val="25342A"/>
                          </a:solidFill>
                          <a:latin typeface="Roboto"/>
                        </a:rPr>
                        <a:t>$10,925</a:t>
                      </a:r>
                    </a:p>
                  </a:txBody>
                  <a:tcPr>
                    <a:solidFill>
                      <a:srgbClr val="FFFFFF"/>
                    </a:solidFill>
                  </a:tcPr>
                </a:tc>
                <a:tc>
                  <a:txBody>
                    <a:bodyPr/>
                    <a:lstStyle/>
                    <a:p>
                      <a:pPr algn="r">
                        <a:defRPr>
                          <a:latin typeface="Roboto"/>
                        </a:defRPr>
                      </a:pPr>
                      <a:r>
                        <a:rPr sz="1050">
                          <a:solidFill>
                            <a:srgbClr val="25342A"/>
                          </a:solidFill>
                          <a:latin typeface="Roboto"/>
                        </a:rPr>
                        <a:t>43.4%</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$193,245</a:t>
                      </a:r>
                    </a:p>
                  </a:txBody>
                  <a:tcPr>
                    <a:solidFill>
                      <a:srgbClr val="F7FAF7"/>
                    </a:solidFill>
                  </a:tcPr>
                </a:tc>
                <a:tc>
                  <a:txBody>
                    <a:bodyPr/>
                    <a:lstStyle/>
                    <a:p>
                      <a:pPr algn="r">
                        <a:defRPr>
                          <a:latin typeface="Roboto"/>
                        </a:defRPr>
                      </a:pPr>
                      <a:r>
                        <a:rPr sz="1050" b="1">
                          <a:solidFill>
                            <a:srgbClr val="25342A"/>
                          </a:solidFill>
                          <a:latin typeface="Roboto"/>
                        </a:rPr>
                        <a:t>$186,760</a:t>
                      </a:r>
                    </a:p>
                  </a:txBody>
                  <a:tcPr>
                    <a:solidFill>
                      <a:srgbClr val="F7FAF7"/>
                    </a:solidFill>
                  </a:tcPr>
                </a:tc>
                <a:tc>
                  <a:txBody>
                    <a:bodyPr/>
                    <a:lstStyle/>
                    <a:p>
                      <a:pPr algn="r">
                        <a:defRPr>
                          <a:latin typeface="Roboto"/>
                        </a:defRPr>
                      </a:pPr>
                      <a:r>
                        <a:rPr sz="1050" b="1">
                          <a:solidFill>
                            <a:srgbClr val="25342A"/>
                          </a:solidFill>
                          <a:latin typeface="Roboto"/>
                        </a:rPr>
                        <a:t>3.5%</a:t>
                      </a:r>
                    </a:p>
                  </a:txBody>
                  <a:tcPr>
                    <a:solidFill>
                      <a:srgbClr val="F7FAF7"/>
                    </a:solidFill>
                  </a:tcPr>
                </a:tc>
                <a:tc>
                  <a:txBody>
                    <a:bodyPr/>
                    <a:lstStyle/>
                    <a:p>
                      <a:pPr algn="r">
                        <a:defRPr>
                          <a:latin typeface="Roboto"/>
                        </a:defRPr>
                      </a:pPr>
                      <a:r>
                        <a:rPr sz="1050" b="1">
                          <a:solidFill>
                            <a:srgbClr val="25342A"/>
                          </a:solidFill>
                          <a:latin typeface="Roboto"/>
                        </a:rPr>
                        <a:t>$71,121</a:t>
                      </a:r>
                    </a:p>
                  </a:txBody>
                  <a:tcPr>
                    <a:solidFill>
                      <a:srgbClr val="F7FAF7"/>
                    </a:solidFill>
                  </a:tcPr>
                </a:tc>
                <a:tc>
                  <a:txBody>
                    <a:bodyPr/>
                    <a:lstStyle/>
                    <a:p>
                      <a:pPr algn="r">
                        <a:defRPr>
                          <a:latin typeface="Roboto"/>
                        </a:defRPr>
                      </a:pPr>
                      <a:r>
                        <a:rPr sz="1050" b="1">
                          <a:solidFill>
                            <a:srgbClr val="25342A"/>
                          </a:solidFill>
                          <a:latin typeface="Roboto"/>
                        </a:rPr>
                        <a:t>36.8%</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July's client work made $73,075 gross margin (60.5%). Consultant time not charged to client work took $4,620 and overheads $52,050, leaving $16,405 profit before tax (13.6% of revenue). To cover overheads, client work needs a 46.9%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July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$73,075</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$46,500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$41,880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$4,620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$68,455</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$52,050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$16,405</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$120,755</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60.5%</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13.6%</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46.9%</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39.9%</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$120,755 against $86,320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39.9%</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$120,755 against $86,320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60.5%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$73,075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39.9% up on the same period last year, year to date ($120,755 against $86,320). Training makes the highest gross margin (69.3%); Projects the lowest (59.6%). The business needs 46.9%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59.6% gross margin, 19.6 points over the 40.0% target ($15,593 ahead on $79,455 this financial year to date). Training: 69.3% gross margin, 29.3 points over the 40.0% target ($2,580 ahead on $8,800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$79,455 against $64,820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$79,455 against $64,820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$47,375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$79,455 this financial year to date, 22.6% on the same period last year (slower than the business as a whole, 39.9%), at a 59.6% gross margin (below the 60.5%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59.6% gross margin, 19.6 points over the 40.0% target ($15,593 ahead on $79,455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$16,300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$16,300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60.3%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$19,600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$32,500 this financial year to date, 99.4% on the same period last year (faster than the business as a whole, 39.9%), at a 60.3% gross margin (below the 60.5%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60.3% gross margin, 20.3 points over the 40.0% target ($6,600 ahead on $32,500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July against July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69.2%</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$8,800 against $5,200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69.2%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$8,800 against $5,200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69.3%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$6,100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$8,800 this financial year to date, 69.2% on the same period last year (faster than the business as a whole, 39.9%), at a 69.3% gross margin (above the 60.5%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69.3% gross margin, 29.3 points over the 40.0% target ($2,580 ahead on $8,800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$79,455</a:t>
                      </a:r>
                    </a:p>
                  </a:txBody>
                  <a:tcPr>
                    <a:solidFill>
                      <a:srgbClr val="FFFFFF"/>
                    </a:solidFill>
                  </a:tcPr>
                </a:tc>
                <a:tc>
                  <a:txBody>
                    <a:bodyPr/>
                    <a:lstStyle/>
                    <a:p>
                      <a:pPr algn="r">
                        <a:defRPr>
                          <a:latin typeface="Roboto"/>
                        </a:defRPr>
                      </a:pPr>
                      <a:r>
                        <a:rPr sz="1050">
                          <a:solidFill>
                            <a:srgbClr val="25342A"/>
                          </a:solidFill>
                          <a:latin typeface="Roboto"/>
                        </a:rPr>
                        <a:t>$64,820</a:t>
                      </a:r>
                    </a:p>
                  </a:txBody>
                  <a:tcPr>
                    <a:solidFill>
                      <a:srgbClr val="FFFFFF"/>
                    </a:solidFill>
                  </a:tcPr>
                </a:tc>
                <a:tc>
                  <a:txBody>
                    <a:bodyPr/>
                    <a:lstStyle/>
                    <a:p>
                      <a:pPr algn="r">
                        <a:defRPr>
                          <a:latin typeface="Roboto"/>
                        </a:defRPr>
                      </a:pPr>
                      <a:r>
                        <a:rPr sz="1050">
                          <a:solidFill>
                            <a:srgbClr val="25342A"/>
                          </a:solidFill>
                          <a:latin typeface="Roboto"/>
                        </a:rPr>
                        <a:t>22.6%</a:t>
                      </a:r>
                    </a:p>
                  </a:txBody>
                  <a:tcPr>
                    <a:solidFill>
                      <a:srgbClr val="FFFFFF"/>
                    </a:solidFill>
                  </a:tcPr>
                </a:tc>
                <a:tc>
                  <a:txBody>
                    <a:bodyPr/>
                    <a:lstStyle/>
                    <a:p>
                      <a:pPr algn="r">
                        <a:defRPr>
                          <a:latin typeface="Roboto"/>
                        </a:defRPr>
                      </a:pPr>
                      <a:r>
                        <a:rPr sz="1050">
                          <a:solidFill>
                            <a:srgbClr val="25342A"/>
                          </a:solidFill>
                          <a:latin typeface="Roboto"/>
                        </a:rPr>
                        <a:t>$47,375</a:t>
                      </a:r>
                    </a:p>
                  </a:txBody>
                  <a:tcPr>
                    <a:solidFill>
                      <a:srgbClr val="FFFFFF"/>
                    </a:solidFill>
                  </a:tcPr>
                </a:tc>
                <a:tc>
                  <a:txBody>
                    <a:bodyPr/>
                    <a:lstStyle/>
                    <a:p>
                      <a:pPr algn="r">
                        <a:defRPr>
                          <a:latin typeface="Roboto"/>
                        </a:defRPr>
                      </a:pPr>
                      <a:r>
                        <a:rPr sz="1050">
                          <a:solidFill>
                            <a:srgbClr val="25342A"/>
                          </a:solidFill>
                          <a:latin typeface="Roboto"/>
                        </a:rPr>
                        <a:t>59.6%</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$32,500</a:t>
                      </a:r>
                    </a:p>
                  </a:txBody>
                  <a:tcPr>
                    <a:solidFill>
                      <a:srgbClr val="F7FAF7"/>
                    </a:solidFill>
                  </a:tcPr>
                </a:tc>
                <a:tc>
                  <a:txBody>
                    <a:bodyPr/>
                    <a:lstStyle/>
                    <a:p>
                      <a:pPr algn="r">
                        <a:defRPr>
                          <a:latin typeface="Roboto"/>
                        </a:defRPr>
                      </a:pPr>
                      <a:r>
                        <a:rPr sz="1050">
                          <a:solidFill>
                            <a:srgbClr val="25342A"/>
                          </a:solidFill>
                          <a:latin typeface="Roboto"/>
                        </a:rPr>
                        <a:t>$16,300</a:t>
                      </a:r>
                    </a:p>
                  </a:txBody>
                  <a:tcPr>
                    <a:solidFill>
                      <a:srgbClr val="F7FAF7"/>
                    </a:solidFill>
                  </a:tcPr>
                </a:tc>
                <a:tc>
                  <a:txBody>
                    <a:bodyPr/>
                    <a:lstStyle/>
                    <a:p>
                      <a:pPr algn="r">
                        <a:defRPr>
                          <a:latin typeface="Roboto"/>
                        </a:defRPr>
                      </a:pPr>
                      <a:r>
                        <a:rPr sz="1050">
                          <a:solidFill>
                            <a:srgbClr val="25342A"/>
                          </a:solidFill>
                          <a:latin typeface="Roboto"/>
                        </a:rPr>
                        <a:t>99.4%</a:t>
                      </a:r>
                    </a:p>
                  </a:txBody>
                  <a:tcPr>
                    <a:solidFill>
                      <a:srgbClr val="F7FAF7"/>
                    </a:solidFill>
                  </a:tcPr>
                </a:tc>
                <a:tc>
                  <a:txBody>
                    <a:bodyPr/>
                    <a:lstStyle/>
                    <a:p>
                      <a:pPr algn="r">
                        <a:defRPr>
                          <a:latin typeface="Roboto"/>
                        </a:defRPr>
                      </a:pPr>
                      <a:r>
                        <a:rPr sz="1050">
                          <a:solidFill>
                            <a:srgbClr val="25342A"/>
                          </a:solidFill>
                          <a:latin typeface="Roboto"/>
                        </a:rPr>
                        <a:t>$19,600</a:t>
                      </a:r>
                    </a:p>
                  </a:txBody>
                  <a:tcPr>
                    <a:solidFill>
                      <a:srgbClr val="F7FAF7"/>
                    </a:solidFill>
                  </a:tcPr>
                </a:tc>
                <a:tc>
                  <a:txBody>
                    <a:bodyPr/>
                    <a:lstStyle/>
                    <a:p>
                      <a:pPr algn="r">
                        <a:defRPr>
                          <a:latin typeface="Roboto"/>
                        </a:defRPr>
                      </a:pPr>
                      <a:r>
                        <a:rPr sz="1050">
                          <a:solidFill>
                            <a:srgbClr val="25342A"/>
                          </a:solidFill>
                          <a:latin typeface="Roboto"/>
                        </a:rPr>
                        <a:t>60.3%</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$8,800</a:t>
                      </a:r>
                    </a:p>
                  </a:txBody>
                  <a:tcPr>
                    <a:solidFill>
                      <a:srgbClr val="FFFFFF"/>
                    </a:solidFill>
                  </a:tcPr>
                </a:tc>
                <a:tc>
                  <a:txBody>
                    <a:bodyPr/>
                    <a:lstStyle/>
                    <a:p>
                      <a:pPr algn="r">
                        <a:defRPr>
                          <a:latin typeface="Roboto"/>
                        </a:defRPr>
                      </a:pPr>
                      <a:r>
                        <a:rPr sz="1050">
                          <a:solidFill>
                            <a:srgbClr val="25342A"/>
                          </a:solidFill>
                          <a:latin typeface="Roboto"/>
                        </a:rPr>
                        <a:t>$5,200</a:t>
                      </a:r>
                    </a:p>
                  </a:txBody>
                  <a:tcPr>
                    <a:solidFill>
                      <a:srgbClr val="FFFFFF"/>
                    </a:solidFill>
                  </a:tcPr>
                </a:tc>
                <a:tc>
                  <a:txBody>
                    <a:bodyPr/>
                    <a:lstStyle/>
                    <a:p>
                      <a:pPr algn="r">
                        <a:defRPr>
                          <a:latin typeface="Roboto"/>
                        </a:defRPr>
                      </a:pPr>
                      <a:r>
                        <a:rPr sz="1050">
                          <a:solidFill>
                            <a:srgbClr val="25342A"/>
                          </a:solidFill>
                          <a:latin typeface="Roboto"/>
                        </a:rPr>
                        <a:t>69.2%</a:t>
                      </a:r>
                    </a:p>
                  </a:txBody>
                  <a:tcPr>
                    <a:solidFill>
                      <a:srgbClr val="FFFFFF"/>
                    </a:solidFill>
                  </a:tcPr>
                </a:tc>
                <a:tc>
                  <a:txBody>
                    <a:bodyPr/>
                    <a:lstStyle/>
                    <a:p>
                      <a:pPr algn="r">
                        <a:defRPr>
                          <a:latin typeface="Roboto"/>
                        </a:defRPr>
                      </a:pPr>
                      <a:r>
                        <a:rPr sz="1050">
                          <a:solidFill>
                            <a:srgbClr val="25342A"/>
                          </a:solidFill>
                          <a:latin typeface="Roboto"/>
                        </a:rPr>
                        <a:t>$6,100</a:t>
                      </a:r>
                    </a:p>
                  </a:txBody>
                  <a:tcPr>
                    <a:solidFill>
                      <a:srgbClr val="FFFFFF"/>
                    </a:solidFill>
                  </a:tcPr>
                </a:tc>
                <a:tc>
                  <a:txBody>
                    <a:bodyPr/>
                    <a:lstStyle/>
                    <a:p>
                      <a:pPr algn="r">
                        <a:defRPr>
                          <a:latin typeface="Roboto"/>
                        </a:defRPr>
                      </a:pPr>
                      <a:r>
                        <a:rPr sz="1050">
                          <a:solidFill>
                            <a:srgbClr val="25342A"/>
                          </a:solidFill>
                          <a:latin typeface="Roboto"/>
                        </a:rPr>
                        <a:t>69.3%</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$120,755</a:t>
                      </a:r>
                    </a:p>
                  </a:txBody>
                  <a:tcPr>
                    <a:solidFill>
                      <a:srgbClr val="F7FAF7"/>
                    </a:solidFill>
                  </a:tcPr>
                </a:tc>
                <a:tc>
                  <a:txBody>
                    <a:bodyPr/>
                    <a:lstStyle/>
                    <a:p>
                      <a:pPr algn="r">
                        <a:defRPr>
                          <a:latin typeface="Roboto"/>
                        </a:defRPr>
                      </a:pPr>
                      <a:r>
                        <a:rPr sz="1050" b="1">
                          <a:solidFill>
                            <a:srgbClr val="25342A"/>
                          </a:solidFill>
                          <a:latin typeface="Roboto"/>
                        </a:rPr>
                        <a:t>$86,320</a:t>
                      </a:r>
                    </a:p>
                  </a:txBody>
                  <a:tcPr>
                    <a:solidFill>
                      <a:srgbClr val="F7FAF7"/>
                    </a:solidFill>
                  </a:tcPr>
                </a:tc>
                <a:tc>
                  <a:txBody>
                    <a:bodyPr/>
                    <a:lstStyle/>
                    <a:p>
                      <a:pPr algn="r">
                        <a:defRPr>
                          <a:latin typeface="Roboto"/>
                        </a:defRPr>
                      </a:pPr>
                      <a:r>
                        <a:rPr sz="1050" b="1">
                          <a:solidFill>
                            <a:srgbClr val="25342A"/>
                          </a:solidFill>
                          <a:latin typeface="Roboto"/>
                        </a:rPr>
                        <a:t>39.9%</a:t>
                      </a:r>
                    </a:p>
                  </a:txBody>
                  <a:tcPr>
                    <a:solidFill>
                      <a:srgbClr val="F7FAF7"/>
                    </a:solidFill>
                  </a:tcPr>
                </a:tc>
                <a:tc>
                  <a:txBody>
                    <a:bodyPr/>
                    <a:lstStyle/>
                    <a:p>
                      <a:pPr algn="r">
                        <a:defRPr>
                          <a:latin typeface="Roboto"/>
                        </a:defRPr>
                      </a:pPr>
                      <a:r>
                        <a:rPr sz="1050" b="1">
                          <a:solidFill>
                            <a:srgbClr val="25342A"/>
                          </a:solidFill>
                          <a:latin typeface="Roboto"/>
                        </a:rPr>
                        <a:t>$73,075</a:t>
                      </a:r>
                    </a:p>
                  </a:txBody>
                  <a:tcPr>
                    <a:solidFill>
                      <a:srgbClr val="F7FAF7"/>
                    </a:solidFill>
                  </a:tcPr>
                </a:tc>
                <a:tc>
                  <a:txBody>
                    <a:bodyPr/>
                    <a:lstStyle/>
                    <a:p>
                      <a:pPr algn="r">
                        <a:defRPr>
                          <a:latin typeface="Roboto"/>
                        </a:defRPr>
                      </a:pPr>
                      <a:r>
                        <a:rPr sz="1050" b="1">
                          <a:solidFill>
                            <a:srgbClr val="25342A"/>
                          </a:solidFill>
                          <a:latin typeface="Roboto"/>
                        </a:rPr>
                        <a:t>60.5%</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