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ayout>
        <c:manualLayout>
          <c:layoutTarget val="inner"/>
          <c:xMode val="edge"/>
          <c:yMode val="edge"/>
          <c:x val="0.3"/>
          <c:y val="0.03"/>
          <c:w val="0.58"/>
          <c:h val="0.88"/>
        </c:manualLayout>
      </c:layout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 by program</c:v>
                </c:pt>
              </c:strCache>
            </c:strRef>
          </c:tx>
          <c:dPt>
            <c:idx val="0"/>
            <c:spPr>
              <a:solidFill>
                <a:srgbClr val="0E9F6E"/>
              </a:solidFill>
            </c:spPr>
          </c:dPt>
          <c:dPt>
            <c:idx val="1"/>
            <c:spPr>
              <a:solidFill>
                <a:srgbClr val="0E9F6E"/>
              </a:solidFill>
            </c:spPr>
          </c:dPt>
          <c:dPt>
            <c:idx val="2"/>
            <c:spPr>
              <a:solidFill>
                <a:srgbClr val="0E9F6E"/>
              </a:solidFill>
            </c:spPr>
          </c:dPt>
          <c:dPt>
            <c:idx val="3"/>
            <c:spPr>
              <a:solidFill>
                <a:srgbClr val="0E9F6E"/>
              </a:solidFill>
            </c:spPr>
          </c:dPt>
          <c:dPt>
            <c:idx val="4"/>
            <c:spPr>
              <a:solidFill>
                <a:srgbClr val="0E9F6E"/>
              </a:solidFill>
            </c:spPr>
          </c:dPt>
          <c:dPt>
            <c:idx val="5"/>
            <c:spPr>
              <a:solidFill>
                <a:srgbClr val="0E9F6E"/>
              </a:solidFill>
            </c:spPr>
          </c:dPt>
          <c:cat>
            <c:strRef>
              <c:f>Sheet1!$A$2:$A$7</c:f>
              <c:strCache>
                <c:ptCount val="6"/>
                <c:pt idx="0">
                  <c:v>Community meals</c:v>
                </c:pt>
                <c:pt idx="1">
                  <c:v>Mental health first aid</c:v>
                </c:pt>
                <c:pt idx="2">
                  <c:v>Youth outreach</c:v>
                </c:pt>
                <c:pt idx="3">
                  <c:v>Volunteer coordinator</c:v>
                </c:pt>
                <c:pt idx="4">
                  <c:v>Digital literacy</c:v>
                </c:pt>
                <c:pt idx="5">
                  <c:v>Housing support</c:v>
                </c:pt>
              </c:strCache>
            </c:strRef>
          </c:cat>
          <c:val>
            <c:numRef>
              <c:f>Sheet1!$B$2:$B$7</c:f>
              <c:numCache>
                <c:formatCode>#,##0;[Red](#,##0)</c:formatCode>
                <c:ptCount val="6"/>
                <c:pt idx="0">
                  <c:v>118.0</c:v>
                </c:pt>
                <c:pt idx="1">
                  <c:v>119.0</c:v>
                </c:pt>
                <c:pt idx="2">
                  <c:v>124.0</c:v>
                </c:pt>
                <c:pt idx="3">
                  <c:v>134.5</c:v>
                </c:pt>
                <c:pt idx="4">
                  <c:v>134.5</c:v>
                </c:pt>
                <c:pt idx="5">
                  <c:v>142.0</c:v>
                </c:pt>
              </c:numCache>
            </c:numRef>
          </c:val>
        </c:ser>
        <c:dLbls>
          <c:numFmt formatCode="#,##0;[Red](#,##0)" sourceLinked="0"/>
          <c:txPr>
            <a:bodyPr/>
            <a:lstStyle/>
            <a:p>
              <a:pPr>
                <a:defRPr sz="1000"/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1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63.29999999999998"/>
          <c:min val="0.0"/>
        </c:scaling>
        <c:delete/>
        <c:axPos val="b"/>
        <c:majorTickMark val="out"/>
        <c:minorTickMark val="none"/>
        <c:tickLblPos val="nextTo"/>
        <c:crossAx val="-2068027336"/>
        <c:crosses val="autoZero"/>
      </c:valAx>
    </c:plotArea>
    <c:dispBlanksAs val="gap"/>
  </c:chart>
  <c:txPr>
    <a:bodyPr/>
    <a:lstStyle/>
    <a:p>
      <a:pPr>
        <a:defRPr sz="1800">
          <a:latin typeface="Roboto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Volunteer hours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Sheet1!$A$2:$A$19</c:f>
              <c:strCache>
                <c:ptCount val="18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</c:strCache>
            </c:strRef>
          </c:cat>
          <c:val>
            <c:numRef>
              <c:f>Sheet1!$B$2:$B$19</c:f>
              <c:numCache>
                <c:formatCode>#,##0;[Red](#,##0)</c:formatCode>
                <c:ptCount val="18"/>
                <c:pt idx="0">
                  <c:v>317.5</c:v>
                </c:pt>
                <c:pt idx="1">
                  <c:v>392.0</c:v>
                </c:pt>
                <c:pt idx="2">
                  <c:v>363.5</c:v>
                </c:pt>
                <c:pt idx="3">
                  <c:v>399.0</c:v>
                </c:pt>
                <c:pt idx="4">
                  <c:v>422.0</c:v>
                </c:pt>
                <c:pt idx="5">
                  <c:v>451.5</c:v>
                </c:pt>
                <c:pt idx="6">
                  <c:v>445.0</c:v>
                </c:pt>
                <c:pt idx="7">
                  <c:v>513.0</c:v>
                </c:pt>
                <c:pt idx="8">
                  <c:v>529.0</c:v>
                </c:pt>
                <c:pt idx="9">
                  <c:v>586.0</c:v>
                </c:pt>
                <c:pt idx="10">
                  <c:v>560.5</c:v>
                </c:pt>
                <c:pt idx="11">
                  <c:v>625.5</c:v>
                </c:pt>
                <c:pt idx="12">
                  <c:v>669.5</c:v>
                </c:pt>
                <c:pt idx="13">
                  <c:v>626.5</c:v>
                </c:pt>
                <c:pt idx="14">
                  <c:v>683.0</c:v>
                </c:pt>
                <c:pt idx="15">
                  <c:v>711.5</c:v>
                </c:pt>
                <c:pt idx="16">
                  <c:v>700.0</c:v>
                </c:pt>
                <c:pt idx="17">
                  <c:v>772.0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2"/>
        <c:noMultiLvlLbl val="0"/>
      </c:catAx>
      <c:valAx>
        <c:axId val="-2100718248"/>
        <c:scaling>
          <c:orientation val="minMax"/>
          <c:max val="10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#,##0;[Red](#,##0)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2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Sample Community Services Ltd. Period: March 2026. Every volunteer shift: who (a code, not a name), which program, and how many hours.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How many volunteer hours go into each program?. Volunteer hours, March: 772.0 h; Volunteers who did a shift, March: 52; Hours per volunteer, March: 14.8 h; March last year: 451.5 h. 52 volunteers gave 772.0 h in March, against 700.0 h in February. Housing support drew the most (142.0 h, 18.4%). Community meals had the fewest volunteer hours (118.0 h). Hours are up 71.0% on March last year.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Volunteer hours by month. Tap a month for its workings.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3.xml"/><Relationship Id="rId3" Type="http://schemas.openxmlformats.org/officeDocument/2006/relationships/chart" Target="../charts/char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Community Services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31369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March 2026. Every volunteer shift: who (a code, not a name), which program, and how many hours.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10845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February 2026: Locked. February 2026 is locked (closed 3 Mar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2026: Locked. March 2026 is locked (closed 2 Apr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How many volunteer hours go into each program?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Volunteer hours by program, March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 hours, March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772.0 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700.0 h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3673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3470833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Volunteers who did a shift, March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0833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52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70833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February 49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0147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6347307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Hours per volunteer, March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47307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14.8 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47307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average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086621" y="1278636"/>
            <a:ext cx="2647873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9" name="TextBox 18"/>
          <p:cNvSpPr txBox="1"/>
          <p:nvPr/>
        </p:nvSpPr>
        <p:spPr>
          <a:xfrm>
            <a:off x="9223781" y="1351788"/>
            <a:ext cx="2373553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March last year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223781" y="1717548"/>
            <a:ext cx="2373553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451.5 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223781" y="2083308"/>
            <a:ext cx="2373553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33 volunteers</a:t>
            </a:r>
          </a:p>
        </p:txBody>
      </p:sp>
      <p:graphicFrame>
        <p:nvGraphicFramePr>
          <p:cNvPr id="22" name="Chart 21"/>
          <p:cNvGraphicFramePr>
            <a:graphicFrameLocks noGrp="1"/>
          </p:cNvGraphicFramePr>
          <p:nvPr/>
        </p:nvGraphicFramePr>
        <p:xfrm>
          <a:off x="457200" y="2604516"/>
          <a:ext cx="11277295" cy="271424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23" name="Rectangle 22"/>
          <p:cNvSpPr/>
          <p:nvPr/>
        </p:nvSpPr>
        <p:spPr>
          <a:xfrm>
            <a:off x="457200" y="5410200"/>
            <a:ext cx="5501487" cy="89916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4" name="TextBox 23"/>
          <p:cNvSpPr txBox="1"/>
          <p:nvPr/>
        </p:nvSpPr>
        <p:spPr>
          <a:xfrm>
            <a:off x="594360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4360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52 volunteers gave 772.0 h in March, against 700.0 h in February. Housing support drew the most (142.0 h, 18.4%).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33007" y="5410200"/>
            <a:ext cx="5501487" cy="89916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7" name="TextBox 26"/>
          <p:cNvSpPr txBox="1"/>
          <p:nvPr/>
        </p:nvSpPr>
        <p:spPr>
          <a:xfrm>
            <a:off x="6370167" y="546506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70167" y="5739384"/>
            <a:ext cx="5227167" cy="5334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Community meals had the fewest volunteer hours (118.0 h). Hours are up 71.0% on March last year.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Volunteer hours by month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Community Services Ltd · How many volunteer hours go into each program?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Tap a month for its workings.</a:t>
            </a:r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457200" y="1278636"/>
          <a:ext cx="11277295" cy="4802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volunteers.pptx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8 Oct 2026, 6:29pm · Sample data · Made with Python (python-pptx)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3 of 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