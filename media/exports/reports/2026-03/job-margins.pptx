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27.1</c:v>
                </c:pt>
                <c:pt idx="1">
                  <c:v>43.5</c:v>
                </c:pt>
                <c:pt idx="2">
                  <c:v>59.6</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35110</c:v>
                </c:pt>
                <c:pt idx="1">
                  <c:v>10706</c:v>
                </c:pt>
                <c:pt idx="2">
                  <c:v>22342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cat>
            <c:strRef>
              <c:f>Sheet1!$A$2:$A$14</c:f>
              <c:strCache>
                <c:ptCount val="13"/>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pt idx="12">
                  <c:v>Carindale vet clinic</c:v>
                </c:pt>
              </c:strCache>
            </c:strRef>
          </c:cat>
          <c:val>
            <c:numRef>
              <c:f>Sheet1!$B$2:$B$14</c:f>
              <c:numCache>
                <c:formatCode>0.0"%";[Red](0.0"%")</c:formatCode>
                <c:ptCount val="13"/>
                <c:pt idx="0">
                  <c:v>58.2</c:v>
                </c:pt>
                <c:pt idx="1">
                  <c:v>58.8</c:v>
                </c:pt>
                <c:pt idx="2">
                  <c:v>58.8</c:v>
                </c:pt>
                <c:pt idx="3">
                  <c:v>59.0</c:v>
                </c:pt>
                <c:pt idx="4">
                  <c:v>59.0</c:v>
                </c:pt>
                <c:pt idx="5">
                  <c:v>59.4</c:v>
                </c:pt>
                <c:pt idx="6">
                  <c:v>59.9</c:v>
                </c:pt>
                <c:pt idx="7">
                  <c:v>59.9</c:v>
                </c:pt>
                <c:pt idx="8">
                  <c:v>59.9</c:v>
                </c:pt>
                <c:pt idx="9">
                  <c:v>60.0</c:v>
                </c:pt>
                <c:pt idx="10">
                  <c:v>60.0</c:v>
                </c:pt>
                <c:pt idx="11">
                  <c:v>61.1</c:v>
                </c:pt>
                <c:pt idx="12">
                  <c:v>62.2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cat>
            <c:strRef>
              <c:f>Sheet1!$A$2:$A$14</c:f>
              <c:strCache>
                <c:ptCount val="13"/>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pt idx="12">
                  <c:v>Carindale vet clinic</c:v>
                </c:pt>
              </c:strCache>
            </c:strRef>
          </c:cat>
          <c:val>
            <c:numRef>
              <c:f>Sheet1!$B$2:$B$14</c:f>
              <c:numCache>
                <c:formatCode>$#,##0;[Red]($#,##0);"-"</c:formatCode>
                <c:ptCount val="13"/>
                <c:pt idx="0">
                  <c:v>1398</c:v>
                </c:pt>
                <c:pt idx="1">
                  <c:v>1530</c:v>
                </c:pt>
                <c:pt idx="2">
                  <c:v>2294</c:v>
                </c:pt>
                <c:pt idx="3">
                  <c:v>2478</c:v>
                </c:pt>
                <c:pt idx="4">
                  <c:v>1652</c:v>
                </c:pt>
                <c:pt idx="5">
                  <c:v>2436</c:v>
                </c:pt>
                <c:pt idx="6">
                  <c:v>2038</c:v>
                </c:pt>
                <c:pt idx="7">
                  <c:v>1916</c:v>
                </c:pt>
                <c:pt idx="8">
                  <c:v>958</c:v>
                </c:pt>
                <c:pt idx="9">
                  <c:v>1080</c:v>
                </c:pt>
                <c:pt idx="10">
                  <c:v>2160</c:v>
                </c:pt>
                <c:pt idx="11">
                  <c:v>1344</c:v>
                </c:pt>
                <c:pt idx="12">
                  <c:v>1058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dPt>
            <c:idx val="4"/>
            <c:spPr>
              <a:solidFill>
                <a:srgbClr val="0E9F6E"/>
              </a:solidFill>
            </c:spPr>
          </c:dPt>
          <c:cat>
            <c:strRef>
              <c:f>Sheet1!$A$2:$A$6</c:f>
              <c:strCache>
                <c:ptCount val="5"/>
                <c:pt idx="0">
                  <c:v>Rocklea school switchboard upgrade</c:v>
                </c:pt>
                <c:pt idx="1">
                  <c:v>Northgate townhouses switchboard upgrade</c:v>
                </c:pt>
                <c:pt idx="2">
                  <c:v>Ashgrove townhouses switchboard upgrade</c:v>
                </c:pt>
                <c:pt idx="3">
                  <c:v>Chermside school switchboard upgrade</c:v>
                </c:pt>
                <c:pt idx="4">
                  <c:v>Logan Central house LED lighting</c:v>
                </c:pt>
              </c:strCache>
            </c:strRef>
          </c:cat>
          <c:val>
            <c:numRef>
              <c:f>Sheet1!$B$2:$B$6</c:f>
              <c:numCache>
                <c:formatCode>0.0"%";[Red](0.0"%")</c:formatCode>
                <c:ptCount val="5"/>
                <c:pt idx="0">
                  <c:v>16.9</c:v>
                </c:pt>
                <c:pt idx="1">
                  <c:v>20.2</c:v>
                </c:pt>
                <c:pt idx="2">
                  <c:v>26.5</c:v>
                </c:pt>
                <c:pt idx="3">
                  <c:v>27.8</c:v>
                </c:pt>
                <c:pt idx="4">
                  <c:v>38.2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dPt>
            <c:idx val="4"/>
            <c:spPr>
              <a:solidFill>
                <a:srgbClr val="0E9F6E"/>
              </a:solidFill>
            </c:spPr>
          </c:dPt>
          <c:cat>
            <c:strRef>
              <c:f>Sheet1!$A$2:$A$6</c:f>
              <c:strCache>
                <c:ptCount val="5"/>
                <c:pt idx="0">
                  <c:v>Rocklea school switchboard upgrade</c:v>
                </c:pt>
                <c:pt idx="1">
                  <c:v>Northgate townhouses switchboard upgrade</c:v>
                </c:pt>
                <c:pt idx="2">
                  <c:v>Ashgrove townhouses switchboard upgrade</c:v>
                </c:pt>
                <c:pt idx="3">
                  <c:v>Chermside school switchboard upgrade</c:v>
                </c:pt>
                <c:pt idx="4">
                  <c:v>Logan Central house LED lighting</c:v>
                </c:pt>
              </c:strCache>
            </c:strRef>
          </c:cat>
          <c:val>
            <c:numRef>
              <c:f>Sheet1!$B$2:$B$6</c:f>
              <c:numCache>
                <c:formatCode>$#,##0;[Red]($#,##0);"-"</c:formatCode>
                <c:ptCount val="5"/>
                <c:pt idx="0">
                  <c:v>4524</c:v>
                </c:pt>
                <c:pt idx="1">
                  <c:v>3840</c:v>
                </c:pt>
                <c:pt idx="2">
                  <c:v>6058</c:v>
                </c:pt>
                <c:pt idx="3">
                  <c:v>6776</c:v>
                </c:pt>
                <c:pt idx="4">
                  <c:v>13912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(6)</c:v>
                </c:pt>
                <c:pt idx="1">
                  <c:v>1.5-hour call-outs (7)</c:v>
                </c:pt>
                <c:pt idx="2">
                  <c:v>2.5-hour call-outs (4)</c:v>
                </c:pt>
                <c:pt idx="3">
                  <c:v>3-hour call-outs (9)</c:v>
                </c:pt>
                <c:pt idx="4">
                  <c:v>2-hour call-outs (11)</c:v>
                </c:pt>
                <c:pt idx="5">
                  <c:v>4-hour call-outs (10)</c:v>
                </c:pt>
              </c:strCache>
            </c:strRef>
          </c:cat>
          <c:val>
            <c:numRef>
              <c:f>Sheet1!$B$2:$B$7</c:f>
              <c:numCache>
                <c:formatCode>0.0"%";[Red](0.0"%")</c:formatCode>
                <c:ptCount val="6"/>
                <c:pt idx="0">
                  <c:v>37.2</c:v>
                </c:pt>
                <c:pt idx="1">
                  <c:v>39.7</c:v>
                </c:pt>
                <c:pt idx="2">
                  <c:v>42.8</c:v>
                </c:pt>
                <c:pt idx="3">
                  <c:v>44.2</c:v>
                </c:pt>
                <c:pt idx="4">
                  <c:v>44.3</c:v>
                </c:pt>
                <c:pt idx="5">
                  <c:v>45.6</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(6)</c:v>
                </c:pt>
                <c:pt idx="1">
                  <c:v>1.5-hour call-outs (7)</c:v>
                </c:pt>
                <c:pt idx="2">
                  <c:v>2.5-hour call-outs (4)</c:v>
                </c:pt>
                <c:pt idx="3">
                  <c:v>3-hour call-outs (9)</c:v>
                </c:pt>
                <c:pt idx="4">
                  <c:v>2-hour call-outs (11)</c:v>
                </c:pt>
                <c:pt idx="5">
                  <c:v>4-hour call-outs (10)</c:v>
                </c:pt>
              </c:strCache>
            </c:strRef>
          </c:cat>
          <c:val>
            <c:numRef>
              <c:f>Sheet1!$B$2:$B$7</c:f>
              <c:numCache>
                <c:formatCode>$#,##0;[Red]($#,##0);"-"</c:formatCode>
                <c:ptCount val="6"/>
                <c:pt idx="0">
                  <c:v>687</c:v>
                </c:pt>
                <c:pt idx="1">
                  <c:v>1094</c:v>
                </c:pt>
                <c:pt idx="2">
                  <c:v>944</c:v>
                </c:pt>
                <c:pt idx="3">
                  <c:v>2457</c:v>
                </c:pt>
                <c:pt idx="4">
                  <c:v>2000</c:v>
                </c:pt>
                <c:pt idx="5">
                  <c:v>3524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Sheet1!$A$2:$A$19</c:f>
              <c:strCache>
                <c:ptCount val="18"/>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strCache>
            </c:strRef>
          </c:cat>
          <c:val>
            <c:numRef>
              <c:f>Sheet1!$B$2:$B$19</c:f>
              <c:numCache>
                <c:formatCode>0.0"%";[Red](0.0"%")</c:formatCode>
                <c:ptCount val="18"/>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Sheet1!$A$2:$A$19</c:f>
              <c:strCache>
                <c:ptCount val="18"/>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strCache>
            </c:strRef>
          </c:cat>
          <c:val>
            <c:numRef>
              <c:f>Sheet1!$B$2:$B$19</c:f>
              <c:numCache>
                <c:formatCode>$#,##0;[Red]($#,##0);"-"</c:formatCode>
                <c:ptCount val="18"/>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pt idx="14">
                  <c:v>50453</c:v>
                </c:pt>
                <c:pt idx="15">
                  <c:v>58190</c:v>
                </c:pt>
                <c:pt idx="16">
                  <c:v>75710</c:v>
                </c:pt>
                <c:pt idx="17">
                  <c:v>68158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March 2026. Every job's gross margin: revenue less materials, subcontractors and technician time at $68 an hour (fully loaded: wages and all on-costs).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February 2026: Locked. February 2026 is locked (closed 3 Mar 2026). These numbers won't change.</a:t>
            </a:r>
          </a:p>
          <a:p>
            <a:pPr>
              <a:defRPr>
                <a:latin typeface="Roboto"/>
              </a:defRPr>
            </a:pPr>
            <a:r>
              <a:rPr sz="1100" b="0">
                <a:solidFill>
                  <a:srgbClr val="5F6F63"/>
                </a:solidFill>
                <a:latin typeface="Roboto"/>
              </a:rPr>
              <a:t>March 2026: Locked. March 2026 is locked (closed 2 Apr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March's jobs made $68,158 gross margin (35.6%). Technician time not charged to jobs took ($1,092) and overheads $59,200, leaving $10,050 profit before tax (5.2% of revenue). To cover overheads, jobs need a 30.3%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March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$68,158</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$55,692</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B42318"/>
                          </a:solidFill>
                          <a:latin typeface="Roboto"/>
                        </a:rPr>
                        <a:t>($1,092)</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$69,250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$59,200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$10,050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$191,500</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35.6%</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5.2%</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30.3%</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All jobs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March · All jobs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35.6%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All jobs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30.3%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(March)</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March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March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 March maintenance contracts made a 59.6% job gross margin, installations made a 27.1% job gross margin, call-outs and repairs made a 43.5% job gross margin (technician time at $68 an hour, wages and all on-costs). Jobs need 30.3%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27.1% gross margin, 7.9 points under the 35.0% target: about $10,180 on $129,400 of revenue in March. It's below the 30.3% needed to cover overheads, too. Maintenance contracts: 59.6% gross margin, 24.6 points over the 35.0% target ($9,217 ahead on $37,500 in March).</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March · Maintenance contracts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Maintenance contracts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30.3%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(March)</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March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March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13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The thinnest, Kangaroo Point townhouses: 58.2% gross margin, 23.3 points over the 35.0% target ($558 ahead on $2,400 in March). All maintenance contracts: 59.6% gross margin, 24.6 points over the 35.0% target ($9,217 ahead on $37,500 in March).</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March · Installations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27.1%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Installations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31.2%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30.3%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(March)</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March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March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of the 5 installation jobs invoiced in March made less than the 35.0% job gross margin target. The Rocklea school switchboard upgrade made a 16.9% job gross margin: 107.0 h of technician time ($7,276) and $2,700 of subcontractors on a $26,700 job. Jobs need 30.3%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installations under the 35.0% target, worth about $11,352 between them on $93,000 of revenue. The biggest gap, Rocklea school switchboard upgrade: 16.9% gross margin, 18.1 points under the 35.0% target: about $4,821 on $26,700 of revenue in March. It's below the 30.3%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Call-outs and repairs</a:t>
            </a:r>
          </a:p>
        </p:txBody>
      </p:sp>
      <p:sp>
        <p:nvSpPr>
          <p:cNvPr id="5" name="Rectangle 4"/>
          <p:cNvSpPr/>
          <p:nvPr/>
        </p:nvSpPr>
        <p:spPr>
          <a:xfrm>
            <a:off x="457200"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March · Call-outs and repairs</a:t>
            </a:r>
          </a:p>
        </p:txBody>
      </p:sp>
      <p:sp>
        <p:nvSpPr>
          <p:cNvPr id="7" name="TextBox 6"/>
          <p:cNvSpPr txBox="1"/>
          <p:nvPr/>
        </p:nvSpPr>
        <p:spPr>
          <a:xfrm>
            <a:off x="640080"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43.5%</a:t>
            </a:r>
          </a:p>
        </p:txBody>
      </p:sp>
      <p:sp>
        <p:nvSpPr>
          <p:cNvPr id="8" name="TextBox 7"/>
          <p:cNvSpPr txBox="1"/>
          <p:nvPr/>
        </p:nvSpPr>
        <p:spPr>
          <a:xfrm>
            <a:off x="640080"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2767523"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2950403"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Call-outs and repairs</a:t>
            </a:r>
          </a:p>
        </p:txBody>
      </p:sp>
      <p:sp>
        <p:nvSpPr>
          <p:cNvPr id="11" name="TextBox 10"/>
          <p:cNvSpPr txBox="1"/>
          <p:nvPr/>
        </p:nvSpPr>
        <p:spPr>
          <a:xfrm>
            <a:off x="2950403"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43.8%</a:t>
            </a:r>
          </a:p>
        </p:txBody>
      </p:sp>
      <p:sp>
        <p:nvSpPr>
          <p:cNvPr id="12" name="TextBox 11"/>
          <p:cNvSpPr txBox="1"/>
          <p:nvPr/>
        </p:nvSpPr>
        <p:spPr>
          <a:xfrm>
            <a:off x="2950403"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5077846"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5260726"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5260726"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30.3%</a:t>
            </a:r>
          </a:p>
        </p:txBody>
      </p:sp>
      <p:sp>
        <p:nvSpPr>
          <p:cNvPr id="16" name="TextBox 15"/>
          <p:cNvSpPr txBox="1"/>
          <p:nvPr/>
        </p:nvSpPr>
        <p:spPr>
          <a:xfrm>
            <a:off x="5260726"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(March)</a:t>
            </a:r>
          </a:p>
        </p:txBody>
      </p:sp>
      <p:sp>
        <p:nvSpPr>
          <p:cNvPr id="17" name="Rectangle 16"/>
          <p:cNvSpPr/>
          <p:nvPr/>
        </p:nvSpPr>
        <p:spPr>
          <a:xfrm>
            <a:off x="7388169"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8" name="TextBox 17"/>
          <p:cNvSpPr txBox="1"/>
          <p:nvPr/>
        </p:nvSpPr>
        <p:spPr>
          <a:xfrm>
            <a:off x="7571049"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Technician time charged, March</a:t>
            </a:r>
          </a:p>
        </p:txBody>
      </p:sp>
      <p:sp>
        <p:nvSpPr>
          <p:cNvPr id="19" name="TextBox 18"/>
          <p:cNvSpPr txBox="1"/>
          <p:nvPr/>
        </p:nvSpPr>
        <p:spPr>
          <a:xfrm>
            <a:off x="7571049"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$16,748</a:t>
            </a:r>
          </a:p>
        </p:txBody>
      </p:sp>
      <p:sp>
        <p:nvSpPr>
          <p:cNvPr id="20" name="TextBox 19"/>
          <p:cNvSpPr txBox="1"/>
          <p:nvPr/>
        </p:nvSpPr>
        <p:spPr>
          <a:xfrm>
            <a:off x="7571049"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68.1% of call-out revenue</a:t>
            </a:r>
          </a:p>
        </p:txBody>
      </p:sp>
      <p:sp>
        <p:nvSpPr>
          <p:cNvPr id="21" name="Rectangle 20"/>
          <p:cNvSpPr/>
          <p:nvPr/>
        </p:nvSpPr>
        <p:spPr>
          <a:xfrm>
            <a:off x="9698492"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2" name="TextBox 21"/>
          <p:cNvSpPr txBox="1"/>
          <p:nvPr/>
        </p:nvSpPr>
        <p:spPr>
          <a:xfrm>
            <a:off x="9881372"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Materials charged, March</a:t>
            </a:r>
          </a:p>
        </p:txBody>
      </p:sp>
      <p:sp>
        <p:nvSpPr>
          <p:cNvPr id="23" name="TextBox 22"/>
          <p:cNvSpPr txBox="1"/>
          <p:nvPr/>
        </p:nvSpPr>
        <p:spPr>
          <a:xfrm>
            <a:off x="9881372"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$7,852</a:t>
            </a:r>
          </a:p>
        </p:txBody>
      </p:sp>
      <p:sp>
        <p:nvSpPr>
          <p:cNvPr id="24" name="TextBox 23"/>
          <p:cNvSpPr txBox="1"/>
          <p:nvPr/>
        </p:nvSpPr>
        <p:spPr>
          <a:xfrm>
            <a:off x="9881372"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$6,040 at cost, plus 30%</a:t>
            </a:r>
          </a:p>
        </p:txBody>
      </p:sp>
      <p:sp>
        <p:nvSpPr>
          <p:cNvPr id="25" name="TextBox 24"/>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26" name="TextBox 25"/>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27" name="TextBox 26"/>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March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March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30.3%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47 call-outs in March billed $16,748 of technician time and $7,852 of materials ($6,040 at cost plus 30%), and made a 43.5% job gross margin between them. Gross margins run from 37.2% to 45.6%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call-outs: 43.5% gross margin, 8.5 points over the 35.0% target ($2,096 ahead on $24,600 in March).</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