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27.1</c:v>
                </c:pt>
                <c:pt idx="1">
                  <c:v>43.5</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35110</c:v>
                </c:pt>
                <c:pt idx="1">
                  <c:v>10706</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0.0"%";[Red](0.0"%")</c:formatCode>
                <c:ptCount val="5"/>
                <c:pt idx="0">
                  <c:v>16.9</c:v>
                </c:pt>
                <c:pt idx="1">
                  <c:v>20.2</c:v>
                </c:pt>
                <c:pt idx="2">
                  <c:v>26.5</c:v>
                </c:pt>
                <c:pt idx="3">
                  <c:v>27.8</c:v>
                </c:pt>
                <c:pt idx="4">
                  <c:v>38.2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Rocklea school switchboard upgrade</c:v>
                </c:pt>
                <c:pt idx="1">
                  <c:v>Northgate townhouses switchboard upgrade</c:v>
                </c:pt>
                <c:pt idx="2">
                  <c:v>Ashgrove townhouses switchboard upgrade</c:v>
                </c:pt>
                <c:pt idx="3">
                  <c:v>Chermside school switchboard upgrade</c:v>
                </c:pt>
                <c:pt idx="4">
                  <c:v>Logan Central house LED lighting</c:v>
                </c:pt>
              </c:strCache>
            </c:strRef>
          </c:cat>
          <c:val>
            <c:numRef>
              <c:f>Sheet1!$B$2:$B$6</c:f>
              <c:numCache>
                <c:formatCode>$#,##0;[Red]($#,##0);"-"</c:formatCode>
                <c:ptCount val="5"/>
                <c:pt idx="0">
                  <c:v>4524</c:v>
                </c:pt>
                <c:pt idx="1">
                  <c:v>3840</c:v>
                </c:pt>
                <c:pt idx="2">
                  <c:v>6058</c:v>
                </c:pt>
                <c:pt idx="3">
                  <c:v>6776</c:v>
                </c:pt>
                <c:pt idx="4">
                  <c:v>13912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0.0"%";[Red](0.0"%")</c:formatCode>
                <c:ptCount val="6"/>
                <c:pt idx="0">
                  <c:v>37.2</c:v>
                </c:pt>
                <c:pt idx="1">
                  <c:v>39.7</c:v>
                </c:pt>
                <c:pt idx="2">
                  <c:v>42.8</c:v>
                </c:pt>
                <c:pt idx="3">
                  <c:v>44.2</c:v>
                </c:pt>
                <c:pt idx="4">
                  <c:v>44.3</c:v>
                </c:pt>
                <c:pt idx="5">
                  <c:v>45.6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(7)</c:v>
                </c:pt>
                <c:pt idx="2">
                  <c:v>2.5-hour call-outs (4)</c:v>
                </c:pt>
                <c:pt idx="3">
                  <c:v>3-hour call-outs (9)</c:v>
                </c:pt>
                <c:pt idx="4">
                  <c:v>2-hour call-outs (11)</c:v>
                </c:pt>
                <c:pt idx="5">
                  <c:v>4-hour call-outs (10)</c:v>
                </c:pt>
              </c:strCache>
            </c:strRef>
          </c:cat>
          <c:val>
            <c:numRef>
              <c:f>Sheet1!$B$2:$B$7</c:f>
              <c:numCache>
                <c:formatCode>$#,##0;[Red]($#,##0);"-"</c:formatCode>
                <c:ptCount val="6"/>
                <c:pt idx="0">
                  <c:v>687</c:v>
                </c:pt>
                <c:pt idx="1">
                  <c:v>1094</c:v>
                </c:pt>
                <c:pt idx="2">
                  <c:v>944</c:v>
                </c:pt>
                <c:pt idx="3">
                  <c:v>2457</c:v>
                </c:pt>
                <c:pt idx="4">
                  <c:v>2000</c:v>
                </c:pt>
                <c:pt idx="5">
                  <c:v>3524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March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February 2026: Locked. February 2026 is locked (closed 3 Mar 2026). These numbers won't change.</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March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$68,158</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$55,692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B42318"/>
                          </a:solidFill>
                        </a:rPr>
                        <a:t>($1,092)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$69,250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$59,200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$10,050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$191,500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35.6%</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5.2%</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35.6%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38.6%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March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March maintenance contracts made a 59.6% job gross margin, installations made a 27.1% job gross margin, call-outs and repairs made a 43.5% job gross margin (technician time at $68 an hour, wages and all on-costs). Jobs need 30.3%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59.6% gross margin, the most profitable work you do. Installations: 27.1% gross margin, below the 30.3%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59.6%</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59.6%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March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27.9 points clear of the 30.3%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27.1%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31.2%</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March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5 installation jobs invoiced in March made less than the 35.0% job gross margin target. The Rocklea school switchboard upgrade made a 16.9% job gross margin: 107.0 h of technician time ($7,276) and $2,700 of subcontractors on a $26,700 job. Jobs need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30.3% overheads need: Chermside school switchboard upgrade (27.8%), Ashgrove townhouses switchboard upgrade (26.5%), Northgate townhouses switchboard upgrade (20.2%), Rocklea school switchboard upgrade (16.9%). Most profitable: Logan Central house LED lighting (38.2%).</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March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February 43.8%</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March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47 call-outs in March made a 43.5% job gross margin between them. Gross margins run from 37.2% to 45.6%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43.5% gross margin, 13.2 points clear of the 30.3%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