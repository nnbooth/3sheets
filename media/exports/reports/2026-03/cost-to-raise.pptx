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cat>
            <c:strRef>
              <c:f>Sheet1!$A$2:$A$3</c:f>
              <c:strCache>
                <c:ptCount val="2"/>
                <c:pt idx="0">
                  <c:v>Grants</c:v>
                </c:pt>
                <c:pt idx="1">
                  <c:v>Donations</c:v>
                </c:pt>
              </c:strCache>
            </c:strRef>
          </c:cat>
          <c:val>
            <c:numRef>
              <c:f>Sheet1!$B$2:$B$3</c:f>
              <c:numCache>
                <c:formatCode>0"¢";[Red](0"¢")</c:formatCode>
                <c:ptCount val="2"/>
                <c:pt idx="0">
                  <c:v>13</c:v>
                </c:pt>
                <c:pt idx="1">
                  <c:v>13</c:v>
                </c:pt>
              </c:numCache>
            </c:numRef>
          </c:val>
        </c:ser>
        <c:dLbls>
          <c:numFmt formatCode="0&quot;¢&quot;;[Red](0&quot;¢&quot;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Sheet1!$A$2:$A$19</c:f>
              <c:strCache>
                <c:ptCount val="18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</c:strCache>
            </c:strRef>
          </c:cat>
          <c:val>
            <c:numRef>
              <c:f>Sheet1!$B$2:$B$19</c:f>
              <c:numCache>
                <c:formatCode>0"¢";[Red](0"¢")</c:formatCode>
                <c:ptCount val="18"/>
                <c:pt idx="0">
                  <c:v>21</c:v>
                </c:pt>
                <c:pt idx="1">
                  <c:v>19</c:v>
                </c:pt>
                <c:pt idx="2">
                  <c:v>22</c:v>
                </c:pt>
                <c:pt idx="3">
                  <c:v>12</c:v>
                </c:pt>
                <c:pt idx="4">
                  <c:v>11</c:v>
                </c:pt>
                <c:pt idx="5">
                  <c:v>12</c:v>
                </c:pt>
                <c:pt idx="6">
                  <c:v>11</c:v>
                </c:pt>
                <c:pt idx="7">
                  <c:v>11</c:v>
                </c:pt>
                <c:pt idx="8">
                  <c:v>13</c:v>
                </c:pt>
                <c:pt idx="9">
                  <c:v>13</c:v>
                </c:pt>
                <c:pt idx="10">
                  <c:v>12</c:v>
                </c:pt>
                <c:pt idx="11">
                  <c:v>21</c:v>
                </c:pt>
                <c:pt idx="12">
                  <c:v>11</c:v>
                </c:pt>
                <c:pt idx="13">
                  <c:v>11</c:v>
                </c:pt>
                <c:pt idx="14">
                  <c:v>14</c:v>
                </c:pt>
                <c:pt idx="15">
                  <c:v>13</c:v>
                </c:pt>
                <c:pt idx="16">
                  <c:v>13</c:v>
                </c:pt>
                <c:pt idx="17">
                  <c:v>13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&quot;¢&quot;;[Red](0&quot;¢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</c:valAx>
    </c:plotArea>
    <c:plotVisOnly val="1"/>
    <c:dispBlanksAs val="zero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 b="1">
                <a:solidFill>
                  <a:srgbClr val="FFFFFF"/>
                </a:solidFill>
              </a:rPr>
              <a:t>4th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5342A"/>
                </a:solidFill>
                <a:latin typeface="Arial"/>
              </a:rPr>
              <a:t>The 4th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7A52"/>
                </a:solidFill>
                <a:latin typeface="Arial"/>
              </a:rPr>
              <a:t>SAMPLE DATA · invented figures for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5342A"/>
                </a:solidFill>
                <a:latin typeface="Arial"/>
              </a:rPr>
              <a:t>What does it cost to raise a dollar?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F6F63"/>
                </a:solidFill>
                <a:latin typeface="Arial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5342A"/>
                </a:solidFill>
                <a:latin typeface="Arial"/>
              </a:rPr>
              <a:t>Period: March 2026. What fundraising costs (grant writing, donor campaigns, events) for every dollar it brings in. Pick a source and every number,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93776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F6F63"/>
                </a:solidFill>
                <a:latin typeface="Arial"/>
              </a:rPr>
              <a:t>How final is this data?</a:t>
            </a:r>
          </a:p>
          <a:p>
            <a:r>
              <a:rPr sz="1100" b="0">
                <a:solidFill>
                  <a:srgbClr val="5F6F63"/>
                </a:solidFill>
                <a:latin typeface="Arial"/>
              </a:rPr>
              <a:t>February 2026: Locked. February 2026 is locked (closed 3 Mar 2026). These numbers won't change.</a:t>
            </a:r>
          </a:p>
          <a:p>
            <a:r>
              <a:rPr sz="1100" b="0">
                <a:solidFill>
                  <a:srgbClr val="5F6F63"/>
                </a:solidFill>
                <a:latin typeface="Arial"/>
              </a:rPr>
              <a:t>March 2026: Locked. March 2026 is locked (closed 2 Apr 2026). These numbers won't change.</a:t>
            </a:r>
          </a:p>
          <a:p>
            <a:r>
              <a:rPr sz="1100" b="0">
                <a:solidFill>
                  <a:srgbClr val="5F6F63"/>
                </a:solidFill>
                <a:latin typeface="Arial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F6F63"/>
                </a:solidFill>
                <a:latin typeface="Arial"/>
              </a:rPr>
              <a:t>cost-to-raise.pptx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F6F63"/>
                </a:solidFill>
                <a:latin typeface="Arial"/>
              </a:rPr>
              <a:t>Data retrieved 2pm, Tue 6 Oct 2026 · Sample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F63"/>
                </a:solidFill>
                <a:latin typeface="Arial"/>
              </a:rP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F63"/>
                </a:solidFill>
                <a:latin typeface="Arial"/>
              </a:rPr>
              <a:t>Sample Community Services Ltd · What does it cost to raise a dollar?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5342A"/>
                </a:solidFill>
                <a:latin typeface="Arial"/>
              </a:rPr>
              <a:t>Headline numbers · Source: All fundraising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5501487" cy="201168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513572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F6F63"/>
                </a:solidFill>
                <a:latin typeface="Arial"/>
              </a:rPr>
              <a:t>March · all fundraising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5135727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F7A5D"/>
                </a:solidFill>
                <a:latin typeface="Arial"/>
              </a:rPr>
              <a:t>13¢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513572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F6F63"/>
                </a:solidFill>
                <a:latin typeface="Arial"/>
              </a:rPr>
              <a:t>February 13¢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3007" y="1645920"/>
            <a:ext cx="5501487" cy="201168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5887" y="1783080"/>
            <a:ext cx="513572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F6F63"/>
                </a:solidFill>
                <a:latin typeface="Arial"/>
              </a:rPr>
              <a:t>Year to date (Jul to Mar 2026)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5887" y="2240280"/>
            <a:ext cx="5135727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F7A5D"/>
                </a:solidFill>
                <a:latin typeface="Arial"/>
              </a:rPr>
              <a:t>14¢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5887" y="3017520"/>
            <a:ext cx="513572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F6F63"/>
                </a:solidFill>
                <a:latin typeface="Arial"/>
              </a:rPr>
              <a:t>same period last year: not in the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F6F63"/>
                </a:solidFill>
                <a:latin typeface="Arial"/>
              </a:rPr>
              <a:t>cost-to-raise.pptx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F6F63"/>
                </a:solidFill>
                <a:latin typeface="Arial"/>
              </a:rPr>
              <a:t>Data retrieved 2pm, Tue 6 Oct 2026 · Sample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F63"/>
                </a:solidFill>
                <a:latin typeface="Arial"/>
              </a:rP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F63"/>
                </a:solidFill>
                <a:latin typeface="Arial"/>
              </a:rPr>
              <a:t>Sample Community Services Ltd · What does it cost to raise a dollar?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5342A"/>
                </a:solidFill>
                <a:latin typeface="Arial"/>
              </a:rPr>
              <a:t>Cost to raise a dollar, by source, March 2026 (cents) · Source: All fundraising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188720"/>
          <a:ext cx="112471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F6F63"/>
                </a:solidFill>
                <a:latin typeface="Arial"/>
              </a:rPr>
              <a:t>cost-to-raise.pptx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F6F63"/>
                </a:solidFill>
                <a:latin typeface="Arial"/>
              </a:rPr>
              <a:t>Data retrieved 2pm, Tue 6 Oct 2026 · Sample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F63"/>
                </a:solidFill>
                <a:latin typeface="Arial"/>
              </a:rP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F63"/>
                </a:solidFill>
                <a:latin typeface="Arial"/>
              </a:rPr>
              <a:t>Sample Community Services Ltd · What does it cost to raise a dollar?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5342A"/>
                </a:solidFill>
                <a:latin typeface="Arial"/>
              </a:rPr>
              <a:t>What it shows · Source: All fundraising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501487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F6F63"/>
                </a:solidFill>
                <a:latin typeface="Arial"/>
              </a:rPr>
              <a:t>WHAT IT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5342A"/>
                </a:solidFill>
                <a:latin typeface="Arial"/>
              </a:rPr>
              <a:t>March cost 13¢ to raise each dollar, against 13¢ in February. This financial year to date it has cost 14¢ a dollar.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554480"/>
            <a:ext cx="5501487" cy="43891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1607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F6F63"/>
                </a:solidFill>
                <a:latin typeface="Arial"/>
              </a:rPr>
              <a:t>WHAT YOU'D DO ABOUT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5342A"/>
                </a:solidFill>
                <a:latin typeface="Arial"/>
              </a:rPr>
              <a:t>The year-to-date figure is steadier than single months: events make some months jump. Pick a source above to see which one moves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F6F63"/>
                </a:solidFill>
                <a:latin typeface="Arial"/>
              </a:rPr>
              <a:t>cost-to-raise.pptx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F6F63"/>
                </a:solidFill>
                <a:latin typeface="Arial"/>
              </a:rPr>
              <a:t>Data retrieved 2pm, Tue 6 Oct 2026 · Sample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F63"/>
                </a:solidFill>
                <a:latin typeface="Arial"/>
              </a:rP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F63"/>
                </a:solidFill>
                <a:latin typeface="Arial"/>
              </a:rPr>
              <a:t>Sample Community Services Ltd · What does it cost to raise a dollar?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5342A"/>
                </a:solidFill>
                <a:latin typeface="Arial"/>
              </a:rPr>
              <a:t>Headline numbers · Source: Grants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5501487" cy="201168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513572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F6F63"/>
                </a:solidFill>
                <a:latin typeface="Arial"/>
              </a:rPr>
              <a:t>March · Grants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5135727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F7A5D"/>
                </a:solidFill>
                <a:latin typeface="Arial"/>
              </a:rPr>
              <a:t>13¢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513572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F6F63"/>
                </a:solidFill>
                <a:latin typeface="Arial"/>
              </a:rPr>
              <a:t>February 13¢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3007" y="1645920"/>
            <a:ext cx="5501487" cy="201168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5887" y="1783080"/>
            <a:ext cx="513572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F6F63"/>
                </a:solidFill>
                <a:latin typeface="Arial"/>
              </a:rPr>
              <a:t>Year to date (Jul to Mar 2026)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5887" y="2240280"/>
            <a:ext cx="5135727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F7A5D"/>
                </a:solidFill>
                <a:latin typeface="Arial"/>
              </a:rPr>
              <a:t>11¢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5887" y="3017520"/>
            <a:ext cx="513572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F6F63"/>
                </a:solidFill>
                <a:latin typeface="Arial"/>
              </a:rPr>
              <a:t>same period last year: not in the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F6F63"/>
                </a:solidFill>
                <a:latin typeface="Arial"/>
              </a:rPr>
              <a:t>cost-to-raise.pptx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F6F63"/>
                </a:solidFill>
                <a:latin typeface="Arial"/>
              </a:rPr>
              <a:t>Data retrieved 2pm, Tue 6 Oct 2026 · Sample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F63"/>
                </a:solidFill>
                <a:latin typeface="Arial"/>
              </a:rP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F63"/>
                </a:solidFill>
                <a:latin typeface="Arial"/>
              </a:rPr>
              <a:t>Sample Community Services Ltd · What does it cost to raise a dollar?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5342A"/>
                </a:solidFill>
                <a:latin typeface="Arial"/>
              </a:rPr>
              <a:t>What it shows · Source: Grants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501487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F6F63"/>
                </a:solidFill>
                <a:latin typeface="Arial"/>
              </a:rPr>
              <a:t>WHAT IT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5342A"/>
                </a:solidFill>
                <a:latin typeface="Arial"/>
              </a:rPr>
              <a:t>Grants cost 11¢ to raise each dollar this financial year to date ($63,900 of grant writing and reporting for $560,236).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554480"/>
            <a:ext cx="5501487" cy="43891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1607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F6F63"/>
                </a:solidFill>
                <a:latin typeface="Arial"/>
              </a:rPr>
              <a:t>WHAT YOU'D DO ABOUT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5342A"/>
                </a:solidFill>
                <a:latin typeface="Arial"/>
              </a:rPr>
              <a:t>Usually the cheapest money to raise, as long as the time that goes into applications and acquittals is protected.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F6F63"/>
                </a:solidFill>
                <a:latin typeface="Arial"/>
              </a:rPr>
              <a:t>cost-to-raise.pptx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F6F63"/>
                </a:solidFill>
                <a:latin typeface="Arial"/>
              </a:rPr>
              <a:t>Data retrieved 2pm, Tue 6 Oct 2026 · Sample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F63"/>
                </a:solidFill>
                <a:latin typeface="Arial"/>
              </a:rP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F63"/>
                </a:solidFill>
                <a:latin typeface="Arial"/>
              </a:rPr>
              <a:t>Sample Community Services Ltd · What does it cost to raise a dollar?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5342A"/>
                </a:solidFill>
                <a:latin typeface="Arial"/>
              </a:rPr>
              <a:t>Headline numbers · Source: Donations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5501487" cy="201168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513572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F6F63"/>
                </a:solidFill>
                <a:latin typeface="Arial"/>
              </a:rPr>
              <a:t>March · Donations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5135727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F7A5D"/>
                </a:solidFill>
                <a:latin typeface="Arial"/>
              </a:rPr>
              <a:t>13¢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513572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F6F63"/>
                </a:solidFill>
                <a:latin typeface="Arial"/>
              </a:rPr>
              <a:t>February 13¢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3007" y="1645920"/>
            <a:ext cx="5501487" cy="201168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5887" y="1783080"/>
            <a:ext cx="513572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F6F63"/>
                </a:solidFill>
                <a:latin typeface="Arial"/>
              </a:rPr>
              <a:t>Year to date (Jul to Mar 2026)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5887" y="2240280"/>
            <a:ext cx="5135727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F7A5D"/>
                </a:solidFill>
                <a:latin typeface="Arial"/>
              </a:rPr>
              <a:t>15¢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5887" y="3017520"/>
            <a:ext cx="513572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F6F63"/>
                </a:solidFill>
                <a:latin typeface="Arial"/>
              </a:rPr>
              <a:t>same period last year: not in the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F6F63"/>
                </a:solidFill>
                <a:latin typeface="Arial"/>
              </a:rPr>
              <a:t>cost-to-raise.pptx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F6F63"/>
                </a:solidFill>
                <a:latin typeface="Arial"/>
              </a:rPr>
              <a:t>Data retrieved 2pm, Tue 6 Oct 2026 · Sample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F63"/>
                </a:solidFill>
                <a:latin typeface="Arial"/>
              </a:rP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F63"/>
                </a:solidFill>
                <a:latin typeface="Arial"/>
              </a:rPr>
              <a:t>Sample Community Services Ltd · What does it cost to raise a dollar?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5342A"/>
                </a:solidFill>
                <a:latin typeface="Arial"/>
              </a:rPr>
              <a:t>What it shows · Source: Donations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501487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F6F63"/>
                </a:solidFill>
                <a:latin typeface="Arial"/>
              </a:rPr>
              <a:t>WHAT IT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5342A"/>
                </a:solidFill>
                <a:latin typeface="Arial"/>
              </a:rPr>
              <a:t>Donations cost 15¢ to raise each dollar this financial year to date ($22,900 of donor campaigns for $152,600).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554480"/>
            <a:ext cx="5501487" cy="43891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1607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F6F63"/>
                </a:solidFill>
                <a:latin typeface="Arial"/>
              </a:rPr>
              <a:t>WHAT YOU'D DO ABOUT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5342A"/>
                </a:solidFill>
                <a:latin typeface="Arial"/>
              </a:rPr>
              <a:t>Steady and cheap, and untied: the money that builds reserves.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F6F63"/>
                </a:solidFill>
                <a:latin typeface="Arial"/>
              </a:rPr>
              <a:t>cost-to-raise.pptx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F6F63"/>
                </a:solidFill>
                <a:latin typeface="Arial"/>
              </a:rPr>
              <a:t>Data retrieved 2pm, Tue 6 Oct 2026 · Sample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F63"/>
                </a:solidFill>
                <a:latin typeface="Arial"/>
              </a:rP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F63"/>
                </a:solidFill>
                <a:latin typeface="Arial"/>
              </a:rPr>
              <a:t>Sample Community Services Ltd · What does it cost to raise a dollar?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5342A"/>
                </a:solidFill>
                <a:latin typeface="Arial"/>
              </a:rPr>
              <a:t>Headline numbers · Source: Fundraising events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5501487" cy="201168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513572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F6F63"/>
                </a:solidFill>
                <a:latin typeface="Arial"/>
              </a:rPr>
              <a:t>March · Fundraising events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5135727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F7A5D"/>
                </a:solidFill>
                <a:latin typeface="Arial"/>
              </a:rPr>
              <a:t>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513572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F6F63"/>
                </a:solidFill>
                <a:latin typeface="Arial"/>
              </a:rPr>
              <a:t>February none raised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3007" y="1645920"/>
            <a:ext cx="5501487" cy="201168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5887" y="1783080"/>
            <a:ext cx="513572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F6F63"/>
                </a:solidFill>
                <a:latin typeface="Arial"/>
              </a:rPr>
              <a:t>Year to date (Jul to Mar 2026)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5887" y="2240280"/>
            <a:ext cx="5135727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F7A5D"/>
                </a:solidFill>
                <a:latin typeface="Arial"/>
              </a:rPr>
              <a:t>41¢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5887" y="3017520"/>
            <a:ext cx="513572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F6F63"/>
                </a:solidFill>
                <a:latin typeface="Arial"/>
              </a:rPr>
              <a:t>same period last year: not in the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F6F63"/>
                </a:solidFill>
                <a:latin typeface="Arial"/>
              </a:rPr>
              <a:t>cost-to-raise.pptx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F6F63"/>
                </a:solidFill>
                <a:latin typeface="Arial"/>
              </a:rPr>
              <a:t>Data retrieved 2pm, Tue 6 Oct 2026 · Sample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F63"/>
                </a:solidFill>
                <a:latin typeface="Arial"/>
              </a:rP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F63"/>
                </a:solidFill>
                <a:latin typeface="Arial"/>
              </a:rPr>
              <a:t>Sample Community Services Ltd · What does it cost to raise a dollar?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5342A"/>
                </a:solidFill>
                <a:latin typeface="Arial"/>
              </a:rPr>
              <a:t>What it shows · Source: Fundraising events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501487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F6F63"/>
                </a:solidFill>
                <a:latin typeface="Arial"/>
              </a:rPr>
              <a:t>WHAT IT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5342A"/>
                </a:solidFill>
                <a:latin typeface="Arial"/>
              </a:rPr>
              <a:t>Fundraising events cost 41¢ to raise each dollar this financial year to date ($17,800 of event costs for $43,000).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554480"/>
            <a:ext cx="5501487" cy="43891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1607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F6F63"/>
                </a:solidFill>
                <a:latin typeface="Arial"/>
              </a:rPr>
              <a:t>WHAT YOU'D DO ABOUT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5342A"/>
                </a:solidFill>
                <a:latin typeface="Arial"/>
              </a:rPr>
              <a:t>Usually the dearest money to raise: events are worth counting for what else they bring too (new donors, profile).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F6F63"/>
                </a:solidFill>
                <a:latin typeface="Arial"/>
              </a:rPr>
              <a:t>cost-to-raise.pptx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F6F63"/>
                </a:solidFill>
                <a:latin typeface="Arial"/>
              </a:rPr>
              <a:t>Data retrieved 2pm, Tue 6 Oct 2026 · Sample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F63"/>
                </a:solidFill>
                <a:latin typeface="Arial"/>
              </a:rP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F63"/>
                </a:solidFill>
                <a:latin typeface="Arial"/>
              </a:rPr>
              <a:t>Sample Community Services Ltd · What does it cost to raise a dollar?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5342A"/>
                </a:solidFill>
                <a:latin typeface="Arial"/>
              </a:rPr>
              <a:t>Cost to raise a dollar, by month (cents) · Cents per $1 · Every source at once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F6F63"/>
                </a:solidFill>
                <a:latin typeface="Arial"/>
              </a:rPr>
              <a:t>Months with an event (the gala, the Christmas appeal) jump. A gap means nothing was raised that month.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463040"/>
          <a:ext cx="112471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F6F63"/>
                </a:solidFill>
                <a:latin typeface="Arial"/>
              </a:rPr>
              <a:t>cost-to-raise.pptx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F6F63"/>
                </a:solidFill>
                <a:latin typeface="Arial"/>
              </a:rPr>
              <a:t>Data retrieved 2pm, Tue 6 Oct 2026 · Sample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F63"/>
                </a:solidFill>
                <a:latin typeface="Arial"/>
              </a:rP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