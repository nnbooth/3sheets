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Sheet1!$A$2:$A$19</c:f>
              <c:strCache>
                <c:ptCount val="18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</c:strCache>
            </c:strRef>
          </c:cat>
          <c:val>
            <c:numRef>
              <c:f>Sheet1!$B$2:$B$19</c:f>
              <c:numCache>
                <c:formatCode>$#,##0;[Red]($#,##0);"-"</c:formatCode>
                <c:ptCount val="18"/>
                <c:pt idx="0">
                  <c:v>253</c:v>
                </c:pt>
                <c:pt idx="1">
                  <c:v>255</c:v>
                </c:pt>
                <c:pt idx="2">
                  <c:v>211</c:v>
                </c:pt>
                <c:pt idx="3">
                  <c:v>200</c:v>
                </c:pt>
                <c:pt idx="4">
                  <c:v>246</c:v>
                </c:pt>
                <c:pt idx="5">
                  <c:v>247</c:v>
                </c:pt>
                <c:pt idx="6">
                  <c:v>280</c:v>
                </c:pt>
                <c:pt idx="7">
                  <c:v>271</c:v>
                </c:pt>
                <c:pt idx="8">
                  <c:v>263</c:v>
                </c:pt>
                <c:pt idx="9">
                  <c:v>300</c:v>
                </c:pt>
                <c:pt idx="10">
                  <c:v>233</c:v>
                </c:pt>
                <c:pt idx="11">
                  <c:v>269</c:v>
                </c:pt>
                <c:pt idx="12">
                  <c:v>261</c:v>
                </c:pt>
                <c:pt idx="13">
                  <c:v>227</c:v>
                </c:pt>
                <c:pt idx="14">
                  <c:v>173</c:v>
                </c:pt>
                <c:pt idx="15">
                  <c:v>182</c:v>
                </c:pt>
                <c:pt idx="16">
                  <c:v>221</c:v>
                </c:pt>
                <c:pt idx="17">
                  <c:v>227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Sheet1!$A$2:$A$19</c:f>
              <c:strCache>
                <c:ptCount val="18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</c:strCache>
            </c:strRef>
          </c:cat>
          <c:val>
            <c:numRef>
              <c:f>Sheet1!$B$2:$B$19</c:f>
              <c:numCache>
                <c:formatCode>#,##0;[Red](#,##0)</c:formatCode>
                <c:ptCount val="18"/>
                <c:pt idx="0">
                  <c:v>34</c:v>
                </c:pt>
                <c:pt idx="1">
                  <c:v>33</c:v>
                </c:pt>
                <c:pt idx="2">
                  <c:v>37</c:v>
                </c:pt>
                <c:pt idx="3">
                  <c:v>40</c:v>
                </c:pt>
                <c:pt idx="4">
                  <c:v>35</c:v>
                </c:pt>
                <c:pt idx="5">
                  <c:v>34</c:v>
                </c:pt>
                <c:pt idx="6">
                  <c:v>30</c:v>
                </c:pt>
                <c:pt idx="7">
                  <c:v>31</c:v>
                </c:pt>
                <c:pt idx="8">
                  <c:v>32</c:v>
                </c:pt>
                <c:pt idx="9">
                  <c:v>28</c:v>
                </c:pt>
                <c:pt idx="10">
                  <c:v>36</c:v>
                </c:pt>
                <c:pt idx="11">
                  <c:v>32</c:v>
                </c:pt>
                <c:pt idx="12">
                  <c:v>33</c:v>
                </c:pt>
                <c:pt idx="13">
                  <c:v>37</c:v>
                </c:pt>
                <c:pt idx="14">
                  <c:v>45</c:v>
                </c:pt>
                <c:pt idx="15">
                  <c:v>44</c:v>
                </c:pt>
                <c:pt idx="16">
                  <c:v>39</c:v>
                </c:pt>
                <c:pt idx="17">
                  <c:v>37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#,##0;[Red](#,##0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>
                <a:solidFill>
                  <a:srgbClr val="FFFFFF"/>
                </a:solidFill>
              </a:rPr>
              <a:t>4th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5342A"/>
                </a:solidFill>
                <a:latin typeface="Arial"/>
              </a:rPr>
              <a:t>The 4th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7A52"/>
                </a:solidFill>
                <a:latin typeface="Arial"/>
              </a:rPr>
              <a:t>SAMPLE DATA · invented figures for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5342A"/>
                </a:solidFill>
                <a:latin typeface="Arial"/>
              </a:rPr>
              <a:t>What does it cost to win a customer?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F6F63"/>
                </a:solidFill>
                <a:latin typeface="Arial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5342A"/>
                </a:solidFill>
                <a:latin typeface="Arial"/>
              </a:rPr>
              <a:t>Period: March 2026. Marketing spend divided by the customers it actually brought in (a customer's first ever job), month by month.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377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F6F63"/>
                </a:solidFill>
                <a:latin typeface="Arial"/>
              </a:rPr>
              <a:t>How final is this data?</a:t>
            </a:r>
          </a:p>
          <a:p>
            <a:r>
              <a:rPr sz="1100" b="0">
                <a:solidFill>
                  <a:srgbClr val="5F6F63"/>
                </a:solidFill>
                <a:latin typeface="Arial"/>
              </a:rPr>
              <a:t>February 2026: Locked. February 2026 is locked (closed 3 Mar 2026). These numbers won't change.</a:t>
            </a:r>
          </a:p>
          <a:p>
            <a:r>
              <a:rPr sz="1100" b="0">
                <a:solidFill>
                  <a:srgbClr val="5F6F63"/>
                </a:solidFill>
                <a:latin typeface="Arial"/>
              </a:rPr>
              <a:t>March 2026: Locked. March 2026 is locked (closed 2 Apr 2026). These numbers won't change.</a:t>
            </a:r>
          </a:p>
          <a:p>
            <a:r>
              <a:rPr sz="1100" b="0">
                <a:solidFill>
                  <a:srgbClr val="5F6F63"/>
                </a:solidFill>
                <a:latin typeface="Arial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cost-to-win.pptx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1 of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Electrical &amp; Air Pty Ltd · What does it cost to win a customer?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Headline numbers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3576218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321045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F6F63"/>
                </a:solidFill>
                <a:latin typeface="Arial"/>
              </a:rPr>
              <a:t>March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321045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F7A5D"/>
                </a:solidFill>
                <a:latin typeface="Arial"/>
              </a:rPr>
              <a:t>$227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321045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F6F63"/>
                </a:solidFill>
                <a:latin typeface="Arial"/>
              </a:rPr>
              <a:t>February $221</a:t>
            </a:r>
          </a:p>
        </p:txBody>
      </p:sp>
      <p:sp>
        <p:nvSpPr>
          <p:cNvPr id="9" name="Rectangle 8"/>
          <p:cNvSpPr/>
          <p:nvPr/>
        </p:nvSpPr>
        <p:spPr>
          <a:xfrm>
            <a:off x="4307738" y="1645920"/>
            <a:ext cx="3576218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0618" y="1783080"/>
            <a:ext cx="321045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F6F63"/>
                </a:solidFill>
                <a:latin typeface="Arial"/>
              </a:rPr>
              <a:t>March last year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2240280"/>
            <a:ext cx="321045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F7A5D"/>
                </a:solidFill>
                <a:latin typeface="Arial"/>
              </a:rPr>
              <a:t>$247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3017520"/>
            <a:ext cx="321045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F6F63"/>
                </a:solidFill>
                <a:latin typeface="Arial"/>
              </a:rPr>
              <a:t>34 new customers from $8,400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58276" y="1645920"/>
            <a:ext cx="3576218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1156" y="1783080"/>
            <a:ext cx="321045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F6F63"/>
                </a:solidFill>
                <a:latin typeface="Arial"/>
              </a:rPr>
              <a:t>Year to date (Jul to Mar 2026)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1156" y="2240280"/>
            <a:ext cx="321045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F7A5D"/>
                </a:solidFill>
                <a:latin typeface="Arial"/>
              </a:rPr>
              <a:t>$227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1156" y="3017520"/>
            <a:ext cx="321045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F6F63"/>
                </a:solidFill>
                <a:latin typeface="Arial"/>
              </a:rPr>
              <a:t>same period last year: not in the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cost-to-win.pptx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2 of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Electrical &amp; Air Pty Ltd · What does it cost to win a customer?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Cost to win a customer, by month · $ per new customer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F6F63"/>
                </a:solidFill>
                <a:latin typeface="Arial"/>
              </a:rPr>
              <a:t>Customers are counted in the month of their first job.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3040"/>
          <a:ext cx="112471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cost-to-win.pptx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3 of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Electrical &amp; Air Pty Ltd · What does it cost to win a customer?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Cost to win a customer, by month · New customers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F6F63"/>
                </a:solidFill>
                <a:latin typeface="Arial"/>
              </a:rPr>
              <a:t>Customers are counted in the month of their first job.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3040"/>
          <a:ext cx="112471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cost-to-win.pptx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4 of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Electrical &amp; Air Pty Ltd · What does it cost to win a customer?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What it shows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37 new customers came from $8,400 of marketing in March, against 39 from $8,600 in February: $227 each, up from $221.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Worth knowing which channels brought this month's customers in: recording the source of each new customer shows the cost per channel.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cost-to-win.pptx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5 of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