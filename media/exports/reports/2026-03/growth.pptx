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Sheet1!$A$2:$A$19</c:f>
              <c:strCache>
                <c:ptCount val="18"/>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strCache>
            </c:strRef>
          </c:cat>
          <c:val>
            <c:numRef>
              <c:f>Sheet1!$B$2:$B$19</c:f>
              <c:numCache>
                <c:formatCode>$#,##0;[Red]($#,##0);"-"</c:formatCode>
                <c:ptCount val="18"/>
                <c:pt idx="0">
                  <c:v>171009</c:v>
                </c:pt>
                <c:pt idx="1">
                  <c:v>179474</c:v>
                </c:pt>
                <c:pt idx="2">
                  <c:v>143156</c:v>
                </c:pt>
                <c:pt idx="3">
                  <c:v>140909</c:v>
                </c:pt>
                <c:pt idx="4">
                  <c:v>160943</c:v>
                </c:pt>
                <c:pt idx="5">
                  <c:v>135082</c:v>
                </c:pt>
                <c:pt idx="6">
                  <c:v>124705</c:v>
                </c:pt>
                <c:pt idx="7">
                  <c:v>129816</c:v>
                </c:pt>
                <c:pt idx="8">
                  <c:v>164113</c:v>
                </c:pt>
                <c:pt idx="9">
                  <c:v>186760</c:v>
                </c:pt>
                <c:pt idx="10">
                  <c:v>139164</c:v>
                </c:pt>
                <c:pt idx="11">
                  <c:v>128255</c:v>
                </c:pt>
                <c:pt idx="12">
                  <c:v>128898</c:v>
                </c:pt>
                <c:pt idx="13">
                  <c:v>174786</c:v>
                </c:pt>
                <c:pt idx="14">
                  <c:v>135079</c:v>
                </c:pt>
                <c:pt idx="15">
                  <c:v>164780</c:v>
                </c:pt>
                <c:pt idx="16">
                  <c:v>196372</c:v>
                </c:pt>
                <c:pt idx="17">
                  <c:v>191500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Sheet1!$A$2:$A$19</c:f>
              <c:strCache>
                <c:ptCount val="18"/>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strCache>
            </c:strRef>
          </c:cat>
          <c:val>
            <c:numRef>
              <c:f>Sheet1!$B$2:$B$19</c:f>
              <c:numCache>
                <c:formatCode>0.0"%";[Red](0.0"%")</c:formatCode>
                <c:ptCount val="18"/>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Sheet1!$A$2:$A$19</c:f>
              <c:strCache>
                <c:ptCount val="18"/>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strCache>
            </c:strRef>
          </c:cat>
          <c:val>
            <c:numRef>
              <c:f>Sheet1!$B$2:$B$19</c:f>
              <c:numCache>
                <c:formatCode>$#,##0;[Red]($#,##0);"-"</c:formatCode>
                <c:ptCount val="18"/>
                <c:pt idx="0">
                  <c:v>94520</c:v>
                </c:pt>
                <c:pt idx="1">
                  <c:v>108140</c:v>
                </c:pt>
                <c:pt idx="2">
                  <c:v>114895</c:v>
                </c:pt>
                <c:pt idx="3">
                  <c:v>88250</c:v>
                </c:pt>
                <c:pt idx="4">
                  <c:v>111010</c:v>
                </c:pt>
                <c:pt idx="5">
                  <c:v>77175</c:v>
                </c:pt>
                <c:pt idx="6">
                  <c:v>63970</c:v>
                </c:pt>
                <c:pt idx="7">
                  <c:v>95555</c:v>
                </c:pt>
                <c:pt idx="8">
                  <c:v>90220</c:v>
                </c:pt>
                <c:pt idx="9">
                  <c:v>86320</c:v>
                </c:pt>
                <c:pt idx="10">
                  <c:v>61475</c:v>
                </c:pt>
                <c:pt idx="11">
                  <c:v>59535</c:v>
                </c:pt>
                <c:pt idx="12">
                  <c:v>71260</c:v>
                </c:pt>
                <c:pt idx="13">
                  <c:v>83940</c:v>
                </c:pt>
                <c:pt idx="14">
                  <c:v>69420</c:v>
                </c:pt>
                <c:pt idx="15">
                  <c:v>92370</c:v>
                </c:pt>
                <c:pt idx="16">
                  <c:v>100055</c:v>
                </c:pt>
                <c:pt idx="17">
                  <c:v>109865</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Sheet1!$A$2:$A$19</c:f>
              <c:strCache>
                <c:ptCount val="18"/>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strCache>
            </c:strRef>
          </c:cat>
          <c:val>
            <c:numRef>
              <c:f>Sheet1!$B$2:$B$19</c:f>
              <c:numCache>
                <c:formatCode>0.0"%";[Red](0.0"%")</c:formatCode>
                <c:ptCount val="18"/>
                <c:pt idx="0">
                  <c:v>62.6</c:v>
                </c:pt>
                <c:pt idx="1">
                  <c:v>63.0</c:v>
                </c:pt>
                <c:pt idx="2">
                  <c:v>62.6</c:v>
                </c:pt>
                <c:pt idx="3">
                  <c:v>62.3</c:v>
                </c:pt>
                <c:pt idx="4">
                  <c:v>61.4</c:v>
                </c:pt>
                <c:pt idx="5">
                  <c:v>58.6</c:v>
                </c:pt>
                <c:pt idx="6">
                  <c:v>60.1</c:v>
                </c:pt>
                <c:pt idx="7">
                  <c:v>62.2</c:v>
                </c:pt>
                <c:pt idx="8">
                  <c:v>60.8</c:v>
                </c:pt>
                <c:pt idx="9">
                  <c:v>62.0</c:v>
                </c:pt>
                <c:pt idx="10">
                  <c:v>65.3</c:v>
                </c:pt>
                <c:pt idx="11">
                  <c:v>65.9</c:v>
                </c:pt>
                <c:pt idx="12">
                  <c:v>64.2</c:v>
                </c:pt>
                <c:pt idx="13">
                  <c:v>62.9</c:v>
                </c:pt>
                <c:pt idx="14">
                  <c:v>64.7</c:v>
                </c:pt>
                <c:pt idx="15">
                  <c:v>64.8</c:v>
                </c:pt>
                <c:pt idx="16">
                  <c:v>63.4</c:v>
                </c:pt>
                <c:pt idx="17">
                  <c:v>62.9</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products and services are growing?</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SME sample businesses</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March 2026. Revenue, gross margin and growth (year on year) by product or service line over 24 months. Pick a line and every number, chart and note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February 2026: Locked. February 2026 is locked (closed 3 Mar 2026). These numbers won't change.</a:t>
            </a:r>
          </a:p>
          <a:p>
            <a:pPr>
              <a:defRPr>
                <a:latin typeface="Roboto"/>
              </a:defRPr>
            </a:pPr>
            <a:r>
              <a:rPr sz="1100" b="0">
                <a:solidFill>
                  <a:srgbClr val="5F6F63"/>
                </a:solidFill>
                <a:latin typeface="Roboto"/>
              </a:rPr>
              <a:t>March 2026: Locked. March 2026 is locked (closed 2 Apr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Trades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March's jobs made $68,158 gross margin (35.6%). Technician time not charged to jobs took ($1,092) and overheads $59,200, leaving $10,050 profit before tax (5.2% of revenue). To cover overheads, jobs need a 30.3%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March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$68,158</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$55,692</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B42318"/>
                          </a:solidFill>
                          <a:latin typeface="Roboto"/>
                        </a:rPr>
                        <a:t>($1,092)</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$69,250</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$59,200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$10,050</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$191,500</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35.6%</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5.2%</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30.3%</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March against March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41.8%</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$191,500 against $135,082</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Mar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$1,445,594</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37.1%</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$536,342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$1,445,594 this financial year to date (Jul to Mar 2026). Maintenance contracts make the highest gross margin (59.5%); Installations the lowest (27.7%). The business needs 30.3%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27.7% gross margin, 7.3 points under the 35.0% target: about $66,607 on $907,100 of revenue this financial year to date. It's below the 30.3% needed to cover overheads, too. Maintenance contracts: 59.5% gross margin, 24.5 points over the 35.0% target ($77,852 ahead on $317,800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March against March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34.3%</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$37,500 against $27,930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Mar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$317,800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$189,082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brought in $317,800 this financial year to date, at a 59.5% gross margin (above the 37.1%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24.5 points over the 35.0% target ($77,852 ahead on $317,800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March against March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50.3%</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$129,400 against $86,100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Mar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$907,100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27.7%</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$250,878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brought in $907,100 this financial year to date, at a 27.7% gross margin (below the 37.1%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27.7% gross margin, 7.3 points under the 35.0% target: about $66,607 on $907,100 of revenue this financial year to date. It's below the 30.3% needed to cover overheads, too.</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March against March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16.9%</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$24,600 against $21,052</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Mar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$220,694</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43.7%</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$96,382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brought in $220,694 this financial year to date, at a 43.7% gross margin (above the 37.1%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43.7% gross margin, 8.7 points over the 35.0% target ($19,139 ahead on $220,694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Revenue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Gross margin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line: financial year to date (Jul to Mar 2026) against the same period last year · Trades · Every line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Maintenance contracts</a:t>
                      </a:r>
                    </a:p>
                  </a:txBody>
                  <a:tcPr>
                    <a:solidFill>
                      <a:srgbClr val="FFFFFF"/>
                    </a:solidFill>
                  </a:tcPr>
                </a:tc>
                <a:tc>
                  <a:txBody>
                    <a:bodyPr/>
                    <a:lstStyle/>
                    <a:p>
                      <a:pPr algn="r">
                        <a:defRPr>
                          <a:latin typeface="Roboto"/>
                        </a:defRPr>
                      </a:pPr>
                      <a:r>
                        <a:rPr sz="1050">
                          <a:solidFill>
                            <a:srgbClr val="25342A"/>
                          </a:solidFill>
                          <a:latin typeface="Roboto"/>
                        </a:rPr>
                        <a:t>$317,800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$189,082</a:t>
                      </a:r>
                    </a:p>
                  </a:txBody>
                  <a:tcPr>
                    <a:solidFill>
                      <a:srgbClr val="FFFFFF"/>
                    </a:solidFill>
                  </a:tcPr>
                </a:tc>
                <a:tc>
                  <a:txBody>
                    <a:bodyPr/>
                    <a:lstStyle/>
                    <a:p>
                      <a:pPr algn="r">
                        <a:defRPr>
                          <a:latin typeface="Roboto"/>
                        </a:defRPr>
                      </a:pPr>
                      <a:r>
                        <a:rPr sz="1050">
                          <a:solidFill>
                            <a:srgbClr val="25342A"/>
                          </a:solidFill>
                          <a:latin typeface="Roboto"/>
                        </a:rPr>
                        <a:t>59.5%</a:t>
                      </a:r>
                    </a:p>
                  </a:txBody>
                  <a:tcPr>
                    <a:solidFill>
                      <a:srgbClr val="FFFFFF"/>
                    </a:solidFill>
                  </a:tcPr>
                </a:tc>
              </a:tr>
              <a:tr h="329184">
                <a:tc>
                  <a:txBody>
                    <a:bodyPr/>
                    <a:lstStyle/>
                    <a:p>
                      <a:pPr>
                        <a:defRPr>
                          <a:latin typeface="Roboto"/>
                        </a:defRPr>
                      </a:pPr>
                      <a:r>
                        <a:rPr sz="1050">
                          <a:solidFill>
                            <a:srgbClr val="25342A"/>
                          </a:solidFill>
                          <a:latin typeface="Roboto"/>
                        </a:rPr>
                        <a:t>Installations</a:t>
                      </a:r>
                    </a:p>
                  </a:txBody>
                  <a:tcPr>
                    <a:solidFill>
                      <a:srgbClr val="F7FAF7"/>
                    </a:solidFill>
                  </a:tcPr>
                </a:tc>
                <a:tc>
                  <a:txBody>
                    <a:bodyPr/>
                    <a:lstStyle/>
                    <a:p>
                      <a:pPr algn="r">
                        <a:defRPr>
                          <a:latin typeface="Roboto"/>
                        </a:defRPr>
                      </a:pPr>
                      <a:r>
                        <a:rPr sz="1050">
                          <a:solidFill>
                            <a:srgbClr val="25342A"/>
                          </a:solidFill>
                          <a:latin typeface="Roboto"/>
                        </a:rPr>
                        <a:t>$907,100</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$250,878</a:t>
                      </a:r>
                    </a:p>
                  </a:txBody>
                  <a:tcPr>
                    <a:solidFill>
                      <a:srgbClr val="F7FAF7"/>
                    </a:solidFill>
                  </a:tcPr>
                </a:tc>
                <a:tc>
                  <a:txBody>
                    <a:bodyPr/>
                    <a:lstStyle/>
                    <a:p>
                      <a:pPr algn="r">
                        <a:defRPr>
                          <a:latin typeface="Roboto"/>
                        </a:defRPr>
                      </a:pPr>
                      <a:r>
                        <a:rPr sz="1050">
                          <a:solidFill>
                            <a:srgbClr val="25342A"/>
                          </a:solidFill>
                          <a:latin typeface="Roboto"/>
                        </a:rPr>
                        <a:t>27.7%</a:t>
                      </a:r>
                    </a:p>
                  </a:txBody>
                  <a:tcPr>
                    <a:solidFill>
                      <a:srgbClr val="F7FAF7"/>
                    </a:solidFill>
                  </a:tcPr>
                </a:tc>
              </a:tr>
              <a:tr h="329184">
                <a:tc>
                  <a:txBody>
                    <a:bodyPr/>
                    <a:lstStyle/>
                    <a:p>
                      <a:pPr>
                        <a:defRPr>
                          <a:latin typeface="Roboto"/>
                        </a:defRPr>
                      </a:pPr>
                      <a:r>
                        <a:rPr sz="1050">
                          <a:solidFill>
                            <a:srgbClr val="25342A"/>
                          </a:solidFill>
                          <a:latin typeface="Roboto"/>
                        </a:rPr>
                        <a:t>Call-outs and repairs</a:t>
                      </a:r>
                    </a:p>
                  </a:txBody>
                  <a:tcPr>
                    <a:solidFill>
                      <a:srgbClr val="FFFFFF"/>
                    </a:solidFill>
                  </a:tcPr>
                </a:tc>
                <a:tc>
                  <a:txBody>
                    <a:bodyPr/>
                    <a:lstStyle/>
                    <a:p>
                      <a:pPr algn="r">
                        <a:defRPr>
                          <a:latin typeface="Roboto"/>
                        </a:defRPr>
                      </a:pPr>
                      <a:r>
                        <a:rPr sz="1050">
                          <a:solidFill>
                            <a:srgbClr val="25342A"/>
                          </a:solidFill>
                          <a:latin typeface="Roboto"/>
                        </a:rPr>
                        <a:t>$220,694</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$96,382</a:t>
                      </a:r>
                    </a:p>
                  </a:txBody>
                  <a:tcPr>
                    <a:solidFill>
                      <a:srgbClr val="FFFFFF"/>
                    </a:solidFill>
                  </a:tcPr>
                </a:tc>
                <a:tc>
                  <a:txBody>
                    <a:bodyPr/>
                    <a:lstStyle/>
                    <a:p>
                      <a:pPr algn="r">
                        <a:defRPr>
                          <a:latin typeface="Roboto"/>
                        </a:defRPr>
                      </a:pPr>
                      <a:r>
                        <a:rPr sz="1050">
                          <a:solidFill>
                            <a:srgbClr val="25342A"/>
                          </a:solidFill>
                          <a:latin typeface="Roboto"/>
                        </a:rPr>
                        <a:t>43.7%</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$1,445,594</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$536,342</a:t>
                      </a:r>
                    </a:p>
                  </a:txBody>
                  <a:tcPr>
                    <a:solidFill>
                      <a:srgbClr val="F7FAF7"/>
                    </a:solidFill>
                  </a:tcPr>
                </a:tc>
                <a:tc>
                  <a:txBody>
                    <a:bodyPr/>
                    <a:lstStyle/>
                    <a:p>
                      <a:pPr algn="r">
                        <a:defRPr>
                          <a:latin typeface="Roboto"/>
                        </a:defRPr>
                      </a:pPr>
                      <a:r>
                        <a:rPr sz="1050" b="1">
                          <a:solidFill>
                            <a:srgbClr val="25342A"/>
                          </a:solidFill>
                          <a:latin typeface="Roboto"/>
                        </a:rPr>
                        <a:t>37.1%</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Gross margin = revenue less contractors and consultant time charged to the work at $60 an hour (wages and all on-costs). Not included: consultant time not charged to clients, and overheads (management and admin wages, marketing, rent, IT, insurance, travel,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Services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March's client work made $69,145 gross margin (62.9%). Consultant time not charged to client work took $10,380 and overheads $51,560, leaving $7,205 profit before tax (6.6% of revenue). To cover overheads, client work needs a 56.4%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March 2026</a:t>
                      </a:r>
                    </a:p>
                  </a:txBody>
                  <a:tcPr>
                    <a:solidFill>
                      <a:srgbClr val="2F7A5D"/>
                    </a:solidFill>
                  </a:tcPr>
                </a:tc>
              </a:tr>
              <a:tr h="329184">
                <a:tc>
                  <a:txBody>
                    <a:bodyPr/>
                    <a:lstStyle/>
                    <a:p>
                      <a:pPr>
                        <a:defRPr>
                          <a:latin typeface="Roboto"/>
                        </a:defRPr>
                      </a:pPr>
                      <a:r>
                        <a:rPr sz="1050">
                          <a:solidFill>
                            <a:srgbClr val="25342A"/>
                          </a:solidFill>
                          <a:latin typeface="Roboto"/>
                        </a:rPr>
                        <a:t>Gross margin on client work</a:t>
                      </a:r>
                    </a:p>
                  </a:txBody>
                  <a:tcPr>
                    <a:solidFill>
                      <a:srgbClr val="FFFFFF"/>
                    </a:solidFill>
                  </a:tcPr>
                </a:tc>
                <a:tc>
                  <a:txBody>
                    <a:bodyPr/>
                    <a:lstStyle/>
                    <a:p>
                      <a:pPr algn="r">
                        <a:defRPr>
                          <a:latin typeface="Roboto"/>
                        </a:defRPr>
                      </a:pPr>
                      <a:r>
                        <a:rPr sz="1050">
                          <a:solidFill>
                            <a:srgbClr val="25342A"/>
                          </a:solidFill>
                          <a:latin typeface="Roboto"/>
                        </a:rPr>
                        <a:t>$69,145</a:t>
                      </a:r>
                    </a:p>
                  </a:txBody>
                  <a:tcPr>
                    <a:solidFill>
                      <a:srgbClr val="FFFFFF"/>
                    </a:solidFill>
                  </a:tcPr>
                </a:tc>
              </a:tr>
              <a:tr h="329184">
                <a:tc>
                  <a:txBody>
                    <a:bodyPr/>
                    <a:lstStyle/>
                    <a:p>
                      <a:pPr>
                        <a:defRPr>
                          <a:latin typeface="Roboto"/>
                        </a:defRPr>
                      </a:pPr>
                      <a:r>
                        <a:rPr sz="1050">
                          <a:solidFill>
                            <a:srgbClr val="25342A"/>
                          </a:solidFill>
                          <a:latin typeface="Roboto"/>
                        </a:rPr>
                        <a:t>Consultant wages and on-costs</a:t>
                      </a:r>
                    </a:p>
                  </a:txBody>
                  <a:tcPr>
                    <a:solidFill>
                      <a:srgbClr val="F7FAF7"/>
                    </a:solidFill>
                  </a:tcPr>
                </a:tc>
                <a:tc>
                  <a:txBody>
                    <a:bodyPr/>
                    <a:lstStyle/>
                    <a:p>
                      <a:pPr algn="r">
                        <a:defRPr>
                          <a:latin typeface="Roboto"/>
                        </a:defRPr>
                      </a:pPr>
                      <a:r>
                        <a:rPr sz="1050">
                          <a:solidFill>
                            <a:srgbClr val="25342A"/>
                          </a:solidFill>
                          <a:latin typeface="Roboto"/>
                        </a:rPr>
                        <a:t>$46,500</a:t>
                      </a:r>
                    </a:p>
                  </a:txBody>
                  <a:tcPr>
                    <a:solidFill>
                      <a:srgbClr val="F7FAF7"/>
                    </a:solidFill>
                  </a:tcPr>
                </a:tc>
              </a:tr>
              <a:tr h="329184">
                <a:tc>
                  <a:txBody>
                    <a:bodyPr/>
                    <a:lstStyle/>
                    <a:p>
                      <a:pPr>
                        <a:defRPr>
                          <a:latin typeface="Roboto"/>
                        </a:defRPr>
                      </a:pPr>
                      <a:r>
                        <a:rPr sz="1050">
                          <a:solidFill>
                            <a:srgbClr val="25342A"/>
                          </a:solidFill>
                          <a:latin typeface="Roboto"/>
                        </a:rPr>
                        <a:t>Consultant time charged to client work (at cost)</a:t>
                      </a:r>
                    </a:p>
                  </a:txBody>
                  <a:tcPr>
                    <a:solidFill>
                      <a:srgbClr val="FFFFFF"/>
                    </a:solidFill>
                  </a:tcPr>
                </a:tc>
                <a:tc>
                  <a:txBody>
                    <a:bodyPr/>
                    <a:lstStyle/>
                    <a:p>
                      <a:pPr algn="r">
                        <a:defRPr>
                          <a:latin typeface="Roboto"/>
                        </a:defRPr>
                      </a:pPr>
                      <a:r>
                        <a:rPr sz="1050">
                          <a:solidFill>
                            <a:srgbClr val="25342A"/>
                          </a:solidFill>
                          <a:latin typeface="Roboto"/>
                        </a:rPr>
                        <a:t>$36,120</a:t>
                      </a:r>
                    </a:p>
                  </a:txBody>
                  <a:tcPr>
                    <a:solidFill>
                      <a:srgbClr val="FFFFFF"/>
                    </a:solidFill>
                  </a:tcPr>
                </a:tc>
              </a:tr>
              <a:tr h="329184">
                <a:tc>
                  <a:txBody>
                    <a:bodyPr/>
                    <a:lstStyle/>
                    <a:p>
                      <a:pPr>
                        <a:defRPr>
                          <a:latin typeface="Roboto"/>
                        </a:defRPr>
                      </a:pPr>
                      <a:r>
                        <a:rPr sz="1050">
                          <a:solidFill>
                            <a:srgbClr val="25342A"/>
                          </a:solidFill>
                          <a:latin typeface="Roboto"/>
                        </a:rPr>
                        <a:t>Consultant time not charged to client work</a:t>
                      </a:r>
                    </a:p>
                  </a:txBody>
                  <a:tcPr>
                    <a:solidFill>
                      <a:srgbClr val="F7FAF7"/>
                    </a:solidFill>
                  </a:tcPr>
                </a:tc>
                <a:tc>
                  <a:txBody>
                    <a:bodyPr/>
                    <a:lstStyle/>
                    <a:p>
                      <a:pPr algn="r">
                        <a:defRPr>
                          <a:latin typeface="Roboto"/>
                        </a:defRPr>
                      </a:pPr>
                      <a:r>
                        <a:rPr sz="1050">
                          <a:solidFill>
                            <a:srgbClr val="25342A"/>
                          </a:solidFill>
                          <a:latin typeface="Roboto"/>
                        </a:rPr>
                        <a:t>$10,380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$58,765</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$51,560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$7,205</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$109,865</a:t>
                      </a:r>
                    </a:p>
                  </a:txBody>
                  <a:tcPr>
                    <a:solidFill>
                      <a:srgbClr val="F7FAF7"/>
                    </a:solidFill>
                  </a:tcPr>
                </a:tc>
              </a:tr>
              <a:tr h="329184">
                <a:tc>
                  <a:txBody>
                    <a:bodyPr/>
                    <a:lstStyle/>
                    <a:p>
                      <a:pPr>
                        <a:defRPr>
                          <a:latin typeface="Roboto"/>
                        </a:defRPr>
                      </a:pPr>
                      <a:r>
                        <a:rPr sz="1050">
                          <a:solidFill>
                            <a:srgbClr val="25342A"/>
                          </a:solidFill>
                          <a:latin typeface="Roboto"/>
                        </a:rPr>
                        <a:t>Gross margin on client work, %</a:t>
                      </a:r>
                    </a:p>
                  </a:txBody>
                  <a:tcPr>
                    <a:solidFill>
                      <a:srgbClr val="FFFFFF"/>
                    </a:solidFill>
                  </a:tcPr>
                </a:tc>
                <a:tc>
                  <a:txBody>
                    <a:bodyPr/>
                    <a:lstStyle/>
                    <a:p>
                      <a:pPr algn="r">
                        <a:defRPr>
                          <a:latin typeface="Roboto"/>
                        </a:defRPr>
                      </a:pPr>
                      <a:r>
                        <a:rPr sz="1050">
                          <a:solidFill>
                            <a:srgbClr val="25342A"/>
                          </a:solidFill>
                          <a:latin typeface="Roboto"/>
                        </a:rPr>
                        <a:t>62.9%</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6.6%</a:t>
                      </a:r>
                    </a:p>
                  </a:txBody>
                  <a:tcPr>
                    <a:solidFill>
                      <a:srgbClr val="F7FAF7"/>
                    </a:solidFill>
                  </a:tcPr>
                </a:tc>
              </a:tr>
              <a:tr h="329184">
                <a:tc>
                  <a:txBody>
                    <a:bodyPr/>
                    <a:lstStyle/>
                    <a:p>
                      <a:pPr>
                        <a:defRPr>
                          <a:latin typeface="Roboto"/>
                        </a:defRPr>
                      </a:pPr>
                      <a:r>
                        <a:rPr sz="1050">
                          <a:solidFill>
                            <a:srgbClr val="25342A"/>
                          </a:solidFill>
                          <a:latin typeface="Roboto"/>
                        </a:rPr>
                        <a:t>Gross margin client work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56.4%</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March against March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42.4%</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$109,865 against $77,175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Mar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$734,240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63.8%</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$468,760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$734,240 this financial year to date (Jul to Mar 2026). Training makes the highest gross margin (74.0%); Projects the lowest (61.5%). The business needs 56.4%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61.5% gross margin, 21.5 points over the 40.0% target ($99,164 ahead on $462,140 this financial year to date). Training: 74.0% gross margin, 34.0 points over the 40.0% target ($22,260 ahead on $65,400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Projects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March against March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53.5%</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$75,165 against $48,975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Mar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$462,140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61.5%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$284,020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Projects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brought in $462,140 this financial year to date, at a 61.5% gross margin (below the 63.8%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61.5% gross margin, 21.5 points over the 40.0% target ($99,164 ahead on $462,140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Retainers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March against March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29.8%</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$28,300 against $21,800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Mar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$206,700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66.0%</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$136,320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Retainers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brought in $206,700 this financial year to date, at a 66.0% gross margin (above the 63.8%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66.0% gross margin, 26.0 points over the 40.0% target ($53,640 ahead on $206,700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22 of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Training</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March against March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0.0%</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$6,400 against $6,400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(Jul to Mar 2026)</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$65,400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74.0%</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$48,420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23 of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Training</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brought in $65,400 this financial year to date, at a 74.0% gross margin (above the 63.8%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74.0% gross margin, 34.0 points over the 40.0% target ($22,260 ahead on $65,400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24 of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Revenue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25 of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Gross margin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26 of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type of work: financial year to date (Jul to Mar 2026) against the same period last year · Services · Every type of work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Projects</a:t>
                      </a:r>
                    </a:p>
                  </a:txBody>
                  <a:tcPr>
                    <a:solidFill>
                      <a:srgbClr val="FFFFFF"/>
                    </a:solidFill>
                  </a:tcPr>
                </a:tc>
                <a:tc>
                  <a:txBody>
                    <a:bodyPr/>
                    <a:lstStyle/>
                    <a:p>
                      <a:pPr algn="r">
                        <a:defRPr>
                          <a:latin typeface="Roboto"/>
                        </a:defRPr>
                      </a:pPr>
                      <a:r>
                        <a:rPr sz="1050">
                          <a:solidFill>
                            <a:srgbClr val="25342A"/>
                          </a:solidFill>
                          <a:latin typeface="Roboto"/>
                        </a:rPr>
                        <a:t>$462,140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$284,020</a:t>
                      </a:r>
                    </a:p>
                  </a:txBody>
                  <a:tcPr>
                    <a:solidFill>
                      <a:srgbClr val="FFFFFF"/>
                    </a:solidFill>
                  </a:tcPr>
                </a:tc>
                <a:tc>
                  <a:txBody>
                    <a:bodyPr/>
                    <a:lstStyle/>
                    <a:p>
                      <a:pPr algn="r">
                        <a:defRPr>
                          <a:latin typeface="Roboto"/>
                        </a:defRPr>
                      </a:pPr>
                      <a:r>
                        <a:rPr sz="1050">
                          <a:solidFill>
                            <a:srgbClr val="25342A"/>
                          </a:solidFill>
                          <a:latin typeface="Roboto"/>
                        </a:rPr>
                        <a:t>61.5%</a:t>
                      </a:r>
                    </a:p>
                  </a:txBody>
                  <a:tcPr>
                    <a:solidFill>
                      <a:srgbClr val="FFFFFF"/>
                    </a:solidFill>
                  </a:tcPr>
                </a:tc>
              </a:tr>
              <a:tr h="329184">
                <a:tc>
                  <a:txBody>
                    <a:bodyPr/>
                    <a:lstStyle/>
                    <a:p>
                      <a:pPr>
                        <a:defRPr>
                          <a:latin typeface="Roboto"/>
                        </a:defRPr>
                      </a:pPr>
                      <a:r>
                        <a:rPr sz="1050">
                          <a:solidFill>
                            <a:srgbClr val="25342A"/>
                          </a:solidFill>
                          <a:latin typeface="Roboto"/>
                        </a:rPr>
                        <a:t>Retainers</a:t>
                      </a:r>
                    </a:p>
                  </a:txBody>
                  <a:tcPr>
                    <a:solidFill>
                      <a:srgbClr val="F7FAF7"/>
                    </a:solidFill>
                  </a:tcPr>
                </a:tc>
                <a:tc>
                  <a:txBody>
                    <a:bodyPr/>
                    <a:lstStyle/>
                    <a:p>
                      <a:pPr algn="r">
                        <a:defRPr>
                          <a:latin typeface="Roboto"/>
                        </a:defRPr>
                      </a:pPr>
                      <a:r>
                        <a:rPr sz="1050">
                          <a:solidFill>
                            <a:srgbClr val="25342A"/>
                          </a:solidFill>
                          <a:latin typeface="Roboto"/>
                        </a:rPr>
                        <a:t>$206,700</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a:t>
                      </a:r>
                    </a:p>
                  </a:txBody>
                  <a:tcPr>
                    <a:solidFill>
                      <a:srgbClr val="F7FAF7"/>
                    </a:solidFill>
                  </a:tcPr>
                </a:tc>
                <a:tc>
                  <a:txBody>
                    <a:bodyPr/>
                    <a:lstStyle/>
                    <a:p>
                      <a:pPr algn="r">
                        <a:defRPr>
                          <a:latin typeface="Roboto"/>
                        </a:defRPr>
                      </a:pPr>
                      <a:r>
                        <a:rPr sz="1050">
                          <a:solidFill>
                            <a:srgbClr val="25342A"/>
                          </a:solidFill>
                          <a:latin typeface="Roboto"/>
                        </a:rPr>
                        <a:t>$136,320</a:t>
                      </a:r>
                    </a:p>
                  </a:txBody>
                  <a:tcPr>
                    <a:solidFill>
                      <a:srgbClr val="F7FAF7"/>
                    </a:solidFill>
                  </a:tcPr>
                </a:tc>
                <a:tc>
                  <a:txBody>
                    <a:bodyPr/>
                    <a:lstStyle/>
                    <a:p>
                      <a:pPr algn="r">
                        <a:defRPr>
                          <a:latin typeface="Roboto"/>
                        </a:defRPr>
                      </a:pPr>
                      <a:r>
                        <a:rPr sz="1050">
                          <a:solidFill>
                            <a:srgbClr val="25342A"/>
                          </a:solidFill>
                          <a:latin typeface="Roboto"/>
                        </a:rPr>
                        <a:t>66.0%</a:t>
                      </a:r>
                    </a:p>
                  </a:txBody>
                  <a:tcPr>
                    <a:solidFill>
                      <a:srgbClr val="F7FAF7"/>
                    </a:solidFill>
                  </a:tcPr>
                </a:tc>
              </a:tr>
              <a:tr h="329184">
                <a:tc>
                  <a:txBody>
                    <a:bodyPr/>
                    <a:lstStyle/>
                    <a:p>
                      <a:pPr>
                        <a:defRPr>
                          <a:latin typeface="Roboto"/>
                        </a:defRPr>
                      </a:pPr>
                      <a:r>
                        <a:rPr sz="1050">
                          <a:solidFill>
                            <a:srgbClr val="25342A"/>
                          </a:solidFill>
                          <a:latin typeface="Roboto"/>
                        </a:rPr>
                        <a:t>Training</a:t>
                      </a:r>
                    </a:p>
                  </a:txBody>
                  <a:tcPr>
                    <a:solidFill>
                      <a:srgbClr val="FFFFFF"/>
                    </a:solidFill>
                  </a:tcPr>
                </a:tc>
                <a:tc>
                  <a:txBody>
                    <a:bodyPr/>
                    <a:lstStyle/>
                    <a:p>
                      <a:pPr algn="r">
                        <a:defRPr>
                          <a:latin typeface="Roboto"/>
                        </a:defRPr>
                      </a:pPr>
                      <a:r>
                        <a:rPr sz="1050">
                          <a:solidFill>
                            <a:srgbClr val="25342A"/>
                          </a:solidFill>
                          <a:latin typeface="Roboto"/>
                        </a:rPr>
                        <a:t>$65,400</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a:t>
                      </a:r>
                    </a:p>
                  </a:txBody>
                  <a:tcPr>
                    <a:solidFill>
                      <a:srgbClr val="FFFFFF"/>
                    </a:solidFill>
                  </a:tcPr>
                </a:tc>
                <a:tc>
                  <a:txBody>
                    <a:bodyPr/>
                    <a:lstStyle/>
                    <a:p>
                      <a:pPr algn="r">
                        <a:defRPr>
                          <a:latin typeface="Roboto"/>
                        </a:defRPr>
                      </a:pPr>
                      <a:r>
                        <a:rPr sz="1050">
                          <a:solidFill>
                            <a:srgbClr val="25342A"/>
                          </a:solidFill>
                          <a:latin typeface="Roboto"/>
                        </a:rPr>
                        <a:t>$48,420</a:t>
                      </a:r>
                    </a:p>
                  </a:txBody>
                  <a:tcPr>
                    <a:solidFill>
                      <a:srgbClr val="FFFFFF"/>
                    </a:solidFill>
                  </a:tcPr>
                </a:tc>
                <a:tc>
                  <a:txBody>
                    <a:bodyPr/>
                    <a:lstStyle/>
                    <a:p>
                      <a:pPr algn="r">
                        <a:defRPr>
                          <a:latin typeface="Roboto"/>
                        </a:defRPr>
                      </a:pPr>
                      <a:r>
                        <a:rPr sz="1050">
                          <a:solidFill>
                            <a:srgbClr val="25342A"/>
                          </a:solidFill>
                          <a:latin typeface="Roboto"/>
                        </a:rPr>
                        <a:t>74.0%</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$734,240</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a:t>
                      </a:r>
                    </a:p>
                  </a:txBody>
                  <a:tcPr>
                    <a:solidFill>
                      <a:srgbClr val="F7FAF7"/>
                    </a:solidFill>
                  </a:tcPr>
                </a:tc>
                <a:tc>
                  <a:txBody>
                    <a:bodyPr/>
                    <a:lstStyle/>
                    <a:p>
                      <a:pPr algn="r">
                        <a:defRPr>
                          <a:latin typeface="Roboto"/>
                        </a:defRPr>
                      </a:pPr>
                      <a:r>
                        <a:rPr sz="1050" b="1">
                          <a:solidFill>
                            <a:srgbClr val="25342A"/>
                          </a:solidFill>
                          <a:latin typeface="Roboto"/>
                        </a:rPr>
                        <a:t>$468,760</a:t>
                      </a:r>
                    </a:p>
                  </a:txBody>
                  <a:tcPr>
                    <a:solidFill>
                      <a:srgbClr val="F7FAF7"/>
                    </a:solidFill>
                  </a:tcPr>
                </a:tc>
                <a:tc>
                  <a:txBody>
                    <a:bodyPr/>
                    <a:lstStyle/>
                    <a:p>
                      <a:pPr algn="r">
                        <a:defRPr>
                          <a:latin typeface="Roboto"/>
                        </a:defRPr>
                      </a:pPr>
                      <a:r>
                        <a:rPr sz="1050" b="1">
                          <a:solidFill>
                            <a:srgbClr val="25342A"/>
                          </a:solidFill>
                          <a:latin typeface="Roboto"/>
                        </a:rPr>
                        <a:t>63.8%</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27 of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