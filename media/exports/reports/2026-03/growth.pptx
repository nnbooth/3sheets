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171009</c:v>
                </c:pt>
                <c:pt idx="1">
                  <c:v>179474</c:v>
                </c:pt>
                <c:pt idx="2">
                  <c:v>143156</c:v>
                </c:pt>
                <c:pt idx="3">
                  <c:v>140909</c:v>
                </c:pt>
                <c:pt idx="4">
                  <c:v>160943</c:v>
                </c:pt>
                <c:pt idx="5">
                  <c:v>135082</c:v>
                </c:pt>
                <c:pt idx="6">
                  <c:v>124705</c:v>
                </c:pt>
                <c:pt idx="7">
                  <c:v>129816</c:v>
                </c:pt>
                <c:pt idx="8">
                  <c:v>164113</c:v>
                </c:pt>
                <c:pt idx="9">
                  <c:v>186760</c:v>
                </c:pt>
                <c:pt idx="10">
                  <c:v>139164</c:v>
                </c:pt>
                <c:pt idx="11">
                  <c:v>128255</c:v>
                </c:pt>
                <c:pt idx="12">
                  <c:v>128898</c:v>
                </c:pt>
                <c:pt idx="13">
                  <c:v>174786</c:v>
                </c:pt>
                <c:pt idx="14">
                  <c:v>135079</c:v>
                </c:pt>
                <c:pt idx="15">
                  <c:v>164780</c:v>
                </c:pt>
                <c:pt idx="16">
                  <c:v>196372</c:v>
                </c:pt>
                <c:pt idx="17">
                  <c:v>191500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24670</c:v>
                </c:pt>
                <c:pt idx="1">
                  <c:v>24670</c:v>
                </c:pt>
                <c:pt idx="2">
                  <c:v>24670</c:v>
                </c:pt>
                <c:pt idx="3">
                  <c:v>24670</c:v>
                </c:pt>
                <c:pt idx="4">
                  <c:v>27930</c:v>
                </c:pt>
                <c:pt idx="5">
                  <c:v>27930</c:v>
                </c:pt>
                <c:pt idx="6">
                  <c:v>27930</c:v>
                </c:pt>
                <c:pt idx="7">
                  <c:v>27930</c:v>
                </c:pt>
                <c:pt idx="8">
                  <c:v>31870</c:v>
                </c:pt>
                <c:pt idx="9">
                  <c:v>33200</c:v>
                </c:pt>
                <c:pt idx="10">
                  <c:v>33200</c:v>
                </c:pt>
                <c:pt idx="11">
                  <c:v>33200</c:v>
                </c:pt>
                <c:pt idx="12">
                  <c:v>35800</c:v>
                </c:pt>
                <c:pt idx="13">
                  <c:v>35800</c:v>
                </c:pt>
                <c:pt idx="14">
                  <c:v>35800</c:v>
                </c:pt>
                <c:pt idx="15">
                  <c:v>35800</c:v>
                </c:pt>
                <c:pt idx="16">
                  <c:v>37500</c:v>
                </c:pt>
                <c:pt idx="17">
                  <c:v>37500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126300</c:v>
                </c:pt>
                <c:pt idx="1">
                  <c:v>131400</c:v>
                </c:pt>
                <c:pt idx="2">
                  <c:v>92600</c:v>
                </c:pt>
                <c:pt idx="3">
                  <c:v>89400</c:v>
                </c:pt>
                <c:pt idx="4">
                  <c:v>106000</c:v>
                </c:pt>
                <c:pt idx="5">
                  <c:v>86100</c:v>
                </c:pt>
                <c:pt idx="6">
                  <c:v>74900</c:v>
                </c:pt>
                <c:pt idx="7">
                  <c:v>80300</c:v>
                </c:pt>
                <c:pt idx="8">
                  <c:v>112700</c:v>
                </c:pt>
                <c:pt idx="9">
                  <c:v>135800</c:v>
                </c:pt>
                <c:pt idx="10">
                  <c:v>86200</c:v>
                </c:pt>
                <c:pt idx="11">
                  <c:v>75100</c:v>
                </c:pt>
                <c:pt idx="12">
                  <c:v>70800</c:v>
                </c:pt>
                <c:pt idx="13">
                  <c:v>113300</c:v>
                </c:pt>
                <c:pt idx="14">
                  <c:v>69700</c:v>
                </c:pt>
                <c:pt idx="15">
                  <c:v>97500</c:v>
                </c:pt>
                <c:pt idx="16">
                  <c:v>129300</c:v>
                </c:pt>
                <c:pt idx="17">
                  <c:v>129400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20039</c:v>
                </c:pt>
                <c:pt idx="1">
                  <c:v>23404</c:v>
                </c:pt>
                <c:pt idx="2">
                  <c:v>25886</c:v>
                </c:pt>
                <c:pt idx="3">
                  <c:v>26839</c:v>
                </c:pt>
                <c:pt idx="4">
                  <c:v>27013</c:v>
                </c:pt>
                <c:pt idx="5">
                  <c:v>21052</c:v>
                </c:pt>
                <c:pt idx="6">
                  <c:v>21875</c:v>
                </c:pt>
                <c:pt idx="7">
                  <c:v>21586</c:v>
                </c:pt>
                <c:pt idx="8">
                  <c:v>19543</c:v>
                </c:pt>
                <c:pt idx="9">
                  <c:v>17760</c:v>
                </c:pt>
                <c:pt idx="10">
                  <c:v>19764</c:v>
                </c:pt>
                <c:pt idx="11">
                  <c:v>19955</c:v>
                </c:pt>
                <c:pt idx="12">
                  <c:v>22298</c:v>
                </c:pt>
                <c:pt idx="13">
                  <c:v>25686</c:v>
                </c:pt>
                <c:pt idx="14">
                  <c:v>29579</c:v>
                </c:pt>
                <c:pt idx="15">
                  <c:v>31480</c:v>
                </c:pt>
                <c:pt idx="16">
                  <c:v>29572</c:v>
                </c:pt>
                <c:pt idx="17">
                  <c:v>24600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94520</c:v>
                </c:pt>
                <c:pt idx="1">
                  <c:v>108140</c:v>
                </c:pt>
                <c:pt idx="2">
                  <c:v>114895</c:v>
                </c:pt>
                <c:pt idx="3">
                  <c:v>88250</c:v>
                </c:pt>
                <c:pt idx="4">
                  <c:v>111010</c:v>
                </c:pt>
                <c:pt idx="5">
                  <c:v>77175</c:v>
                </c:pt>
                <c:pt idx="6">
                  <c:v>63970</c:v>
                </c:pt>
                <c:pt idx="7">
                  <c:v>95555</c:v>
                </c:pt>
                <c:pt idx="8">
                  <c:v>90220</c:v>
                </c:pt>
                <c:pt idx="9">
                  <c:v>86320</c:v>
                </c:pt>
                <c:pt idx="10">
                  <c:v>61475</c:v>
                </c:pt>
                <c:pt idx="11">
                  <c:v>59535</c:v>
                </c:pt>
                <c:pt idx="12">
                  <c:v>71260</c:v>
                </c:pt>
                <c:pt idx="13">
                  <c:v>83940</c:v>
                </c:pt>
                <c:pt idx="14">
                  <c:v>69420</c:v>
                </c:pt>
                <c:pt idx="15">
                  <c:v>92370</c:v>
                </c:pt>
                <c:pt idx="16">
                  <c:v>100055</c:v>
                </c:pt>
                <c:pt idx="17">
                  <c:v>109865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70720</c:v>
                </c:pt>
                <c:pt idx="1">
                  <c:v>88540</c:v>
                </c:pt>
                <c:pt idx="2">
                  <c:v>94695</c:v>
                </c:pt>
                <c:pt idx="3">
                  <c:v>66850</c:v>
                </c:pt>
                <c:pt idx="4">
                  <c:v>84410</c:v>
                </c:pt>
                <c:pt idx="5">
                  <c:v>48975</c:v>
                </c:pt>
                <c:pt idx="6">
                  <c:v>37570</c:v>
                </c:pt>
                <c:pt idx="7">
                  <c:v>59755</c:v>
                </c:pt>
                <c:pt idx="8">
                  <c:v>64520</c:v>
                </c:pt>
                <c:pt idx="9">
                  <c:v>64820</c:v>
                </c:pt>
                <c:pt idx="10">
                  <c:v>38775</c:v>
                </c:pt>
                <c:pt idx="11">
                  <c:v>38035</c:v>
                </c:pt>
                <c:pt idx="12">
                  <c:v>45860</c:v>
                </c:pt>
                <c:pt idx="13">
                  <c:v>46840</c:v>
                </c:pt>
                <c:pt idx="14">
                  <c:v>29520</c:v>
                </c:pt>
                <c:pt idx="15">
                  <c:v>60170</c:v>
                </c:pt>
                <c:pt idx="16">
                  <c:v>62955</c:v>
                </c:pt>
                <c:pt idx="17">
                  <c:v>75165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21800</c:v>
                </c:pt>
                <c:pt idx="6">
                  <c:v>21800</c:v>
                </c:pt>
                <c:pt idx="7">
                  <c:v>21800</c:v>
                </c:pt>
                <c:pt idx="8">
                  <c:v>21800</c:v>
                </c:pt>
                <c:pt idx="9">
                  <c:v>16300</c:v>
                </c:pt>
                <c:pt idx="10">
                  <c:v>16300</c:v>
                </c:pt>
                <c:pt idx="11">
                  <c:v>16300</c:v>
                </c:pt>
                <c:pt idx="12">
                  <c:v>16300</c:v>
                </c:pt>
                <c:pt idx="13">
                  <c:v>28300</c:v>
                </c:pt>
                <c:pt idx="14">
                  <c:v>28300</c:v>
                </c:pt>
                <c:pt idx="15">
                  <c:v>28300</c:v>
                </c:pt>
                <c:pt idx="16">
                  <c:v>28300</c:v>
                </c:pt>
                <c:pt idx="17">
                  <c:v>28300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3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8800</c:v>
                </c:pt>
                <c:pt idx="1">
                  <c:v>4600</c:v>
                </c:pt>
                <c:pt idx="2">
                  <c:v>5200</c:v>
                </c:pt>
                <c:pt idx="3">
                  <c:v>6400</c:v>
                </c:pt>
                <c:pt idx="4">
                  <c:v>11600</c:v>
                </c:pt>
                <c:pt idx="5">
                  <c:v>6400</c:v>
                </c:pt>
                <c:pt idx="6">
                  <c:v>4600</c:v>
                </c:pt>
                <c:pt idx="7">
                  <c:v>14000</c:v>
                </c:pt>
                <c:pt idx="8">
                  <c:v>3900</c:v>
                </c:pt>
                <c:pt idx="9">
                  <c:v>5200</c:v>
                </c:pt>
                <c:pt idx="10">
                  <c:v>6400</c:v>
                </c:pt>
                <c:pt idx="11">
                  <c:v>5200</c:v>
                </c:pt>
                <c:pt idx="12">
                  <c:v>9100</c:v>
                </c:pt>
                <c:pt idx="13">
                  <c:v>8800</c:v>
                </c:pt>
                <c:pt idx="14">
                  <c:v>11600</c:v>
                </c:pt>
                <c:pt idx="15">
                  <c:v>3900</c:v>
                </c:pt>
                <c:pt idx="16">
                  <c:v>8800</c:v>
                </c:pt>
                <c:pt idx="17">
                  <c:v>6400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SME sample businesses. Period: March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March against March last year: 41.8%; Year to date (Jul to Mar 2026): $1,445,594; Gross margin, year to date: 37.1%. Revenue is $1,445,594 this financial year to date (Jul to Mar 2026). Maintenance contracts make the highest gross margin (59.5%); Installations the lowest (27.7%). The business needs 30.3% gross margin just to cover overheads. Installations: 27.7% gross margin, 7.3 points under the 35.0% target: about $66,607 on $907,100 of revenue this financial year to date. It's below the 30.3% needed to cover overheads, too. Maintenance contracts: 59.5% gross margin, 24.5 points over the 35.0% target ($77,852 ahead on $317,800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March against March last year: 34.3%; Year to date (Jul to Mar 2026): $317,800; Gross margin, year to date: 59.5%. Maintenance contracts brought in $317,800 this financial year to date, at a 59.5% gross margin (above the 37.1% overall). Maintenance contracts: 59.5% gross margin, 24.5 points over the 35.0% target ($77,852 ahead on $317,800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March against March last year: 50.3%; Year to date (Jul to Mar 2026): $907,100; Gross margin, year to date: 27.7%. Installations brought in $907,100 this financial year to date, at a 27.7% gross margin (below the 37.1% overall). Installations: 27.7% gross margin, 7.3 points under the 35.0% target: about $66,607 on $907,100 of revenue this financial year to date. It's below the 30.3%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March against March last year: 16.9%; Year to date (Jul to Mar 2026): $220,694; Gross margin, year to date: 43.7%. Call-outs and repairs brought in $220,694 this financial year to date, at a 43.7% gross margin (above the 37.1% overall). Call-outs and repairs: 43.7% gross margin, 8.7 points over the 35.0% target ($19,139 ahead on $220,694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Mar 2026) against the same period last year · Trades. Same period last year: Not available: the data starts October 2024. From gross margin to profit: March's jobs made $68,158 gross margin (35.6%). Technician time not charged to jobs took ($1,092) and overheads $59,200, leaving $10,050 profit before tax (5.2% of revenue). To cover overheads, jobs need a 30.3%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March against March last year: 42.4%; Year to date (Jul to Mar 2026): $734,240; Gross margin, year to date: 63.8%. Revenue is $734,240 this financial year to date (Jul to Mar 2026). Training makes the highest gross margin (74.0%); Projects the lowest (61.5%). The business needs 56.4% gross margin just to cover overheads. Projects: 61.5% gross margin, 21.5 points over the 40.0% target ($99,164 ahead on $462,140 this financial year to date). Training: 74.0% gross margin, 34.0 points over the 40.0% target ($22,260 ahead on $65,400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March against March last year: 53.5%; Year to date (Jul to Mar 2026): $462,140; Gross margin, year to date: 61.5%. Projects brought in $462,140 this financial year to date, at a 61.5% gross margin (below the 63.8% overall). Projects: 61.5% gross margin, 21.5 points over the 40.0% target ($99,164 ahead on $462,140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March against March last year: 29.8%; Year to date (Jul to Mar 2026): $206,700; Gross margin, year to date: 66.0%. Retainers brought in $206,700 this financial year to date, at a 66.0% gross margin (above the 63.8% overall). Retainers: 66.0% gross margin, 26.0 points over the 40.0% target ($53,640 ahead on $206,700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March against March last year: 0.0%; Year to date (Jul to Mar 2026): $65,400; Gross margin, year to date: 74.0%. Training brought in $65,400 this financial year to date, at a 74.0% gross margin (above the 63.8% overall). Training: 74.0% gross margin, 34.0 points over the 40.0% target ($22,260 ahead on $65,400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Mar 2026) against the same period last year · Services. Same period last year: Not available: the data starts October 2024. From gross margin to profit: March's client work made $69,145 gross margin (62.9%). Consultant time not charged to client work took $10,380 and overheads $51,560, leaving $7,205 profit before tax (6.6% of revenue). To cover overheads, client work needs a 56.4%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SME sample businesses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$191,500 against $135,082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$1,445,594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$536,342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$1,445,594 this financial year to date (Jul to Mar 2026). Maintenance contracts make the highest gross margin (59.5%); Installations the lowest (27.7%). The business needs 30.3%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27.7% gross margin, 7.3 points under the 35.0% target: about $66,607 on $907,100 of revenue this financial year to date. It's below the 30.3% needed to cover overheads, too. Maintenance contracts: 59.5% gross margin, 24.5 points over the 35.0% target ($77,852 ahead on $317,800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$37,500 against $27,930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$317,800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$189,082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$317,800 this financial year to date, at a 59.5% gross margin (above the 37.1%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59.5% gross margin, 24.5 points over the 35.0% target ($77,852 ahead on $317,800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50.3%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$129,400 against $86,100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$907,100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27.7%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$250,878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$907,100 this financial year to date, at a 27.7% gross margin (below the 37.1%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27.7% gross margin, 7.3 points under the 35.0% target: about $66,607 on $907,100 of revenue this financial year to date. It's below the 30.3%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16.9%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$24,600 against $21,052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$220,694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$96,382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$220,694 this financial year to date, at a 43.7% gross margin (above the 37.1%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43.7% gross margin, 8.7 points over the 35.0% target ($19,139 ahead on $220,694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Mar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March's jobs made $68,158 gross margin (35.6%). Technician time not charged to jobs took ($1,092) and overheads $59,200, leaving $10,050 profit before tax (5.2% of revenue). To cover overheads, jobs need a 30.3%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$189,082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$907,100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$250,878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27.7%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$220,694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$96,382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$1,445,594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$536,342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37.1%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$109,865 against $77,175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$734,240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$468,760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$734,240 this financial year to date (Jul to Mar 2026). Training makes the highest gross margin (74.0%); Projects the lowest (61.5%). The business needs 56.4%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61.5% gross margin, 21.5 points over the 40.0% target ($99,164 ahead on $462,140 this financial year to date). Training: 74.0% gross margin, 34.0 points over the 40.0% target ($22,260 ahead on $65,400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53.5%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$75,165 against $48,975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$462,140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61.5%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$284,020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$462,140 this financial year to date, at a 61.5% gross margin (below the 63.8%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61.5% gross margin, 21.5 points over the 40.0% target ($99,164 ahead on $462,140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29.8%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$28,300 against $21,800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$206,700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66.0%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$136,320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$206,700 this financial year to date, at a 66.0% gross margin (above the 63.8%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66.0% gross margin, 26.0 points over the 40.0% target ($53,640 ahead on $206,700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$6,400 against $6,400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$65,400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$48,420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$65,400 this financial year to date, at a 74.0% gross margin (above the 63.8%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74.0% gross margin, 34.0 points over the 40.0% target ($22,260 ahead on $65,400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Mar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March's client work made $69,145 gross margin (62.9%). Consultant time not charged to client work took $10,380 and overheads $51,560, leaving $7,205 profit before tax (6.6% of revenue). To cover overheads, client work needs a 56.4%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$462,140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$284,020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$206,700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$136,320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$65,400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$734,240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$468,760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63.8%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