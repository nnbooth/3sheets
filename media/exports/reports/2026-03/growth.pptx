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$#,##0;[Red]($#,##0);"-"</c:formatCode>
                <c:ptCount val="18"/>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0.0"%";[Red](0.0"%")</c:formatCode>
                <c:ptCount val="18"/>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$#,##0;[Red]($#,##0);"-"</c:formatCode>
                <c:ptCount val="18"/>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0.0"%";[Red](0.0"%")</c:formatCode>
                <c:ptCount val="18"/>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March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February 2026: Locked. February 2026 is locked (closed 3 Mar 2026). These numbers won't change.</a:t>
            </a:r>
          </a:p>
          <a:p>
            <a:r>
              <a:rPr sz="1100" b="0">
                <a:solidFill>
                  <a:srgbClr val="5F6F63"/>
                </a:solidFill>
                <a:latin typeface="Arial"/>
              </a:rPr>
              <a:t>March 2026: Locked. March 2026 is locked (closed 2 Apr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March's jobs made $68,158 gross margin (35.6%). Technician time not charged to jobs took ($1,092) and overheads $59,200, leaving $10,050 profit before tax (5.2% of revenue). To cover overheads, jobs need a 30.3%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March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$68,158</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$55,692</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B42318"/>
                          </a:solidFill>
                        </a:rPr>
                        <a:t>($1,092)</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$69,250</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$59,200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$10,050</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$191,500</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35.6%</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5.2%</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30.3%</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41.8%</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$191,500 against $135,082</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$1,445,594</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37.1%</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$536,342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$1,445,594 this financial year to date (Jul to Mar 2026). Maintenance contracts make the highest gross margin (59.5%); Installations the lowest (27.7%). The business needs 30.3%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27.7% gross margin, below the 30.3%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34.3%</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$37,500 against $27,930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$317,800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59.5%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$189,082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Maintenance contracts brought in $317,800 this financial year to date, at a 59.5% gross margin (above the 37.1%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29.2 points clear of the 30.3%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50.3%</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$129,400 against $86,100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$907,100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27.7%</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$250,878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Installations brought in $907,100 this financial year to date, at a 27.7% gross margin (below the 37.1%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Installations: 27.7% gross margin, below the 30.3%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16.9%</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$24,600 against $21,052</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$220,694</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43.7%</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$96,382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Call-outs and repairs brought in $220,694 this financial year to date, at a 43.7% gross margin (above the 37.1%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and repairs: 43.7% gross margin, 13.3 points clear of the 30.3%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line: financial year to date (Jul to Mar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Maintenance contracts</a:t>
                      </a:r>
                    </a:p>
                  </a:txBody>
                  <a:tcPr>
                    <a:solidFill>
                      <a:srgbClr val="FFFFFF"/>
                    </a:solidFill>
                  </a:tcPr>
                </a:tc>
                <a:tc>
                  <a:txBody>
                    <a:bodyPr/>
                    <a:lstStyle/>
                    <a:p>
                      <a:pPr algn="r"/>
                      <a:r>
                        <a:rPr sz="1050">
                          <a:solidFill>
                            <a:srgbClr val="25342A"/>
                          </a:solidFill>
                        </a:rPr>
                        <a:t>$317,800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$189,082</a:t>
                      </a:r>
                    </a:p>
                  </a:txBody>
                  <a:tcPr>
                    <a:solidFill>
                      <a:srgbClr val="FFFFFF"/>
                    </a:solidFill>
                  </a:tcPr>
                </a:tc>
                <a:tc>
                  <a:txBody>
                    <a:bodyPr/>
                    <a:lstStyle/>
                    <a:p>
                      <a:pPr algn="r"/>
                      <a:r>
                        <a:rPr sz="1050">
                          <a:solidFill>
                            <a:srgbClr val="25342A"/>
                          </a:solidFill>
                        </a:rPr>
                        <a:t>59.5%</a:t>
                      </a:r>
                    </a:p>
                  </a:txBody>
                  <a:tcPr>
                    <a:solidFill>
                      <a:srgbClr val="FFFFFF"/>
                    </a:solidFill>
                  </a:tcPr>
                </a:tc>
              </a:tr>
              <a:tr h="329184">
                <a:tc>
                  <a:txBody>
                    <a:bodyPr/>
                    <a:lstStyle/>
                    <a:p>
                      <a:r>
                        <a:rPr sz="1050">
                          <a:solidFill>
                            <a:srgbClr val="25342A"/>
                          </a:solidFill>
                        </a:rPr>
                        <a:t>Installations</a:t>
                      </a:r>
                    </a:p>
                  </a:txBody>
                  <a:tcPr>
                    <a:solidFill>
                      <a:srgbClr val="F7FAF7"/>
                    </a:solidFill>
                  </a:tcPr>
                </a:tc>
                <a:tc>
                  <a:txBody>
                    <a:bodyPr/>
                    <a:lstStyle/>
                    <a:p>
                      <a:pPr algn="r"/>
                      <a:r>
                        <a:rPr sz="1050">
                          <a:solidFill>
                            <a:srgbClr val="25342A"/>
                          </a:solidFill>
                        </a:rPr>
                        <a:t>$907,100</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$250,878</a:t>
                      </a:r>
                    </a:p>
                  </a:txBody>
                  <a:tcPr>
                    <a:solidFill>
                      <a:srgbClr val="F7FAF7"/>
                    </a:solidFill>
                  </a:tcPr>
                </a:tc>
                <a:tc>
                  <a:txBody>
                    <a:bodyPr/>
                    <a:lstStyle/>
                    <a:p>
                      <a:pPr algn="r"/>
                      <a:r>
                        <a:rPr sz="1050">
                          <a:solidFill>
                            <a:srgbClr val="25342A"/>
                          </a:solidFill>
                        </a:rPr>
                        <a:t>27.7%</a:t>
                      </a:r>
                    </a:p>
                  </a:txBody>
                  <a:tcPr>
                    <a:solidFill>
                      <a:srgbClr val="F7FAF7"/>
                    </a:solidFill>
                  </a:tcPr>
                </a:tc>
              </a:tr>
              <a:tr h="329184">
                <a:tc>
                  <a:txBody>
                    <a:bodyPr/>
                    <a:lstStyle/>
                    <a:p>
                      <a:r>
                        <a:rPr sz="1050">
                          <a:solidFill>
                            <a:srgbClr val="25342A"/>
                          </a:solidFill>
                        </a:rPr>
                        <a:t>Call-outs and repairs</a:t>
                      </a:r>
                    </a:p>
                  </a:txBody>
                  <a:tcPr>
                    <a:solidFill>
                      <a:srgbClr val="FFFFFF"/>
                    </a:solidFill>
                  </a:tcPr>
                </a:tc>
                <a:tc>
                  <a:txBody>
                    <a:bodyPr/>
                    <a:lstStyle/>
                    <a:p>
                      <a:pPr algn="r"/>
                      <a:r>
                        <a:rPr sz="1050">
                          <a:solidFill>
                            <a:srgbClr val="25342A"/>
                          </a:solidFill>
                        </a:rPr>
                        <a:t>$220,694</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$96,382</a:t>
                      </a:r>
                    </a:p>
                  </a:txBody>
                  <a:tcPr>
                    <a:solidFill>
                      <a:srgbClr val="FFFFFF"/>
                    </a:solidFill>
                  </a:tcPr>
                </a:tc>
                <a:tc>
                  <a:txBody>
                    <a:bodyPr/>
                    <a:lstStyle/>
                    <a:p>
                      <a:pPr algn="r"/>
                      <a:r>
                        <a:rPr sz="1050">
                          <a:solidFill>
                            <a:srgbClr val="25342A"/>
                          </a:solidFill>
                        </a:rPr>
                        <a:t>43.7%</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$1,445,594</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$536,342</a:t>
                      </a:r>
                    </a:p>
                  </a:txBody>
                  <a:tcPr>
                    <a:solidFill>
                      <a:srgbClr val="F7FAF7"/>
                    </a:solidFill>
                  </a:tcPr>
                </a:tc>
                <a:tc>
                  <a:txBody>
                    <a:bodyPr/>
                    <a:lstStyle/>
                    <a:p>
                      <a:pPr algn="r"/>
                      <a:r>
                        <a:rPr sz="1050" b="1">
                          <a:solidFill>
                            <a:srgbClr val="25342A"/>
                          </a:solidFill>
                        </a:rPr>
                        <a:t>37.1%</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March's client work made $69,145 gross margin (62.9%). Consultant time not charged to client work took $10,380 and overheads $51,560, leaving $7,205 profit before tax (6.6% of revenue). To cover overheads, client work needs a 56.4%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March 2026</a:t>
                      </a:r>
                    </a:p>
                  </a:txBody>
                  <a:tcPr>
                    <a:solidFill>
                      <a:srgbClr val="2F7A5D"/>
                    </a:solidFill>
                  </a:tcPr>
                </a:tc>
              </a:tr>
              <a:tr h="329184">
                <a:tc>
                  <a:txBody>
                    <a:bodyPr/>
                    <a:lstStyle/>
                    <a:p>
                      <a:r>
                        <a:rPr sz="1050">
                          <a:solidFill>
                            <a:srgbClr val="25342A"/>
                          </a:solidFill>
                        </a:rPr>
                        <a:t>Gross margin on client work</a:t>
                      </a:r>
                    </a:p>
                  </a:txBody>
                  <a:tcPr>
                    <a:solidFill>
                      <a:srgbClr val="FFFFFF"/>
                    </a:solidFill>
                  </a:tcPr>
                </a:tc>
                <a:tc>
                  <a:txBody>
                    <a:bodyPr/>
                    <a:lstStyle/>
                    <a:p>
                      <a:pPr algn="r"/>
                      <a:r>
                        <a:rPr sz="1050">
                          <a:solidFill>
                            <a:srgbClr val="25342A"/>
                          </a:solidFill>
                        </a:rPr>
                        <a:t>$69,145</a:t>
                      </a:r>
                    </a:p>
                  </a:txBody>
                  <a:tcPr>
                    <a:solidFill>
                      <a:srgbClr val="FFFFFF"/>
                    </a:solidFill>
                  </a:tcPr>
                </a:tc>
              </a:tr>
              <a:tr h="329184">
                <a:tc>
                  <a:txBody>
                    <a:bodyPr/>
                    <a:lstStyle/>
                    <a:p>
                      <a:r>
                        <a:rPr sz="1050">
                          <a:solidFill>
                            <a:srgbClr val="25342A"/>
                          </a:solidFill>
                        </a:rPr>
                        <a:t>Consultant wages and on-costs</a:t>
                      </a:r>
                    </a:p>
                  </a:txBody>
                  <a:tcPr>
                    <a:solidFill>
                      <a:srgbClr val="F7FAF7"/>
                    </a:solidFill>
                  </a:tcPr>
                </a:tc>
                <a:tc>
                  <a:txBody>
                    <a:bodyPr/>
                    <a:lstStyle/>
                    <a:p>
                      <a:pPr algn="r"/>
                      <a:r>
                        <a:rPr sz="1050">
                          <a:solidFill>
                            <a:srgbClr val="25342A"/>
                          </a:solidFill>
                        </a:rPr>
                        <a:t>$46,500</a:t>
                      </a:r>
                    </a:p>
                  </a:txBody>
                  <a:tcPr>
                    <a:solidFill>
                      <a:srgbClr val="F7FAF7"/>
                    </a:solidFill>
                  </a:tcPr>
                </a:tc>
              </a:tr>
              <a:tr h="329184">
                <a:tc>
                  <a:txBody>
                    <a:bodyPr/>
                    <a:lstStyle/>
                    <a:p>
                      <a:r>
                        <a:rPr sz="1050">
                          <a:solidFill>
                            <a:srgbClr val="25342A"/>
                          </a:solidFill>
                        </a:rPr>
                        <a:t>Consultant time charged to client work (at cost)</a:t>
                      </a:r>
                    </a:p>
                  </a:txBody>
                  <a:tcPr>
                    <a:solidFill>
                      <a:srgbClr val="FFFFFF"/>
                    </a:solidFill>
                  </a:tcPr>
                </a:tc>
                <a:tc>
                  <a:txBody>
                    <a:bodyPr/>
                    <a:lstStyle/>
                    <a:p>
                      <a:pPr algn="r"/>
                      <a:r>
                        <a:rPr sz="1050">
                          <a:solidFill>
                            <a:srgbClr val="25342A"/>
                          </a:solidFill>
                        </a:rPr>
                        <a:t>$36,120</a:t>
                      </a:r>
                    </a:p>
                  </a:txBody>
                  <a:tcPr>
                    <a:solidFill>
                      <a:srgbClr val="FFFFFF"/>
                    </a:solidFill>
                  </a:tcPr>
                </a:tc>
              </a:tr>
              <a:tr h="329184">
                <a:tc>
                  <a:txBody>
                    <a:bodyPr/>
                    <a:lstStyle/>
                    <a:p>
                      <a:r>
                        <a:rPr sz="1050">
                          <a:solidFill>
                            <a:srgbClr val="25342A"/>
                          </a:solidFill>
                        </a:rPr>
                        <a:t>Consultant time not charged to client work</a:t>
                      </a:r>
                    </a:p>
                  </a:txBody>
                  <a:tcPr>
                    <a:solidFill>
                      <a:srgbClr val="F7FAF7"/>
                    </a:solidFill>
                  </a:tcPr>
                </a:tc>
                <a:tc>
                  <a:txBody>
                    <a:bodyPr/>
                    <a:lstStyle/>
                    <a:p>
                      <a:pPr algn="r"/>
                      <a:r>
                        <a:rPr sz="1050">
                          <a:solidFill>
                            <a:srgbClr val="25342A"/>
                          </a:solidFill>
                        </a:rPr>
                        <a:t>$10,380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$58,765</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$51,560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$7,205</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$109,865</a:t>
                      </a:r>
                    </a:p>
                  </a:txBody>
                  <a:tcPr>
                    <a:solidFill>
                      <a:srgbClr val="F7FAF7"/>
                    </a:solidFill>
                  </a:tcPr>
                </a:tc>
              </a:tr>
              <a:tr h="329184">
                <a:tc>
                  <a:txBody>
                    <a:bodyPr/>
                    <a:lstStyle/>
                    <a:p>
                      <a:r>
                        <a:rPr sz="1050">
                          <a:solidFill>
                            <a:srgbClr val="25342A"/>
                          </a:solidFill>
                        </a:rPr>
                        <a:t>Gross margin on client work, %</a:t>
                      </a:r>
                    </a:p>
                  </a:txBody>
                  <a:tcPr>
                    <a:solidFill>
                      <a:srgbClr val="FFFFFF"/>
                    </a:solidFill>
                  </a:tcPr>
                </a:tc>
                <a:tc>
                  <a:txBody>
                    <a:bodyPr/>
                    <a:lstStyle/>
                    <a:p>
                      <a:pPr algn="r"/>
                      <a:r>
                        <a:rPr sz="1050">
                          <a:solidFill>
                            <a:srgbClr val="25342A"/>
                          </a:solidFill>
                        </a:rPr>
                        <a:t>62.9%</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6.6%</a:t>
                      </a:r>
                    </a:p>
                  </a:txBody>
                  <a:tcPr>
                    <a:solidFill>
                      <a:srgbClr val="F7FAF7"/>
                    </a:solidFill>
                  </a:tcPr>
                </a:tc>
              </a:tr>
              <a:tr h="329184">
                <a:tc>
                  <a:txBody>
                    <a:bodyPr/>
                    <a:lstStyle/>
                    <a:p>
                      <a:r>
                        <a:rPr sz="1050">
                          <a:solidFill>
                            <a:srgbClr val="25342A"/>
                          </a:solidFill>
                        </a:rPr>
                        <a:t>Gross margin client work need just to cover overheads and time not charged</a:t>
                      </a:r>
                    </a:p>
                  </a:txBody>
                  <a:tcPr>
                    <a:solidFill>
                      <a:srgbClr val="FFFFFF"/>
                    </a:solidFill>
                  </a:tcPr>
                </a:tc>
                <a:tc>
                  <a:txBody>
                    <a:bodyPr/>
                    <a:lstStyle/>
                    <a:p>
                      <a:pPr algn="r"/>
                      <a:r>
                        <a:rPr sz="1050">
                          <a:solidFill>
                            <a:srgbClr val="25342A"/>
                          </a:solidFill>
                        </a:rPr>
                        <a:t>56.4%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42.4%</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$109,865 against $77,175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$734,240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63.8%</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$468,760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$734,240 this financial year to date (Jul to Mar 2026). Training makes the highest gross margin (74.0%); Projects the lowest (61.5%). The business needs 56.4%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74.0% gross margin, the most profitable work you do. Projects: 61.5% gross margin, the thinnest, still above the 56.4%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53.5%</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$75,165 against $48,975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$462,140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61.5%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$284,020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Projects brought in $462,140 this financial year to date, at a 61.5% gross margin (below the 63.8%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Projects: 61.5% gross margin, 5.1 points clear of the 56.4%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29.8%</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$28,300 against $21,800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$206,700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66.0%</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$136,320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Retainers brought in $206,700 this financial year to date, at a 66.0% gross margin (above the 63.8%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Retainers: 66.0% gross margin, 9.6 points clear of the 56.4%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0.0%</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$6,400 against $6,400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$65,400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74.0%</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$48,420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Training brought in $65,400 this financial year to date, at a 74.0% gross margin (above the 63.8%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74.0% gross margin, 17.7 points clear of the 56.4%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type of work: financial year to date (Jul to Mar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Projects</a:t>
                      </a:r>
                    </a:p>
                  </a:txBody>
                  <a:tcPr>
                    <a:solidFill>
                      <a:srgbClr val="FFFFFF"/>
                    </a:solidFill>
                  </a:tcPr>
                </a:tc>
                <a:tc>
                  <a:txBody>
                    <a:bodyPr/>
                    <a:lstStyle/>
                    <a:p>
                      <a:pPr algn="r"/>
                      <a:r>
                        <a:rPr sz="1050">
                          <a:solidFill>
                            <a:srgbClr val="25342A"/>
                          </a:solidFill>
                        </a:rPr>
                        <a:t>$462,140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$284,020</a:t>
                      </a:r>
                    </a:p>
                  </a:txBody>
                  <a:tcPr>
                    <a:solidFill>
                      <a:srgbClr val="FFFFFF"/>
                    </a:solidFill>
                  </a:tcPr>
                </a:tc>
                <a:tc>
                  <a:txBody>
                    <a:bodyPr/>
                    <a:lstStyle/>
                    <a:p>
                      <a:pPr algn="r"/>
                      <a:r>
                        <a:rPr sz="1050">
                          <a:solidFill>
                            <a:srgbClr val="25342A"/>
                          </a:solidFill>
                        </a:rPr>
                        <a:t>61.5%</a:t>
                      </a:r>
                    </a:p>
                  </a:txBody>
                  <a:tcPr>
                    <a:solidFill>
                      <a:srgbClr val="FFFFFF"/>
                    </a:solidFill>
                  </a:tcPr>
                </a:tc>
              </a:tr>
              <a:tr h="329184">
                <a:tc>
                  <a:txBody>
                    <a:bodyPr/>
                    <a:lstStyle/>
                    <a:p>
                      <a:r>
                        <a:rPr sz="1050">
                          <a:solidFill>
                            <a:srgbClr val="25342A"/>
                          </a:solidFill>
                        </a:rPr>
                        <a:t>Retainers</a:t>
                      </a:r>
                    </a:p>
                  </a:txBody>
                  <a:tcPr>
                    <a:solidFill>
                      <a:srgbClr val="F7FAF7"/>
                    </a:solidFill>
                  </a:tcPr>
                </a:tc>
                <a:tc>
                  <a:txBody>
                    <a:bodyPr/>
                    <a:lstStyle/>
                    <a:p>
                      <a:pPr algn="r"/>
                      <a:r>
                        <a:rPr sz="1050">
                          <a:solidFill>
                            <a:srgbClr val="25342A"/>
                          </a:solidFill>
                        </a:rPr>
                        <a:t>$206,700</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$136,320</a:t>
                      </a:r>
                    </a:p>
                  </a:txBody>
                  <a:tcPr>
                    <a:solidFill>
                      <a:srgbClr val="F7FAF7"/>
                    </a:solidFill>
                  </a:tcPr>
                </a:tc>
                <a:tc>
                  <a:txBody>
                    <a:bodyPr/>
                    <a:lstStyle/>
                    <a:p>
                      <a:pPr algn="r"/>
                      <a:r>
                        <a:rPr sz="1050">
                          <a:solidFill>
                            <a:srgbClr val="25342A"/>
                          </a:solidFill>
                        </a:rPr>
                        <a:t>66.0%</a:t>
                      </a:r>
                    </a:p>
                  </a:txBody>
                  <a:tcPr>
                    <a:solidFill>
                      <a:srgbClr val="F7FAF7"/>
                    </a:solidFill>
                  </a:tcPr>
                </a:tc>
              </a:tr>
              <a:tr h="329184">
                <a:tc>
                  <a:txBody>
                    <a:bodyPr/>
                    <a:lstStyle/>
                    <a:p>
                      <a:r>
                        <a:rPr sz="1050">
                          <a:solidFill>
                            <a:srgbClr val="25342A"/>
                          </a:solidFill>
                        </a:rPr>
                        <a:t>Training</a:t>
                      </a:r>
                    </a:p>
                  </a:txBody>
                  <a:tcPr>
                    <a:solidFill>
                      <a:srgbClr val="FFFFFF"/>
                    </a:solidFill>
                  </a:tcPr>
                </a:tc>
                <a:tc>
                  <a:txBody>
                    <a:bodyPr/>
                    <a:lstStyle/>
                    <a:p>
                      <a:pPr algn="r"/>
                      <a:r>
                        <a:rPr sz="1050">
                          <a:solidFill>
                            <a:srgbClr val="25342A"/>
                          </a:solidFill>
                        </a:rPr>
                        <a:t>$65,400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$48,420</a:t>
                      </a:r>
                    </a:p>
                  </a:txBody>
                  <a:tcPr>
                    <a:solidFill>
                      <a:srgbClr val="FFFFFF"/>
                    </a:solidFill>
                  </a:tcPr>
                </a:tc>
                <a:tc>
                  <a:txBody>
                    <a:bodyPr/>
                    <a:lstStyle/>
                    <a:p>
                      <a:pPr algn="r"/>
                      <a:r>
                        <a:rPr sz="1050">
                          <a:solidFill>
                            <a:srgbClr val="25342A"/>
                          </a:solidFill>
                        </a:rPr>
                        <a:t>74.0%</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$734,240</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$468,760</a:t>
                      </a:r>
                    </a:p>
                  </a:txBody>
                  <a:tcPr>
                    <a:solidFill>
                      <a:srgbClr val="F7FAF7"/>
                    </a:solidFill>
                  </a:tcPr>
                </a:tc>
                <a:tc>
                  <a:txBody>
                    <a:bodyPr/>
                    <a:lstStyle/>
                    <a:p>
                      <a:pPr algn="r"/>
                      <a:r>
                        <a:rPr sz="1050" b="1">
                          <a:solidFill>
                            <a:srgbClr val="25342A"/>
                          </a:solidFill>
                        </a:rPr>
                        <a:t>63.8%</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