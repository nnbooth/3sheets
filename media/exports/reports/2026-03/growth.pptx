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March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March's jobs made $68,158 gross margin (35.6%). Technician time not charged to jobs took ($1,092) and overheads $59,200, leaving $10,050 profit before tax (5.2% of revenue). To cover overheads, jobs need a 30.3%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March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$68,158</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$55,692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($1,092)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$69,250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$10,050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$191,500</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5.2%</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30.3%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$191,500 against $135,082</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$1,445,594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$536,342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$1,445,594 this financial year to date (Jul to Mar 2026). Maintenance contracts make the highest gross margin (59.5%); Installations the lowest (27.7%). The business needs 30.3%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27.7%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$317,800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$189,082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$317,800 this financial year to date, at a 59.5%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29.2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50.3%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$129,400 against $86,100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$907,100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$250,878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$907,100 this financial year to date, at a 27.7% gross margin (below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27.7%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$24,600 against $21,052</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$220,694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$96,382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$220,694 this financial year to date, at a 43.7%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13.3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Mar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$317,800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$189,082</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$907,100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$250,878</a:t>
                      </a:r>
                    </a:p>
                  </a:txBody>
                  <a:tcPr>
                    <a:solidFill>
                      <a:srgbClr val="F7FAF7"/>
                    </a:solidFill>
                  </a:tcPr>
                </a:tc>
                <a:tc>
                  <a:txBody>
                    <a:bodyPr/>
                    <a:lstStyle/>
                    <a:p>
                      <a:pPr algn="r">
                        <a:defRPr>
                          <a:latin typeface="Roboto"/>
                        </a:defRPr>
                      </a:pPr>
                      <a:r>
                        <a:rPr sz="1050">
                          <a:solidFill>
                            <a:srgbClr val="25342A"/>
                          </a:solidFill>
                          <a:latin typeface="Roboto"/>
                        </a:rPr>
                        <a:t>27.7%</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$220,694</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$96,382</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$1,445,594</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$536,342</a:t>
                      </a:r>
                    </a:p>
                  </a:txBody>
                  <a:tcPr>
                    <a:solidFill>
                      <a:srgbClr val="F7FAF7"/>
                    </a:solidFill>
                  </a:tcPr>
                </a:tc>
                <a:tc>
                  <a:txBody>
                    <a:bodyPr/>
                    <a:lstStyle/>
                    <a:p>
                      <a:pPr algn="r">
                        <a:defRPr>
                          <a:latin typeface="Roboto"/>
                        </a:defRPr>
                      </a:pPr>
                      <a:r>
                        <a:rPr sz="1050" b="1">
                          <a:solidFill>
                            <a:srgbClr val="25342A"/>
                          </a:solidFill>
                          <a:latin typeface="Roboto"/>
                        </a:rPr>
                        <a:t>37.1%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March's client work made $69,145 gross margin (62.9%). Consultant time not charged to client work took $10,380 and overheads $51,560, leaving $7,205 profit before tax (6.6% of revenue). To cover overheads, client work needs a 56.4%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March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$69,145</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$36,120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$10,380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$58,765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$51,560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$7,205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$109,865</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62.9%</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6.6%</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56.4%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42.4%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$109,865 against $77,175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$734,240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63.8%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$468,760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$734,240 this financial year to date (Jul to Mar 2026). Training makes the highest gross margin (74.0%); Projects the lowest (61.5%). The business needs 56.4%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74.0% gross margin, the most profitable work you do. Projects: 61.5% gross margin, the thinnest, still above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53.5%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$75,165 against $48,975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$462,140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$284,020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$462,140 this financial year to date, at a 61.5% gross margin (below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61.5% gross margin, 5.1 points clear of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$206,700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66.0%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$136,320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$206,700 this financial year to date, at a 66.0%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66.0% gross margin, 9.6 points clear of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0.0%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$65,400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$48,420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$65,400 this financial year to date, at a 74.0%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74.0% gross margin, 17.7 points clear of the 56.4%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Mar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$462,140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$284,020</a:t>
                      </a:r>
                    </a:p>
                  </a:txBody>
                  <a:tcPr>
                    <a:solidFill>
                      <a:srgbClr val="FFFFFF"/>
                    </a:solidFill>
                  </a:tcPr>
                </a:tc>
                <a:tc>
                  <a:txBody>
                    <a:bodyPr/>
                    <a:lstStyle/>
                    <a:p>
                      <a:pPr algn="r">
                        <a:defRPr>
                          <a:latin typeface="Roboto"/>
                        </a:defRPr>
                      </a:pPr>
                      <a:r>
                        <a:rPr sz="1050">
                          <a:solidFill>
                            <a:srgbClr val="25342A"/>
                          </a:solidFill>
                          <a:latin typeface="Roboto"/>
                        </a:rPr>
                        <a:t>61.5%</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$206,700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$136,320</a:t>
                      </a:r>
                    </a:p>
                  </a:txBody>
                  <a:tcPr>
                    <a:solidFill>
                      <a:srgbClr val="F7FAF7"/>
                    </a:solidFill>
                  </a:tcPr>
                </a:tc>
                <a:tc>
                  <a:txBody>
                    <a:bodyPr/>
                    <a:lstStyle/>
                    <a:p>
                      <a:pPr algn="r">
                        <a:defRPr>
                          <a:latin typeface="Roboto"/>
                        </a:defRPr>
                      </a:pPr>
                      <a:r>
                        <a:rPr sz="1050">
                          <a:solidFill>
                            <a:srgbClr val="25342A"/>
                          </a:solidFill>
                          <a:latin typeface="Roboto"/>
                        </a:rPr>
                        <a:t>66.0%</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$65,400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$48,420</a:t>
                      </a:r>
                    </a:p>
                  </a:txBody>
                  <a:tcPr>
                    <a:solidFill>
                      <a:srgbClr val="FFFFFF"/>
                    </a:solidFill>
                  </a:tcPr>
                </a:tc>
                <a:tc>
                  <a:txBody>
                    <a:bodyPr/>
                    <a:lstStyle/>
                    <a:p>
                      <a:pPr algn="r">
                        <a:defRPr>
                          <a:latin typeface="Roboto"/>
                        </a:defRPr>
                      </a:pPr>
                      <a:r>
                        <a:rPr sz="1050">
                          <a:solidFill>
                            <a:srgbClr val="25342A"/>
                          </a:solidFill>
                          <a:latin typeface="Roboto"/>
                        </a:rPr>
                        <a:t>74.0%</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$734,240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$468,760</a:t>
                      </a:r>
                    </a:p>
                  </a:txBody>
                  <a:tcPr>
                    <a:solidFill>
                      <a:srgbClr val="F7FAF7"/>
                    </a:solidFill>
                  </a:tcPr>
                </a:tc>
                <a:tc>
                  <a:txBody>
                    <a:bodyPr/>
                    <a:lstStyle/>
                    <a:p>
                      <a:pPr algn="r">
                        <a:defRPr>
                          <a:latin typeface="Roboto"/>
                        </a:defRPr>
                      </a:pPr>
                      <a:r>
                        <a:rPr sz="1050" b="1">
                          <a:solidFill>
                            <a:srgbClr val="25342A"/>
                          </a:solidFill>
                          <a:latin typeface="Roboto"/>
                        </a:rPr>
                        <a:t>63.8%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