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108140</c:v>
                </c:pt>
                <c:pt idx="1">
                  <c:v>114895</c:v>
                </c:pt>
                <c:pt idx="2">
                  <c:v>88250</c:v>
                </c:pt>
                <c:pt idx="3">
                  <c:v>111010</c:v>
                </c:pt>
                <c:pt idx="4">
                  <c:v>77175</c:v>
                </c:pt>
                <c:pt idx="5">
                  <c:v>63970</c:v>
                </c:pt>
                <c:pt idx="6">
                  <c:v>95555</c:v>
                </c:pt>
                <c:pt idx="7">
                  <c:v>90220</c:v>
                </c:pt>
                <c:pt idx="8">
                  <c:v>86320</c:v>
                </c:pt>
                <c:pt idx="9">
                  <c:v>61475</c:v>
                </c:pt>
                <c:pt idx="10">
                  <c:v>59535</c:v>
                </c:pt>
                <c:pt idx="11">
                  <c:v>71260</c:v>
                </c:pt>
                <c:pt idx="12">
                  <c:v>83940</c:v>
                </c:pt>
                <c:pt idx="13">
                  <c:v>69420</c:v>
                </c:pt>
                <c:pt idx="14">
                  <c:v>92370</c:v>
                </c:pt>
                <c:pt idx="15">
                  <c:v>100055</c:v>
                </c:pt>
                <c:pt idx="16">
                  <c:v>109865</c:v>
                </c:pt>
                <c:pt idx="17">
                  <c:v>80590</c:v>
                </c:pt>
                <c:pt idx="18">
                  <c:v>77090</c:v>
                </c:pt>
                <c:pt idx="19">
                  <c:v>115550</c:v>
                </c:pt>
                <c:pt idx="20">
                  <c:v>120755</c:v>
                </c:pt>
                <c:pt idx="21">
                  <c:v>114640</c:v>
                </c:pt>
                <c:pt idx="22">
                  <c:v>131850</c:v>
                </c:pt>
                <c:pt idx="23">
                  <c:v>44605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88540</c:v>
                </c:pt>
                <c:pt idx="1">
                  <c:v>94695</c:v>
                </c:pt>
                <c:pt idx="2">
                  <c:v>66850</c:v>
                </c:pt>
                <c:pt idx="3">
                  <c:v>84410</c:v>
                </c:pt>
                <c:pt idx="4">
                  <c:v>48975</c:v>
                </c:pt>
                <c:pt idx="5">
                  <c:v>37570</c:v>
                </c:pt>
                <c:pt idx="6">
                  <c:v>59755</c:v>
                </c:pt>
                <c:pt idx="7">
                  <c:v>64520</c:v>
                </c:pt>
                <c:pt idx="8">
                  <c:v>64820</c:v>
                </c:pt>
                <c:pt idx="9">
                  <c:v>38775</c:v>
                </c:pt>
                <c:pt idx="10">
                  <c:v>38035</c:v>
                </c:pt>
                <c:pt idx="11">
                  <c:v>45860</c:v>
                </c:pt>
                <c:pt idx="12">
                  <c:v>46840</c:v>
                </c:pt>
                <c:pt idx="13">
                  <c:v>29520</c:v>
                </c:pt>
                <c:pt idx="14">
                  <c:v>60170</c:v>
                </c:pt>
                <c:pt idx="15">
                  <c:v>62955</c:v>
                </c:pt>
                <c:pt idx="16">
                  <c:v>75165</c:v>
                </c:pt>
                <c:pt idx="17">
                  <c:v>47090</c:v>
                </c:pt>
                <c:pt idx="18">
                  <c:v>43590</c:v>
                </c:pt>
                <c:pt idx="19">
                  <c:v>76650</c:v>
                </c:pt>
                <c:pt idx="20">
                  <c:v>79455</c:v>
                </c:pt>
                <c:pt idx="21">
                  <c:v>75740</c:v>
                </c:pt>
                <c:pt idx="22">
                  <c:v>85950</c:v>
                </c:pt>
                <c:pt idx="23">
                  <c:v>12105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21800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16300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28300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  <c:pt idx="17">
                  <c:v>28300</c:v>
                </c:pt>
                <c:pt idx="18">
                  <c:v>28300</c:v>
                </c:pt>
                <c:pt idx="19">
                  <c:v>32500</c:v>
                </c:pt>
                <c:pt idx="20">
                  <c:v>32500</c:v>
                </c:pt>
                <c:pt idx="21">
                  <c:v>32500</c:v>
                </c:pt>
                <c:pt idx="22">
                  <c:v>32500</c:v>
                </c:pt>
                <c:pt idx="23">
                  <c:v>32500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4600</c:v>
                </c:pt>
                <c:pt idx="1">
                  <c:v>5200</c:v>
                </c:pt>
                <c:pt idx="2">
                  <c:v>6400</c:v>
                </c:pt>
                <c:pt idx="3">
                  <c:v>11600</c:v>
                </c:pt>
                <c:pt idx="4">
                  <c:v>6400</c:v>
                </c:pt>
                <c:pt idx="5">
                  <c:v>4600</c:v>
                </c:pt>
                <c:pt idx="6">
                  <c:v>14000</c:v>
                </c:pt>
                <c:pt idx="7">
                  <c:v>3900</c:v>
                </c:pt>
                <c:pt idx="8">
                  <c:v>5200</c:v>
                </c:pt>
                <c:pt idx="9">
                  <c:v>6400</c:v>
                </c:pt>
                <c:pt idx="10">
                  <c:v>5200</c:v>
                </c:pt>
                <c:pt idx="11">
                  <c:v>9100</c:v>
                </c:pt>
                <c:pt idx="12">
                  <c:v>8800</c:v>
                </c:pt>
                <c:pt idx="13">
                  <c:v>11600</c:v>
                </c:pt>
                <c:pt idx="14">
                  <c:v>3900</c:v>
                </c:pt>
                <c:pt idx="15">
                  <c:v>8800</c:v>
                </c:pt>
                <c:pt idx="16">
                  <c:v>6400</c:v>
                </c:pt>
                <c:pt idx="17">
                  <c:v>5200</c:v>
                </c:pt>
                <c:pt idx="18">
                  <c:v>5200</c:v>
                </c:pt>
                <c:pt idx="19">
                  <c:v>6400</c:v>
                </c:pt>
                <c:pt idx="20">
                  <c:v>8800</c:v>
                </c:pt>
                <c:pt idx="21">
                  <c:v>6400</c:v>
                </c:pt>
                <c:pt idx="22">
                  <c:v>13400</c:v>
                </c:pt>
                <c:pt idx="2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October 2026 to date.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October so far against October last year: (37.4%); Year to date against the same period last year: 47.8%; Gross margin, year to date: 60.3%. Revenue is 47.8% up on the same period last year, year to date ($411,850 against $278,590). Retainers make the highest gross margin (68.5%); Projects the lowest (56.3%). The business needs 40.0% gross margin just to cover overheads. Projects: 56.3% gross margin, 16.3 points over the 40.0% target ($41,250 ahead on $253,250 this financial year to date). Retainers: 68.5% gross margin, 28.5 points over the 40.0% target ($37,020 ahead on $130,000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October so far against October last year: (73.6%); Year to date against the same period last year: 35.1%; Gross margin, year to date: 56.3%. Projects brought in $253,250 this financial year to date, 35.1% on the same period last year (slower than the business as a whole, 47.8%), at a 56.3% gross margin (below the 60.3% overall). Projects: 56.3% gross margin, 16.3 points over the 40.0% target ($41,250 ahead on $253,250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October so far against October last year: 99.4%; Year to date against the same period last year: 99.4%; Gross margin, year to date: 68.5%. Retainers brought in $130,000 this financial year to date, 99.4% on the same period last year (faster than the business as a whole, 47.8%), at a 68.5% gross margin (above the 60.3% overall). Retainers: 68.5% gross margin, 28.5 points over the 40.0% target ($37,020 ahead on $130,000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October so far against October last year: (100.0%); Year to date against the same period last year: 10.4%; Gross margin, year to date: 58.0%. Training brought in $28,600 this financial year to date, 10.4% on the same period last year (slower than the business as a whole, 47.8%), at a 58.0% gross margin (below the 60.3% overall). Training: 58.0% gross margin, 18.0 points over the 40.0% target ($5,160 ahead on $28,600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Oct 2026) against the same period last year · Services. From gross margin to profit · latest closed month: September: October is still in progress and wages are paid fortnightly, so a part month can't be bridged: this is September, the latest closed month. September's client work made $68,410 gross margin (51.9%). Consultant time not charged to client work took $660 and overheads $52,140, leaving $15,610 profit before tax (11.8% of revenue). To cover overheads, client work needs a 40.0%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(37.4%)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$44,605 against $71,260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$411,850 against $278,590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$248,170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47.8% up on the same period last year, year to date ($411,850 against $278,590). Retainers make the highest gross margin (68.5%); Projects the lowest (56.3%). The business needs 40.0%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56.3% gross margin, 16.3 points over the 40.0% target ($41,250 ahead on $253,250 this financial year to date). Retainers: 68.5% gross margin, 28.5 points over the 40.0% target ($37,020 ahead on $130,000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(73.6%)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$12,105 against $45,860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$253,250 against $187,490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56.3%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$142,550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$253,250 this financial year to date, 35.1% on the same period last year (slower than the business as a whole, 47.8%), at a 56.3% gross margin (below the 60.3%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56.3% gross margin, 16.3 points over the 40.0% target ($41,250 ahead on $253,250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$32,500 against $16,300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$130,000 against $65,200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$89,020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$130,000 this financial year to date, 99.4% on the same period last year (faster than the business as a whole, 47.8%), at a 68.5% gross margin (above the 60.3%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68.5% gross margin, 28.5 points over the 40.0% target ($37,020 ahead on $130,000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(100.0%)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$0 against $9,100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$28,600 against $25,900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$16,600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$28,600 this financial year to date, 10.4% on the same period last year (slower than the business as a whole, 47.8%), at a 58.0% gross margin (below the 60.3%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58.0% gross margin, 18.0 points over the 40.0% target ($5,160 ahead on $28,600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Oct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835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 · latest closed month: September: October is still in progress and wages are paid fortnightly, so a part month can't be bridged: this is September, the latest closed month. September's client work made $68,410 gross margin (51.9%). Consultant time not charged to client work took $660 and overheads $52,140, leaving $15,610 profit before tax (11.8% of revenue). To cover overheads, client work needs a 40.0%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93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$253,250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$187,490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$142,550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$65,200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$89,020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$411,850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$278,590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47.8%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$248,170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60.3%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