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179474</c:v>
                </c:pt>
                <c:pt idx="1">
                  <c:v>143156</c:v>
                </c:pt>
                <c:pt idx="2">
                  <c:v>140909</c:v>
                </c:pt>
                <c:pt idx="3">
                  <c:v>160943</c:v>
                </c:pt>
                <c:pt idx="4">
                  <c:v>135082</c:v>
                </c:pt>
                <c:pt idx="5">
                  <c:v>124705</c:v>
                </c:pt>
                <c:pt idx="6">
                  <c:v>129816</c:v>
                </c:pt>
                <c:pt idx="7">
                  <c:v>164113</c:v>
                </c:pt>
                <c:pt idx="8">
                  <c:v>186760</c:v>
                </c:pt>
                <c:pt idx="9">
                  <c:v>139164</c:v>
                </c:pt>
                <c:pt idx="10">
                  <c:v>128255</c:v>
                </c:pt>
                <c:pt idx="11">
                  <c:v>128898</c:v>
                </c:pt>
                <c:pt idx="12">
                  <c:v>174786</c:v>
                </c:pt>
                <c:pt idx="13">
                  <c:v>135079</c:v>
                </c:pt>
                <c:pt idx="14">
                  <c:v>164780</c:v>
                </c:pt>
                <c:pt idx="15">
                  <c:v>196372</c:v>
                </c:pt>
                <c:pt idx="16">
                  <c:v>191500</c:v>
                </c:pt>
                <c:pt idx="17">
                  <c:v>164987</c:v>
                </c:pt>
                <c:pt idx="18">
                  <c:v>161963</c:v>
                </c:pt>
                <c:pt idx="19">
                  <c:v>173163</c:v>
                </c:pt>
                <c:pt idx="20">
                  <c:v>193245</c:v>
                </c:pt>
                <c:pt idx="21">
                  <c:v>179007</c:v>
                </c:pt>
                <c:pt idx="22">
                  <c:v>202337</c:v>
                </c:pt>
                <c:pt idx="23">
                  <c:v>76875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37.0</c:v>
                </c:pt>
                <c:pt idx="1">
                  <c:v>40.4</c:v>
                </c:pt>
                <c:pt idx="2">
                  <c:v>42.7</c:v>
                </c:pt>
                <c:pt idx="3">
                  <c:v>36.4</c:v>
                </c:pt>
                <c:pt idx="4">
                  <c:v>36.5</c:v>
                </c:pt>
                <c:pt idx="5">
                  <c:v>38.4</c:v>
                </c:pt>
                <c:pt idx="6">
                  <c:v>35.5</c:v>
                </c:pt>
                <c:pt idx="7">
                  <c:v>40.5</c:v>
                </c:pt>
                <c:pt idx="8">
                  <c:v>35.6</c:v>
                </c:pt>
                <c:pt idx="9">
                  <c:v>43.8</c:v>
                </c:pt>
                <c:pt idx="10">
                  <c:v>37.6</c:v>
                </c:pt>
                <c:pt idx="11">
                  <c:v>38.4</c:v>
                </c:pt>
                <c:pt idx="12">
                  <c:v>33.7</c:v>
                </c:pt>
                <c:pt idx="13">
                  <c:v>37.4</c:v>
                </c:pt>
                <c:pt idx="14">
                  <c:v>35.3</c:v>
                </c:pt>
                <c:pt idx="15">
                  <c:v>38.6</c:v>
                </c:pt>
                <c:pt idx="16">
                  <c:v>35.6</c:v>
                </c:pt>
                <c:pt idx="17">
                  <c:v>41.7</c:v>
                </c:pt>
                <c:pt idx="18">
                  <c:v>39.0</c:v>
                </c:pt>
                <c:pt idx="19">
                  <c:v>38.5</c:v>
                </c:pt>
                <c:pt idx="20">
                  <c:v>36.8</c:v>
                </c:pt>
                <c:pt idx="21">
                  <c:v>41.1</c:v>
                </c:pt>
                <c:pt idx="22">
                  <c:v>36.1</c:v>
                </c:pt>
                <c:pt idx="23">
                  <c:v>42.8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$#,##0;[Red]($#,##0);"-"</c:formatCode>
                <c:ptCount val="24"/>
                <c:pt idx="0">
                  <c:v>108140</c:v>
                </c:pt>
                <c:pt idx="1">
                  <c:v>114895</c:v>
                </c:pt>
                <c:pt idx="2">
                  <c:v>88250</c:v>
                </c:pt>
                <c:pt idx="3">
                  <c:v>111010</c:v>
                </c:pt>
                <c:pt idx="4">
                  <c:v>77175</c:v>
                </c:pt>
                <c:pt idx="5">
                  <c:v>63970</c:v>
                </c:pt>
                <c:pt idx="6">
                  <c:v>95555</c:v>
                </c:pt>
                <c:pt idx="7">
                  <c:v>90220</c:v>
                </c:pt>
                <c:pt idx="8">
                  <c:v>86320</c:v>
                </c:pt>
                <c:pt idx="9">
                  <c:v>61475</c:v>
                </c:pt>
                <c:pt idx="10">
                  <c:v>59535</c:v>
                </c:pt>
                <c:pt idx="11">
                  <c:v>71260</c:v>
                </c:pt>
                <c:pt idx="12">
                  <c:v>83940</c:v>
                </c:pt>
                <c:pt idx="13">
                  <c:v>69420</c:v>
                </c:pt>
                <c:pt idx="14">
                  <c:v>92370</c:v>
                </c:pt>
                <c:pt idx="15">
                  <c:v>100055</c:v>
                </c:pt>
                <c:pt idx="16">
                  <c:v>109865</c:v>
                </c:pt>
                <c:pt idx="17">
                  <c:v>80590</c:v>
                </c:pt>
                <c:pt idx="18">
                  <c:v>77090</c:v>
                </c:pt>
                <c:pt idx="19">
                  <c:v>115550</c:v>
                </c:pt>
                <c:pt idx="20">
                  <c:v>120755</c:v>
                </c:pt>
                <c:pt idx="21">
                  <c:v>114640</c:v>
                </c:pt>
                <c:pt idx="22">
                  <c:v>131850</c:v>
                </c:pt>
                <c:pt idx="23">
                  <c:v>44605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Nov 24</c:v>
                </c:pt>
                <c:pt idx="1">
                  <c:v>Dec 24</c:v>
                </c:pt>
                <c:pt idx="2">
                  <c:v>Jan 25</c:v>
                </c:pt>
                <c:pt idx="3">
                  <c:v>Feb 25</c:v>
                </c:pt>
                <c:pt idx="4">
                  <c:v>Mar 25</c:v>
                </c:pt>
                <c:pt idx="5">
                  <c:v>Apr 25</c:v>
                </c:pt>
                <c:pt idx="6">
                  <c:v>May 25</c:v>
                </c:pt>
                <c:pt idx="7">
                  <c:v>Jun 25</c:v>
                </c:pt>
                <c:pt idx="8">
                  <c:v>Jul 25</c:v>
                </c:pt>
                <c:pt idx="9">
                  <c:v>Aug 25</c:v>
                </c:pt>
                <c:pt idx="10">
                  <c:v>Sep 25</c:v>
                </c:pt>
                <c:pt idx="11">
                  <c:v>Oct 25</c:v>
                </c:pt>
                <c:pt idx="12">
                  <c:v>Nov 25</c:v>
                </c:pt>
                <c:pt idx="13">
                  <c:v>Dec 25</c:v>
                </c:pt>
                <c:pt idx="14">
                  <c:v>Jan 26</c:v>
                </c:pt>
                <c:pt idx="15">
                  <c:v>Feb 26</c:v>
                </c:pt>
                <c:pt idx="16">
                  <c:v>Mar 26</c:v>
                </c:pt>
                <c:pt idx="17">
                  <c:v>Apr 26</c:v>
                </c:pt>
                <c:pt idx="18">
                  <c:v>May 26</c:v>
                </c:pt>
                <c:pt idx="19">
                  <c:v>Jun 26</c:v>
                </c:pt>
                <c:pt idx="20">
                  <c:v>Jul 26</c:v>
                </c:pt>
                <c:pt idx="21">
                  <c:v>Aug 26</c:v>
                </c:pt>
                <c:pt idx="22">
                  <c:v>Sep 26</c:v>
                </c:pt>
                <c:pt idx="23">
                  <c:v>Oct 26</c:v>
                </c:pt>
              </c:strCache>
            </c:strRef>
          </c:cat>
          <c:val>
            <c:numRef>
              <c:f>Sheet1!$B$2:$B$25</c:f>
              <c:numCache>
                <c:formatCode>0.0"%";[Red](0.0"%")</c:formatCode>
                <c:ptCount val="24"/>
                <c:pt idx="0">
                  <c:v>63.0</c:v>
                </c:pt>
                <c:pt idx="1">
                  <c:v>62.6</c:v>
                </c:pt>
                <c:pt idx="2">
                  <c:v>62.3</c:v>
                </c:pt>
                <c:pt idx="3">
                  <c:v>61.4</c:v>
                </c:pt>
                <c:pt idx="4">
                  <c:v>58.6</c:v>
                </c:pt>
                <c:pt idx="5">
                  <c:v>60.1</c:v>
                </c:pt>
                <c:pt idx="6">
                  <c:v>62.2</c:v>
                </c:pt>
                <c:pt idx="7">
                  <c:v>60.8</c:v>
                </c:pt>
                <c:pt idx="8">
                  <c:v>62.0</c:v>
                </c:pt>
                <c:pt idx="9">
                  <c:v>65.3</c:v>
                </c:pt>
                <c:pt idx="10">
                  <c:v>65.9</c:v>
                </c:pt>
                <c:pt idx="11">
                  <c:v>64.2</c:v>
                </c:pt>
                <c:pt idx="12">
                  <c:v>62.9</c:v>
                </c:pt>
                <c:pt idx="13">
                  <c:v>64.7</c:v>
                </c:pt>
                <c:pt idx="14">
                  <c:v>64.8</c:v>
                </c:pt>
                <c:pt idx="15">
                  <c:v>63.4</c:v>
                </c:pt>
                <c:pt idx="16">
                  <c:v>62.9</c:v>
                </c:pt>
                <c:pt idx="17">
                  <c:v>65.4</c:v>
                </c:pt>
                <c:pt idx="18">
                  <c:v>64.1</c:v>
                </c:pt>
                <c:pt idx="19">
                  <c:v>60.1</c:v>
                </c:pt>
                <c:pt idx="20">
                  <c:v>60.5</c:v>
                </c:pt>
                <c:pt idx="21">
                  <c:v>60.1</c:v>
                </c:pt>
                <c:pt idx="22">
                  <c:v>59.8</c:v>
                </c:pt>
                <c:pt idx="23">
                  <c:v>86.7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October 2026 to date.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September 2026: Locked. September 2026 is locked (closed 2 Oct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$73,107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$51,170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$3,430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$69,677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$59,580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$202,337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(40.4%)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$76,875 against $128,898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11.7%</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$651,464 against $583,077</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38.5%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$250,758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11.7% up on the same period last year, year to date ($651,464 against $583,077). Maintenance contracts make the highest gross margin (59.5%); Installations the lowest (28.8%). The business needs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28.8%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13.1%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$40,500 against $35,800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19.6%</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$162,000 against $135,400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$96,464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$162,000 this financial year to date, 19.6% on the same period last year (faster than the business as a whole, 11.7%), at a 59.5% gross margin (above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28.4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(53.4%)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$33,000 against $70,800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9.0%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$400,900 against $367,900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28.8%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$115,550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$400,900 this financial year to date, 9.0% on the same period last year (slower than the business as a whole, 11.7%), at a 28.8% gross margin (below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28.8%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(84.9%)</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$3,375 against $22,298</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11.0%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$88,564 against $79,777</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$38,744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$88,564 this financial year to date, 11.0% on the same period last year (slower than the business as a whole, 11.7%), at a 43.7% gross margin (above the 38.5%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43.7% gross margin, 12.6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Oct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$162,000</a:t>
                      </a:r>
                    </a:p>
                  </a:txBody>
                  <a:tcPr>
                    <a:solidFill>
                      <a:srgbClr val="FFFFFF"/>
                    </a:solidFill>
                  </a:tcPr>
                </a:tc>
                <a:tc>
                  <a:txBody>
                    <a:bodyPr/>
                    <a:lstStyle/>
                    <a:p>
                      <a:pPr algn="r"/>
                      <a:r>
                        <a:rPr sz="1050">
                          <a:solidFill>
                            <a:srgbClr val="25342A"/>
                          </a:solidFill>
                        </a:rPr>
                        <a:t>$135,400</a:t>
                      </a:r>
                    </a:p>
                  </a:txBody>
                  <a:tcPr>
                    <a:solidFill>
                      <a:srgbClr val="FFFFFF"/>
                    </a:solidFill>
                  </a:tcPr>
                </a:tc>
                <a:tc>
                  <a:txBody>
                    <a:bodyPr/>
                    <a:lstStyle/>
                    <a:p>
                      <a:pPr algn="r"/>
                      <a:r>
                        <a:rPr sz="1050">
                          <a:solidFill>
                            <a:srgbClr val="25342A"/>
                          </a:solidFill>
                        </a:rPr>
                        <a:t>19.6%</a:t>
                      </a:r>
                    </a:p>
                  </a:txBody>
                  <a:tcPr>
                    <a:solidFill>
                      <a:srgbClr val="FFFFFF"/>
                    </a:solidFill>
                  </a:tcPr>
                </a:tc>
                <a:tc>
                  <a:txBody>
                    <a:bodyPr/>
                    <a:lstStyle/>
                    <a:p>
                      <a:pPr algn="r"/>
                      <a:r>
                        <a:rPr sz="1050">
                          <a:solidFill>
                            <a:srgbClr val="25342A"/>
                          </a:solidFill>
                        </a:rPr>
                        <a:t>$96,464</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$400,900</a:t>
                      </a:r>
                    </a:p>
                  </a:txBody>
                  <a:tcPr>
                    <a:solidFill>
                      <a:srgbClr val="F7FAF7"/>
                    </a:solidFill>
                  </a:tcPr>
                </a:tc>
                <a:tc>
                  <a:txBody>
                    <a:bodyPr/>
                    <a:lstStyle/>
                    <a:p>
                      <a:pPr algn="r"/>
                      <a:r>
                        <a:rPr sz="1050">
                          <a:solidFill>
                            <a:srgbClr val="25342A"/>
                          </a:solidFill>
                        </a:rPr>
                        <a:t>$367,900</a:t>
                      </a:r>
                    </a:p>
                  </a:txBody>
                  <a:tcPr>
                    <a:solidFill>
                      <a:srgbClr val="F7FAF7"/>
                    </a:solidFill>
                  </a:tcPr>
                </a:tc>
                <a:tc>
                  <a:txBody>
                    <a:bodyPr/>
                    <a:lstStyle/>
                    <a:p>
                      <a:pPr algn="r"/>
                      <a:r>
                        <a:rPr sz="1050">
                          <a:solidFill>
                            <a:srgbClr val="25342A"/>
                          </a:solidFill>
                        </a:rPr>
                        <a:t>9.0%</a:t>
                      </a:r>
                    </a:p>
                  </a:txBody>
                  <a:tcPr>
                    <a:solidFill>
                      <a:srgbClr val="F7FAF7"/>
                    </a:solidFill>
                  </a:tcPr>
                </a:tc>
                <a:tc>
                  <a:txBody>
                    <a:bodyPr/>
                    <a:lstStyle/>
                    <a:p>
                      <a:pPr algn="r"/>
                      <a:r>
                        <a:rPr sz="1050">
                          <a:solidFill>
                            <a:srgbClr val="25342A"/>
                          </a:solidFill>
                        </a:rPr>
                        <a:t>$115,550</a:t>
                      </a:r>
                    </a:p>
                  </a:txBody>
                  <a:tcPr>
                    <a:solidFill>
                      <a:srgbClr val="F7FAF7"/>
                    </a:solidFill>
                  </a:tcPr>
                </a:tc>
                <a:tc>
                  <a:txBody>
                    <a:bodyPr/>
                    <a:lstStyle/>
                    <a:p>
                      <a:pPr algn="r"/>
                      <a:r>
                        <a:rPr sz="1050">
                          <a:solidFill>
                            <a:srgbClr val="25342A"/>
                          </a:solidFill>
                        </a:rPr>
                        <a:t>28.8%</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$88,564</a:t>
                      </a:r>
                    </a:p>
                  </a:txBody>
                  <a:tcPr>
                    <a:solidFill>
                      <a:srgbClr val="FFFFFF"/>
                    </a:solidFill>
                  </a:tcPr>
                </a:tc>
                <a:tc>
                  <a:txBody>
                    <a:bodyPr/>
                    <a:lstStyle/>
                    <a:p>
                      <a:pPr algn="r"/>
                      <a:r>
                        <a:rPr sz="1050">
                          <a:solidFill>
                            <a:srgbClr val="25342A"/>
                          </a:solidFill>
                        </a:rPr>
                        <a:t>$79,777</a:t>
                      </a:r>
                    </a:p>
                  </a:txBody>
                  <a:tcPr>
                    <a:solidFill>
                      <a:srgbClr val="FFFFFF"/>
                    </a:solidFill>
                  </a:tcPr>
                </a:tc>
                <a:tc>
                  <a:txBody>
                    <a:bodyPr/>
                    <a:lstStyle/>
                    <a:p>
                      <a:pPr algn="r"/>
                      <a:r>
                        <a:rPr sz="1050">
                          <a:solidFill>
                            <a:srgbClr val="25342A"/>
                          </a:solidFill>
                        </a:rPr>
                        <a:t>11.0%</a:t>
                      </a:r>
                    </a:p>
                  </a:txBody>
                  <a:tcPr>
                    <a:solidFill>
                      <a:srgbClr val="FFFFFF"/>
                    </a:solidFill>
                  </a:tcPr>
                </a:tc>
                <a:tc>
                  <a:txBody>
                    <a:bodyPr/>
                    <a:lstStyle/>
                    <a:p>
                      <a:pPr algn="r"/>
                      <a:r>
                        <a:rPr sz="1050">
                          <a:solidFill>
                            <a:srgbClr val="25342A"/>
                          </a:solidFill>
                        </a:rPr>
                        <a:t>$38,744</a:t>
                      </a:r>
                    </a:p>
                  </a:txBody>
                  <a:tcPr>
                    <a:solidFill>
                      <a:srgbClr val="FFFFFF"/>
                    </a:solidFill>
                  </a:tcPr>
                </a:tc>
                <a:tc>
                  <a:txBody>
                    <a:bodyPr/>
                    <a:lstStyle/>
                    <a:p>
                      <a:pPr algn="r"/>
                      <a:r>
                        <a:rPr sz="1050">
                          <a:solidFill>
                            <a:srgbClr val="25342A"/>
                          </a:solidFill>
                        </a:rPr>
                        <a:t>43.7%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$651,464</a:t>
                      </a:r>
                    </a:p>
                  </a:txBody>
                  <a:tcPr>
                    <a:solidFill>
                      <a:srgbClr val="F7FAF7"/>
                    </a:solidFill>
                  </a:tcPr>
                </a:tc>
                <a:tc>
                  <a:txBody>
                    <a:bodyPr/>
                    <a:lstStyle/>
                    <a:p>
                      <a:pPr algn="r"/>
                      <a:r>
                        <a:rPr sz="1050" b="1">
                          <a:solidFill>
                            <a:srgbClr val="25342A"/>
                          </a:solidFill>
                        </a:rPr>
                        <a:t>$583,077</a:t>
                      </a:r>
                    </a:p>
                  </a:txBody>
                  <a:tcPr>
                    <a:solidFill>
                      <a:srgbClr val="F7FAF7"/>
                    </a:solidFill>
                  </a:tcPr>
                </a:tc>
                <a:tc>
                  <a:txBody>
                    <a:bodyPr/>
                    <a:lstStyle/>
                    <a:p>
                      <a:pPr algn="r"/>
                      <a:r>
                        <a:rPr sz="1050" b="1">
                          <a:solidFill>
                            <a:srgbClr val="25342A"/>
                          </a:solidFill>
                        </a:rPr>
                        <a:t>11.7%</a:t>
                      </a:r>
                    </a:p>
                  </a:txBody>
                  <a:tcPr>
                    <a:solidFill>
                      <a:srgbClr val="F7FAF7"/>
                    </a:solidFill>
                  </a:tcPr>
                </a:tc>
                <a:tc>
                  <a:txBody>
                    <a:bodyPr/>
                    <a:lstStyle/>
                    <a:p>
                      <a:pPr algn="r"/>
                      <a:r>
                        <a:rPr sz="1050" b="1">
                          <a:solidFill>
                            <a:srgbClr val="25342A"/>
                          </a:solidFill>
                        </a:rPr>
                        <a:t>$250,758</a:t>
                      </a:r>
                    </a:p>
                  </a:txBody>
                  <a:tcPr>
                    <a:solidFill>
                      <a:srgbClr val="F7FAF7"/>
                    </a:solidFill>
                  </a:tcPr>
                </a:tc>
                <a:tc>
                  <a:txBody>
                    <a:bodyPr/>
                    <a:lstStyle/>
                    <a:p>
                      <a:pPr algn="r"/>
                      <a:r>
                        <a:rPr sz="1050" b="1">
                          <a:solidFill>
                            <a:srgbClr val="25342A"/>
                          </a:solidFill>
                        </a:rPr>
                        <a:t>38.5%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client work made $78,830 gross margin (59.8%). Consultant time not charged to client work took $1,980 and overheads $52,140, leaving $24,710 profit before tax (18.7% of revenue). To cover overheads, client work needs a 41.0%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$78,830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$46,500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$44,520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$1,980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$76,850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$52,140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$24,710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$131,850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59.8%</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18.7%</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41.0%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(37.4%)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$44,605 against $71,260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47.8%</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$411,850 against $278,590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63.0%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$259,430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47.8% up on the same period last year, year to date ($411,850 against $278,590). Retainers make the highest gross margin (69.9%); Projects the lowest (58.8%). The business needs 41.0%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69.9% gross margin, the most profitable work you do. Projects: 58.8% gross margin, the thinnest, still above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(73.6%)</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$12,105 against $45,860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35.1%</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$253,250 against $187,490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58.8%</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$148,950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$253,250 this financial year to date, 35.1% on the same period last year (slower than the business as a whole, 47.8%), at a 58.8% gross margin (below the 63.0%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58.8% gross margin, 17.8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99.4%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$130,000 against $65,200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69.9%</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$90,820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$130,000 this financial year to date, 99.4% on the same period last year (faster than the business as a whole, 47.8%), at a 69.9% gross margin (above the 63.0%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69.9% gross margin, 28.8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October so far against October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(100.0%)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$0 against $9,100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10.4%</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$28,600 against $25,900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68.7%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$19,660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$28,600 this financial year to date, 10.4% on the same period last year (slower than the business as a whole, 47.8%), at a 68.7% gross margin (above the 63.0%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68.7% gross margin, 27.7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Oct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$253,250</a:t>
                      </a:r>
                    </a:p>
                  </a:txBody>
                  <a:tcPr>
                    <a:solidFill>
                      <a:srgbClr val="FFFFFF"/>
                    </a:solidFill>
                  </a:tcPr>
                </a:tc>
                <a:tc>
                  <a:txBody>
                    <a:bodyPr/>
                    <a:lstStyle/>
                    <a:p>
                      <a:pPr algn="r"/>
                      <a:r>
                        <a:rPr sz="1050">
                          <a:solidFill>
                            <a:srgbClr val="25342A"/>
                          </a:solidFill>
                        </a:rPr>
                        <a:t>$187,490</a:t>
                      </a:r>
                    </a:p>
                  </a:txBody>
                  <a:tcPr>
                    <a:solidFill>
                      <a:srgbClr val="FFFFFF"/>
                    </a:solidFill>
                  </a:tcPr>
                </a:tc>
                <a:tc>
                  <a:txBody>
                    <a:bodyPr/>
                    <a:lstStyle/>
                    <a:p>
                      <a:pPr algn="r"/>
                      <a:r>
                        <a:rPr sz="1050">
                          <a:solidFill>
                            <a:srgbClr val="25342A"/>
                          </a:solidFill>
                        </a:rPr>
                        <a:t>35.1%</a:t>
                      </a:r>
                    </a:p>
                  </a:txBody>
                  <a:tcPr>
                    <a:solidFill>
                      <a:srgbClr val="FFFFFF"/>
                    </a:solidFill>
                  </a:tcPr>
                </a:tc>
                <a:tc>
                  <a:txBody>
                    <a:bodyPr/>
                    <a:lstStyle/>
                    <a:p>
                      <a:pPr algn="r"/>
                      <a:r>
                        <a:rPr sz="1050">
                          <a:solidFill>
                            <a:srgbClr val="25342A"/>
                          </a:solidFill>
                        </a:rPr>
                        <a:t>$148,950</a:t>
                      </a:r>
                    </a:p>
                  </a:txBody>
                  <a:tcPr>
                    <a:solidFill>
                      <a:srgbClr val="FFFFFF"/>
                    </a:solidFill>
                  </a:tcPr>
                </a:tc>
                <a:tc>
                  <a:txBody>
                    <a:bodyPr/>
                    <a:lstStyle/>
                    <a:p>
                      <a:pPr algn="r"/>
                      <a:r>
                        <a:rPr sz="1050">
                          <a:solidFill>
                            <a:srgbClr val="25342A"/>
                          </a:solidFill>
                        </a:rPr>
                        <a:t>58.8%</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$130,000</a:t>
                      </a:r>
                    </a:p>
                  </a:txBody>
                  <a:tcPr>
                    <a:solidFill>
                      <a:srgbClr val="F7FAF7"/>
                    </a:solidFill>
                  </a:tcPr>
                </a:tc>
                <a:tc>
                  <a:txBody>
                    <a:bodyPr/>
                    <a:lstStyle/>
                    <a:p>
                      <a:pPr algn="r"/>
                      <a:r>
                        <a:rPr sz="1050">
                          <a:solidFill>
                            <a:srgbClr val="25342A"/>
                          </a:solidFill>
                        </a:rPr>
                        <a:t>$65,200</a:t>
                      </a:r>
                    </a:p>
                  </a:txBody>
                  <a:tcPr>
                    <a:solidFill>
                      <a:srgbClr val="F7FAF7"/>
                    </a:solidFill>
                  </a:tcPr>
                </a:tc>
                <a:tc>
                  <a:txBody>
                    <a:bodyPr/>
                    <a:lstStyle/>
                    <a:p>
                      <a:pPr algn="r"/>
                      <a:r>
                        <a:rPr sz="1050">
                          <a:solidFill>
                            <a:srgbClr val="25342A"/>
                          </a:solidFill>
                        </a:rPr>
                        <a:t>99.4%</a:t>
                      </a:r>
                    </a:p>
                  </a:txBody>
                  <a:tcPr>
                    <a:solidFill>
                      <a:srgbClr val="F7FAF7"/>
                    </a:solidFill>
                  </a:tcPr>
                </a:tc>
                <a:tc>
                  <a:txBody>
                    <a:bodyPr/>
                    <a:lstStyle/>
                    <a:p>
                      <a:pPr algn="r"/>
                      <a:r>
                        <a:rPr sz="1050">
                          <a:solidFill>
                            <a:srgbClr val="25342A"/>
                          </a:solidFill>
                        </a:rPr>
                        <a:t>$90,820</a:t>
                      </a:r>
                    </a:p>
                  </a:txBody>
                  <a:tcPr>
                    <a:solidFill>
                      <a:srgbClr val="F7FAF7"/>
                    </a:solidFill>
                  </a:tcPr>
                </a:tc>
                <a:tc>
                  <a:txBody>
                    <a:bodyPr/>
                    <a:lstStyle/>
                    <a:p>
                      <a:pPr algn="r"/>
                      <a:r>
                        <a:rPr sz="1050">
                          <a:solidFill>
                            <a:srgbClr val="25342A"/>
                          </a:solidFill>
                        </a:rPr>
                        <a:t>69.9%</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$28,600</a:t>
                      </a:r>
                    </a:p>
                  </a:txBody>
                  <a:tcPr>
                    <a:solidFill>
                      <a:srgbClr val="FFFFFF"/>
                    </a:solidFill>
                  </a:tcPr>
                </a:tc>
                <a:tc>
                  <a:txBody>
                    <a:bodyPr/>
                    <a:lstStyle/>
                    <a:p>
                      <a:pPr algn="r"/>
                      <a:r>
                        <a:rPr sz="1050">
                          <a:solidFill>
                            <a:srgbClr val="25342A"/>
                          </a:solidFill>
                        </a:rPr>
                        <a:t>$25,900</a:t>
                      </a:r>
                    </a:p>
                  </a:txBody>
                  <a:tcPr>
                    <a:solidFill>
                      <a:srgbClr val="FFFFFF"/>
                    </a:solidFill>
                  </a:tcPr>
                </a:tc>
                <a:tc>
                  <a:txBody>
                    <a:bodyPr/>
                    <a:lstStyle/>
                    <a:p>
                      <a:pPr algn="r"/>
                      <a:r>
                        <a:rPr sz="1050">
                          <a:solidFill>
                            <a:srgbClr val="25342A"/>
                          </a:solidFill>
                        </a:rPr>
                        <a:t>10.4%</a:t>
                      </a:r>
                    </a:p>
                  </a:txBody>
                  <a:tcPr>
                    <a:solidFill>
                      <a:srgbClr val="FFFFFF"/>
                    </a:solidFill>
                  </a:tcPr>
                </a:tc>
                <a:tc>
                  <a:txBody>
                    <a:bodyPr/>
                    <a:lstStyle/>
                    <a:p>
                      <a:pPr algn="r"/>
                      <a:r>
                        <a:rPr sz="1050">
                          <a:solidFill>
                            <a:srgbClr val="25342A"/>
                          </a:solidFill>
                        </a:rPr>
                        <a:t>$19,660</a:t>
                      </a:r>
                    </a:p>
                  </a:txBody>
                  <a:tcPr>
                    <a:solidFill>
                      <a:srgbClr val="FFFFFF"/>
                    </a:solidFill>
                  </a:tcPr>
                </a:tc>
                <a:tc>
                  <a:txBody>
                    <a:bodyPr/>
                    <a:lstStyle/>
                    <a:p>
                      <a:pPr algn="r"/>
                      <a:r>
                        <a:rPr sz="1050">
                          <a:solidFill>
                            <a:srgbClr val="25342A"/>
                          </a:solidFill>
                        </a:rPr>
                        <a:t>68.7%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$411,850</a:t>
                      </a:r>
                    </a:p>
                  </a:txBody>
                  <a:tcPr>
                    <a:solidFill>
                      <a:srgbClr val="F7FAF7"/>
                    </a:solidFill>
                  </a:tcPr>
                </a:tc>
                <a:tc>
                  <a:txBody>
                    <a:bodyPr/>
                    <a:lstStyle/>
                    <a:p>
                      <a:pPr algn="r"/>
                      <a:r>
                        <a:rPr sz="1050" b="1">
                          <a:solidFill>
                            <a:srgbClr val="25342A"/>
                          </a:solidFill>
                        </a:rPr>
                        <a:t>$278,590</a:t>
                      </a:r>
                    </a:p>
                  </a:txBody>
                  <a:tcPr>
                    <a:solidFill>
                      <a:srgbClr val="F7FAF7"/>
                    </a:solidFill>
                  </a:tcPr>
                </a:tc>
                <a:tc>
                  <a:txBody>
                    <a:bodyPr/>
                    <a:lstStyle/>
                    <a:p>
                      <a:pPr algn="r"/>
                      <a:r>
                        <a:rPr sz="1050" b="1">
                          <a:solidFill>
                            <a:srgbClr val="25342A"/>
                          </a:solidFill>
                        </a:rPr>
                        <a:t>47.8%</a:t>
                      </a:r>
                    </a:p>
                  </a:txBody>
                  <a:tcPr>
                    <a:solidFill>
                      <a:srgbClr val="F7FAF7"/>
                    </a:solidFill>
                  </a:tcPr>
                </a:tc>
                <a:tc>
                  <a:txBody>
                    <a:bodyPr/>
                    <a:lstStyle/>
                    <a:p>
                      <a:pPr algn="r"/>
                      <a:r>
                        <a:rPr sz="1050" b="1">
                          <a:solidFill>
                            <a:srgbClr val="25342A"/>
                          </a:solidFill>
                        </a:rPr>
                        <a:t>$259,430</a:t>
                      </a:r>
                    </a:p>
                  </a:txBody>
                  <a:tcPr>
                    <a:solidFill>
                      <a:srgbClr val="F7FAF7"/>
                    </a:solidFill>
                  </a:tcPr>
                </a:tc>
                <a:tc>
                  <a:txBody>
                    <a:bodyPr/>
                    <a:lstStyle/>
                    <a:p>
                      <a:pPr algn="r"/>
                      <a:r>
                        <a:rPr sz="1050" b="1">
                          <a:solidFill>
                            <a:srgbClr val="25342A"/>
                          </a:solidFill>
                        </a:rPr>
                        <a:t>63.0%</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