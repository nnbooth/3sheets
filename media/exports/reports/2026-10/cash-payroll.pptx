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Sheet1!$A$2:$A$159</c:f>
              <c:strCache>
                <c:ptCount val="158"/>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pt idx="152">
                  <c:v>31 Dec</c:v>
                </c:pt>
                <c:pt idx="153">
                  <c:v>1 Jan</c:v>
                </c:pt>
                <c:pt idx="154">
                  <c:v>2 Jan</c:v>
                </c:pt>
                <c:pt idx="155">
                  <c:v>3 Jan</c:v>
                </c:pt>
                <c:pt idx="156">
                  <c:v>4 Jan</c:v>
                </c:pt>
                <c:pt idx="157">
                  <c:v>5 Jan</c:v>
                </c:pt>
              </c:strCache>
            </c:strRef>
          </c:cat>
          <c:val>
            <c:numRef>
              <c:f>Sheet1!$B$2:$B$159</c:f>
              <c:numCache>
                <c:formatCode>$#,##0;[Red]($#,##0);"-"</c:formatCode>
                <c:ptCount val="158"/>
                <c:pt idx="0">
                  <c:v>88000</c:v>
                </c:pt>
                <c:pt idx="1">
                  <c:v>112411</c:v>
                </c:pt>
                <c:pt idx="2">
                  <c:v>124362</c:v>
                </c:pt>
                <c:pt idx="3">
                  <c:v>139672</c:v>
                </c:pt>
                <c:pt idx="4">
                  <c:v>140540</c:v>
                </c:pt>
                <c:pt idx="5">
                  <c:v>134936</c:v>
                </c:pt>
                <c:pt idx="6">
                  <c:v>135317</c:v>
                </c:pt>
                <c:pt idx="7">
                  <c:v>147735</c:v>
                </c:pt>
                <c:pt idx="8">
                  <c:v>157535</c:v>
                </c:pt>
                <c:pt idx="9">
                  <c:v>159179</c:v>
                </c:pt>
                <c:pt idx="10">
                  <c:v>160618</c:v>
                </c:pt>
                <c:pt idx="11">
                  <c:v>160999</c:v>
                </c:pt>
                <c:pt idx="12">
                  <c:v>161655</c:v>
                </c:pt>
                <c:pt idx="13">
                  <c:v>162638</c:v>
                </c:pt>
                <c:pt idx="14">
                  <c:v>163871</c:v>
                </c:pt>
                <c:pt idx="15">
                  <c:v>164213</c:v>
                </c:pt>
                <c:pt idx="16">
                  <c:v>117019</c:v>
                </c:pt>
                <c:pt idx="17">
                  <c:v>118547</c:v>
                </c:pt>
                <c:pt idx="18">
                  <c:v>119573</c:v>
                </c:pt>
                <c:pt idx="19">
                  <c:v>82483</c:v>
                </c:pt>
                <c:pt idx="20">
                  <c:v>82483</c:v>
                </c:pt>
                <c:pt idx="21">
                  <c:v>84321</c:v>
                </c:pt>
                <c:pt idx="22">
                  <c:v>85990</c:v>
                </c:pt>
                <c:pt idx="23">
                  <c:v>87510</c:v>
                </c:pt>
                <c:pt idx="24">
                  <c:v>88034</c:v>
                </c:pt>
                <c:pt idx="25">
                  <c:v>105372</c:v>
                </c:pt>
                <c:pt idx="26">
                  <c:v>106041</c:v>
                </c:pt>
                <c:pt idx="27">
                  <c:v>102428</c:v>
                </c:pt>
                <c:pt idx="28">
                  <c:v>104108</c:v>
                </c:pt>
                <c:pt idx="29">
                  <c:v>104818</c:v>
                </c:pt>
                <c:pt idx="30">
                  <c:v>65263</c:v>
                </c:pt>
                <c:pt idx="31">
                  <c:v>66142</c:v>
                </c:pt>
                <c:pt idx="32">
                  <c:v>67515</c:v>
                </c:pt>
                <c:pt idx="33">
                  <c:v>40350</c:v>
                </c:pt>
                <c:pt idx="34">
                  <c:v>42612</c:v>
                </c:pt>
                <c:pt idx="35">
                  <c:v>42612</c:v>
                </c:pt>
                <c:pt idx="36">
                  <c:v>82025</c:v>
                </c:pt>
                <c:pt idx="37">
                  <c:v>103175</c:v>
                </c:pt>
                <c:pt idx="38">
                  <c:v>109490</c:v>
                </c:pt>
                <c:pt idx="39">
                  <c:v>126731</c:v>
                </c:pt>
                <c:pt idx="40">
                  <c:v>115467</c:v>
                </c:pt>
                <c:pt idx="41">
                  <c:v>116582</c:v>
                </c:pt>
                <c:pt idx="42">
                  <c:v>117829</c:v>
                </c:pt>
                <c:pt idx="43">
                  <c:v>140107</c:v>
                </c:pt>
                <c:pt idx="44">
                  <c:v>140278</c:v>
                </c:pt>
                <c:pt idx="45">
                  <c:v>94943</c:v>
                </c:pt>
                <c:pt idx="46">
                  <c:v>95278</c:v>
                </c:pt>
                <c:pt idx="47">
                  <c:v>58577</c:v>
                </c:pt>
                <c:pt idx="48">
                  <c:v>58904</c:v>
                </c:pt>
                <c:pt idx="49">
                  <c:v>59824</c:v>
                </c:pt>
                <c:pt idx="50">
                  <c:v>60146</c:v>
                </c:pt>
                <c:pt idx="51">
                  <c:v>60986</c:v>
                </c:pt>
                <c:pt idx="52">
                  <c:v>62378</c:v>
                </c:pt>
                <c:pt idx="53">
                  <c:v>63229</c:v>
                </c:pt>
                <c:pt idx="54">
                  <c:v>64620</c:v>
                </c:pt>
                <c:pt idx="55">
                  <c:v>64908</c:v>
                </c:pt>
                <c:pt idx="56">
                  <c:v>67402</c:v>
                </c:pt>
                <c:pt idx="57">
                  <c:v>81904</c:v>
                </c:pt>
                <c:pt idx="58">
                  <c:v>78389</c:v>
                </c:pt>
                <c:pt idx="59">
                  <c:v>107291</c:v>
                </c:pt>
                <c:pt idx="60">
                  <c:v>59746</c:v>
                </c:pt>
                <c:pt idx="61">
                  <c:v>37987</c:v>
                </c:pt>
                <c:pt idx="62">
                  <c:v>38448</c:v>
                </c:pt>
                <c:pt idx="63">
                  <c:v>39353</c:v>
                </c:pt>
                <c:pt idx="64">
                  <c:v>45653</c:v>
                </c:pt>
                <c:pt idx="65">
                  <c:v>47244</c:v>
                </c:pt>
                <c:pt idx="66">
                  <c:v>47244</c:v>
                </c:pt>
                <c:pt idx="67">
                  <c:v>47244</c:v>
                </c:pt>
                <c:pt idx="68">
                  <c:v>47928</c:v>
                </c:pt>
                <c:pt idx="69">
                  <c:v>67138</c:v>
                </c:pt>
                <c:pt idx="70">
                  <c:v>67630</c:v>
                </c:pt>
                <c:pt idx="71">
                  <c:v>67630</c:v>
                </c:pt>
                <c:pt idx="72">
                  <c:v>67630</c:v>
                </c:pt>
                <c:pt idx="73">
                  <c:v>138034</c:v>
                </c:pt>
                <c:pt idx="74">
                  <c:v>139325</c:v>
                </c:pt>
                <c:pt idx="75">
                  <c:v>47285</c:v>
                </c:pt>
                <c:pt idx="76">
                  <c:v>48576</c:v>
                </c:pt>
                <c:pt idx="77">
                  <c:v>48576</c:v>
                </c:pt>
                <c:pt idx="78">
                  <c:v>61476</c:v>
                </c:pt>
                <c:pt idx="79">
                  <c:v>62767</c:v>
                </c:pt>
                <c:pt idx="80">
                  <c:v>64058</c:v>
                </c:pt>
                <c:pt idx="81">
                  <c:v>65348</c:v>
                </c:pt>
                <c:pt idx="82">
                  <c:v>66639</c:v>
                </c:pt>
                <c:pt idx="83">
                  <c:v>77730</c:v>
                </c:pt>
                <c:pt idx="84">
                  <c:v>77730</c:v>
                </c:pt>
                <c:pt idx="85">
                  <c:v>77730</c:v>
                </c:pt>
                <c:pt idx="86">
                  <c:v>79021</c:v>
                </c:pt>
                <c:pt idx="87">
                  <c:v>80311</c:v>
                </c:pt>
                <c:pt idx="88">
                  <c:v>69585</c:v>
                </c:pt>
                <c:pt idx="89">
                  <c:v>47826</c:v>
                </c:pt>
                <c:pt idx="90">
                  <c:v>49117</c:v>
                </c:pt>
                <c:pt idx="91">
                  <c:v>89617</c:v>
                </c:pt>
                <c:pt idx="92">
                  <c:v>122617</c:v>
                </c:pt>
                <c:pt idx="93">
                  <c:v>67747</c:v>
                </c:pt>
                <c:pt idx="94">
                  <c:v>69038</c:v>
                </c:pt>
                <c:pt idx="95">
                  <c:v>70329</c:v>
                </c:pt>
                <c:pt idx="96">
                  <c:v>71620</c:v>
                </c:pt>
                <c:pt idx="97">
                  <c:v>78485</c:v>
                </c:pt>
                <c:pt idx="98">
                  <c:v>84059</c:v>
                </c:pt>
                <c:pt idx="99">
                  <c:v>89633</c:v>
                </c:pt>
                <c:pt idx="100">
                  <c:v>90924</c:v>
                </c:pt>
                <c:pt idx="101">
                  <c:v>92215</c:v>
                </c:pt>
                <c:pt idx="102">
                  <c:v>99080</c:v>
                </c:pt>
                <c:pt idx="103">
                  <c:v>67695</c:v>
                </c:pt>
                <c:pt idx="104">
                  <c:v>74560</c:v>
                </c:pt>
                <c:pt idx="105">
                  <c:v>80134</c:v>
                </c:pt>
                <c:pt idx="106">
                  <c:v>85708</c:v>
                </c:pt>
                <c:pt idx="107">
                  <c:v>31919</c:v>
                </c:pt>
                <c:pt idx="108">
                  <c:v>33210</c:v>
                </c:pt>
                <c:pt idx="109">
                  <c:v>40074</c:v>
                </c:pt>
                <c:pt idx="110">
                  <c:v>46939</c:v>
                </c:pt>
                <c:pt idx="111">
                  <c:v>53804</c:v>
                </c:pt>
                <c:pt idx="112">
                  <c:v>59379</c:v>
                </c:pt>
                <c:pt idx="113">
                  <c:v>64953</c:v>
                </c:pt>
                <c:pt idx="114">
                  <c:v>66244</c:v>
                </c:pt>
                <c:pt idx="115">
                  <c:v>67534</c:v>
                </c:pt>
                <c:pt idx="116">
                  <c:v>74399</c:v>
                </c:pt>
                <c:pt idx="117">
                  <c:v>43014</c:v>
                </c:pt>
                <c:pt idx="118">
                  <c:v>49879</c:v>
                </c:pt>
                <c:pt idx="119">
                  <c:v>55454</c:v>
                </c:pt>
                <c:pt idx="120">
                  <c:v>61028</c:v>
                </c:pt>
                <c:pt idx="121">
                  <c:v>1159</c:v>
                </c:pt>
                <c:pt idx="122">
                  <c:v>42949</c:v>
                </c:pt>
                <c:pt idx="123">
                  <c:v>49814</c:v>
                </c:pt>
                <c:pt idx="124">
                  <c:v>56679</c:v>
                </c:pt>
                <c:pt idx="125">
                  <c:v>63544</c:v>
                </c:pt>
                <c:pt idx="126">
                  <c:v>69119</c:v>
                </c:pt>
                <c:pt idx="127">
                  <c:v>74693</c:v>
                </c:pt>
                <c:pt idx="128">
                  <c:v>75984</c:v>
                </c:pt>
                <c:pt idx="129">
                  <c:v>77274</c:v>
                </c:pt>
                <c:pt idx="130">
                  <c:v>84139</c:v>
                </c:pt>
                <c:pt idx="131">
                  <c:v>52754</c:v>
                </c:pt>
                <c:pt idx="132">
                  <c:v>59619</c:v>
                </c:pt>
                <c:pt idx="133">
                  <c:v>65193</c:v>
                </c:pt>
                <c:pt idx="134">
                  <c:v>70768</c:v>
                </c:pt>
                <c:pt idx="135">
                  <c:v>72058</c:v>
                </c:pt>
                <c:pt idx="136">
                  <c:v>18269</c:v>
                </c:pt>
                <c:pt idx="137">
                  <c:v>25134</c:v>
                </c:pt>
                <c:pt idx="138">
                  <c:v>31999</c:v>
                </c:pt>
                <c:pt idx="139">
                  <c:v>38864</c:v>
                </c:pt>
                <c:pt idx="140">
                  <c:v>44438</c:v>
                </c:pt>
                <c:pt idx="141">
                  <c:v>50013</c:v>
                </c:pt>
                <c:pt idx="142">
                  <c:v>51303</c:v>
                </c:pt>
                <c:pt idx="143">
                  <c:v>52594</c:v>
                </c:pt>
                <c:pt idx="144">
                  <c:v>59459</c:v>
                </c:pt>
                <c:pt idx="145">
                  <c:v>28074</c:v>
                </c:pt>
                <c:pt idx="146">
                  <c:v>34939</c:v>
                </c:pt>
                <c:pt idx="147">
                  <c:v>40513</c:v>
                </c:pt>
                <c:pt idx="148">
                  <c:v>46088</c:v>
                </c:pt>
                <c:pt idx="149">
                  <c:v>42378</c:v>
                </c:pt>
                <c:pt idx="150">
                  <c:v>43669</c:v>
                </c:pt>
                <c:pt idx="151">
                  <c:v>50534</c:v>
                </c:pt>
                <c:pt idx="152">
                  <c:v>41739</c:v>
                </c:pt>
                <c:pt idx="153">
                  <c:v>48604</c:v>
                </c:pt>
                <c:pt idx="154">
                  <c:v>54178</c:v>
                </c:pt>
                <c:pt idx="155">
                  <c:v>59752</c:v>
                </c:pt>
                <c:pt idx="156">
                  <c:v>61043</c:v>
                </c:pt>
                <c:pt idx="157">
                  <c:v>62334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Suppliers and overheads</c:v>
                </c:pt>
                <c:pt idx="1">
                  <c:v>Wages (2 pay runs)</c:v>
                </c:pt>
                <c:pt idx="2">
                  <c:v>Tax, interest and equipment finance</c:v>
                </c:pt>
                <c:pt idx="3">
                  <c:v>Unpaid invoices collected</c:v>
                </c:pt>
                <c:pt idx="4">
                  <c:v>New work collected</c:v>
                </c:pt>
              </c:strCache>
            </c:strRef>
          </c:cat>
          <c:val>
            <c:numRef>
              <c:f>Sheet1!$B$2:$B$6</c:f>
              <c:numCache>
                <c:formatCode>$#,##0;[Red]($#,##0);"-"</c:formatCode>
                <c:ptCount val="5"/>
                <c:pt idx="0">
                  <c:v>-165240</c:v>
                </c:pt>
                <c:pt idx="1">
                  <c:v>-76500</c:v>
                </c:pt>
                <c:pt idx="2">
                  <c:v>-7160</c:v>
                </c:pt>
                <c:pt idx="3">
                  <c:v>33000</c:v>
                </c:pt>
                <c:pt idx="4">
                  <c:v>127442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Will cash cover payroll next month?</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2026 to date. A 13-week cash forecast from 2pm on 6 October: cash at bank, plus what customers owe on their usual payment dates and new work at its recent rate, less pay runs, supplier bills, tax and finance on their due dates. Every day opens its workings.</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a:t>
            </a:r>
          </a:p>
        </p:txBody>
      </p:sp>
      <p:sp>
        <p:nvSpPr>
          <p:cNvPr id="5" name="Rectangle 4"/>
          <p:cNvSpPr/>
          <p:nvPr/>
        </p:nvSpPr>
        <p:spPr>
          <a:xfrm>
            <a:off x="457200"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Cash at bank, 6 Oct</a:t>
            </a:r>
          </a:p>
        </p:txBody>
      </p:sp>
      <p:sp>
        <p:nvSpPr>
          <p:cNvPr id="7" name="TextBox 6"/>
          <p:cNvSpPr txBox="1"/>
          <p:nvPr/>
        </p:nvSpPr>
        <p:spPr>
          <a:xfrm>
            <a:off x="640080"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$47,244</a:t>
            </a:r>
          </a:p>
        </p:txBody>
      </p:sp>
      <p:sp>
        <p:nvSpPr>
          <p:cNvPr id="8" name="TextBox 7"/>
          <p:cNvSpPr txBox="1"/>
          <p:nvPr/>
        </p:nvSpPr>
        <p:spPr>
          <a:xfrm>
            <a:off x="640080"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2pm, still moving</a:t>
            </a:r>
          </a:p>
        </p:txBody>
      </p:sp>
      <p:sp>
        <p:nvSpPr>
          <p:cNvPr id="9" name="Rectangle 8"/>
          <p:cNvSpPr/>
          <p:nvPr/>
        </p:nvSpPr>
        <p:spPr>
          <a:xfrm>
            <a:off x="3345103"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3527983"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Wages to pay in November</a:t>
            </a:r>
          </a:p>
        </p:txBody>
      </p:sp>
      <p:sp>
        <p:nvSpPr>
          <p:cNvPr id="11" name="TextBox 10"/>
          <p:cNvSpPr txBox="1"/>
          <p:nvPr/>
        </p:nvSpPr>
        <p:spPr>
          <a:xfrm>
            <a:off x="3527983"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$76,500</a:t>
            </a:r>
          </a:p>
        </p:txBody>
      </p:sp>
      <p:sp>
        <p:nvSpPr>
          <p:cNvPr id="12" name="TextBox 11"/>
          <p:cNvSpPr txBox="1"/>
          <p:nvPr/>
        </p:nvSpPr>
        <p:spPr>
          <a:xfrm>
            <a:off x="3527983"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2 fortnightly pay runs</a:t>
            </a:r>
          </a:p>
        </p:txBody>
      </p:sp>
      <p:sp>
        <p:nvSpPr>
          <p:cNvPr id="13" name="Rectangle 12"/>
          <p:cNvSpPr/>
          <p:nvPr/>
        </p:nvSpPr>
        <p:spPr>
          <a:xfrm>
            <a:off x="6233007"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6415887"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After the tightest pay run, 26 Nov</a:t>
            </a:r>
          </a:p>
        </p:txBody>
      </p:sp>
      <p:sp>
        <p:nvSpPr>
          <p:cNvPr id="15" name="TextBox 14"/>
          <p:cNvSpPr txBox="1"/>
          <p:nvPr/>
        </p:nvSpPr>
        <p:spPr>
          <a:xfrm>
            <a:off x="6415887"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$43,014</a:t>
            </a:r>
          </a:p>
        </p:txBody>
      </p:sp>
      <p:sp>
        <p:nvSpPr>
          <p:cNvPr id="16" name="TextBox 15"/>
          <p:cNvSpPr txBox="1"/>
          <p:nvPr/>
        </p:nvSpPr>
        <p:spPr>
          <a:xfrm>
            <a:off x="6415887"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buffer: one pay run, $38,250</a:t>
            </a:r>
          </a:p>
        </p:txBody>
      </p:sp>
      <p:sp>
        <p:nvSpPr>
          <p:cNvPr id="17" name="Rectangle 16"/>
          <p:cNvSpPr/>
          <p:nvPr/>
        </p:nvSpPr>
        <p:spPr>
          <a:xfrm>
            <a:off x="9120911"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9303791"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Lowest point, next 13 weeks</a:t>
            </a:r>
          </a:p>
        </p:txBody>
      </p:sp>
      <p:sp>
        <p:nvSpPr>
          <p:cNvPr id="19" name="TextBox 18"/>
          <p:cNvSpPr txBox="1"/>
          <p:nvPr/>
        </p:nvSpPr>
        <p:spPr>
          <a:xfrm>
            <a:off x="9303791"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$1,159</a:t>
            </a:r>
          </a:p>
        </p:txBody>
      </p:sp>
      <p:sp>
        <p:nvSpPr>
          <p:cNvPr id="20" name="TextBox 19"/>
          <p:cNvSpPr txBox="1"/>
          <p:nvPr/>
        </p:nvSpPr>
        <p:spPr>
          <a:xfrm>
            <a:off x="9303791"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30 November</a:t>
            </a:r>
          </a:p>
        </p:txBody>
      </p:sp>
      <p:sp>
        <p:nvSpPr>
          <p:cNvPr id="21" name="TextBox 2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22" name="TextBox 2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3" name="TextBox 2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Cash at bank was $47,244 at 2pm on 6 October. November has 2 pay runs ($76,500). The tightest is 26 November: $43,014 left after paying wages, $4,764 more than a pay run in reserve. The lowest point in the 13 weeks is $1,159 on 30 November.</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19 invoices ($70,404) are already past the customer's usual payment date; the forecast assumes they arrive within a week. Without them, 26 November would be ($27,390).</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Cash at bank, every day: actual to 6 Oct, then forecast to 5 Jan · Cash at bank $</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Lighter line = forecast. Customers are expected on their usual payment dates; new work at the last three months' rate; pay runs, supplier runs, interest, equipment finance and PAYG on their due dates. GST and BAS are left out of the sample.</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November: where the cash comes from and goes (forecast)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Money in, and money out in brackets.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13 weeks, week by week</a:t>
            </a:r>
          </a:p>
        </p:txBody>
      </p:sp>
      <p:graphicFrame>
        <p:nvGraphicFramePr>
          <p:cNvPr id="5" name="Table 4"/>
          <p:cNvGraphicFramePr>
            <a:graphicFrameLocks noGrp="1"/>
          </p:cNvGraphicFramePr>
          <p:nvPr/>
        </p:nvGraphicFramePr>
        <p:xfrm>
          <a:off x="457200" y="1188720"/>
          <a:ext cx="11247120" cy="4608576"/>
        </p:xfrm>
        <a:graphic>
          <a:graphicData uri="http://schemas.openxmlformats.org/drawingml/2006/table">
            <a:tbl>
              <a:tblPr firstRow="1" bandRow="1">
                <a:tableStyleId>{5C22544A-7EE6-4342-B048-85BDC9FD1C3A}</a:tableStyleId>
              </a:tblPr>
              <a:tblGrid>
                <a:gridCol w="1249680"/>
                <a:gridCol w="1249680"/>
                <a:gridCol w="1249680"/>
                <a:gridCol w="1249680"/>
                <a:gridCol w="1249680"/>
                <a:gridCol w="1249680"/>
                <a:gridCol w="1249680"/>
                <a:gridCol w="1249680"/>
                <a:gridCol w="1249680"/>
              </a:tblGrid>
              <a:tr h="329184">
                <a:tc>
                  <a:txBody>
                    <a:bodyPr/>
                    <a:lstStyle/>
                    <a:p>
                      <a:pPr>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Wages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Tax, 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29184">
                <a:tc>
                  <a:txBody>
                    <a:bodyPr/>
                    <a:lstStyle/>
                    <a:p>
                      <a:pPr>
                        <a:defRPr>
                          <a:latin typeface="Roboto"/>
                        </a:defRPr>
                      </a:pPr>
                      <a:r>
                        <a:rPr sz="1050">
                          <a:solidFill>
                            <a:srgbClr val="25342A"/>
                          </a:solidFill>
                          <a:latin typeface="Roboto"/>
                        </a:rPr>
                        <a:t>13 Oct</a:t>
                      </a:r>
                    </a:p>
                  </a:txBody>
                  <a:tcPr>
                    <a:solidFill>
                      <a:srgbClr val="FFFFFF"/>
                    </a:solidFill>
                  </a:tcPr>
                </a:tc>
                <a:tc>
                  <a:txBody>
                    <a:bodyPr/>
                    <a:lstStyle/>
                    <a:p>
                      <a:pPr algn="r">
                        <a:defRPr>
                          <a:latin typeface="Roboto"/>
                        </a:defRPr>
                      </a:pPr>
                      <a:r>
                        <a:rPr sz="1050">
                          <a:solidFill>
                            <a:srgbClr val="25342A"/>
                          </a:solidFill>
                          <a:latin typeface="Roboto"/>
                        </a:rPr>
                        <a:t>$47,244</a:t>
                      </a:r>
                    </a:p>
                  </a:txBody>
                  <a:tcPr>
                    <a:solidFill>
                      <a:srgbClr val="FFFFFF"/>
                    </a:solidFill>
                  </a:tcPr>
                </a:tc>
                <a:tc>
                  <a:txBody>
                    <a:bodyPr/>
                    <a:lstStyle/>
                    <a:p>
                      <a:pPr algn="r">
                        <a:defRPr>
                          <a:latin typeface="Roboto"/>
                        </a:defRPr>
                      </a:pPr>
                      <a:r>
                        <a:rPr sz="1050">
                          <a:solidFill>
                            <a:srgbClr val="25342A"/>
                          </a:solidFill>
                          <a:latin typeface="Roboto"/>
                        </a:rPr>
                        <a:t>$90,790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$138,034</a:t>
                      </a:r>
                    </a:p>
                  </a:txBody>
                  <a:tcPr>
                    <a:solidFill>
                      <a:srgbClr val="FFFFFF"/>
                    </a:solidFill>
                  </a:tcPr>
                </a:tc>
                <a:tc>
                  <a:txBody>
                    <a:bodyPr/>
                    <a:lstStyle/>
                    <a:p>
                      <a:pPr algn="r">
                        <a:defRPr>
                          <a:latin typeface="Roboto"/>
                        </a:defRPr>
                      </a:pPr>
                      <a:r>
                        <a:rPr sz="1050">
                          <a:solidFill>
                            <a:srgbClr val="25342A"/>
                          </a:solidFill>
                          <a:latin typeface="Roboto"/>
                        </a:rPr>
                        <a:t>$47,244</a:t>
                      </a:r>
                    </a:p>
                  </a:txBody>
                  <a:tcPr>
                    <a:solidFill>
                      <a:srgbClr val="FFFFFF"/>
                    </a:solidFill>
                  </a:tcPr>
                </a:tc>
              </a:tr>
              <a:tr h="329184">
                <a:tc>
                  <a:txBody>
                    <a:bodyPr/>
                    <a:lstStyle/>
                    <a:p>
                      <a:pPr>
                        <a:defRPr>
                          <a:latin typeface="Roboto"/>
                        </a:defRPr>
                      </a:pPr>
                      <a:r>
                        <a:rPr sz="1050">
                          <a:solidFill>
                            <a:srgbClr val="25342A"/>
                          </a:solidFill>
                          <a:latin typeface="Roboto"/>
                        </a:rPr>
                        <a:t>20 Oct</a:t>
                      </a:r>
                    </a:p>
                  </a:txBody>
                  <a:tcPr>
                    <a:solidFill>
                      <a:srgbClr val="F7FAF7"/>
                    </a:solidFill>
                  </a:tcPr>
                </a:tc>
                <a:tc>
                  <a:txBody>
                    <a:bodyPr/>
                    <a:lstStyle/>
                    <a:p>
                      <a:pPr algn="r">
                        <a:defRPr>
                          <a:latin typeface="Roboto"/>
                        </a:defRPr>
                      </a:pPr>
                      <a:r>
                        <a:rPr sz="1050">
                          <a:solidFill>
                            <a:srgbClr val="25342A"/>
                          </a:solidFill>
                          <a:latin typeface="Roboto"/>
                        </a:rPr>
                        <a:t>$138,034</a:t>
                      </a:r>
                    </a:p>
                  </a:txBody>
                  <a:tcPr>
                    <a:solidFill>
                      <a:srgbClr val="F7FAF7"/>
                    </a:solidFill>
                  </a:tcPr>
                </a:tc>
                <a:tc>
                  <a:txBody>
                    <a:bodyPr/>
                    <a:lstStyle/>
                    <a:p>
                      <a:pPr algn="r">
                        <a:defRPr>
                          <a:latin typeface="Roboto"/>
                        </a:defRPr>
                      </a:pPr>
                      <a:r>
                        <a:rPr sz="1050">
                          <a:solidFill>
                            <a:srgbClr val="25342A"/>
                          </a:solidFill>
                          <a:latin typeface="Roboto"/>
                        </a:rPr>
                        <a:t>$12,900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B42318"/>
                          </a:solidFill>
                          <a:latin typeface="Roboto"/>
                        </a:rPr>
                        <a:t>($55,080)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$64,058</a:t>
                      </a:r>
                    </a:p>
                  </a:txBody>
                  <a:tcPr>
                    <a:solidFill>
                      <a:srgbClr val="F7FAF7"/>
                    </a:solidFill>
                  </a:tcPr>
                </a:tc>
                <a:tc>
                  <a:txBody>
                    <a:bodyPr/>
                    <a:lstStyle/>
                    <a:p>
                      <a:pPr algn="r">
                        <a:defRPr>
                          <a:latin typeface="Roboto"/>
                        </a:defRPr>
                      </a:pPr>
                      <a:r>
                        <a:rPr sz="1050">
                          <a:solidFill>
                            <a:srgbClr val="25342A"/>
                          </a:solidFill>
                          <a:latin typeface="Roboto"/>
                        </a:rPr>
                        <a:t>$47,285</a:t>
                      </a:r>
                    </a:p>
                  </a:txBody>
                  <a:tcPr>
                    <a:solidFill>
                      <a:srgbClr val="F7FAF7"/>
                    </a:solidFill>
                  </a:tcPr>
                </a:tc>
              </a:tr>
              <a:tr h="329184">
                <a:tc>
                  <a:txBody>
                    <a:bodyPr/>
                    <a:lstStyle/>
                    <a:p>
                      <a:pPr>
                        <a:defRPr>
                          <a:latin typeface="Roboto"/>
                        </a:defRPr>
                      </a:pPr>
                      <a:r>
                        <a:rPr sz="1050">
                          <a:solidFill>
                            <a:srgbClr val="25342A"/>
                          </a:solidFill>
                          <a:latin typeface="Roboto"/>
                        </a:rPr>
                        <a:t>27 Oct</a:t>
                      </a:r>
                    </a:p>
                  </a:txBody>
                  <a:tcPr>
                    <a:solidFill>
                      <a:srgbClr val="FFFFFF"/>
                    </a:solidFill>
                  </a:tcPr>
                </a:tc>
                <a:tc>
                  <a:txBody>
                    <a:bodyPr/>
                    <a:lstStyle/>
                    <a:p>
                      <a:pPr algn="r">
                        <a:defRPr>
                          <a:latin typeface="Roboto"/>
                        </a:defRPr>
                      </a:pPr>
                      <a:r>
                        <a:rPr sz="1050">
                          <a:solidFill>
                            <a:srgbClr val="25342A"/>
                          </a:solidFill>
                          <a:latin typeface="Roboto"/>
                        </a:rPr>
                        <a:t>$64,058</a:t>
                      </a:r>
                    </a:p>
                  </a:txBody>
                  <a:tcPr>
                    <a:solidFill>
                      <a:srgbClr val="FFFFFF"/>
                    </a:solidFill>
                  </a:tcPr>
                </a:tc>
                <a:tc>
                  <a:txBody>
                    <a:bodyPr/>
                    <a:lstStyle/>
                    <a:p>
                      <a:pPr algn="r">
                        <a:defRPr>
                          <a:latin typeface="Roboto"/>
                        </a:defRPr>
                      </a:pPr>
                      <a:r>
                        <a:rPr sz="1050">
                          <a:solidFill>
                            <a:srgbClr val="25342A"/>
                          </a:solidFill>
                          <a:latin typeface="Roboto"/>
                        </a:rPr>
                        <a:t>$9,800</a:t>
                      </a:r>
                    </a:p>
                  </a:txBody>
                  <a:tcPr>
                    <a:solidFill>
                      <a:srgbClr val="FFFFFF"/>
                    </a:solidFill>
                  </a:tcPr>
                </a:tc>
                <a:tc>
                  <a:txBody>
                    <a:bodyPr/>
                    <a:lstStyle/>
                    <a:p>
                      <a:pPr algn="r">
                        <a:defRPr>
                          <a:latin typeface="Roboto"/>
                        </a:defRPr>
                      </a:pPr>
                      <a:r>
                        <a:rPr sz="1050">
                          <a:solidFill>
                            <a:srgbClr val="25342A"/>
                          </a:solidFill>
                          <a:latin typeface="Roboto"/>
                        </a:rPr>
                        <a:t>$6,454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$80,311</a:t>
                      </a:r>
                    </a:p>
                  </a:txBody>
                  <a:tcPr>
                    <a:solidFill>
                      <a:srgbClr val="FFFFFF"/>
                    </a:solidFill>
                  </a:tcPr>
                </a:tc>
                <a:tc>
                  <a:txBody>
                    <a:bodyPr/>
                    <a:lstStyle/>
                    <a:p>
                      <a:pPr algn="r">
                        <a:defRPr>
                          <a:latin typeface="Roboto"/>
                        </a:defRPr>
                      </a:pPr>
                      <a:r>
                        <a:rPr sz="1050">
                          <a:solidFill>
                            <a:srgbClr val="25342A"/>
                          </a:solidFill>
                          <a:latin typeface="Roboto"/>
                        </a:rPr>
                        <a:t>$65,348</a:t>
                      </a:r>
                    </a:p>
                  </a:txBody>
                  <a:tcPr>
                    <a:solidFill>
                      <a:srgbClr val="FFFFFF"/>
                    </a:solidFill>
                  </a:tcPr>
                </a:tc>
              </a:tr>
              <a:tr h="329184">
                <a:tc>
                  <a:txBody>
                    <a:bodyPr/>
                    <a:lstStyle/>
                    <a:p>
                      <a:pPr>
                        <a:defRPr>
                          <a:latin typeface="Roboto"/>
                        </a:defRPr>
                      </a:pPr>
                      <a:r>
                        <a:rPr sz="1050">
                          <a:solidFill>
                            <a:srgbClr val="25342A"/>
                          </a:solidFill>
                          <a:latin typeface="Roboto"/>
                        </a:rPr>
                        <a:t>3 Nov</a:t>
                      </a:r>
                    </a:p>
                  </a:txBody>
                  <a:tcPr>
                    <a:solidFill>
                      <a:srgbClr val="F7FAF7"/>
                    </a:solidFill>
                  </a:tcPr>
                </a:tc>
                <a:tc>
                  <a:txBody>
                    <a:bodyPr/>
                    <a:lstStyle/>
                    <a:p>
                      <a:pPr algn="r">
                        <a:defRPr>
                          <a:latin typeface="Roboto"/>
                        </a:defRPr>
                      </a:pPr>
                      <a:r>
                        <a:rPr sz="1050">
                          <a:solidFill>
                            <a:srgbClr val="25342A"/>
                          </a:solidFill>
                          <a:latin typeface="Roboto"/>
                        </a:rPr>
                        <a:t>$80,311</a:t>
                      </a:r>
                    </a:p>
                  </a:txBody>
                  <a:tcPr>
                    <a:solidFill>
                      <a:srgbClr val="F7FAF7"/>
                    </a:solidFill>
                  </a:tcPr>
                </a:tc>
                <a:tc>
                  <a:txBody>
                    <a:bodyPr/>
                    <a:lstStyle/>
                    <a:p>
                      <a:pPr algn="r">
                        <a:defRPr>
                          <a:latin typeface="Roboto"/>
                        </a:defRPr>
                      </a:pPr>
                      <a:r>
                        <a:rPr sz="1050">
                          <a:solidFill>
                            <a:srgbClr val="25342A"/>
                          </a:solidFill>
                          <a:latin typeface="Roboto"/>
                        </a:rPr>
                        <a:t>$88,700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B42318"/>
                          </a:solidFill>
                          <a:latin typeface="Roboto"/>
                        </a:rPr>
                        <a:t>($55,080)</a:t>
                      </a:r>
                    </a:p>
                  </a:txBody>
                  <a:tcPr>
                    <a:solidFill>
                      <a:srgbClr val="F7FAF7"/>
                    </a:solidFill>
                  </a:tcPr>
                </a:tc>
                <a:tc>
                  <a:txBody>
                    <a:bodyPr/>
                    <a:lstStyle/>
                    <a:p>
                      <a:pPr algn="r">
                        <a:defRPr>
                          <a:latin typeface="Roboto"/>
                        </a:defRPr>
                      </a:pPr>
                      <a:r>
                        <a:rPr sz="1050">
                          <a:solidFill>
                            <a:srgbClr val="B42318"/>
                          </a:solidFill>
                          <a:latin typeface="Roboto"/>
                        </a:rPr>
                        <a:t>($13,097)</a:t>
                      </a:r>
                    </a:p>
                  </a:txBody>
                  <a:tcPr>
                    <a:solidFill>
                      <a:srgbClr val="F7FAF7"/>
                    </a:solidFill>
                  </a:tcPr>
                </a:tc>
                <a:tc>
                  <a:txBody>
                    <a:bodyPr/>
                    <a:lstStyle/>
                    <a:p>
                      <a:pPr algn="r">
                        <a:defRPr>
                          <a:latin typeface="Roboto"/>
                        </a:defRPr>
                      </a:pPr>
                      <a:r>
                        <a:rPr sz="1050">
                          <a:solidFill>
                            <a:srgbClr val="25342A"/>
                          </a:solidFill>
                          <a:latin typeface="Roboto"/>
                        </a:rPr>
                        <a:t>$69,038</a:t>
                      </a:r>
                    </a:p>
                  </a:txBody>
                  <a:tcPr>
                    <a:solidFill>
                      <a:srgbClr val="F7FAF7"/>
                    </a:solidFill>
                  </a:tcPr>
                </a:tc>
                <a:tc>
                  <a:txBody>
                    <a:bodyPr/>
                    <a:lstStyle/>
                    <a:p>
                      <a:pPr algn="r">
                        <a:defRPr>
                          <a:latin typeface="Roboto"/>
                        </a:defRPr>
                      </a:pPr>
                      <a:r>
                        <a:rPr sz="1050">
                          <a:solidFill>
                            <a:srgbClr val="25342A"/>
                          </a:solidFill>
                          <a:latin typeface="Roboto"/>
                        </a:rPr>
                        <a:t>$47,826</a:t>
                      </a:r>
                    </a:p>
                  </a:txBody>
                  <a:tcPr>
                    <a:solidFill>
                      <a:srgbClr val="F7FAF7"/>
                    </a:solidFill>
                  </a:tcPr>
                </a:tc>
              </a:tr>
              <a:tr h="329184">
                <a:tc>
                  <a:txBody>
                    <a:bodyPr/>
                    <a:lstStyle/>
                    <a:p>
                      <a:pPr>
                        <a:defRPr>
                          <a:latin typeface="Roboto"/>
                        </a:defRPr>
                      </a:pPr>
                      <a:r>
                        <a:rPr sz="1050">
                          <a:solidFill>
                            <a:srgbClr val="25342A"/>
                          </a:solidFill>
                          <a:latin typeface="Roboto"/>
                        </a:rPr>
                        <a:t>10 Nov</a:t>
                      </a:r>
                    </a:p>
                  </a:txBody>
                  <a:tcPr>
                    <a:solidFill>
                      <a:srgbClr val="FFFFFF"/>
                    </a:solidFill>
                  </a:tcPr>
                </a:tc>
                <a:tc>
                  <a:txBody>
                    <a:bodyPr/>
                    <a:lstStyle/>
                    <a:p>
                      <a:pPr algn="r">
                        <a:defRPr>
                          <a:latin typeface="Roboto"/>
                        </a:defRPr>
                      </a:pPr>
                      <a:r>
                        <a:rPr sz="1050">
                          <a:solidFill>
                            <a:srgbClr val="25342A"/>
                          </a:solidFill>
                          <a:latin typeface="Roboto"/>
                        </a:rPr>
                        <a:t>$69,038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$23,176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$92,215</a:t>
                      </a:r>
                    </a:p>
                  </a:txBody>
                  <a:tcPr>
                    <a:solidFill>
                      <a:srgbClr val="FFFFFF"/>
                    </a:solidFill>
                  </a:tcPr>
                </a:tc>
                <a:tc>
                  <a:txBody>
                    <a:bodyPr/>
                    <a:lstStyle/>
                    <a:p>
                      <a:pPr algn="r">
                        <a:defRPr>
                          <a:latin typeface="Roboto"/>
                        </a:defRPr>
                      </a:pPr>
                      <a:r>
                        <a:rPr sz="1050">
                          <a:solidFill>
                            <a:srgbClr val="25342A"/>
                          </a:solidFill>
                          <a:latin typeface="Roboto"/>
                        </a:rPr>
                        <a:t>$70,329</a:t>
                      </a:r>
                    </a:p>
                  </a:txBody>
                  <a:tcPr>
                    <a:solidFill>
                      <a:srgbClr val="FFFFFF"/>
                    </a:solidFill>
                  </a:tcPr>
                </a:tc>
              </a:tr>
              <a:tr h="329184">
                <a:tc>
                  <a:txBody>
                    <a:bodyPr/>
                    <a:lstStyle/>
                    <a:p>
                      <a:pPr>
                        <a:defRPr>
                          <a:latin typeface="Roboto"/>
                        </a:defRPr>
                      </a:pPr>
                      <a:r>
                        <a:rPr sz="1050">
                          <a:solidFill>
                            <a:srgbClr val="25342A"/>
                          </a:solidFill>
                          <a:latin typeface="Roboto"/>
                        </a:rPr>
                        <a:t>17 Nov</a:t>
                      </a:r>
                    </a:p>
                  </a:txBody>
                  <a:tcPr>
                    <a:solidFill>
                      <a:srgbClr val="F7FAF7"/>
                    </a:solidFill>
                  </a:tcPr>
                </a:tc>
                <a:tc>
                  <a:txBody>
                    <a:bodyPr/>
                    <a:lstStyle/>
                    <a:p>
                      <a:pPr algn="r">
                        <a:defRPr>
                          <a:latin typeface="Roboto"/>
                        </a:defRPr>
                      </a:pPr>
                      <a:r>
                        <a:rPr sz="1050">
                          <a:solidFill>
                            <a:srgbClr val="25342A"/>
                          </a:solidFill>
                          <a:latin typeface="Roboto"/>
                        </a:rPr>
                        <a:t>$92,215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B42318"/>
                          </a:solidFill>
                          <a:latin typeface="Roboto"/>
                        </a:rPr>
                        <a:t>($55,080)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$33,210</a:t>
                      </a:r>
                    </a:p>
                  </a:txBody>
                  <a:tcPr>
                    <a:solidFill>
                      <a:srgbClr val="F7FAF7"/>
                    </a:solidFill>
                  </a:tcPr>
                </a:tc>
                <a:tc>
                  <a:txBody>
                    <a:bodyPr/>
                    <a:lstStyle/>
                    <a:p>
                      <a:pPr algn="r">
                        <a:defRPr>
                          <a:latin typeface="Roboto"/>
                        </a:defRPr>
                      </a:pPr>
                      <a:r>
                        <a:rPr sz="1050">
                          <a:solidFill>
                            <a:srgbClr val="25342A"/>
                          </a:solidFill>
                          <a:latin typeface="Roboto"/>
                        </a:rPr>
                        <a:t>$31,919</a:t>
                      </a:r>
                    </a:p>
                  </a:txBody>
                  <a:tcPr>
                    <a:solidFill>
                      <a:srgbClr val="F7FAF7"/>
                    </a:solidFill>
                  </a:tcPr>
                </a:tc>
              </a:tr>
              <a:tr h="329184">
                <a:tc>
                  <a:txBody>
                    <a:bodyPr/>
                    <a:lstStyle/>
                    <a:p>
                      <a:pPr>
                        <a:defRPr>
                          <a:latin typeface="Roboto"/>
                        </a:defRPr>
                      </a:pPr>
                      <a:r>
                        <a:rPr sz="1050">
                          <a:solidFill>
                            <a:srgbClr val="25342A"/>
                          </a:solidFill>
                          <a:latin typeface="Roboto"/>
                        </a:rPr>
                        <a:t>24 Nov</a:t>
                      </a:r>
                    </a:p>
                  </a:txBody>
                  <a:tcPr>
                    <a:solidFill>
                      <a:srgbClr val="FFFFFF"/>
                    </a:solidFill>
                  </a:tcPr>
                </a:tc>
                <a:tc>
                  <a:txBody>
                    <a:bodyPr/>
                    <a:lstStyle/>
                    <a:p>
                      <a:pPr algn="r">
                        <a:defRPr>
                          <a:latin typeface="Roboto"/>
                        </a:defRPr>
                      </a:pPr>
                      <a:r>
                        <a:rPr sz="1050">
                          <a:solidFill>
                            <a:srgbClr val="25342A"/>
                          </a:solidFill>
                          <a:latin typeface="Roboto"/>
                        </a:rPr>
                        <a:t>$33,210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$67,534</a:t>
                      </a:r>
                    </a:p>
                  </a:txBody>
                  <a:tcPr>
                    <a:solidFill>
                      <a:srgbClr val="FFFFFF"/>
                    </a:solidFill>
                  </a:tcPr>
                </a:tc>
                <a:tc>
                  <a:txBody>
                    <a:bodyPr/>
                    <a:lstStyle/>
                    <a:p>
                      <a:pPr algn="r">
                        <a:defRPr>
                          <a:latin typeface="Roboto"/>
                        </a:defRPr>
                      </a:pPr>
                      <a:r>
                        <a:rPr sz="1050">
                          <a:solidFill>
                            <a:srgbClr val="25342A"/>
                          </a:solidFill>
                          <a:latin typeface="Roboto"/>
                        </a:rPr>
                        <a:t>$40,074</a:t>
                      </a:r>
                    </a:p>
                  </a:txBody>
                  <a:tcPr>
                    <a:solidFill>
                      <a:srgbClr val="FFFFFF"/>
                    </a:solidFill>
                  </a:tcPr>
                </a:tc>
              </a:tr>
              <a:tr h="329184">
                <a:tc>
                  <a:txBody>
                    <a:bodyPr/>
                    <a:lstStyle/>
                    <a:p>
                      <a:pPr>
                        <a:defRPr>
                          <a:latin typeface="Roboto"/>
                        </a:defRPr>
                      </a:pPr>
                      <a:r>
                        <a:rPr sz="1050">
                          <a:solidFill>
                            <a:srgbClr val="25342A"/>
                          </a:solidFill>
                          <a:latin typeface="Roboto"/>
                        </a:rPr>
                        <a:t>1 Dec</a:t>
                      </a:r>
                    </a:p>
                  </a:txBody>
                  <a:tcPr>
                    <a:solidFill>
                      <a:srgbClr val="F7FAF7"/>
                    </a:solidFill>
                  </a:tcPr>
                </a:tc>
                <a:tc>
                  <a:txBody>
                    <a:bodyPr/>
                    <a:lstStyle/>
                    <a:p>
                      <a:pPr algn="r">
                        <a:defRPr>
                          <a:latin typeface="Roboto"/>
                        </a:defRPr>
                      </a:pPr>
                      <a:r>
                        <a:rPr sz="1050">
                          <a:solidFill>
                            <a:srgbClr val="25342A"/>
                          </a:solidFill>
                          <a:latin typeface="Roboto"/>
                        </a:rPr>
                        <a:t>$67,534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$74,825</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B42318"/>
                          </a:solidFill>
                          <a:latin typeface="Roboto"/>
                        </a:rPr>
                        <a:t>($55,080)</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$42,949</a:t>
                      </a:r>
                    </a:p>
                  </a:txBody>
                  <a:tcPr>
                    <a:solidFill>
                      <a:srgbClr val="F7FAF7"/>
                    </a:solidFill>
                  </a:tcPr>
                </a:tc>
                <a:tc>
                  <a:txBody>
                    <a:bodyPr/>
                    <a:lstStyle/>
                    <a:p>
                      <a:pPr algn="r">
                        <a:defRPr>
                          <a:latin typeface="Roboto"/>
                        </a:defRPr>
                      </a:pPr>
                      <a:r>
                        <a:rPr sz="1050">
                          <a:solidFill>
                            <a:srgbClr val="25342A"/>
                          </a:solidFill>
                          <a:latin typeface="Roboto"/>
                        </a:rPr>
                        <a:t>$1,159</a:t>
                      </a:r>
                    </a:p>
                  </a:txBody>
                  <a:tcPr>
                    <a:solidFill>
                      <a:srgbClr val="F7FAF7"/>
                    </a:solidFill>
                  </a:tcPr>
                </a:tc>
              </a:tr>
              <a:tr h="329184">
                <a:tc>
                  <a:txBody>
                    <a:bodyPr/>
                    <a:lstStyle/>
                    <a:p>
                      <a:pPr>
                        <a:defRPr>
                          <a:latin typeface="Roboto"/>
                        </a:defRPr>
                      </a:pPr>
                      <a:r>
                        <a:rPr sz="1050">
                          <a:solidFill>
                            <a:srgbClr val="25342A"/>
                          </a:solidFill>
                          <a:latin typeface="Roboto"/>
                        </a:rPr>
                        <a:t>8 Dec</a:t>
                      </a:r>
                    </a:p>
                  </a:txBody>
                  <a:tcPr>
                    <a:solidFill>
                      <a:srgbClr val="FFFFFF"/>
                    </a:solidFill>
                  </a:tcPr>
                </a:tc>
                <a:tc>
                  <a:txBody>
                    <a:bodyPr/>
                    <a:lstStyle/>
                    <a:p>
                      <a:pPr algn="r">
                        <a:defRPr>
                          <a:latin typeface="Roboto"/>
                        </a:defRPr>
                      </a:pPr>
                      <a:r>
                        <a:rPr sz="1050">
                          <a:solidFill>
                            <a:srgbClr val="25342A"/>
                          </a:solidFill>
                          <a:latin typeface="Roboto"/>
                        </a:rPr>
                        <a:t>$42,949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$77,274</a:t>
                      </a:r>
                    </a:p>
                  </a:txBody>
                  <a:tcPr>
                    <a:solidFill>
                      <a:srgbClr val="FFFFFF"/>
                    </a:solidFill>
                  </a:tcPr>
                </a:tc>
                <a:tc>
                  <a:txBody>
                    <a:bodyPr/>
                    <a:lstStyle/>
                    <a:p>
                      <a:pPr algn="r">
                        <a:defRPr>
                          <a:latin typeface="Roboto"/>
                        </a:defRPr>
                      </a:pPr>
                      <a:r>
                        <a:rPr sz="1050">
                          <a:solidFill>
                            <a:srgbClr val="25342A"/>
                          </a:solidFill>
                          <a:latin typeface="Roboto"/>
                        </a:rPr>
                        <a:t>$49,814</a:t>
                      </a:r>
                    </a:p>
                  </a:txBody>
                  <a:tcPr>
                    <a:solidFill>
                      <a:srgbClr val="FFFFFF"/>
                    </a:solidFill>
                  </a:tcPr>
                </a:tc>
              </a:tr>
              <a:tr h="329184">
                <a:tc>
                  <a:txBody>
                    <a:bodyPr/>
                    <a:lstStyle/>
                    <a:p>
                      <a:pPr>
                        <a:defRPr>
                          <a:latin typeface="Roboto"/>
                        </a:defRPr>
                      </a:pPr>
                      <a:r>
                        <a:rPr sz="1050">
                          <a:solidFill>
                            <a:srgbClr val="25342A"/>
                          </a:solidFill>
                          <a:latin typeface="Roboto"/>
                        </a:rPr>
                        <a:t>15 Dec</a:t>
                      </a:r>
                    </a:p>
                  </a:txBody>
                  <a:tcPr>
                    <a:solidFill>
                      <a:srgbClr val="F7FAF7"/>
                    </a:solidFill>
                  </a:tcPr>
                </a:tc>
                <a:tc>
                  <a:txBody>
                    <a:bodyPr/>
                    <a:lstStyle/>
                    <a:p>
                      <a:pPr algn="r">
                        <a:defRPr>
                          <a:latin typeface="Roboto"/>
                        </a:defRPr>
                      </a:pPr>
                      <a:r>
                        <a:rPr sz="1050">
                          <a:solidFill>
                            <a:srgbClr val="25342A"/>
                          </a:solidFill>
                          <a:latin typeface="Roboto"/>
                        </a:rPr>
                        <a:t>$77,274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B42318"/>
                          </a:solidFill>
                          <a:latin typeface="Roboto"/>
                        </a:rPr>
                        <a:t>($55,080)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$18,269</a:t>
                      </a:r>
                    </a:p>
                  </a:txBody>
                  <a:tcPr>
                    <a:solidFill>
                      <a:srgbClr val="F7FAF7"/>
                    </a:solidFill>
                  </a:tcPr>
                </a:tc>
                <a:tc>
                  <a:txBody>
                    <a:bodyPr/>
                    <a:lstStyle/>
                    <a:p>
                      <a:pPr algn="r">
                        <a:defRPr>
                          <a:latin typeface="Roboto"/>
                        </a:defRPr>
                      </a:pPr>
                      <a:r>
                        <a:rPr sz="1050">
                          <a:solidFill>
                            <a:srgbClr val="25342A"/>
                          </a:solidFill>
                          <a:latin typeface="Roboto"/>
                        </a:rPr>
                        <a:t>$18,269</a:t>
                      </a:r>
                    </a:p>
                  </a:txBody>
                  <a:tcPr>
                    <a:solidFill>
                      <a:srgbClr val="F7FAF7"/>
                    </a:solidFill>
                  </a:tcPr>
                </a:tc>
              </a:tr>
              <a:tr h="329184">
                <a:tc>
                  <a:txBody>
                    <a:bodyPr/>
                    <a:lstStyle/>
                    <a:p>
                      <a:pPr>
                        <a:defRPr>
                          <a:latin typeface="Roboto"/>
                        </a:defRPr>
                      </a:pPr>
                      <a:r>
                        <a:rPr sz="1050">
                          <a:solidFill>
                            <a:srgbClr val="25342A"/>
                          </a:solidFill>
                          <a:latin typeface="Roboto"/>
                        </a:rPr>
                        <a:t>22 Dec</a:t>
                      </a:r>
                    </a:p>
                  </a:txBody>
                  <a:tcPr>
                    <a:solidFill>
                      <a:srgbClr val="FFFFFF"/>
                    </a:solidFill>
                  </a:tcPr>
                </a:tc>
                <a:tc>
                  <a:txBody>
                    <a:bodyPr/>
                    <a:lstStyle/>
                    <a:p>
                      <a:pPr algn="r">
                        <a:defRPr>
                          <a:latin typeface="Roboto"/>
                        </a:defRPr>
                      </a:pPr>
                      <a:r>
                        <a:rPr sz="1050">
                          <a:solidFill>
                            <a:srgbClr val="25342A"/>
                          </a:solidFill>
                          <a:latin typeface="Roboto"/>
                        </a:rPr>
                        <a:t>$18,269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$52,594</a:t>
                      </a:r>
                    </a:p>
                  </a:txBody>
                  <a:tcPr>
                    <a:solidFill>
                      <a:srgbClr val="FFFFFF"/>
                    </a:solidFill>
                  </a:tcPr>
                </a:tc>
                <a:tc>
                  <a:txBody>
                    <a:bodyPr/>
                    <a:lstStyle/>
                    <a:p>
                      <a:pPr algn="r">
                        <a:defRPr>
                          <a:latin typeface="Roboto"/>
                        </a:defRPr>
                      </a:pPr>
                      <a:r>
                        <a:rPr sz="1050">
                          <a:solidFill>
                            <a:srgbClr val="25342A"/>
                          </a:solidFill>
                          <a:latin typeface="Roboto"/>
                        </a:rPr>
                        <a:t>$25,134</a:t>
                      </a:r>
                    </a:p>
                  </a:txBody>
                  <a:tcPr>
                    <a:solidFill>
                      <a:srgbClr val="FFFFFF"/>
                    </a:solidFill>
                  </a:tcPr>
                </a:tc>
              </a:tr>
              <a:tr h="329184">
                <a:tc>
                  <a:txBody>
                    <a:bodyPr/>
                    <a:lstStyle/>
                    <a:p>
                      <a:pPr>
                        <a:defRPr>
                          <a:latin typeface="Roboto"/>
                        </a:defRPr>
                      </a:pPr>
                      <a:r>
                        <a:rPr sz="1050">
                          <a:solidFill>
                            <a:srgbClr val="25342A"/>
                          </a:solidFill>
                          <a:latin typeface="Roboto"/>
                        </a:rPr>
                        <a:t>29 Dec</a:t>
                      </a:r>
                    </a:p>
                  </a:txBody>
                  <a:tcPr>
                    <a:solidFill>
                      <a:srgbClr val="F7FAF7"/>
                    </a:solidFill>
                  </a:tcPr>
                </a:tc>
                <a:tc>
                  <a:txBody>
                    <a:bodyPr/>
                    <a:lstStyle/>
                    <a:p>
                      <a:pPr algn="r">
                        <a:defRPr>
                          <a:latin typeface="Roboto"/>
                        </a:defRPr>
                      </a:pPr>
                      <a:r>
                        <a:rPr sz="1050">
                          <a:solidFill>
                            <a:srgbClr val="25342A"/>
                          </a:solidFill>
                          <a:latin typeface="Roboto"/>
                        </a:rPr>
                        <a:t>$52,594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B42318"/>
                          </a:solidFill>
                          <a:latin typeface="Roboto"/>
                        </a:rPr>
                        <a:t>($38,250)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$43,669</a:t>
                      </a:r>
                    </a:p>
                  </a:txBody>
                  <a:tcPr>
                    <a:solidFill>
                      <a:srgbClr val="F7FAF7"/>
                    </a:solidFill>
                  </a:tcPr>
                </a:tc>
                <a:tc>
                  <a:txBody>
                    <a:bodyPr/>
                    <a:lstStyle/>
                    <a:p>
                      <a:pPr algn="r">
                        <a:defRPr>
                          <a:latin typeface="Roboto"/>
                        </a:defRPr>
                      </a:pPr>
                      <a:r>
                        <a:rPr sz="1050">
                          <a:solidFill>
                            <a:srgbClr val="25342A"/>
                          </a:solidFill>
                          <a:latin typeface="Roboto"/>
                        </a:rPr>
                        <a:t>$28,074</a:t>
                      </a:r>
                    </a:p>
                  </a:txBody>
                  <a:tcPr>
                    <a:solidFill>
                      <a:srgbClr val="F7FAF7"/>
                    </a:solidFill>
                  </a:tcPr>
                </a:tc>
              </a:tr>
              <a:tr h="329184">
                <a:tc>
                  <a:txBody>
                    <a:bodyPr/>
                    <a:lstStyle/>
                    <a:p>
                      <a:pPr>
                        <a:defRPr>
                          <a:latin typeface="Roboto"/>
                        </a:defRPr>
                      </a:pPr>
                      <a:r>
                        <a:rPr sz="1050">
                          <a:solidFill>
                            <a:srgbClr val="25342A"/>
                          </a:solidFill>
                          <a:latin typeface="Roboto"/>
                        </a:rPr>
                        <a:t>5 Jan</a:t>
                      </a:r>
                    </a:p>
                  </a:txBody>
                  <a:tcPr>
                    <a:solidFill>
                      <a:srgbClr val="FFFFFF"/>
                    </a:solidFill>
                  </a:tcPr>
                </a:tc>
                <a:tc>
                  <a:txBody>
                    <a:bodyPr/>
                    <a:lstStyle/>
                    <a:p>
                      <a:pPr algn="r">
                        <a:defRPr>
                          <a:latin typeface="Roboto"/>
                        </a:defRPr>
                      </a:pPr>
                      <a:r>
                        <a:rPr sz="1050">
                          <a:solidFill>
                            <a:srgbClr val="25342A"/>
                          </a:solidFill>
                          <a:latin typeface="Roboto"/>
                        </a:rPr>
                        <a:t>$43,669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$74,825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$62,334</a:t>
                      </a:r>
                    </a:p>
                  </a:txBody>
                  <a:tcPr>
                    <a:solidFill>
                      <a:srgbClr val="FFFFFF"/>
                    </a:solidFill>
                  </a:tcPr>
                </a:tc>
                <a:tc>
                  <a:txBody>
                    <a:bodyPr/>
                    <a:lstStyle/>
                    <a:p>
                      <a:pPr algn="r">
                        <a:defRPr>
                          <a:latin typeface="Roboto"/>
                        </a:defRPr>
                      </a:pPr>
                      <a:r>
                        <a:rPr sz="1050">
                          <a:solidFill>
                            <a:srgbClr val="25342A"/>
                          </a:solidFill>
                          <a:latin typeface="Roboto"/>
                        </a:rPr>
                        <a:t>$41,739</a:t>
                      </a:r>
                    </a:p>
                  </a:txBody>
                  <a:tcPr>
                    <a:solidFill>
                      <a:srgbClr val="FFFFFF"/>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Invoices past the customer's usual payment date ($70,404)</a:t>
            </a:r>
          </a:p>
        </p:txBody>
      </p:sp>
      <p:graphicFrame>
        <p:nvGraphicFramePr>
          <p:cNvPr id="5" name="Table 4"/>
          <p:cNvGraphicFramePr>
            <a:graphicFrameLocks noGrp="1"/>
          </p:cNvGraphicFramePr>
          <p:nvPr/>
        </p:nvGraphicFramePr>
        <p:xfrm>
          <a:off x="457200" y="1188720"/>
          <a:ext cx="11247120" cy="3621024"/>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329184">
                <a:tc>
                  <a:txBody>
                    <a:bodyPr/>
                    <a:lstStyle/>
                    <a:p>
                      <a:pPr>
                        <a:defRPr>
                          <a:latin typeface="Roboto"/>
                        </a:defRPr>
                      </a:pPr>
                      <a:r>
                        <a:rPr sz="1100" b="1">
                          <a:solidFill>
                            <a:srgbClr val="FFFFFF"/>
                          </a:solidFill>
                          <a:latin typeface="Roboto"/>
                        </a:rPr>
                        <a:t>Customer or job</a:t>
                      </a:r>
                    </a:p>
                  </a:txBody>
                  <a:tcPr>
                    <a:solidFill>
                      <a:srgbClr val="2F7A5D"/>
                    </a:solidFill>
                  </a:tcPr>
                </a:tc>
                <a:tc>
                  <a:txBody>
                    <a:bodyPr/>
                    <a:lstStyle/>
                    <a:p>
                      <a:pPr algn="r">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29184">
                <a:tc>
                  <a:txBody>
                    <a:bodyPr/>
                    <a:lstStyle/>
                    <a:p>
                      <a:pPr>
                        <a:defRPr>
                          <a:latin typeface="Roboto"/>
                        </a:defRPr>
                      </a:pPr>
                      <a:r>
                        <a:rPr sz="1050">
                          <a:solidFill>
                            <a:srgbClr val="25342A"/>
                          </a:solidFill>
                          <a:latin typeface="Roboto"/>
                        </a:rPr>
                        <a:t>Wacol warehouse switchboard</a:t>
                      </a:r>
                    </a:p>
                  </a:txBody>
                  <a:tcPr>
                    <a:solidFill>
                      <a:srgbClr val="FFFFFF"/>
                    </a:solidFill>
                  </a:tcPr>
                </a:tc>
                <a:tc>
                  <a:txBody>
                    <a:bodyPr/>
                    <a:lstStyle/>
                    <a:p>
                      <a:pPr algn="r">
                        <a:defRPr>
                          <a:latin typeface="Roboto"/>
                        </a:defRPr>
                      </a:pPr>
                      <a:r>
                        <a:rPr sz="1050">
                          <a:solidFill>
                            <a:srgbClr val="25342A"/>
                          </a:solidFill>
                          <a:latin typeface="Roboto"/>
                        </a:rPr>
                        <a:t>4 Sep</a:t>
                      </a:r>
                    </a:p>
                  </a:txBody>
                  <a:tcPr>
                    <a:solidFill>
                      <a:srgbClr val="FFFFFF"/>
                    </a:solidFill>
                  </a:tcPr>
                </a:tc>
                <a:tc>
                  <a:txBody>
                    <a:bodyPr/>
                    <a:lstStyle/>
                    <a:p>
                      <a:pPr algn="r">
                        <a:defRPr>
                          <a:latin typeface="Roboto"/>
                        </a:defRPr>
                      </a:pPr>
                      <a:r>
                        <a:rPr sz="1050">
                          <a:solidFill>
                            <a:srgbClr val="25342A"/>
                          </a:solidFill>
                          <a:latin typeface="Roboto"/>
                        </a:rPr>
                        <a:t>$46,800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32</a:t>
                      </a:r>
                    </a:p>
                  </a:txBody>
                  <a:tcPr>
                    <a:solidFill>
                      <a:srgbClr val="FFFFFF"/>
                    </a:solidFill>
                  </a:tcPr>
                </a:tc>
              </a:tr>
              <a:tr h="329184">
                <a:tc>
                  <a:txBody>
                    <a:bodyPr/>
                    <a:lstStyle/>
                    <a:p>
                      <a:pPr>
                        <a:defRPr>
                          <a:latin typeface="Roboto"/>
                        </a:defRPr>
                      </a:pPr>
                      <a:r>
                        <a:rPr sz="1050">
                          <a:solidFill>
                            <a:srgbClr val="25342A"/>
                          </a:solidFill>
                          <a:latin typeface="Roboto"/>
                        </a:rPr>
                        <a:t>Milton office tower</a:t>
                      </a:r>
                    </a:p>
                  </a:txBody>
                  <a:tcPr>
                    <a:solidFill>
                      <a:srgbClr val="F7FAF7"/>
                    </a:solidFill>
                  </a:tcPr>
                </a:tc>
                <a:tc>
                  <a:txBody>
                    <a:bodyPr/>
                    <a:lstStyle/>
                    <a:p>
                      <a:pPr algn="r">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$4,200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29184">
                <a:tc>
                  <a:txBody>
                    <a:bodyPr/>
                    <a:lstStyle/>
                    <a:p>
                      <a:pPr>
                        <a:defRPr>
                          <a:latin typeface="Roboto"/>
                        </a:defRPr>
                      </a:pPr>
                      <a:r>
                        <a:rPr sz="1050">
                          <a:solidFill>
                            <a:srgbClr val="25342A"/>
                          </a:solidFill>
                          <a:latin typeface="Roboto"/>
                        </a:rPr>
                        <a:t>Rocklea factory</a:t>
                      </a:r>
                    </a:p>
                  </a:txBody>
                  <a:tcPr>
                    <a:solidFill>
                      <a:srgbClr val="FFFFFF"/>
                    </a:solidFill>
                  </a:tcPr>
                </a:tc>
                <a:tc>
                  <a:txBody>
                    <a:bodyPr/>
                    <a:lstStyle/>
                    <a:p>
                      <a:pPr algn="r">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$3,900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29184">
                <a:tc>
                  <a:txBody>
                    <a:bodyPr/>
                    <a:lstStyle/>
                    <a:p>
                      <a:pPr>
                        <a:defRPr>
                          <a:latin typeface="Roboto"/>
                        </a:defRPr>
                      </a:pPr>
                      <a:r>
                        <a:rPr sz="1050">
                          <a:solidFill>
                            <a:srgbClr val="25342A"/>
                          </a:solidFill>
                          <a:latin typeface="Roboto"/>
                        </a:rPr>
                        <a:t>Bulimba school</a:t>
                      </a:r>
                    </a:p>
                  </a:txBody>
                  <a:tcPr>
                    <a:solidFill>
                      <a:srgbClr val="F7FAF7"/>
                    </a:solidFill>
                  </a:tcPr>
                </a:tc>
                <a:tc>
                  <a:txBody>
                    <a:bodyPr/>
                    <a:lstStyle/>
                    <a:p>
                      <a:pPr algn="r">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$2,800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29184">
                <a:tc>
                  <a:txBody>
                    <a:bodyPr/>
                    <a:lstStyle/>
                    <a:p>
                      <a:pPr>
                        <a:defRPr>
                          <a:latin typeface="Roboto"/>
                        </a:defRPr>
                      </a:pPr>
                      <a:r>
                        <a:rPr sz="1050">
                          <a:solidFill>
                            <a:srgbClr val="25342A"/>
                          </a:solidFill>
                          <a:latin typeface="Roboto"/>
                        </a:rPr>
                        <a:t>West End brewery</a:t>
                      </a:r>
                    </a:p>
                  </a:txBody>
                  <a:tcPr>
                    <a:solidFill>
                      <a:srgbClr val="FFFFFF"/>
                    </a:solidFill>
                  </a:tcPr>
                </a:tc>
                <a:tc>
                  <a:txBody>
                    <a:bodyPr/>
                    <a:lstStyle/>
                    <a:p>
                      <a:pPr algn="r">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$2,600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29184">
                <a:tc>
                  <a:txBody>
                    <a:bodyPr/>
                    <a:lstStyle/>
                    <a:p>
                      <a:pPr>
                        <a:defRPr>
                          <a:latin typeface="Roboto"/>
                        </a:defRPr>
                      </a:pPr>
                      <a:r>
                        <a:rPr sz="1050">
                          <a:solidFill>
                            <a:srgbClr val="25342A"/>
                          </a:solidFill>
                          <a:latin typeface="Roboto"/>
                        </a:rPr>
                        <a:t>Kangaroo Point townhouses</a:t>
                      </a:r>
                    </a:p>
                  </a:txBody>
                  <a:tcPr>
                    <a:solidFill>
                      <a:srgbClr val="F7FAF7"/>
                    </a:solidFill>
                  </a:tcPr>
                </a:tc>
                <a:tc>
                  <a:txBody>
                    <a:bodyPr/>
                    <a:lstStyle/>
                    <a:p>
                      <a:pPr algn="r">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$2,400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29184">
                <a:tc>
                  <a:txBody>
                    <a:bodyPr/>
                    <a:lstStyle/>
                    <a:p>
                      <a:pPr>
                        <a:defRPr>
                          <a:latin typeface="Roboto"/>
                        </a:defRPr>
                      </a:pPr>
                      <a:r>
                        <a:rPr sz="1050">
                          <a:solidFill>
                            <a:srgbClr val="25342A"/>
                          </a:solidFill>
                          <a:latin typeface="Roboto"/>
                        </a:rPr>
                        <a:t>Newstead gym</a:t>
                      </a:r>
                    </a:p>
                  </a:txBody>
                  <a:tcPr>
                    <a:solidFill>
                      <a:srgbClr val="FFFFFF"/>
                    </a:solidFill>
                  </a:tcPr>
                </a:tc>
                <a:tc>
                  <a:txBody>
                    <a:bodyPr/>
                    <a:lstStyle/>
                    <a:p>
                      <a:pPr algn="r">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$1,600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29184">
                <a:tc>
                  <a:txBody>
                    <a:bodyPr/>
                    <a:lstStyle/>
                    <a:p>
                      <a:pPr>
                        <a:defRPr>
                          <a:latin typeface="Roboto"/>
                        </a:defRPr>
                      </a:pPr>
                      <a:r>
                        <a:rPr sz="1050">
                          <a:solidFill>
                            <a:srgbClr val="25342A"/>
                          </a:solidFill>
                          <a:latin typeface="Roboto"/>
                        </a:rPr>
                        <a:t>Call-out 15, September</a:t>
                      </a:r>
                    </a:p>
                  </a:txBody>
                  <a:tcPr>
                    <a:solidFill>
                      <a:srgbClr val="F7FAF7"/>
                    </a:solidFill>
                  </a:tcPr>
                </a:tc>
                <a:tc>
                  <a:txBody>
                    <a:bodyPr/>
                    <a:lstStyle/>
                    <a:p>
                      <a:pPr algn="r">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$775</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21</a:t>
                      </a:r>
                    </a:p>
                  </a:txBody>
                  <a:tcPr>
                    <a:solidFill>
                      <a:srgbClr val="F7FAF7"/>
                    </a:solidFill>
                  </a:tcPr>
                </a:tc>
              </a:tr>
              <a:tr h="329184">
                <a:tc>
                  <a:txBody>
                    <a:bodyPr/>
                    <a:lstStyle/>
                    <a:p>
                      <a:pPr>
                        <a:defRPr>
                          <a:latin typeface="Roboto"/>
                        </a:defRPr>
                      </a:pPr>
                      <a:r>
                        <a:rPr sz="1050">
                          <a:solidFill>
                            <a:srgbClr val="25342A"/>
                          </a:solidFill>
                          <a:latin typeface="Roboto"/>
                        </a:rPr>
                        <a:t>Call-out 9, September</a:t>
                      </a:r>
                    </a:p>
                  </a:txBody>
                  <a:tcPr>
                    <a:solidFill>
                      <a:srgbClr val="FFFFFF"/>
                    </a:solidFill>
                  </a:tcPr>
                </a:tc>
                <a:tc>
                  <a:txBody>
                    <a:bodyPr/>
                    <a:lstStyle/>
                    <a:p>
                      <a:pPr algn="r">
                        <a:defRPr>
                          <a:latin typeface="Roboto"/>
                        </a:defRPr>
                      </a:pPr>
                      <a:r>
                        <a:rPr sz="1050">
                          <a:solidFill>
                            <a:srgbClr val="25342A"/>
                          </a:solidFill>
                          <a:latin typeface="Roboto"/>
                        </a:rPr>
                        <a:t>22 Sep</a:t>
                      </a:r>
                    </a:p>
                  </a:txBody>
                  <a:tcPr>
                    <a:solidFill>
                      <a:srgbClr val="FFFFFF"/>
                    </a:solidFill>
                  </a:tcPr>
                </a:tc>
                <a:tc>
                  <a:txBody>
                    <a:bodyPr/>
                    <a:lstStyle/>
                    <a:p>
                      <a:pPr algn="r">
                        <a:defRPr>
                          <a:latin typeface="Roboto"/>
                        </a:defRPr>
                      </a:pPr>
                      <a:r>
                        <a:rPr sz="1050">
                          <a:solidFill>
                            <a:srgbClr val="25342A"/>
                          </a:solidFill>
                          <a:latin typeface="Roboto"/>
                        </a:rPr>
                        <a:t>$762</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r h="329184">
                <a:tc>
                  <a:txBody>
                    <a:bodyPr/>
                    <a:lstStyle/>
                    <a:p>
                      <a:pPr>
                        <a:defRPr>
                          <a:latin typeface="Roboto"/>
                        </a:defRPr>
                      </a:pPr>
                      <a:r>
                        <a:rPr sz="1050">
                          <a:solidFill>
                            <a:srgbClr val="25342A"/>
                          </a:solidFill>
                          <a:latin typeface="Roboto"/>
                        </a:rPr>
                        <a:t>Call-out 32, September</a:t>
                      </a:r>
                    </a:p>
                  </a:txBody>
                  <a:tcPr>
                    <a:solidFill>
                      <a:srgbClr val="F7FAF7"/>
                    </a:solidFill>
                  </a:tcPr>
                </a:tc>
                <a:tc>
                  <a:txBody>
                    <a:bodyPr/>
                    <a:lstStyle/>
                    <a:p>
                      <a:pPr algn="r">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$597</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