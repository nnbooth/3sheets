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1"/>
          <c:y val="0.05"/>
          <c:w val="0.86"/>
          <c:h val="0.8"/>
        </c:manualLayout>
      </c:layout>
      <c:areaChart>
        <c:grouping val="standard"/>
        <c:varyColors val="0"/>
        <c:ser>
          <c:idx val="0"/>
          <c:order val="0"/>
          <c:tx>
            <c:strRef>
              <c:f>Sheet1!$B$1</c:f>
              <c:strCache>
                <c:ptCount val="1"/>
                <c:pt idx="0">
                  <c:v>Cash at bank $</c:v>
                </c:pt>
              </c:strCache>
            </c:strRef>
          </c:tx>
          <c:spPr>
            <a:solidFill>
              <a:srgbClr val="0E9F6E">
                <a:alpha val="25000"/>
              </a:srgbClr>
            </a:solidFill>
            <a:ln w="31750">
              <a:solidFill>
                <a:srgbClr val="0E9F6E"/>
              </a:solidFill>
            </a:ln>
          </c:spPr>
          <c:cat>
            <c:strRef>
              <c:f>Sheet1!$A$2:$A$159</c:f>
              <c:strCache>
                <c:ptCount val="158"/>
                <c:pt idx="0">
                  <c:v>1 Aug</c:v>
                </c:pt>
                <c:pt idx="1">
                  <c:v>2 Aug</c:v>
                </c:pt>
                <c:pt idx="2">
                  <c:v>3 Aug</c:v>
                </c:pt>
                <c:pt idx="3">
                  <c:v>4 Aug</c:v>
                </c:pt>
                <c:pt idx="4">
                  <c:v>5 Aug</c:v>
                </c:pt>
                <c:pt idx="5">
                  <c:v>6 Aug</c:v>
                </c:pt>
                <c:pt idx="6">
                  <c:v>7 Aug</c:v>
                </c:pt>
                <c:pt idx="7">
                  <c:v>8 Aug</c:v>
                </c:pt>
                <c:pt idx="8">
                  <c:v>9 Aug</c:v>
                </c:pt>
                <c:pt idx="9">
                  <c:v>10 Aug</c:v>
                </c:pt>
                <c:pt idx="10">
                  <c:v>11 Aug</c:v>
                </c:pt>
                <c:pt idx="11">
                  <c:v>12 Aug</c:v>
                </c:pt>
                <c:pt idx="12">
                  <c:v>13 Aug</c:v>
                </c:pt>
                <c:pt idx="13">
                  <c:v>14 Aug</c:v>
                </c:pt>
                <c:pt idx="14">
                  <c:v>15 Aug</c:v>
                </c:pt>
                <c:pt idx="15">
                  <c:v>16 Aug</c:v>
                </c:pt>
                <c:pt idx="16">
                  <c:v>17 Aug</c:v>
                </c:pt>
                <c:pt idx="17">
                  <c:v>18 Aug</c:v>
                </c:pt>
                <c:pt idx="18">
                  <c:v>19 Aug</c:v>
                </c:pt>
                <c:pt idx="19">
                  <c:v>20 Aug</c:v>
                </c:pt>
                <c:pt idx="20">
                  <c:v>21 Aug</c:v>
                </c:pt>
                <c:pt idx="21">
                  <c:v>22 Aug</c:v>
                </c:pt>
                <c:pt idx="22">
                  <c:v>23 Aug</c:v>
                </c:pt>
                <c:pt idx="23">
                  <c:v>24 Aug</c:v>
                </c:pt>
                <c:pt idx="24">
                  <c:v>25 Aug</c:v>
                </c:pt>
                <c:pt idx="25">
                  <c:v>26 Aug</c:v>
                </c:pt>
                <c:pt idx="26">
                  <c:v>27 Aug</c:v>
                </c:pt>
                <c:pt idx="27">
                  <c:v>28 Aug</c:v>
                </c:pt>
                <c:pt idx="28">
                  <c:v>29 Aug</c:v>
                </c:pt>
                <c:pt idx="29">
                  <c:v>30 Aug</c:v>
                </c:pt>
                <c:pt idx="30">
                  <c:v>31 Aug</c:v>
                </c:pt>
                <c:pt idx="31">
                  <c:v>1 Sep</c:v>
                </c:pt>
                <c:pt idx="32">
                  <c:v>2 Sep</c:v>
                </c:pt>
                <c:pt idx="33">
                  <c:v>3 Sep</c:v>
                </c:pt>
                <c:pt idx="34">
                  <c:v>4 Sep</c:v>
                </c:pt>
                <c:pt idx="35">
                  <c:v>5 Sep</c:v>
                </c:pt>
                <c:pt idx="36">
                  <c:v>6 Sep</c:v>
                </c:pt>
                <c:pt idx="37">
                  <c:v>7 Sep</c:v>
                </c:pt>
                <c:pt idx="38">
                  <c:v>8 Sep</c:v>
                </c:pt>
                <c:pt idx="39">
                  <c:v>9 Sep</c:v>
                </c:pt>
                <c:pt idx="40">
                  <c:v>10 Sep</c:v>
                </c:pt>
                <c:pt idx="41">
                  <c:v>11 Sep</c:v>
                </c:pt>
                <c:pt idx="42">
                  <c:v>12 Sep</c:v>
                </c:pt>
                <c:pt idx="43">
                  <c:v>13 Sep</c:v>
                </c:pt>
                <c:pt idx="44">
                  <c:v>14 Sep</c:v>
                </c:pt>
                <c:pt idx="45">
                  <c:v>15 Sep</c:v>
                </c:pt>
                <c:pt idx="46">
                  <c:v>16 Sep</c:v>
                </c:pt>
                <c:pt idx="47">
                  <c:v>17 Sep</c:v>
                </c:pt>
                <c:pt idx="48">
                  <c:v>18 Sep</c:v>
                </c:pt>
                <c:pt idx="49">
                  <c:v>19 Sep</c:v>
                </c:pt>
                <c:pt idx="50">
                  <c:v>20 Sep</c:v>
                </c:pt>
                <c:pt idx="51">
                  <c:v>21 Sep</c:v>
                </c:pt>
                <c:pt idx="52">
                  <c:v>22 Sep</c:v>
                </c:pt>
                <c:pt idx="53">
                  <c:v>23 Sep</c:v>
                </c:pt>
                <c:pt idx="54">
                  <c:v>24 Sep</c:v>
                </c:pt>
                <c:pt idx="55">
                  <c:v>25 Sep</c:v>
                </c:pt>
                <c:pt idx="56">
                  <c:v>26 Sep</c:v>
                </c:pt>
                <c:pt idx="57">
                  <c:v>27 Sep</c:v>
                </c:pt>
                <c:pt idx="58">
                  <c:v>28 Sep</c:v>
                </c:pt>
                <c:pt idx="59">
                  <c:v>29 Sep</c:v>
                </c:pt>
                <c:pt idx="60">
                  <c:v>30 Sep</c:v>
                </c:pt>
                <c:pt idx="61">
                  <c:v>1 Oct</c:v>
                </c:pt>
                <c:pt idx="62">
                  <c:v>2 Oct</c:v>
                </c:pt>
                <c:pt idx="63">
                  <c:v>3 Oct</c:v>
                </c:pt>
                <c:pt idx="64">
                  <c:v>4 Oct</c:v>
                </c:pt>
                <c:pt idx="65">
                  <c:v>5 Oct</c:v>
                </c:pt>
                <c:pt idx="66">
                  <c:v>6 Oct</c:v>
                </c:pt>
                <c:pt idx="67">
                  <c:v>7 Oct</c:v>
                </c:pt>
                <c:pt idx="68">
                  <c:v>8 Oct</c:v>
                </c:pt>
                <c:pt idx="69">
                  <c:v>9 Oct</c:v>
                </c:pt>
                <c:pt idx="70">
                  <c:v>10 Oct</c:v>
                </c:pt>
                <c:pt idx="71">
                  <c:v>11 Oct</c:v>
                </c:pt>
                <c:pt idx="72">
                  <c:v>12 Oct</c:v>
                </c:pt>
                <c:pt idx="73">
                  <c:v>13 Oct</c:v>
                </c:pt>
                <c:pt idx="74">
                  <c:v>14 Oct</c:v>
                </c:pt>
                <c:pt idx="75">
                  <c:v>15 Oct</c:v>
                </c:pt>
                <c:pt idx="76">
                  <c:v>16 Oct</c:v>
                </c:pt>
                <c:pt idx="77">
                  <c:v>17 Oct</c:v>
                </c:pt>
                <c:pt idx="78">
                  <c:v>18 Oct</c:v>
                </c:pt>
                <c:pt idx="79">
                  <c:v>19 Oct</c:v>
                </c:pt>
                <c:pt idx="80">
                  <c:v>20 Oct</c:v>
                </c:pt>
                <c:pt idx="81">
                  <c:v>21 Oct</c:v>
                </c:pt>
                <c:pt idx="82">
                  <c:v>22 Oct</c:v>
                </c:pt>
                <c:pt idx="83">
                  <c:v>23 Oct</c:v>
                </c:pt>
                <c:pt idx="84">
                  <c:v>24 Oct</c:v>
                </c:pt>
                <c:pt idx="85">
                  <c:v>25 Oct</c:v>
                </c:pt>
                <c:pt idx="86">
                  <c:v>26 Oct</c:v>
                </c:pt>
                <c:pt idx="87">
                  <c:v>27 Oct</c:v>
                </c:pt>
                <c:pt idx="88">
                  <c:v>28 Oct</c:v>
                </c:pt>
                <c:pt idx="89">
                  <c:v>29 Oct</c:v>
                </c:pt>
                <c:pt idx="90">
                  <c:v>30 Oct</c:v>
                </c:pt>
                <c:pt idx="91">
                  <c:v>31 Oct</c:v>
                </c:pt>
                <c:pt idx="92">
                  <c:v>1 Nov</c:v>
                </c:pt>
                <c:pt idx="93">
                  <c:v>2 Nov</c:v>
                </c:pt>
                <c:pt idx="94">
                  <c:v>3 Nov</c:v>
                </c:pt>
                <c:pt idx="95">
                  <c:v>4 Nov</c:v>
                </c:pt>
                <c:pt idx="96">
                  <c:v>5 Nov</c:v>
                </c:pt>
                <c:pt idx="97">
                  <c:v>6 Nov</c:v>
                </c:pt>
                <c:pt idx="98">
                  <c:v>7 Nov</c:v>
                </c:pt>
                <c:pt idx="99">
                  <c:v>8 Nov</c:v>
                </c:pt>
                <c:pt idx="100">
                  <c:v>9 Nov</c:v>
                </c:pt>
                <c:pt idx="101">
                  <c:v>10 Nov</c:v>
                </c:pt>
                <c:pt idx="102">
                  <c:v>11 Nov</c:v>
                </c:pt>
                <c:pt idx="103">
                  <c:v>12 Nov</c:v>
                </c:pt>
                <c:pt idx="104">
                  <c:v>13 Nov</c:v>
                </c:pt>
                <c:pt idx="105">
                  <c:v>14 Nov</c:v>
                </c:pt>
                <c:pt idx="106">
                  <c:v>15 Nov</c:v>
                </c:pt>
                <c:pt idx="107">
                  <c:v>16 Nov</c:v>
                </c:pt>
                <c:pt idx="108">
                  <c:v>17 Nov</c:v>
                </c:pt>
                <c:pt idx="109">
                  <c:v>18 Nov</c:v>
                </c:pt>
                <c:pt idx="110">
                  <c:v>19 Nov</c:v>
                </c:pt>
                <c:pt idx="111">
                  <c:v>20 Nov</c:v>
                </c:pt>
                <c:pt idx="112">
                  <c:v>21 Nov</c:v>
                </c:pt>
                <c:pt idx="113">
                  <c:v>22 Nov</c:v>
                </c:pt>
                <c:pt idx="114">
                  <c:v>23 Nov</c:v>
                </c:pt>
                <c:pt idx="115">
                  <c:v>24 Nov</c:v>
                </c:pt>
                <c:pt idx="116">
                  <c:v>25 Nov</c:v>
                </c:pt>
                <c:pt idx="117">
                  <c:v>26 Nov</c:v>
                </c:pt>
                <c:pt idx="118">
                  <c:v>27 Nov</c:v>
                </c:pt>
                <c:pt idx="119">
                  <c:v>28 Nov</c:v>
                </c:pt>
                <c:pt idx="120">
                  <c:v>29 Nov</c:v>
                </c:pt>
                <c:pt idx="121">
                  <c:v>30 Nov</c:v>
                </c:pt>
                <c:pt idx="122">
                  <c:v>1 Dec</c:v>
                </c:pt>
                <c:pt idx="123">
                  <c:v>2 Dec</c:v>
                </c:pt>
                <c:pt idx="124">
                  <c:v>3 Dec</c:v>
                </c:pt>
                <c:pt idx="125">
                  <c:v>4 Dec</c:v>
                </c:pt>
                <c:pt idx="126">
                  <c:v>5 Dec</c:v>
                </c:pt>
                <c:pt idx="127">
                  <c:v>6 Dec</c:v>
                </c:pt>
                <c:pt idx="128">
                  <c:v>7 Dec</c:v>
                </c:pt>
                <c:pt idx="129">
                  <c:v>8 Dec</c:v>
                </c:pt>
                <c:pt idx="130">
                  <c:v>9 Dec</c:v>
                </c:pt>
                <c:pt idx="131">
                  <c:v>10 Dec</c:v>
                </c:pt>
                <c:pt idx="132">
                  <c:v>11 Dec</c:v>
                </c:pt>
                <c:pt idx="133">
                  <c:v>12 Dec</c:v>
                </c:pt>
                <c:pt idx="134">
                  <c:v>13 Dec</c:v>
                </c:pt>
                <c:pt idx="135">
                  <c:v>14 Dec</c:v>
                </c:pt>
                <c:pt idx="136">
                  <c:v>15 Dec</c:v>
                </c:pt>
                <c:pt idx="137">
                  <c:v>16 Dec</c:v>
                </c:pt>
                <c:pt idx="138">
                  <c:v>17 Dec</c:v>
                </c:pt>
                <c:pt idx="139">
                  <c:v>18 Dec</c:v>
                </c:pt>
                <c:pt idx="140">
                  <c:v>19 Dec</c:v>
                </c:pt>
                <c:pt idx="141">
                  <c:v>20 Dec</c:v>
                </c:pt>
                <c:pt idx="142">
                  <c:v>21 Dec</c:v>
                </c:pt>
                <c:pt idx="143">
                  <c:v>22 Dec</c:v>
                </c:pt>
                <c:pt idx="144">
                  <c:v>23 Dec</c:v>
                </c:pt>
                <c:pt idx="145">
                  <c:v>24 Dec</c:v>
                </c:pt>
                <c:pt idx="146">
                  <c:v>25 Dec</c:v>
                </c:pt>
                <c:pt idx="147">
                  <c:v>26 Dec</c:v>
                </c:pt>
                <c:pt idx="148">
                  <c:v>27 Dec</c:v>
                </c:pt>
                <c:pt idx="149">
                  <c:v>28 Dec</c:v>
                </c:pt>
                <c:pt idx="150">
                  <c:v>29 Dec</c:v>
                </c:pt>
                <c:pt idx="151">
                  <c:v>30 Dec</c:v>
                </c:pt>
                <c:pt idx="152">
                  <c:v>31 Dec</c:v>
                </c:pt>
                <c:pt idx="153">
                  <c:v>1 Jan</c:v>
                </c:pt>
                <c:pt idx="154">
                  <c:v>2 Jan</c:v>
                </c:pt>
                <c:pt idx="155">
                  <c:v>3 Jan</c:v>
                </c:pt>
                <c:pt idx="156">
                  <c:v>4 Jan</c:v>
                </c:pt>
                <c:pt idx="157">
                  <c:v>5 Jan</c:v>
                </c:pt>
              </c:strCache>
            </c:strRef>
          </c:cat>
          <c:val>
            <c:numRef>
              <c:f>Sheet1!$B$2:$B$159</c:f>
              <c:numCache>
                <c:formatCode>$#,##0;[Red]($#,##0);"-"</c:formatCode>
                <c:ptCount val="158"/>
                <c:pt idx="0">
                  <c:v>88000</c:v>
                </c:pt>
                <c:pt idx="1">
                  <c:v>112411</c:v>
                </c:pt>
                <c:pt idx="2">
                  <c:v>124362</c:v>
                </c:pt>
                <c:pt idx="3">
                  <c:v>139672</c:v>
                </c:pt>
                <c:pt idx="4">
                  <c:v>140540</c:v>
                </c:pt>
                <c:pt idx="5">
                  <c:v>134936</c:v>
                </c:pt>
                <c:pt idx="6">
                  <c:v>135317</c:v>
                </c:pt>
                <c:pt idx="7">
                  <c:v>147735</c:v>
                </c:pt>
                <c:pt idx="8">
                  <c:v>157535</c:v>
                </c:pt>
                <c:pt idx="9">
                  <c:v>159179</c:v>
                </c:pt>
                <c:pt idx="10">
                  <c:v>160618</c:v>
                </c:pt>
                <c:pt idx="11">
                  <c:v>160999</c:v>
                </c:pt>
                <c:pt idx="12">
                  <c:v>161655</c:v>
                </c:pt>
                <c:pt idx="13">
                  <c:v>162638</c:v>
                </c:pt>
                <c:pt idx="14">
                  <c:v>163871</c:v>
                </c:pt>
                <c:pt idx="15">
                  <c:v>164213</c:v>
                </c:pt>
                <c:pt idx="16">
                  <c:v>117019</c:v>
                </c:pt>
                <c:pt idx="17">
                  <c:v>118547</c:v>
                </c:pt>
                <c:pt idx="18">
                  <c:v>119573</c:v>
                </c:pt>
                <c:pt idx="19">
                  <c:v>82483</c:v>
                </c:pt>
                <c:pt idx="20">
                  <c:v>82483</c:v>
                </c:pt>
                <c:pt idx="21">
                  <c:v>84321</c:v>
                </c:pt>
                <c:pt idx="22">
                  <c:v>85990</c:v>
                </c:pt>
                <c:pt idx="23">
                  <c:v>87510</c:v>
                </c:pt>
                <c:pt idx="24">
                  <c:v>88034</c:v>
                </c:pt>
                <c:pt idx="25">
                  <c:v>105372</c:v>
                </c:pt>
                <c:pt idx="26">
                  <c:v>106041</c:v>
                </c:pt>
                <c:pt idx="27">
                  <c:v>102428</c:v>
                </c:pt>
                <c:pt idx="28">
                  <c:v>104108</c:v>
                </c:pt>
                <c:pt idx="29">
                  <c:v>104818</c:v>
                </c:pt>
                <c:pt idx="30">
                  <c:v>65263</c:v>
                </c:pt>
                <c:pt idx="31">
                  <c:v>66142</c:v>
                </c:pt>
                <c:pt idx="32">
                  <c:v>67515</c:v>
                </c:pt>
                <c:pt idx="33">
                  <c:v>40350</c:v>
                </c:pt>
                <c:pt idx="34">
                  <c:v>42612</c:v>
                </c:pt>
                <c:pt idx="35">
                  <c:v>42612</c:v>
                </c:pt>
                <c:pt idx="36">
                  <c:v>82025</c:v>
                </c:pt>
                <c:pt idx="37">
                  <c:v>103175</c:v>
                </c:pt>
                <c:pt idx="38">
                  <c:v>109490</c:v>
                </c:pt>
                <c:pt idx="39">
                  <c:v>126731</c:v>
                </c:pt>
                <c:pt idx="40">
                  <c:v>115467</c:v>
                </c:pt>
                <c:pt idx="41">
                  <c:v>116582</c:v>
                </c:pt>
                <c:pt idx="42">
                  <c:v>117829</c:v>
                </c:pt>
                <c:pt idx="43">
                  <c:v>140107</c:v>
                </c:pt>
                <c:pt idx="44">
                  <c:v>140278</c:v>
                </c:pt>
                <c:pt idx="45">
                  <c:v>94943</c:v>
                </c:pt>
                <c:pt idx="46">
                  <c:v>95278</c:v>
                </c:pt>
                <c:pt idx="47">
                  <c:v>58577</c:v>
                </c:pt>
                <c:pt idx="48">
                  <c:v>58904</c:v>
                </c:pt>
                <c:pt idx="49">
                  <c:v>59824</c:v>
                </c:pt>
                <c:pt idx="50">
                  <c:v>60146</c:v>
                </c:pt>
                <c:pt idx="51">
                  <c:v>60986</c:v>
                </c:pt>
                <c:pt idx="52">
                  <c:v>62378</c:v>
                </c:pt>
                <c:pt idx="53">
                  <c:v>63229</c:v>
                </c:pt>
                <c:pt idx="54">
                  <c:v>64620</c:v>
                </c:pt>
                <c:pt idx="55">
                  <c:v>64908</c:v>
                </c:pt>
                <c:pt idx="56">
                  <c:v>67402</c:v>
                </c:pt>
                <c:pt idx="57">
                  <c:v>81904</c:v>
                </c:pt>
                <c:pt idx="58">
                  <c:v>78389</c:v>
                </c:pt>
                <c:pt idx="59">
                  <c:v>107291</c:v>
                </c:pt>
                <c:pt idx="60">
                  <c:v>59746</c:v>
                </c:pt>
                <c:pt idx="61">
                  <c:v>37987</c:v>
                </c:pt>
                <c:pt idx="62">
                  <c:v>38448</c:v>
                </c:pt>
                <c:pt idx="63">
                  <c:v>39353</c:v>
                </c:pt>
                <c:pt idx="64">
                  <c:v>45653</c:v>
                </c:pt>
                <c:pt idx="65">
                  <c:v>47244</c:v>
                </c:pt>
                <c:pt idx="66">
                  <c:v>47244</c:v>
                </c:pt>
                <c:pt idx="67">
                  <c:v>47244</c:v>
                </c:pt>
                <c:pt idx="68">
                  <c:v>47928</c:v>
                </c:pt>
                <c:pt idx="69">
                  <c:v>67138</c:v>
                </c:pt>
                <c:pt idx="70">
                  <c:v>67630</c:v>
                </c:pt>
                <c:pt idx="71">
                  <c:v>67630</c:v>
                </c:pt>
                <c:pt idx="72">
                  <c:v>67630</c:v>
                </c:pt>
                <c:pt idx="73">
                  <c:v>138034</c:v>
                </c:pt>
                <c:pt idx="74">
                  <c:v>139325</c:v>
                </c:pt>
                <c:pt idx="75">
                  <c:v>47285</c:v>
                </c:pt>
                <c:pt idx="76">
                  <c:v>48576</c:v>
                </c:pt>
                <c:pt idx="77">
                  <c:v>48576</c:v>
                </c:pt>
                <c:pt idx="78">
                  <c:v>61476</c:v>
                </c:pt>
                <c:pt idx="79">
                  <c:v>62767</c:v>
                </c:pt>
                <c:pt idx="80">
                  <c:v>64058</c:v>
                </c:pt>
                <c:pt idx="81">
                  <c:v>65348</c:v>
                </c:pt>
                <c:pt idx="82">
                  <c:v>66639</c:v>
                </c:pt>
                <c:pt idx="83">
                  <c:v>77730</c:v>
                </c:pt>
                <c:pt idx="84">
                  <c:v>77730</c:v>
                </c:pt>
                <c:pt idx="85">
                  <c:v>77730</c:v>
                </c:pt>
                <c:pt idx="86">
                  <c:v>79021</c:v>
                </c:pt>
                <c:pt idx="87">
                  <c:v>80311</c:v>
                </c:pt>
                <c:pt idx="88">
                  <c:v>69585</c:v>
                </c:pt>
                <c:pt idx="89">
                  <c:v>47826</c:v>
                </c:pt>
                <c:pt idx="90">
                  <c:v>49117</c:v>
                </c:pt>
                <c:pt idx="91">
                  <c:v>89617</c:v>
                </c:pt>
                <c:pt idx="92">
                  <c:v>122617</c:v>
                </c:pt>
                <c:pt idx="93">
                  <c:v>67747</c:v>
                </c:pt>
                <c:pt idx="94">
                  <c:v>69038</c:v>
                </c:pt>
                <c:pt idx="95">
                  <c:v>70329</c:v>
                </c:pt>
                <c:pt idx="96">
                  <c:v>71620</c:v>
                </c:pt>
                <c:pt idx="97">
                  <c:v>78485</c:v>
                </c:pt>
                <c:pt idx="98">
                  <c:v>84059</c:v>
                </c:pt>
                <c:pt idx="99">
                  <c:v>89633</c:v>
                </c:pt>
                <c:pt idx="100">
                  <c:v>90924</c:v>
                </c:pt>
                <c:pt idx="101">
                  <c:v>92215</c:v>
                </c:pt>
                <c:pt idx="102">
                  <c:v>99080</c:v>
                </c:pt>
                <c:pt idx="103">
                  <c:v>67695</c:v>
                </c:pt>
                <c:pt idx="104">
                  <c:v>74560</c:v>
                </c:pt>
                <c:pt idx="105">
                  <c:v>80134</c:v>
                </c:pt>
                <c:pt idx="106">
                  <c:v>85708</c:v>
                </c:pt>
                <c:pt idx="107">
                  <c:v>31919</c:v>
                </c:pt>
                <c:pt idx="108">
                  <c:v>33210</c:v>
                </c:pt>
                <c:pt idx="109">
                  <c:v>40074</c:v>
                </c:pt>
                <c:pt idx="110">
                  <c:v>46939</c:v>
                </c:pt>
                <c:pt idx="111">
                  <c:v>53804</c:v>
                </c:pt>
                <c:pt idx="112">
                  <c:v>59379</c:v>
                </c:pt>
                <c:pt idx="113">
                  <c:v>64953</c:v>
                </c:pt>
                <c:pt idx="114">
                  <c:v>66244</c:v>
                </c:pt>
                <c:pt idx="115">
                  <c:v>67534</c:v>
                </c:pt>
                <c:pt idx="116">
                  <c:v>74399</c:v>
                </c:pt>
                <c:pt idx="117">
                  <c:v>43014</c:v>
                </c:pt>
                <c:pt idx="118">
                  <c:v>49879</c:v>
                </c:pt>
                <c:pt idx="119">
                  <c:v>55454</c:v>
                </c:pt>
                <c:pt idx="120">
                  <c:v>61028</c:v>
                </c:pt>
                <c:pt idx="121">
                  <c:v>1159</c:v>
                </c:pt>
                <c:pt idx="122">
                  <c:v>42949</c:v>
                </c:pt>
                <c:pt idx="123">
                  <c:v>49814</c:v>
                </c:pt>
                <c:pt idx="124">
                  <c:v>56679</c:v>
                </c:pt>
                <c:pt idx="125">
                  <c:v>63544</c:v>
                </c:pt>
                <c:pt idx="126">
                  <c:v>69119</c:v>
                </c:pt>
                <c:pt idx="127">
                  <c:v>74693</c:v>
                </c:pt>
                <c:pt idx="128">
                  <c:v>75984</c:v>
                </c:pt>
                <c:pt idx="129">
                  <c:v>77274</c:v>
                </c:pt>
                <c:pt idx="130">
                  <c:v>84139</c:v>
                </c:pt>
                <c:pt idx="131">
                  <c:v>52754</c:v>
                </c:pt>
                <c:pt idx="132">
                  <c:v>59619</c:v>
                </c:pt>
                <c:pt idx="133">
                  <c:v>65193</c:v>
                </c:pt>
                <c:pt idx="134">
                  <c:v>70768</c:v>
                </c:pt>
                <c:pt idx="135">
                  <c:v>72058</c:v>
                </c:pt>
                <c:pt idx="136">
                  <c:v>18269</c:v>
                </c:pt>
                <c:pt idx="137">
                  <c:v>25134</c:v>
                </c:pt>
                <c:pt idx="138">
                  <c:v>31999</c:v>
                </c:pt>
                <c:pt idx="139">
                  <c:v>38864</c:v>
                </c:pt>
                <c:pt idx="140">
                  <c:v>44438</c:v>
                </c:pt>
                <c:pt idx="141">
                  <c:v>50013</c:v>
                </c:pt>
                <c:pt idx="142">
                  <c:v>51303</c:v>
                </c:pt>
                <c:pt idx="143">
                  <c:v>52594</c:v>
                </c:pt>
                <c:pt idx="144">
                  <c:v>59459</c:v>
                </c:pt>
                <c:pt idx="145">
                  <c:v>28074</c:v>
                </c:pt>
                <c:pt idx="146">
                  <c:v>34939</c:v>
                </c:pt>
                <c:pt idx="147">
                  <c:v>40513</c:v>
                </c:pt>
                <c:pt idx="148">
                  <c:v>46088</c:v>
                </c:pt>
                <c:pt idx="149">
                  <c:v>42378</c:v>
                </c:pt>
                <c:pt idx="150">
                  <c:v>43669</c:v>
                </c:pt>
                <c:pt idx="151">
                  <c:v>50534</c:v>
                </c:pt>
                <c:pt idx="152">
                  <c:v>41739</c:v>
                </c:pt>
                <c:pt idx="153">
                  <c:v>48604</c:v>
                </c:pt>
                <c:pt idx="154">
                  <c:v>54178</c:v>
                </c:pt>
                <c:pt idx="155">
                  <c:v>59752</c:v>
                </c:pt>
                <c:pt idx="156">
                  <c:v>61043</c:v>
                </c:pt>
                <c:pt idx="157">
                  <c:v>62334</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tickLblSkip val="18"/>
        <c:noMultiLvlLbl val="0"/>
      </c:catAx>
      <c:valAx>
        <c:axId val="-2100718248"/>
        <c:scaling>
          <c:orientation val="minMax"/>
          <c:max val="200000.0"/>
          <c:min val="0.0"/>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majorUnit val="50000.0"/>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03"/>
          <c:w val="0.58"/>
          <c:h val="0.88"/>
        </c:manualLayout>
      </c:layout>
      <c:barChart>
        <c:barDir val="bar"/>
        <c:grouping val="clustered"/>
        <c:ser>
          <c:idx val="0"/>
          <c:order val="0"/>
          <c:tx>
            <c:strRef>
              <c:f>Sheet1!$B$1</c:f>
              <c:strCache>
                <c:ptCount val="1"/>
                <c:pt idx="0">
                  <c:v>November: where the cash comes from and goes (forecast)</c:v>
                </c:pt>
              </c:strCache>
            </c:strRef>
          </c:tx>
          <c:dPt>
            <c:idx val="0"/>
            <c:spPr>
              <a:solidFill>
                <a:srgbClr val="B42318"/>
              </a:solidFill>
            </c:spPr>
          </c:dPt>
          <c:dPt>
            <c:idx val="1"/>
            <c:spPr>
              <a:solidFill>
                <a:srgbClr val="B42318"/>
              </a:solidFill>
            </c:spPr>
          </c:dPt>
          <c:dPt>
            <c:idx val="2"/>
            <c:spPr>
              <a:solidFill>
                <a:srgbClr val="B42318"/>
              </a:solidFill>
            </c:spPr>
          </c:dPt>
          <c:dPt>
            <c:idx val="3"/>
            <c:spPr>
              <a:solidFill>
                <a:srgbClr val="0E9F6E"/>
              </a:solidFill>
            </c:spPr>
          </c:dPt>
          <c:dPt>
            <c:idx val="4"/>
            <c:spPr>
              <a:solidFill>
                <a:srgbClr val="0E9F6E"/>
              </a:solidFill>
            </c:spPr>
          </c:dPt>
          <c:cat>
            <c:strRef>
              <c:f>Sheet1!$A$2:$A$6</c:f>
              <c:strCache>
                <c:ptCount val="5"/>
                <c:pt idx="0">
                  <c:v>Suppliers and overheads</c:v>
                </c:pt>
                <c:pt idx="1">
                  <c:v>Wages (2 pay runs)</c:v>
                </c:pt>
                <c:pt idx="2">
                  <c:v>Tax, interest and equipment finance</c:v>
                </c:pt>
                <c:pt idx="3">
                  <c:v>Unpaid invoices collected</c:v>
                </c:pt>
                <c:pt idx="4">
                  <c:v>New work collected</c:v>
                </c:pt>
              </c:strCache>
            </c:strRef>
          </c:cat>
          <c:val>
            <c:numRef>
              <c:f>Sheet1!$B$2:$B$6</c:f>
              <c:numCache>
                <c:formatCode>$#,##0;[Red]($#,##0);"-"</c:formatCode>
                <c:ptCount val="5"/>
                <c:pt idx="0">
                  <c:v>-165240</c:v>
                </c:pt>
                <c:pt idx="1">
                  <c:v>-76500</c:v>
                </c:pt>
                <c:pt idx="2">
                  <c:v>-7160</c:v>
                </c:pt>
                <c:pt idx="3">
                  <c:v>33000</c:v>
                </c:pt>
                <c:pt idx="4">
                  <c:v>127442</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146558.3"/>
          <c:min val="-190025.99999999997"/>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Sample Electrical &amp; Air Pty Ltd. Period: October 2026 to date. A 13-week cash forecast from 2pm on 6 October: cash at bank, plus what customers owe on their usual payment dates and new work at its recent rate, less pay runs, supplier bills, tax and finance on their due dates. Every day opens its workings.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Cash at bank, 6 Oct: $47,244; Wages to pay in November: $76,500; After the tightest pay run, 26 Nov: $43,014; Lowest point, next 13 weeks: $1,159. Cash at bank was $47,244 at 2pm on 6 October. November has 2 pay runs ($76,500). The tightest is 26 November: $43,014 left after paying wages, $4,764 more than a pay run in reserve. The lowest point in the 13 weeks is $1,159 on 30 November. 19 invoices ($70,404) are already past the customer's usual payment date; the forecast assumes they arrive within a week. Without them, 26 November would be ($27,390).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November: where the cash comes from and goes (forecast). Money in, and money out in brackets.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weeks, week by week. Lowest in the week: amber below one pay run ($38,250), red below zero.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($70,404)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965960"/>
            <a:ext cx="11277295" cy="1097280"/>
          </a:xfrm>
        </p:spPr>
        <p:txBody>
          <a:bodyPr wrap="square"/>
          <a:lstStyle/>
          <a:p>
            <a:pPr algn="l">
              <a:defRPr>
                <a:latin typeface="Roboto"/>
              </a:defRPr>
            </a:pPr>
            <a:r>
              <a:rPr sz="3400" b="1">
                <a:solidFill>
                  <a:srgbClr val="25342A"/>
                </a:solidFill>
                <a:latin typeface="Roboto"/>
              </a:rPr>
              <a:t>Will cash cover payroll next month?</a:t>
            </a:r>
          </a:p>
        </p:txBody>
      </p:sp>
      <p:sp>
        <p:nvSpPr>
          <p:cNvPr id="3" name="Rectangle 2"/>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4" name="TextBox 3"/>
          <p:cNvSpPr txBox="1"/>
          <p:nvPr/>
        </p:nvSpPr>
        <p:spPr>
          <a:xfrm>
            <a:off x="1234440" y="658368"/>
            <a:ext cx="5486400" cy="457200"/>
          </a:xfrm>
          <a:prstGeom prst="rect">
            <a:avLst/>
          </a:prstGeom>
          <a:noFill/>
        </p:spPr>
        <p:txBody>
          <a:bodyPr wrap="square" lIns="45720" rIns="45720">
            <a:spAutoFit/>
          </a:bodyPr>
          <a:lstStyle/>
          <a:p>
            <a:pPr>
              <a:defRPr>
                <a:latin typeface="Roboto"/>
              </a:defRPr>
            </a:pPr>
            <a:r>
              <a:rPr sz="1800" b="1">
                <a:solidFill>
                  <a:srgbClr val="25342A"/>
                </a:solidFill>
                <a:latin typeface="Roboto"/>
              </a:rPr>
              <a:t>The Fourth Sheet</a:t>
            </a:r>
          </a:p>
        </p:txBody>
      </p:sp>
      <p:sp>
        <p:nvSpPr>
          <p:cNvPr id="5" name="TextBox 4"/>
          <p:cNvSpPr txBox="1"/>
          <p:nvPr/>
        </p:nvSpPr>
        <p:spPr>
          <a:xfrm>
            <a:off x="457200" y="1554480"/>
            <a:ext cx="10972800" cy="365760"/>
          </a:xfrm>
          <a:prstGeom prst="rect">
            <a:avLst/>
          </a:prstGeom>
          <a:noFill/>
        </p:spPr>
        <p:txBody>
          <a:bodyPr wrap="square" lIns="45720" rIns="45720">
            <a:spAutoFit/>
          </a:bodyPr>
          <a:lstStyle/>
          <a:p>
            <a:pPr>
              <a:defRPr>
                <a:latin typeface="Roboto"/>
              </a:defRPr>
            </a:pPr>
            <a:r>
              <a:rPr sz="1100" b="1">
                <a:solidFill>
                  <a:srgbClr val="8A7A52"/>
                </a:solidFill>
                <a:latin typeface="Roboto"/>
              </a:rPr>
              <a:t>SAMPLE DATA · invented figures for demonstration</a:t>
            </a:r>
          </a:p>
        </p:txBody>
      </p:sp>
      <p:sp>
        <p:nvSpPr>
          <p:cNvPr id="6" name="TextBox 5"/>
          <p:cNvSpPr txBox="1"/>
          <p:nvPr/>
        </p:nvSpPr>
        <p:spPr>
          <a:xfrm>
            <a:off x="457200" y="3154680"/>
            <a:ext cx="11277295" cy="457200"/>
          </a:xfrm>
          <a:prstGeom prst="rect">
            <a:avLst/>
          </a:prstGeom>
          <a:noFill/>
        </p:spPr>
        <p:txBody>
          <a:bodyPr wrap="square" lIns="45720" rIns="45720">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77295" cy="758190"/>
          </a:xfrm>
          <a:prstGeom prst="rect">
            <a:avLst/>
          </a:prstGeom>
          <a:noFill/>
        </p:spPr>
        <p:txBody>
          <a:bodyPr wrap="square" lIns="45720" rIns="45720">
            <a:spAutoFit/>
          </a:bodyPr>
          <a:lstStyle/>
          <a:p>
            <a:pPr>
              <a:defRPr>
                <a:latin typeface="Roboto"/>
              </a:defRPr>
            </a:pPr>
            <a:r>
              <a:rPr sz="1400" b="0">
                <a:solidFill>
                  <a:srgbClr val="25342A"/>
                </a:solidFill>
                <a:latin typeface="Roboto"/>
              </a:rPr>
              <a:t>Period: October 2026 to date. A 13-week cash forecast from 2pm on 6 October: cash at bank, plus what customers owe on their usual payment dates and new work at its recent rate, less pay runs, supplier bills, tax and finance on their due dates. Every day opens its workings.</a:t>
            </a:r>
          </a:p>
        </p:txBody>
      </p:sp>
      <p:sp>
        <p:nvSpPr>
          <p:cNvPr id="8" name="TextBox 7"/>
          <p:cNvSpPr txBox="1"/>
          <p:nvPr/>
        </p:nvSpPr>
        <p:spPr>
          <a:xfrm>
            <a:off x="457200" y="4552950"/>
            <a:ext cx="11277295" cy="1097280"/>
          </a:xfrm>
          <a:prstGeom prst="rect">
            <a:avLst/>
          </a:prstGeom>
          <a:noFill/>
        </p:spPr>
        <p:txBody>
          <a:bodyPr wrap="square" lIns="45720" rIns="45720">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September 2026: Locked. September 2026 is locked (closed 2 Oct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10" name="TextBox 9"/>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8 Oct 2026, 9:35am · Sample data · Made with Python (python-pptx)</a:t>
            </a:r>
          </a:p>
        </p:txBody>
      </p:sp>
      <p:sp>
        <p:nvSpPr>
          <p:cNvPr id="11" name="TextBox 10"/>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Will cash cover payroll next month?</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Cash at bank, every day: actual to 6 Oct, then forecast to 5 Jan</a:t>
            </a:r>
          </a:p>
        </p:txBody>
      </p:sp>
      <p:sp>
        <p:nvSpPr>
          <p:cNvPr id="6" name="Rectangle 5"/>
          <p:cNvSpPr/>
          <p:nvPr/>
        </p:nvSpPr>
        <p:spPr>
          <a:xfrm>
            <a:off x="457200"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7" name="TextBox 6"/>
          <p:cNvSpPr txBox="1"/>
          <p:nvPr/>
        </p:nvSpPr>
        <p:spPr>
          <a:xfrm>
            <a:off x="594360"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Cash at bank, 6 Oct</a:t>
            </a:r>
          </a:p>
        </p:txBody>
      </p:sp>
      <p:sp>
        <p:nvSpPr>
          <p:cNvPr id="8" name="TextBox 7"/>
          <p:cNvSpPr txBox="1"/>
          <p:nvPr/>
        </p:nvSpPr>
        <p:spPr>
          <a:xfrm>
            <a:off x="594360"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$47,244</a:t>
            </a:r>
          </a:p>
        </p:txBody>
      </p:sp>
      <p:sp>
        <p:nvSpPr>
          <p:cNvPr id="9" name="TextBox 8"/>
          <p:cNvSpPr txBox="1"/>
          <p:nvPr/>
        </p:nvSpPr>
        <p:spPr>
          <a:xfrm>
            <a:off x="594360"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2pm, still moving</a:t>
            </a:r>
          </a:p>
        </p:txBody>
      </p:sp>
      <p:sp>
        <p:nvSpPr>
          <p:cNvPr id="10" name="Rectangle 9"/>
          <p:cNvSpPr/>
          <p:nvPr/>
        </p:nvSpPr>
        <p:spPr>
          <a:xfrm>
            <a:off x="3333673"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1" name="TextBox 10"/>
          <p:cNvSpPr txBox="1"/>
          <p:nvPr/>
        </p:nvSpPr>
        <p:spPr>
          <a:xfrm>
            <a:off x="3470833"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Wages to pay in November</a:t>
            </a:r>
          </a:p>
        </p:txBody>
      </p:sp>
      <p:sp>
        <p:nvSpPr>
          <p:cNvPr id="12" name="TextBox 11"/>
          <p:cNvSpPr txBox="1"/>
          <p:nvPr/>
        </p:nvSpPr>
        <p:spPr>
          <a:xfrm>
            <a:off x="3470833"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$76,500</a:t>
            </a:r>
          </a:p>
        </p:txBody>
      </p:sp>
      <p:sp>
        <p:nvSpPr>
          <p:cNvPr id="13" name="TextBox 12"/>
          <p:cNvSpPr txBox="1"/>
          <p:nvPr/>
        </p:nvSpPr>
        <p:spPr>
          <a:xfrm>
            <a:off x="3470833"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2 fortnightly pay runs</a:t>
            </a:r>
          </a:p>
        </p:txBody>
      </p:sp>
      <p:sp>
        <p:nvSpPr>
          <p:cNvPr id="14" name="Rectangle 13"/>
          <p:cNvSpPr/>
          <p:nvPr/>
        </p:nvSpPr>
        <p:spPr>
          <a:xfrm>
            <a:off x="6210147"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5" name="TextBox 14"/>
          <p:cNvSpPr txBox="1"/>
          <p:nvPr/>
        </p:nvSpPr>
        <p:spPr>
          <a:xfrm>
            <a:off x="6347307"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After the tightest pay run, 26 Nov</a:t>
            </a:r>
          </a:p>
        </p:txBody>
      </p:sp>
      <p:sp>
        <p:nvSpPr>
          <p:cNvPr id="16" name="TextBox 15"/>
          <p:cNvSpPr txBox="1"/>
          <p:nvPr/>
        </p:nvSpPr>
        <p:spPr>
          <a:xfrm>
            <a:off x="6347307"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$43,014</a:t>
            </a:r>
          </a:p>
        </p:txBody>
      </p:sp>
      <p:sp>
        <p:nvSpPr>
          <p:cNvPr id="17" name="TextBox 16"/>
          <p:cNvSpPr txBox="1"/>
          <p:nvPr/>
        </p:nvSpPr>
        <p:spPr>
          <a:xfrm>
            <a:off x="6347307"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buffer: one pay run, $38,250</a:t>
            </a:r>
          </a:p>
        </p:txBody>
      </p:sp>
      <p:sp>
        <p:nvSpPr>
          <p:cNvPr id="18" name="Rectangle 17"/>
          <p:cNvSpPr/>
          <p:nvPr/>
        </p:nvSpPr>
        <p:spPr>
          <a:xfrm>
            <a:off x="9086621"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9" name="TextBox 18"/>
          <p:cNvSpPr txBox="1"/>
          <p:nvPr/>
        </p:nvSpPr>
        <p:spPr>
          <a:xfrm>
            <a:off x="9223781"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Lowest point, next 13 weeks</a:t>
            </a:r>
          </a:p>
        </p:txBody>
      </p:sp>
      <p:sp>
        <p:nvSpPr>
          <p:cNvPr id="20" name="TextBox 19"/>
          <p:cNvSpPr txBox="1"/>
          <p:nvPr/>
        </p:nvSpPr>
        <p:spPr>
          <a:xfrm>
            <a:off x="9223781" y="1717548"/>
            <a:ext cx="2373553" cy="502920"/>
          </a:xfrm>
          <a:prstGeom prst="rect">
            <a:avLst/>
          </a:prstGeom>
          <a:noFill/>
        </p:spPr>
        <p:txBody>
          <a:bodyPr wrap="square" lIns="45720" rIns="45720">
            <a:spAutoFit/>
          </a:bodyPr>
          <a:lstStyle/>
          <a:p>
            <a:pPr>
              <a:defRPr>
                <a:latin typeface="Roboto"/>
              </a:defRPr>
            </a:pPr>
            <a:r>
              <a:rPr sz="2200" b="1">
                <a:solidFill>
                  <a:srgbClr val="8A6D3B"/>
                </a:solidFill>
                <a:latin typeface="Roboto"/>
              </a:rPr>
              <a:t>$1,159</a:t>
            </a:r>
          </a:p>
        </p:txBody>
      </p:sp>
      <p:sp>
        <p:nvSpPr>
          <p:cNvPr id="21" name="TextBox 20"/>
          <p:cNvSpPr txBox="1"/>
          <p:nvPr/>
        </p:nvSpPr>
        <p:spPr>
          <a:xfrm>
            <a:off x="9223781"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30 November</a:t>
            </a:r>
          </a:p>
        </p:txBody>
      </p:sp>
      <p:graphicFrame>
        <p:nvGraphicFramePr>
          <p:cNvPr id="22" name="Chart 21"/>
          <p:cNvGraphicFramePr>
            <a:graphicFrameLocks noGrp="1"/>
          </p:cNvGraphicFramePr>
          <p:nvPr/>
        </p:nvGraphicFramePr>
        <p:xfrm>
          <a:off x="457200" y="2604516"/>
          <a:ext cx="11277295" cy="2318004"/>
        </p:xfrm>
        <a:graphic>
          <a:graphicData uri="http://schemas.openxmlformats.org/drawingml/2006/chart">
            <c:chart xmlns:c="http://schemas.openxmlformats.org/drawingml/2006/chart" r:id="rId3"/>
          </a:graphicData>
        </a:graphic>
      </p:graphicFrame>
      <p:cxnSp>
        <p:nvCxnSpPr>
          <p:cNvPr id="23" name="Connector 22"/>
          <p:cNvCxnSpPr/>
          <p:nvPr/>
        </p:nvCxnSpPr>
        <p:spPr>
          <a:xfrm>
            <a:off x="1697702" y="4220164"/>
            <a:ext cx="9698474" cy="0"/>
          </a:xfrm>
          <a:prstGeom prst="line">
            <a:avLst/>
          </a:prstGeom>
          <a:ln w="19050">
            <a:solidFill>
              <a:srgbClr val="25342A"/>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09776" y="3945844"/>
            <a:ext cx="5486400" cy="237744"/>
          </a:xfrm>
          <a:prstGeom prst="rect">
            <a:avLst/>
          </a:prstGeom>
          <a:noFill/>
        </p:spPr>
        <p:txBody>
          <a:bodyPr wrap="square" lIns="45720" rIns="45720">
            <a:spAutoFit/>
          </a:bodyPr>
          <a:lstStyle/>
          <a:p>
            <a:pPr algn="r">
              <a:defRPr>
                <a:latin typeface="Roboto"/>
              </a:defRPr>
            </a:pPr>
            <a:r>
              <a:rPr sz="1000" b="1">
                <a:solidFill>
                  <a:srgbClr val="25342A"/>
                </a:solidFill>
                <a:latin typeface="Roboto"/>
              </a:rPr>
              <a:t>Buffer: one pay run, $38,250</a:t>
            </a:r>
          </a:p>
        </p:txBody>
      </p:sp>
      <p:sp>
        <p:nvSpPr>
          <p:cNvPr id="25" name="Rectangle 24"/>
          <p:cNvSpPr/>
          <p:nvPr/>
        </p:nvSpPr>
        <p:spPr>
          <a:xfrm>
            <a:off x="457200" y="5013960"/>
            <a:ext cx="5501487" cy="129540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6" name="TextBox 25"/>
          <p:cNvSpPr txBox="1"/>
          <p:nvPr/>
        </p:nvSpPr>
        <p:spPr>
          <a:xfrm>
            <a:off x="594360" y="506882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IT SHOWS</a:t>
            </a:r>
          </a:p>
        </p:txBody>
      </p:sp>
      <p:sp>
        <p:nvSpPr>
          <p:cNvPr id="27" name="TextBox 26"/>
          <p:cNvSpPr txBox="1"/>
          <p:nvPr/>
        </p:nvSpPr>
        <p:spPr>
          <a:xfrm>
            <a:off x="594360" y="5343144"/>
            <a:ext cx="5227167" cy="929640"/>
          </a:xfrm>
          <a:prstGeom prst="rect">
            <a:avLst/>
          </a:prstGeom>
          <a:noFill/>
        </p:spPr>
        <p:txBody>
          <a:bodyPr wrap="square" lIns="45720" rIns="45720">
            <a:spAutoFit/>
          </a:bodyPr>
          <a:lstStyle/>
          <a:p>
            <a:pPr>
              <a:defRPr>
                <a:latin typeface="Roboto"/>
              </a:defRPr>
            </a:pPr>
            <a:r>
              <a:rPr sz="1200" b="0">
                <a:solidFill>
                  <a:srgbClr val="25342A"/>
                </a:solidFill>
                <a:latin typeface="Roboto"/>
              </a:rPr>
              <a:t>Cash at bank was $47,244 at 2pm on 6 October. November has 2 pay runs ($76,500). The tightest is 26 November: $43,014 left after paying wages, $4,764 more than a pay run in reserve. The lowest point in the 13 weeks is $1,159 on 30 November.</a:t>
            </a:r>
          </a:p>
        </p:txBody>
      </p:sp>
      <p:sp>
        <p:nvSpPr>
          <p:cNvPr id="28" name="Rectangle 27"/>
          <p:cNvSpPr/>
          <p:nvPr/>
        </p:nvSpPr>
        <p:spPr>
          <a:xfrm>
            <a:off x="6233007" y="5013960"/>
            <a:ext cx="5501487" cy="129540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9" name="TextBox 28"/>
          <p:cNvSpPr txBox="1"/>
          <p:nvPr/>
        </p:nvSpPr>
        <p:spPr>
          <a:xfrm>
            <a:off x="6370167" y="506882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YOU'D DO ABOUT IT</a:t>
            </a:r>
          </a:p>
        </p:txBody>
      </p:sp>
      <p:sp>
        <p:nvSpPr>
          <p:cNvPr id="30" name="TextBox 29"/>
          <p:cNvSpPr txBox="1"/>
          <p:nvPr/>
        </p:nvSpPr>
        <p:spPr>
          <a:xfrm>
            <a:off x="6370167" y="5343144"/>
            <a:ext cx="5227167" cy="929640"/>
          </a:xfrm>
          <a:prstGeom prst="rect">
            <a:avLst/>
          </a:prstGeom>
          <a:noFill/>
        </p:spPr>
        <p:txBody>
          <a:bodyPr wrap="square" lIns="45720" rIns="45720">
            <a:spAutoFit/>
          </a:bodyPr>
          <a:lstStyle/>
          <a:p>
            <a:pPr>
              <a:defRPr>
                <a:latin typeface="Roboto"/>
              </a:defRPr>
            </a:pPr>
            <a:r>
              <a:rPr sz="1200" b="0">
                <a:solidFill>
                  <a:srgbClr val="25342A"/>
                </a:solidFill>
                <a:latin typeface="Roboto"/>
              </a:rPr>
              <a:t>19 invoices ($70,404) are already past the customer's usual payment date; the forecast assumes they arrive within a week. Without them, 26 November would be ($27,390).</a:t>
            </a:r>
          </a:p>
        </p:txBody>
      </p:sp>
      <p:sp>
        <p:nvSpPr>
          <p:cNvPr id="31" name="TextBox 30"/>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32" name="TextBox 31"/>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8 Oct 2026, 9:35am · Sample data · Made with Python (python-pptx)</a:t>
            </a:r>
          </a:p>
        </p:txBody>
      </p:sp>
      <p:sp>
        <p:nvSpPr>
          <p:cNvPr id="33" name="TextBox 32"/>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2 of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November: where the cash comes from and goes (forecast)</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Money in, and money out in brackets.</a:t>
            </a:r>
          </a:p>
        </p:txBody>
      </p:sp>
      <p:graphicFrame>
        <p:nvGraphicFramePr>
          <p:cNvPr id="6" name="Chart 5"/>
          <p:cNvGraphicFramePr>
            <a:graphicFrameLocks noGrp="1"/>
          </p:cNvGraphicFramePr>
          <p:nvPr/>
        </p:nvGraphicFramePr>
        <p:xfrm>
          <a:off x="457200" y="1278636"/>
          <a:ext cx="11277295" cy="4527804"/>
        </p:xfrm>
        <a:graphic>
          <a:graphicData uri="http://schemas.openxmlformats.org/drawingml/2006/chart">
            <c:chart xmlns:c="http://schemas.openxmlformats.org/drawingml/2006/chart" r:id="rId3"/>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8 Oct 2026, 9:35am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3 of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13 weeks, week by week</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Lowest in the week: amber below one pay run ($38,250), red below zero.</a:t>
            </a:r>
          </a:p>
        </p:txBody>
      </p:sp>
      <p:graphicFrame>
        <p:nvGraphicFramePr>
          <p:cNvPr id="6" name="Table 5"/>
          <p:cNvGraphicFramePr>
            <a:graphicFrameLocks noGrp="1"/>
          </p:cNvGraphicFramePr>
          <p:nvPr/>
        </p:nvGraphicFramePr>
        <p:xfrm>
          <a:off x="457200" y="1278636"/>
          <a:ext cx="11277295" cy="4352544"/>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310896">
                <a:tc>
                  <a:txBody>
                    <a:bodyPr/>
                    <a:lstStyle/>
                    <a:p>
                      <a:pPr algn="l">
                        <a:defRPr>
                          <a:latin typeface="Roboto"/>
                        </a:defRPr>
                      </a:pPr>
                      <a:r>
                        <a:rPr sz="1100" b="1">
                          <a:solidFill>
                            <a:srgbClr val="FFFFFF"/>
                          </a:solidFill>
                          <a:latin typeface="Roboto"/>
                        </a:rPr>
                        <a:t>Week ending</a:t>
                      </a:r>
                    </a:p>
                  </a:txBody>
                  <a:tcPr>
                    <a:solidFill>
                      <a:srgbClr val="2F7A5D"/>
                    </a:solidFill>
                  </a:tcPr>
                </a:tc>
                <a:tc>
                  <a:txBody>
                    <a:bodyPr/>
                    <a:lstStyle/>
                    <a:p>
                      <a:pPr algn="r">
                        <a:defRPr>
                          <a:latin typeface="Roboto"/>
                        </a:defRPr>
                      </a:pPr>
                      <a:r>
                        <a:rPr sz="1100" b="1">
                          <a:solidFill>
                            <a:srgbClr val="FFFFFF"/>
                          </a:solidFill>
                          <a:latin typeface="Roboto"/>
                        </a:rPr>
                        <a:t>Cash at start</a:t>
                      </a:r>
                    </a:p>
                  </a:txBody>
                  <a:tcPr>
                    <a:solidFill>
                      <a:srgbClr val="2F7A5D"/>
                    </a:solidFill>
                  </a:tcPr>
                </a:tc>
                <a:tc>
                  <a:txBody>
                    <a:bodyPr/>
                    <a:lstStyle/>
                    <a:p>
                      <a:pPr algn="r">
                        <a:defRPr>
                          <a:latin typeface="Roboto"/>
                        </a:defRPr>
                      </a:pPr>
                      <a:r>
                        <a:rPr sz="1100" b="1">
                          <a:solidFill>
                            <a:srgbClr val="FFFFFF"/>
                          </a:solidFill>
                          <a:latin typeface="Roboto"/>
                        </a:rPr>
                        <a:t>Unpaid invoices collected</a:t>
                      </a:r>
                    </a:p>
                  </a:txBody>
                  <a:tcPr>
                    <a:solidFill>
                      <a:srgbClr val="2F7A5D"/>
                    </a:solidFill>
                  </a:tcPr>
                </a:tc>
                <a:tc>
                  <a:txBody>
                    <a:bodyPr/>
                    <a:lstStyle/>
                    <a:p>
                      <a:pPr algn="r">
                        <a:defRPr>
                          <a:latin typeface="Roboto"/>
                        </a:defRPr>
                      </a:pPr>
                      <a:r>
                        <a:rPr sz="1100" b="1">
                          <a:solidFill>
                            <a:srgbClr val="FFFFFF"/>
                          </a:solidFill>
                          <a:latin typeface="Roboto"/>
                        </a:rPr>
                        <a:t>New work collected</a:t>
                      </a:r>
                    </a:p>
                  </a:txBody>
                  <a:tcPr>
                    <a:solidFill>
                      <a:srgbClr val="2F7A5D"/>
                    </a:solidFill>
                  </a:tcPr>
                </a:tc>
                <a:tc>
                  <a:txBody>
                    <a:bodyPr/>
                    <a:lstStyle/>
                    <a:p>
                      <a:pPr algn="r">
                        <a:defRPr>
                          <a:latin typeface="Roboto"/>
                        </a:defRPr>
                      </a:pPr>
                      <a:r>
                        <a:rPr sz="1100" b="1">
                          <a:solidFill>
                            <a:srgbClr val="FFFFFF"/>
                          </a:solidFill>
                          <a:latin typeface="Roboto"/>
                        </a:rPr>
                        <a:t>Wages</a:t>
                      </a:r>
                    </a:p>
                  </a:txBody>
                  <a:tcPr>
                    <a:solidFill>
                      <a:srgbClr val="2F7A5D"/>
                    </a:solidFill>
                  </a:tcPr>
                </a:tc>
                <a:tc>
                  <a:txBody>
                    <a:bodyPr/>
                    <a:lstStyle/>
                    <a:p>
                      <a:pPr algn="r">
                        <a:defRPr>
                          <a:latin typeface="Roboto"/>
                        </a:defRPr>
                      </a:pPr>
                      <a:r>
                        <a:rPr sz="1100" b="1">
                          <a:solidFill>
                            <a:srgbClr val="FFFFFF"/>
                          </a:solidFill>
                          <a:latin typeface="Roboto"/>
                        </a:rPr>
                        <a:t>Suppliers and overheads</a:t>
                      </a:r>
                    </a:p>
                  </a:txBody>
                  <a:tcPr>
                    <a:solidFill>
                      <a:srgbClr val="2F7A5D"/>
                    </a:solidFill>
                  </a:tcPr>
                </a:tc>
                <a:tc>
                  <a:txBody>
                    <a:bodyPr/>
                    <a:lstStyle/>
                    <a:p>
                      <a:pPr algn="r">
                        <a:defRPr>
                          <a:latin typeface="Roboto"/>
                        </a:defRPr>
                      </a:pPr>
                      <a:r>
                        <a:rPr sz="1100" b="1">
                          <a:solidFill>
                            <a:srgbClr val="FFFFFF"/>
                          </a:solidFill>
                          <a:latin typeface="Roboto"/>
                        </a:rPr>
                        <a:t>Tax, interest and finance</a:t>
                      </a:r>
                    </a:p>
                  </a:txBody>
                  <a:tcPr>
                    <a:solidFill>
                      <a:srgbClr val="2F7A5D"/>
                    </a:solidFill>
                  </a:tcPr>
                </a:tc>
                <a:tc>
                  <a:txBody>
                    <a:bodyPr/>
                    <a:lstStyle/>
                    <a:p>
                      <a:pPr algn="r">
                        <a:defRPr>
                          <a:latin typeface="Roboto"/>
                        </a:defRPr>
                      </a:pPr>
                      <a:r>
                        <a:rPr sz="1100" b="1">
                          <a:solidFill>
                            <a:srgbClr val="FFFFFF"/>
                          </a:solidFill>
                          <a:latin typeface="Roboto"/>
                        </a:rPr>
                        <a:t>Cash at end</a:t>
                      </a:r>
                    </a:p>
                  </a:txBody>
                  <a:tcPr>
                    <a:solidFill>
                      <a:srgbClr val="2F7A5D"/>
                    </a:solidFill>
                  </a:tcPr>
                </a:tc>
                <a:tc>
                  <a:txBody>
                    <a:bodyPr/>
                    <a:lstStyle/>
                    <a:p>
                      <a:pPr algn="r">
                        <a:defRPr>
                          <a:latin typeface="Roboto"/>
                        </a:defRPr>
                      </a:pPr>
                      <a:r>
                        <a:rPr sz="1100" b="1">
                          <a:solidFill>
                            <a:srgbClr val="FFFFFF"/>
                          </a:solidFill>
                          <a:latin typeface="Roboto"/>
                        </a:rPr>
                        <a:t>Lowest in the week</a:t>
                      </a:r>
                    </a:p>
                  </a:txBody>
                  <a:tcPr>
                    <a:solidFill>
                      <a:srgbClr val="2F7A5D"/>
                    </a:solidFill>
                  </a:tcPr>
                </a:tc>
              </a:tr>
              <a:tr h="310896">
                <a:tc>
                  <a:txBody>
                    <a:bodyPr/>
                    <a:lstStyle/>
                    <a:p>
                      <a:pPr algn="l">
                        <a:defRPr>
                          <a:latin typeface="Roboto"/>
                        </a:defRPr>
                      </a:pPr>
                      <a:r>
                        <a:rPr sz="1050">
                          <a:solidFill>
                            <a:srgbClr val="25342A"/>
                          </a:solidFill>
                          <a:latin typeface="Roboto"/>
                        </a:rPr>
                        <a:t>13 Oct</a:t>
                      </a:r>
                    </a:p>
                  </a:txBody>
                  <a:tcPr>
                    <a:solidFill>
                      <a:srgbClr val="FFFFFF"/>
                    </a:solidFill>
                  </a:tcPr>
                </a:tc>
                <a:tc>
                  <a:txBody>
                    <a:bodyPr/>
                    <a:lstStyle/>
                    <a:p>
                      <a:pPr algn="r">
                        <a:defRPr>
                          <a:latin typeface="Roboto"/>
                        </a:defRPr>
                      </a:pPr>
                      <a:r>
                        <a:rPr sz="1050">
                          <a:solidFill>
                            <a:srgbClr val="25342A"/>
                          </a:solidFill>
                          <a:latin typeface="Roboto"/>
                        </a:rPr>
                        <a:t>$47,244</a:t>
                      </a:r>
                    </a:p>
                  </a:txBody>
                  <a:tcPr>
                    <a:solidFill>
                      <a:srgbClr val="FFFFFF"/>
                    </a:solidFill>
                  </a:tcPr>
                </a:tc>
                <a:tc>
                  <a:txBody>
                    <a:bodyPr/>
                    <a:lstStyle/>
                    <a:p>
                      <a:pPr algn="r">
                        <a:defRPr>
                          <a:latin typeface="Roboto"/>
                        </a:defRPr>
                      </a:pPr>
                      <a:r>
                        <a:rPr sz="1050">
                          <a:solidFill>
                            <a:srgbClr val="25342A"/>
                          </a:solidFill>
                          <a:latin typeface="Roboto"/>
                        </a:rPr>
                        <a:t>$90,790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$138,034</a:t>
                      </a:r>
                    </a:p>
                  </a:txBody>
                  <a:tcPr>
                    <a:solidFill>
                      <a:srgbClr val="FFFFFF"/>
                    </a:solidFill>
                  </a:tcPr>
                </a:tc>
                <a:tc>
                  <a:txBody>
                    <a:bodyPr/>
                    <a:lstStyle/>
                    <a:p>
                      <a:pPr algn="r">
                        <a:defRPr>
                          <a:latin typeface="Roboto"/>
                        </a:defRPr>
                      </a:pPr>
                      <a:r>
                        <a:rPr sz="1050">
                          <a:solidFill>
                            <a:srgbClr val="25342A"/>
                          </a:solidFill>
                          <a:latin typeface="Roboto"/>
                        </a:rPr>
                        <a:t>$47,244</a:t>
                      </a:r>
                    </a:p>
                  </a:txBody>
                  <a:tcPr>
                    <a:solidFill>
                      <a:srgbClr val="FFFFFF"/>
                    </a:solidFill>
                  </a:tcPr>
                </a:tc>
              </a:tr>
              <a:tr h="310896">
                <a:tc>
                  <a:txBody>
                    <a:bodyPr/>
                    <a:lstStyle/>
                    <a:p>
                      <a:pPr algn="l">
                        <a:defRPr>
                          <a:latin typeface="Roboto"/>
                        </a:defRPr>
                      </a:pPr>
                      <a:r>
                        <a:rPr sz="1050">
                          <a:solidFill>
                            <a:srgbClr val="25342A"/>
                          </a:solidFill>
                          <a:latin typeface="Roboto"/>
                        </a:rPr>
                        <a:t>20 Oct</a:t>
                      </a:r>
                    </a:p>
                  </a:txBody>
                  <a:tcPr>
                    <a:solidFill>
                      <a:srgbClr val="F7FAF7"/>
                    </a:solidFill>
                  </a:tcPr>
                </a:tc>
                <a:tc>
                  <a:txBody>
                    <a:bodyPr/>
                    <a:lstStyle/>
                    <a:p>
                      <a:pPr algn="r">
                        <a:defRPr>
                          <a:latin typeface="Roboto"/>
                        </a:defRPr>
                      </a:pPr>
                      <a:r>
                        <a:rPr sz="1050">
                          <a:solidFill>
                            <a:srgbClr val="25342A"/>
                          </a:solidFill>
                          <a:latin typeface="Roboto"/>
                        </a:rPr>
                        <a:t>$138,034</a:t>
                      </a:r>
                    </a:p>
                  </a:txBody>
                  <a:tcPr>
                    <a:solidFill>
                      <a:srgbClr val="F7FAF7"/>
                    </a:solidFill>
                  </a:tcPr>
                </a:tc>
                <a:tc>
                  <a:txBody>
                    <a:bodyPr/>
                    <a:lstStyle/>
                    <a:p>
                      <a:pPr algn="r">
                        <a:defRPr>
                          <a:latin typeface="Roboto"/>
                        </a:defRPr>
                      </a:pPr>
                      <a:r>
                        <a:rPr sz="1050">
                          <a:solidFill>
                            <a:srgbClr val="25342A"/>
                          </a:solidFill>
                          <a:latin typeface="Roboto"/>
                        </a:rPr>
                        <a:t>$12,900</a:t>
                      </a:r>
                    </a:p>
                  </a:txBody>
                  <a:tcPr>
                    <a:solidFill>
                      <a:srgbClr val="F7FAF7"/>
                    </a:solidFill>
                  </a:tcPr>
                </a:tc>
                <a:tc>
                  <a:txBody>
                    <a:bodyPr/>
                    <a:lstStyle/>
                    <a:p>
                      <a:pPr algn="r">
                        <a:defRPr>
                          <a:latin typeface="Roboto"/>
                        </a:defRPr>
                      </a:pPr>
                      <a:r>
                        <a:rPr sz="1050">
                          <a:solidFill>
                            <a:srgbClr val="25342A"/>
                          </a:solidFill>
                          <a:latin typeface="Roboto"/>
                        </a:rPr>
                        <a:t>$6,454</a:t>
                      </a:r>
                    </a:p>
                  </a:txBody>
                  <a:tcPr>
                    <a:solidFill>
                      <a:srgbClr val="F7FAF7"/>
                    </a:solidFill>
                  </a:tcPr>
                </a:tc>
                <a:tc>
                  <a:txBody>
                    <a:bodyPr/>
                    <a:lstStyle/>
                    <a:p>
                      <a:pPr algn="r">
                        <a:defRPr>
                          <a:latin typeface="Roboto"/>
                        </a:defRPr>
                      </a:pPr>
                      <a:r>
                        <a:rPr sz="1050">
                          <a:solidFill>
                            <a:srgbClr val="B42318"/>
                          </a:solidFill>
                          <a:latin typeface="Roboto"/>
                        </a:rPr>
                        <a:t>($38,250)</a:t>
                      </a:r>
                    </a:p>
                  </a:txBody>
                  <a:tcPr>
                    <a:solidFill>
                      <a:srgbClr val="F7FAF7"/>
                    </a:solidFill>
                  </a:tcPr>
                </a:tc>
                <a:tc>
                  <a:txBody>
                    <a:bodyPr/>
                    <a:lstStyle/>
                    <a:p>
                      <a:pPr algn="r">
                        <a:defRPr>
                          <a:latin typeface="Roboto"/>
                        </a:defRPr>
                      </a:pPr>
                      <a:r>
                        <a:rPr sz="1050">
                          <a:solidFill>
                            <a:srgbClr val="B42318"/>
                          </a:solidFill>
                          <a:latin typeface="Roboto"/>
                        </a:rPr>
                        <a:t>($55,080)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$64,058</a:t>
                      </a:r>
                    </a:p>
                  </a:txBody>
                  <a:tcPr>
                    <a:solidFill>
                      <a:srgbClr val="F7FAF7"/>
                    </a:solidFill>
                  </a:tcPr>
                </a:tc>
                <a:tc>
                  <a:txBody>
                    <a:bodyPr/>
                    <a:lstStyle/>
                    <a:p>
                      <a:pPr algn="r">
                        <a:defRPr>
                          <a:latin typeface="Roboto"/>
                        </a:defRPr>
                      </a:pPr>
                      <a:r>
                        <a:rPr sz="1050">
                          <a:solidFill>
                            <a:srgbClr val="25342A"/>
                          </a:solidFill>
                          <a:latin typeface="Roboto"/>
                        </a:rPr>
                        <a:t>$47,285</a:t>
                      </a:r>
                    </a:p>
                  </a:txBody>
                  <a:tcPr>
                    <a:solidFill>
                      <a:srgbClr val="F7FAF7"/>
                    </a:solidFill>
                  </a:tcPr>
                </a:tc>
              </a:tr>
              <a:tr h="310896">
                <a:tc>
                  <a:txBody>
                    <a:bodyPr/>
                    <a:lstStyle/>
                    <a:p>
                      <a:pPr algn="l">
                        <a:defRPr>
                          <a:latin typeface="Roboto"/>
                        </a:defRPr>
                      </a:pPr>
                      <a:r>
                        <a:rPr sz="1050">
                          <a:solidFill>
                            <a:srgbClr val="25342A"/>
                          </a:solidFill>
                          <a:latin typeface="Roboto"/>
                        </a:rPr>
                        <a:t>27 Oct</a:t>
                      </a:r>
                    </a:p>
                  </a:txBody>
                  <a:tcPr>
                    <a:solidFill>
                      <a:srgbClr val="FFFFFF"/>
                    </a:solidFill>
                  </a:tcPr>
                </a:tc>
                <a:tc>
                  <a:txBody>
                    <a:bodyPr/>
                    <a:lstStyle/>
                    <a:p>
                      <a:pPr algn="r">
                        <a:defRPr>
                          <a:latin typeface="Roboto"/>
                        </a:defRPr>
                      </a:pPr>
                      <a:r>
                        <a:rPr sz="1050">
                          <a:solidFill>
                            <a:srgbClr val="25342A"/>
                          </a:solidFill>
                          <a:latin typeface="Roboto"/>
                        </a:rPr>
                        <a:t>$64,058</a:t>
                      </a:r>
                    </a:p>
                  </a:txBody>
                  <a:tcPr>
                    <a:solidFill>
                      <a:srgbClr val="FFFFFF"/>
                    </a:solidFill>
                  </a:tcPr>
                </a:tc>
                <a:tc>
                  <a:txBody>
                    <a:bodyPr/>
                    <a:lstStyle/>
                    <a:p>
                      <a:pPr algn="r">
                        <a:defRPr>
                          <a:latin typeface="Roboto"/>
                        </a:defRPr>
                      </a:pPr>
                      <a:r>
                        <a:rPr sz="1050">
                          <a:solidFill>
                            <a:srgbClr val="25342A"/>
                          </a:solidFill>
                          <a:latin typeface="Roboto"/>
                        </a:rPr>
                        <a:t>$9,800</a:t>
                      </a:r>
                    </a:p>
                  </a:txBody>
                  <a:tcPr>
                    <a:solidFill>
                      <a:srgbClr val="FFFFFF"/>
                    </a:solidFill>
                  </a:tcPr>
                </a:tc>
                <a:tc>
                  <a:txBody>
                    <a:bodyPr/>
                    <a:lstStyle/>
                    <a:p>
                      <a:pPr algn="r">
                        <a:defRPr>
                          <a:latin typeface="Roboto"/>
                        </a:defRPr>
                      </a:pPr>
                      <a:r>
                        <a:rPr sz="1050">
                          <a:solidFill>
                            <a:srgbClr val="25342A"/>
                          </a:solidFill>
                          <a:latin typeface="Roboto"/>
                        </a:rPr>
                        <a:t>$6,454</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$80,311</a:t>
                      </a:r>
                    </a:p>
                  </a:txBody>
                  <a:tcPr>
                    <a:solidFill>
                      <a:srgbClr val="FFFFFF"/>
                    </a:solidFill>
                  </a:tcPr>
                </a:tc>
                <a:tc>
                  <a:txBody>
                    <a:bodyPr/>
                    <a:lstStyle/>
                    <a:p>
                      <a:pPr algn="r">
                        <a:defRPr>
                          <a:latin typeface="Roboto"/>
                        </a:defRPr>
                      </a:pPr>
                      <a:r>
                        <a:rPr sz="1050">
                          <a:solidFill>
                            <a:srgbClr val="25342A"/>
                          </a:solidFill>
                          <a:latin typeface="Roboto"/>
                        </a:rPr>
                        <a:t>$65,348</a:t>
                      </a:r>
                    </a:p>
                  </a:txBody>
                  <a:tcPr>
                    <a:solidFill>
                      <a:srgbClr val="FFFFFF"/>
                    </a:solidFill>
                  </a:tcPr>
                </a:tc>
              </a:tr>
              <a:tr h="310896">
                <a:tc>
                  <a:txBody>
                    <a:bodyPr/>
                    <a:lstStyle/>
                    <a:p>
                      <a:pPr algn="l">
                        <a:defRPr>
                          <a:latin typeface="Roboto"/>
                        </a:defRPr>
                      </a:pPr>
                      <a:r>
                        <a:rPr sz="1050">
                          <a:solidFill>
                            <a:srgbClr val="25342A"/>
                          </a:solidFill>
                          <a:latin typeface="Roboto"/>
                        </a:rPr>
                        <a:t>3 Nov</a:t>
                      </a:r>
                    </a:p>
                  </a:txBody>
                  <a:tcPr>
                    <a:solidFill>
                      <a:srgbClr val="F7FAF7"/>
                    </a:solidFill>
                  </a:tcPr>
                </a:tc>
                <a:tc>
                  <a:txBody>
                    <a:bodyPr/>
                    <a:lstStyle/>
                    <a:p>
                      <a:pPr algn="r">
                        <a:defRPr>
                          <a:latin typeface="Roboto"/>
                        </a:defRPr>
                      </a:pPr>
                      <a:r>
                        <a:rPr sz="1050">
                          <a:solidFill>
                            <a:srgbClr val="25342A"/>
                          </a:solidFill>
                          <a:latin typeface="Roboto"/>
                        </a:rPr>
                        <a:t>$80,311</a:t>
                      </a:r>
                    </a:p>
                  </a:txBody>
                  <a:tcPr>
                    <a:solidFill>
                      <a:srgbClr val="F7FAF7"/>
                    </a:solidFill>
                  </a:tcPr>
                </a:tc>
                <a:tc>
                  <a:txBody>
                    <a:bodyPr/>
                    <a:lstStyle/>
                    <a:p>
                      <a:pPr algn="r">
                        <a:defRPr>
                          <a:latin typeface="Roboto"/>
                        </a:defRPr>
                      </a:pPr>
                      <a:r>
                        <a:rPr sz="1050">
                          <a:solidFill>
                            <a:srgbClr val="25342A"/>
                          </a:solidFill>
                          <a:latin typeface="Roboto"/>
                        </a:rPr>
                        <a:t>$88,700</a:t>
                      </a:r>
                    </a:p>
                  </a:txBody>
                  <a:tcPr>
                    <a:solidFill>
                      <a:srgbClr val="F7FAF7"/>
                    </a:solidFill>
                  </a:tcPr>
                </a:tc>
                <a:tc>
                  <a:txBody>
                    <a:bodyPr/>
                    <a:lstStyle/>
                    <a:p>
                      <a:pPr algn="r">
                        <a:defRPr>
                          <a:latin typeface="Roboto"/>
                        </a:defRPr>
                      </a:pPr>
                      <a:r>
                        <a:rPr sz="1050">
                          <a:solidFill>
                            <a:srgbClr val="25342A"/>
                          </a:solidFill>
                          <a:latin typeface="Roboto"/>
                        </a:rPr>
                        <a:t>$6,454</a:t>
                      </a:r>
                    </a:p>
                  </a:txBody>
                  <a:tcPr>
                    <a:solidFill>
                      <a:srgbClr val="F7FAF7"/>
                    </a:solidFill>
                  </a:tcPr>
                </a:tc>
                <a:tc>
                  <a:txBody>
                    <a:bodyPr/>
                    <a:lstStyle/>
                    <a:p>
                      <a:pPr algn="r">
                        <a:defRPr>
                          <a:latin typeface="Roboto"/>
                        </a:defRPr>
                      </a:pPr>
                      <a:r>
                        <a:rPr sz="1050">
                          <a:solidFill>
                            <a:srgbClr val="B42318"/>
                          </a:solidFill>
                          <a:latin typeface="Roboto"/>
                        </a:rPr>
                        <a:t>($38,250)</a:t>
                      </a:r>
                    </a:p>
                  </a:txBody>
                  <a:tcPr>
                    <a:solidFill>
                      <a:srgbClr val="F7FAF7"/>
                    </a:solidFill>
                  </a:tcPr>
                </a:tc>
                <a:tc>
                  <a:txBody>
                    <a:bodyPr/>
                    <a:lstStyle/>
                    <a:p>
                      <a:pPr algn="r">
                        <a:defRPr>
                          <a:latin typeface="Roboto"/>
                        </a:defRPr>
                      </a:pPr>
                      <a:r>
                        <a:rPr sz="1050">
                          <a:solidFill>
                            <a:srgbClr val="B42318"/>
                          </a:solidFill>
                          <a:latin typeface="Roboto"/>
                        </a:rPr>
                        <a:t>($55,080)</a:t>
                      </a:r>
                    </a:p>
                  </a:txBody>
                  <a:tcPr>
                    <a:solidFill>
                      <a:srgbClr val="F7FAF7"/>
                    </a:solidFill>
                  </a:tcPr>
                </a:tc>
                <a:tc>
                  <a:txBody>
                    <a:bodyPr/>
                    <a:lstStyle/>
                    <a:p>
                      <a:pPr algn="r">
                        <a:defRPr>
                          <a:latin typeface="Roboto"/>
                        </a:defRPr>
                      </a:pPr>
                      <a:r>
                        <a:rPr sz="1050">
                          <a:solidFill>
                            <a:srgbClr val="B42318"/>
                          </a:solidFill>
                          <a:latin typeface="Roboto"/>
                        </a:rPr>
                        <a:t>($13,097)</a:t>
                      </a:r>
                    </a:p>
                  </a:txBody>
                  <a:tcPr>
                    <a:solidFill>
                      <a:srgbClr val="F7FAF7"/>
                    </a:solidFill>
                  </a:tcPr>
                </a:tc>
                <a:tc>
                  <a:txBody>
                    <a:bodyPr/>
                    <a:lstStyle/>
                    <a:p>
                      <a:pPr algn="r">
                        <a:defRPr>
                          <a:latin typeface="Roboto"/>
                        </a:defRPr>
                      </a:pPr>
                      <a:r>
                        <a:rPr sz="1050">
                          <a:solidFill>
                            <a:srgbClr val="25342A"/>
                          </a:solidFill>
                          <a:latin typeface="Roboto"/>
                        </a:rPr>
                        <a:t>$69,038</a:t>
                      </a:r>
                    </a:p>
                  </a:txBody>
                  <a:tcPr>
                    <a:solidFill>
                      <a:srgbClr val="F7FAF7"/>
                    </a:solidFill>
                  </a:tcPr>
                </a:tc>
                <a:tc>
                  <a:txBody>
                    <a:bodyPr/>
                    <a:lstStyle/>
                    <a:p>
                      <a:pPr algn="r">
                        <a:defRPr>
                          <a:latin typeface="Roboto"/>
                        </a:defRPr>
                      </a:pPr>
                      <a:r>
                        <a:rPr sz="1050">
                          <a:solidFill>
                            <a:srgbClr val="25342A"/>
                          </a:solidFill>
                          <a:latin typeface="Roboto"/>
                        </a:rPr>
                        <a:t>$47,826</a:t>
                      </a:r>
                    </a:p>
                  </a:txBody>
                  <a:tcPr>
                    <a:solidFill>
                      <a:srgbClr val="F7FAF7"/>
                    </a:solidFill>
                  </a:tcPr>
                </a:tc>
              </a:tr>
              <a:tr h="310896">
                <a:tc>
                  <a:txBody>
                    <a:bodyPr/>
                    <a:lstStyle/>
                    <a:p>
                      <a:pPr algn="l">
                        <a:defRPr>
                          <a:latin typeface="Roboto"/>
                        </a:defRPr>
                      </a:pPr>
                      <a:r>
                        <a:rPr sz="1050">
                          <a:solidFill>
                            <a:srgbClr val="25342A"/>
                          </a:solidFill>
                          <a:latin typeface="Roboto"/>
                        </a:rPr>
                        <a:t>10 Nov</a:t>
                      </a:r>
                    </a:p>
                  </a:txBody>
                  <a:tcPr>
                    <a:solidFill>
                      <a:srgbClr val="FFFFFF"/>
                    </a:solidFill>
                  </a:tcPr>
                </a:tc>
                <a:tc>
                  <a:txBody>
                    <a:bodyPr/>
                    <a:lstStyle/>
                    <a:p>
                      <a:pPr algn="r">
                        <a:defRPr>
                          <a:latin typeface="Roboto"/>
                        </a:defRPr>
                      </a:pPr>
                      <a:r>
                        <a:rPr sz="1050">
                          <a:solidFill>
                            <a:srgbClr val="25342A"/>
                          </a:solidFill>
                          <a:latin typeface="Roboto"/>
                        </a:rPr>
                        <a:t>$69,038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$23,176</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$92,215</a:t>
                      </a:r>
                    </a:p>
                  </a:txBody>
                  <a:tcPr>
                    <a:solidFill>
                      <a:srgbClr val="FFFFFF"/>
                    </a:solidFill>
                  </a:tcPr>
                </a:tc>
                <a:tc>
                  <a:txBody>
                    <a:bodyPr/>
                    <a:lstStyle/>
                    <a:p>
                      <a:pPr algn="r">
                        <a:defRPr>
                          <a:latin typeface="Roboto"/>
                        </a:defRPr>
                      </a:pPr>
                      <a:r>
                        <a:rPr sz="1050">
                          <a:solidFill>
                            <a:srgbClr val="25342A"/>
                          </a:solidFill>
                          <a:latin typeface="Roboto"/>
                        </a:rPr>
                        <a:t>$70,329</a:t>
                      </a:r>
                    </a:p>
                  </a:txBody>
                  <a:tcPr>
                    <a:solidFill>
                      <a:srgbClr val="FFFFFF"/>
                    </a:solidFill>
                  </a:tcPr>
                </a:tc>
              </a:tr>
              <a:tr h="310896">
                <a:tc>
                  <a:txBody>
                    <a:bodyPr/>
                    <a:lstStyle/>
                    <a:p>
                      <a:pPr algn="l">
                        <a:defRPr>
                          <a:latin typeface="Roboto"/>
                        </a:defRPr>
                      </a:pPr>
                      <a:r>
                        <a:rPr sz="1050">
                          <a:solidFill>
                            <a:srgbClr val="25342A"/>
                          </a:solidFill>
                          <a:latin typeface="Roboto"/>
                        </a:rPr>
                        <a:t>17 Nov</a:t>
                      </a:r>
                    </a:p>
                  </a:txBody>
                  <a:tcPr>
                    <a:solidFill>
                      <a:srgbClr val="F7FAF7"/>
                    </a:solidFill>
                  </a:tcPr>
                </a:tc>
                <a:tc>
                  <a:txBody>
                    <a:bodyPr/>
                    <a:lstStyle/>
                    <a:p>
                      <a:pPr algn="r">
                        <a:defRPr>
                          <a:latin typeface="Roboto"/>
                        </a:defRPr>
                      </a:pPr>
                      <a:r>
                        <a:rPr sz="1050">
                          <a:solidFill>
                            <a:srgbClr val="25342A"/>
                          </a:solidFill>
                          <a:latin typeface="Roboto"/>
                        </a:rPr>
                        <a:t>$92,215</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$34,325</a:t>
                      </a:r>
                    </a:p>
                  </a:txBody>
                  <a:tcPr>
                    <a:solidFill>
                      <a:srgbClr val="F7FAF7"/>
                    </a:solidFill>
                  </a:tcPr>
                </a:tc>
                <a:tc>
                  <a:txBody>
                    <a:bodyPr/>
                    <a:lstStyle/>
                    <a:p>
                      <a:pPr algn="r">
                        <a:defRPr>
                          <a:latin typeface="Roboto"/>
                        </a:defRPr>
                      </a:pPr>
                      <a:r>
                        <a:rPr sz="1050">
                          <a:solidFill>
                            <a:srgbClr val="B42318"/>
                          </a:solidFill>
                          <a:latin typeface="Roboto"/>
                        </a:rPr>
                        <a:t>($38,250)</a:t>
                      </a:r>
                    </a:p>
                  </a:txBody>
                  <a:tcPr>
                    <a:solidFill>
                      <a:srgbClr val="F7FAF7"/>
                    </a:solidFill>
                  </a:tcPr>
                </a:tc>
                <a:tc>
                  <a:txBody>
                    <a:bodyPr/>
                    <a:lstStyle/>
                    <a:p>
                      <a:pPr algn="r">
                        <a:defRPr>
                          <a:latin typeface="Roboto"/>
                        </a:defRPr>
                      </a:pPr>
                      <a:r>
                        <a:rPr sz="1050">
                          <a:solidFill>
                            <a:srgbClr val="B42318"/>
                          </a:solidFill>
                          <a:latin typeface="Roboto"/>
                        </a:rPr>
                        <a:t>($55,080)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$33,210</a:t>
                      </a:r>
                    </a:p>
                  </a:txBody>
                  <a:tcPr>
                    <a:solidFill>
                      <a:srgbClr val="F7FAF7"/>
                    </a:solidFill>
                  </a:tcPr>
                </a:tc>
                <a:tc>
                  <a:txBody>
                    <a:bodyPr/>
                    <a:lstStyle/>
                    <a:p>
                      <a:pPr algn="r">
                        <a:defRPr>
                          <a:latin typeface="Roboto"/>
                        </a:defRPr>
                      </a:pPr>
                      <a:r>
                        <a:rPr sz="1050">
                          <a:solidFill>
                            <a:srgbClr val="25342A"/>
                          </a:solidFill>
                          <a:latin typeface="Roboto"/>
                        </a:rPr>
                        <a:t>$31,919</a:t>
                      </a:r>
                    </a:p>
                  </a:txBody>
                  <a:tcPr>
                    <a:solidFill>
                      <a:srgbClr val="F7FAF7"/>
                    </a:solidFill>
                  </a:tcPr>
                </a:tc>
              </a:tr>
              <a:tr h="310896">
                <a:tc>
                  <a:txBody>
                    <a:bodyPr/>
                    <a:lstStyle/>
                    <a:p>
                      <a:pPr algn="l">
                        <a:defRPr>
                          <a:latin typeface="Roboto"/>
                        </a:defRPr>
                      </a:pPr>
                      <a:r>
                        <a:rPr sz="1050">
                          <a:solidFill>
                            <a:srgbClr val="25342A"/>
                          </a:solidFill>
                          <a:latin typeface="Roboto"/>
                        </a:rPr>
                        <a:t>24 Nov</a:t>
                      </a:r>
                    </a:p>
                  </a:txBody>
                  <a:tcPr>
                    <a:solidFill>
                      <a:srgbClr val="FFFFFF"/>
                    </a:solidFill>
                  </a:tcPr>
                </a:tc>
                <a:tc>
                  <a:txBody>
                    <a:bodyPr/>
                    <a:lstStyle/>
                    <a:p>
                      <a:pPr algn="r">
                        <a:defRPr>
                          <a:latin typeface="Roboto"/>
                        </a:defRPr>
                      </a:pPr>
                      <a:r>
                        <a:rPr sz="1050">
                          <a:solidFill>
                            <a:srgbClr val="25342A"/>
                          </a:solidFill>
                          <a:latin typeface="Roboto"/>
                        </a:rPr>
                        <a:t>$33,210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$34,325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$67,534</a:t>
                      </a:r>
                    </a:p>
                  </a:txBody>
                  <a:tcPr>
                    <a:solidFill>
                      <a:srgbClr val="FFFFFF"/>
                    </a:solidFill>
                  </a:tcPr>
                </a:tc>
                <a:tc>
                  <a:txBody>
                    <a:bodyPr/>
                    <a:lstStyle/>
                    <a:p>
                      <a:pPr algn="r">
                        <a:defRPr>
                          <a:latin typeface="Roboto"/>
                        </a:defRPr>
                      </a:pPr>
                      <a:r>
                        <a:rPr sz="1050">
                          <a:solidFill>
                            <a:srgbClr val="25342A"/>
                          </a:solidFill>
                          <a:latin typeface="Roboto"/>
                        </a:rPr>
                        <a:t>$40,074</a:t>
                      </a:r>
                    </a:p>
                  </a:txBody>
                  <a:tcPr>
                    <a:solidFill>
                      <a:srgbClr val="FFFFFF"/>
                    </a:solidFill>
                  </a:tcPr>
                </a:tc>
              </a:tr>
              <a:tr h="310896">
                <a:tc>
                  <a:txBody>
                    <a:bodyPr/>
                    <a:lstStyle/>
                    <a:p>
                      <a:pPr algn="l">
                        <a:defRPr>
                          <a:latin typeface="Roboto"/>
                        </a:defRPr>
                      </a:pPr>
                      <a:r>
                        <a:rPr sz="1050">
                          <a:solidFill>
                            <a:srgbClr val="25342A"/>
                          </a:solidFill>
                          <a:latin typeface="Roboto"/>
                        </a:rPr>
                        <a:t>1 Dec</a:t>
                      </a:r>
                    </a:p>
                  </a:txBody>
                  <a:tcPr>
                    <a:solidFill>
                      <a:srgbClr val="F7FAF7"/>
                    </a:solidFill>
                  </a:tcPr>
                </a:tc>
                <a:tc>
                  <a:txBody>
                    <a:bodyPr/>
                    <a:lstStyle/>
                    <a:p>
                      <a:pPr algn="r">
                        <a:defRPr>
                          <a:latin typeface="Roboto"/>
                        </a:defRPr>
                      </a:pPr>
                      <a:r>
                        <a:rPr sz="1050">
                          <a:solidFill>
                            <a:srgbClr val="25342A"/>
                          </a:solidFill>
                          <a:latin typeface="Roboto"/>
                        </a:rPr>
                        <a:t>$67,534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$74,825</a:t>
                      </a:r>
                    </a:p>
                  </a:txBody>
                  <a:tcPr>
                    <a:solidFill>
                      <a:srgbClr val="F7FAF7"/>
                    </a:solidFill>
                  </a:tcPr>
                </a:tc>
                <a:tc>
                  <a:txBody>
                    <a:bodyPr/>
                    <a:lstStyle/>
                    <a:p>
                      <a:pPr algn="r">
                        <a:defRPr>
                          <a:latin typeface="Roboto"/>
                        </a:defRPr>
                      </a:pPr>
                      <a:r>
                        <a:rPr sz="1050">
                          <a:solidFill>
                            <a:srgbClr val="B42318"/>
                          </a:solidFill>
                          <a:latin typeface="Roboto"/>
                        </a:rPr>
                        <a:t>($38,250)</a:t>
                      </a:r>
                    </a:p>
                  </a:txBody>
                  <a:tcPr>
                    <a:solidFill>
                      <a:srgbClr val="F7FAF7"/>
                    </a:solidFill>
                  </a:tcPr>
                </a:tc>
                <a:tc>
                  <a:txBody>
                    <a:bodyPr/>
                    <a:lstStyle/>
                    <a:p>
                      <a:pPr algn="r">
                        <a:defRPr>
                          <a:latin typeface="Roboto"/>
                        </a:defRPr>
                      </a:pPr>
                      <a:r>
                        <a:rPr sz="1050">
                          <a:solidFill>
                            <a:srgbClr val="B42318"/>
                          </a:solidFill>
                          <a:latin typeface="Roboto"/>
                        </a:rPr>
                        <a:t>($55,080)</a:t>
                      </a:r>
                    </a:p>
                  </a:txBody>
                  <a:tcPr>
                    <a:solidFill>
                      <a:srgbClr val="F7FAF7"/>
                    </a:solidFill>
                  </a:tcPr>
                </a:tc>
                <a:tc>
                  <a:txBody>
                    <a:bodyPr/>
                    <a:lstStyle/>
                    <a:p>
                      <a:pPr algn="r">
                        <a:defRPr>
                          <a:latin typeface="Roboto"/>
                        </a:defRPr>
                      </a:pPr>
                      <a:r>
                        <a:rPr sz="1050">
                          <a:solidFill>
                            <a:srgbClr val="B42318"/>
                          </a:solidFill>
                          <a:latin typeface="Roboto"/>
                        </a:rPr>
                        <a:t>($6,080)</a:t>
                      </a:r>
                    </a:p>
                  </a:txBody>
                  <a:tcPr>
                    <a:solidFill>
                      <a:srgbClr val="F7FAF7"/>
                    </a:solidFill>
                  </a:tcPr>
                </a:tc>
                <a:tc>
                  <a:txBody>
                    <a:bodyPr/>
                    <a:lstStyle/>
                    <a:p>
                      <a:pPr algn="r">
                        <a:defRPr>
                          <a:latin typeface="Roboto"/>
                        </a:defRPr>
                      </a:pPr>
                      <a:r>
                        <a:rPr sz="1050">
                          <a:solidFill>
                            <a:srgbClr val="25342A"/>
                          </a:solidFill>
                          <a:latin typeface="Roboto"/>
                        </a:rPr>
                        <a:t>$42,949</a:t>
                      </a:r>
                    </a:p>
                  </a:txBody>
                  <a:tcPr>
                    <a:solidFill>
                      <a:srgbClr val="F7FAF7"/>
                    </a:solidFill>
                  </a:tcPr>
                </a:tc>
                <a:tc>
                  <a:txBody>
                    <a:bodyPr/>
                    <a:lstStyle/>
                    <a:p>
                      <a:pPr algn="r">
                        <a:defRPr>
                          <a:latin typeface="Roboto"/>
                        </a:defRPr>
                      </a:pPr>
                      <a:r>
                        <a:rPr sz="1050">
                          <a:solidFill>
                            <a:srgbClr val="25342A"/>
                          </a:solidFill>
                          <a:latin typeface="Roboto"/>
                        </a:rPr>
                        <a:t>$1,159</a:t>
                      </a:r>
                    </a:p>
                  </a:txBody>
                  <a:tcPr>
                    <a:solidFill>
                      <a:srgbClr val="F7FAF7"/>
                    </a:solidFill>
                  </a:tcPr>
                </a:tc>
              </a:tr>
              <a:tr h="310896">
                <a:tc>
                  <a:txBody>
                    <a:bodyPr/>
                    <a:lstStyle/>
                    <a:p>
                      <a:pPr algn="l">
                        <a:defRPr>
                          <a:latin typeface="Roboto"/>
                        </a:defRPr>
                      </a:pPr>
                      <a:r>
                        <a:rPr sz="1050">
                          <a:solidFill>
                            <a:srgbClr val="25342A"/>
                          </a:solidFill>
                          <a:latin typeface="Roboto"/>
                        </a:rPr>
                        <a:t>8 Dec</a:t>
                      </a:r>
                    </a:p>
                  </a:txBody>
                  <a:tcPr>
                    <a:solidFill>
                      <a:srgbClr val="FFFFFF"/>
                    </a:solidFill>
                  </a:tcPr>
                </a:tc>
                <a:tc>
                  <a:txBody>
                    <a:bodyPr/>
                    <a:lstStyle/>
                    <a:p>
                      <a:pPr algn="r">
                        <a:defRPr>
                          <a:latin typeface="Roboto"/>
                        </a:defRPr>
                      </a:pPr>
                      <a:r>
                        <a:rPr sz="1050">
                          <a:solidFill>
                            <a:srgbClr val="25342A"/>
                          </a:solidFill>
                          <a:latin typeface="Roboto"/>
                        </a:rPr>
                        <a:t>$42,949</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$34,325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$77,274</a:t>
                      </a:r>
                    </a:p>
                  </a:txBody>
                  <a:tcPr>
                    <a:solidFill>
                      <a:srgbClr val="FFFFFF"/>
                    </a:solidFill>
                  </a:tcPr>
                </a:tc>
                <a:tc>
                  <a:txBody>
                    <a:bodyPr/>
                    <a:lstStyle/>
                    <a:p>
                      <a:pPr algn="r">
                        <a:defRPr>
                          <a:latin typeface="Roboto"/>
                        </a:defRPr>
                      </a:pPr>
                      <a:r>
                        <a:rPr sz="1050">
                          <a:solidFill>
                            <a:srgbClr val="25342A"/>
                          </a:solidFill>
                          <a:latin typeface="Roboto"/>
                        </a:rPr>
                        <a:t>$49,814</a:t>
                      </a:r>
                    </a:p>
                  </a:txBody>
                  <a:tcPr>
                    <a:solidFill>
                      <a:srgbClr val="FFFFFF"/>
                    </a:solidFill>
                  </a:tcPr>
                </a:tc>
              </a:tr>
              <a:tr h="310896">
                <a:tc>
                  <a:txBody>
                    <a:bodyPr/>
                    <a:lstStyle/>
                    <a:p>
                      <a:pPr algn="l">
                        <a:defRPr>
                          <a:latin typeface="Roboto"/>
                        </a:defRPr>
                      </a:pPr>
                      <a:r>
                        <a:rPr sz="1050">
                          <a:solidFill>
                            <a:srgbClr val="25342A"/>
                          </a:solidFill>
                          <a:latin typeface="Roboto"/>
                        </a:rPr>
                        <a:t>15 Dec</a:t>
                      </a:r>
                    </a:p>
                  </a:txBody>
                  <a:tcPr>
                    <a:solidFill>
                      <a:srgbClr val="F7FAF7"/>
                    </a:solidFill>
                  </a:tcPr>
                </a:tc>
                <a:tc>
                  <a:txBody>
                    <a:bodyPr/>
                    <a:lstStyle/>
                    <a:p>
                      <a:pPr algn="r">
                        <a:defRPr>
                          <a:latin typeface="Roboto"/>
                        </a:defRPr>
                      </a:pPr>
                      <a:r>
                        <a:rPr sz="1050">
                          <a:solidFill>
                            <a:srgbClr val="25342A"/>
                          </a:solidFill>
                          <a:latin typeface="Roboto"/>
                        </a:rPr>
                        <a:t>$77,274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$34,325</a:t>
                      </a:r>
                    </a:p>
                  </a:txBody>
                  <a:tcPr>
                    <a:solidFill>
                      <a:srgbClr val="F7FAF7"/>
                    </a:solidFill>
                  </a:tcPr>
                </a:tc>
                <a:tc>
                  <a:txBody>
                    <a:bodyPr/>
                    <a:lstStyle/>
                    <a:p>
                      <a:pPr algn="r">
                        <a:defRPr>
                          <a:latin typeface="Roboto"/>
                        </a:defRPr>
                      </a:pPr>
                      <a:r>
                        <a:rPr sz="1050">
                          <a:solidFill>
                            <a:srgbClr val="B42318"/>
                          </a:solidFill>
                          <a:latin typeface="Roboto"/>
                        </a:rPr>
                        <a:t>($38,250)</a:t>
                      </a:r>
                    </a:p>
                  </a:txBody>
                  <a:tcPr>
                    <a:solidFill>
                      <a:srgbClr val="F7FAF7"/>
                    </a:solidFill>
                  </a:tcPr>
                </a:tc>
                <a:tc>
                  <a:txBody>
                    <a:bodyPr/>
                    <a:lstStyle/>
                    <a:p>
                      <a:pPr algn="r">
                        <a:defRPr>
                          <a:latin typeface="Roboto"/>
                        </a:defRPr>
                      </a:pPr>
                      <a:r>
                        <a:rPr sz="1050">
                          <a:solidFill>
                            <a:srgbClr val="B42318"/>
                          </a:solidFill>
                          <a:latin typeface="Roboto"/>
                        </a:rPr>
                        <a:t>($55,080)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$18,269</a:t>
                      </a:r>
                    </a:p>
                  </a:txBody>
                  <a:tcPr>
                    <a:solidFill>
                      <a:srgbClr val="F7FAF7"/>
                    </a:solidFill>
                  </a:tcPr>
                </a:tc>
                <a:tc>
                  <a:txBody>
                    <a:bodyPr/>
                    <a:lstStyle/>
                    <a:p>
                      <a:pPr algn="r">
                        <a:defRPr>
                          <a:latin typeface="Roboto"/>
                        </a:defRPr>
                      </a:pPr>
                      <a:r>
                        <a:rPr sz="1050">
                          <a:solidFill>
                            <a:srgbClr val="25342A"/>
                          </a:solidFill>
                          <a:latin typeface="Roboto"/>
                        </a:rPr>
                        <a:t>$18,269</a:t>
                      </a:r>
                    </a:p>
                  </a:txBody>
                  <a:tcPr>
                    <a:solidFill>
                      <a:srgbClr val="F7FAF7"/>
                    </a:solidFill>
                  </a:tcPr>
                </a:tc>
              </a:tr>
              <a:tr h="310896">
                <a:tc>
                  <a:txBody>
                    <a:bodyPr/>
                    <a:lstStyle/>
                    <a:p>
                      <a:pPr algn="l">
                        <a:defRPr>
                          <a:latin typeface="Roboto"/>
                        </a:defRPr>
                      </a:pPr>
                      <a:r>
                        <a:rPr sz="1050">
                          <a:solidFill>
                            <a:srgbClr val="25342A"/>
                          </a:solidFill>
                          <a:latin typeface="Roboto"/>
                        </a:rPr>
                        <a:t>22 Dec</a:t>
                      </a:r>
                    </a:p>
                  </a:txBody>
                  <a:tcPr>
                    <a:solidFill>
                      <a:srgbClr val="FFFFFF"/>
                    </a:solidFill>
                  </a:tcPr>
                </a:tc>
                <a:tc>
                  <a:txBody>
                    <a:bodyPr/>
                    <a:lstStyle/>
                    <a:p>
                      <a:pPr algn="r">
                        <a:defRPr>
                          <a:latin typeface="Roboto"/>
                        </a:defRPr>
                      </a:pPr>
                      <a:r>
                        <a:rPr sz="1050">
                          <a:solidFill>
                            <a:srgbClr val="25342A"/>
                          </a:solidFill>
                          <a:latin typeface="Roboto"/>
                        </a:rPr>
                        <a:t>$18,269</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$34,325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$52,594</a:t>
                      </a:r>
                    </a:p>
                  </a:txBody>
                  <a:tcPr>
                    <a:solidFill>
                      <a:srgbClr val="FFFFFF"/>
                    </a:solidFill>
                  </a:tcPr>
                </a:tc>
                <a:tc>
                  <a:txBody>
                    <a:bodyPr/>
                    <a:lstStyle/>
                    <a:p>
                      <a:pPr algn="r">
                        <a:defRPr>
                          <a:latin typeface="Roboto"/>
                        </a:defRPr>
                      </a:pPr>
                      <a:r>
                        <a:rPr sz="1050">
                          <a:solidFill>
                            <a:srgbClr val="25342A"/>
                          </a:solidFill>
                          <a:latin typeface="Roboto"/>
                        </a:rPr>
                        <a:t>$25,134</a:t>
                      </a:r>
                    </a:p>
                  </a:txBody>
                  <a:tcPr>
                    <a:solidFill>
                      <a:srgbClr val="FFFFFF"/>
                    </a:solidFill>
                  </a:tcPr>
                </a:tc>
              </a:tr>
              <a:tr h="310896">
                <a:tc>
                  <a:txBody>
                    <a:bodyPr/>
                    <a:lstStyle/>
                    <a:p>
                      <a:pPr algn="l">
                        <a:defRPr>
                          <a:latin typeface="Roboto"/>
                        </a:defRPr>
                      </a:pPr>
                      <a:r>
                        <a:rPr sz="1050">
                          <a:solidFill>
                            <a:srgbClr val="25342A"/>
                          </a:solidFill>
                          <a:latin typeface="Roboto"/>
                        </a:rPr>
                        <a:t>29 Dec</a:t>
                      </a:r>
                    </a:p>
                  </a:txBody>
                  <a:tcPr>
                    <a:solidFill>
                      <a:srgbClr val="F7FAF7"/>
                    </a:solidFill>
                  </a:tcPr>
                </a:tc>
                <a:tc>
                  <a:txBody>
                    <a:bodyPr/>
                    <a:lstStyle/>
                    <a:p>
                      <a:pPr algn="r">
                        <a:defRPr>
                          <a:latin typeface="Roboto"/>
                        </a:defRPr>
                      </a:pPr>
                      <a:r>
                        <a:rPr sz="1050">
                          <a:solidFill>
                            <a:srgbClr val="25342A"/>
                          </a:solidFill>
                          <a:latin typeface="Roboto"/>
                        </a:rPr>
                        <a:t>$52,594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$34,325</a:t>
                      </a:r>
                    </a:p>
                  </a:txBody>
                  <a:tcPr>
                    <a:solidFill>
                      <a:srgbClr val="F7FAF7"/>
                    </a:solidFill>
                  </a:tcPr>
                </a:tc>
                <a:tc>
                  <a:txBody>
                    <a:bodyPr/>
                    <a:lstStyle/>
                    <a:p>
                      <a:pPr algn="r">
                        <a:defRPr>
                          <a:latin typeface="Roboto"/>
                        </a:defRPr>
                      </a:pPr>
                      <a:r>
                        <a:rPr sz="1050">
                          <a:solidFill>
                            <a:srgbClr val="B42318"/>
                          </a:solidFill>
                          <a:latin typeface="Roboto"/>
                        </a:rPr>
                        <a:t>($38,250)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B42318"/>
                          </a:solidFill>
                          <a:latin typeface="Roboto"/>
                        </a:rPr>
                        <a:t>($5,000)</a:t>
                      </a:r>
                    </a:p>
                  </a:txBody>
                  <a:tcPr>
                    <a:solidFill>
                      <a:srgbClr val="F7FAF7"/>
                    </a:solidFill>
                  </a:tcPr>
                </a:tc>
                <a:tc>
                  <a:txBody>
                    <a:bodyPr/>
                    <a:lstStyle/>
                    <a:p>
                      <a:pPr algn="r">
                        <a:defRPr>
                          <a:latin typeface="Roboto"/>
                        </a:defRPr>
                      </a:pPr>
                      <a:r>
                        <a:rPr sz="1050">
                          <a:solidFill>
                            <a:srgbClr val="25342A"/>
                          </a:solidFill>
                          <a:latin typeface="Roboto"/>
                        </a:rPr>
                        <a:t>$43,669</a:t>
                      </a:r>
                    </a:p>
                  </a:txBody>
                  <a:tcPr>
                    <a:solidFill>
                      <a:srgbClr val="F7FAF7"/>
                    </a:solidFill>
                  </a:tcPr>
                </a:tc>
                <a:tc>
                  <a:txBody>
                    <a:bodyPr/>
                    <a:lstStyle/>
                    <a:p>
                      <a:pPr algn="r">
                        <a:defRPr>
                          <a:latin typeface="Roboto"/>
                        </a:defRPr>
                      </a:pPr>
                      <a:r>
                        <a:rPr sz="1050">
                          <a:solidFill>
                            <a:srgbClr val="25342A"/>
                          </a:solidFill>
                          <a:latin typeface="Roboto"/>
                        </a:rPr>
                        <a:t>$28,074</a:t>
                      </a:r>
                    </a:p>
                  </a:txBody>
                  <a:tcPr>
                    <a:solidFill>
                      <a:srgbClr val="F7FAF7"/>
                    </a:solidFill>
                  </a:tcPr>
                </a:tc>
              </a:tr>
              <a:tr h="310896">
                <a:tc>
                  <a:txBody>
                    <a:bodyPr/>
                    <a:lstStyle/>
                    <a:p>
                      <a:pPr algn="l">
                        <a:defRPr>
                          <a:latin typeface="Roboto"/>
                        </a:defRPr>
                      </a:pPr>
                      <a:r>
                        <a:rPr sz="1050">
                          <a:solidFill>
                            <a:srgbClr val="25342A"/>
                          </a:solidFill>
                          <a:latin typeface="Roboto"/>
                        </a:rPr>
                        <a:t>5 Jan</a:t>
                      </a:r>
                    </a:p>
                  </a:txBody>
                  <a:tcPr>
                    <a:solidFill>
                      <a:srgbClr val="FFFFFF"/>
                    </a:solidFill>
                  </a:tcPr>
                </a:tc>
                <a:tc>
                  <a:txBody>
                    <a:bodyPr/>
                    <a:lstStyle/>
                    <a:p>
                      <a:pPr algn="r">
                        <a:defRPr>
                          <a:latin typeface="Roboto"/>
                        </a:defRPr>
                      </a:pPr>
                      <a:r>
                        <a:rPr sz="1050">
                          <a:solidFill>
                            <a:srgbClr val="25342A"/>
                          </a:solidFill>
                          <a:latin typeface="Roboto"/>
                        </a:rPr>
                        <a:t>$43,669</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$74,825</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($55,080)</a:t>
                      </a:r>
                    </a:p>
                  </a:txBody>
                  <a:tcPr>
                    <a:solidFill>
                      <a:srgbClr val="FFFFFF"/>
                    </a:solidFill>
                  </a:tcPr>
                </a:tc>
                <a:tc>
                  <a:txBody>
                    <a:bodyPr/>
                    <a:lstStyle/>
                    <a:p>
                      <a:pPr algn="r">
                        <a:defRPr>
                          <a:latin typeface="Roboto"/>
                        </a:defRPr>
                      </a:pPr>
                      <a:r>
                        <a:rPr sz="1050">
                          <a:solidFill>
                            <a:srgbClr val="B42318"/>
                          </a:solidFill>
                          <a:latin typeface="Roboto"/>
                        </a:rPr>
                        <a:t>($1,080)</a:t>
                      </a:r>
                    </a:p>
                  </a:txBody>
                  <a:tcPr>
                    <a:solidFill>
                      <a:srgbClr val="FFFFFF"/>
                    </a:solidFill>
                  </a:tcPr>
                </a:tc>
                <a:tc>
                  <a:txBody>
                    <a:bodyPr/>
                    <a:lstStyle/>
                    <a:p>
                      <a:pPr algn="r">
                        <a:defRPr>
                          <a:latin typeface="Roboto"/>
                        </a:defRPr>
                      </a:pPr>
                      <a:r>
                        <a:rPr sz="1050">
                          <a:solidFill>
                            <a:srgbClr val="25342A"/>
                          </a:solidFill>
                          <a:latin typeface="Roboto"/>
                        </a:rPr>
                        <a:t>$62,334</a:t>
                      </a:r>
                    </a:p>
                  </a:txBody>
                  <a:tcPr>
                    <a:solidFill>
                      <a:srgbClr val="FFFFFF"/>
                    </a:solidFill>
                  </a:tcPr>
                </a:tc>
                <a:tc>
                  <a:txBody>
                    <a:bodyPr/>
                    <a:lstStyle/>
                    <a:p>
                      <a:pPr algn="r">
                        <a:defRPr>
                          <a:latin typeface="Roboto"/>
                        </a:defRPr>
                      </a:pPr>
                      <a:r>
                        <a:rPr sz="1050">
                          <a:solidFill>
                            <a:srgbClr val="25342A"/>
                          </a:solidFill>
                          <a:latin typeface="Roboto"/>
                        </a:rPr>
                        <a:t>$41,739</a:t>
                      </a:r>
                    </a:p>
                  </a:txBody>
                  <a:tcPr>
                    <a:solidFill>
                      <a:srgbClr val="FFFFFF"/>
                    </a:solidFill>
                  </a:tcPr>
                </a:tc>
              </a:tr>
            </a:tbl>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8 Oct 2026, 9:35am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4 of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Invoices past the customer's usual payment date ($70,404)</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960120"/>
          <a:ext cx="11277295" cy="3419856"/>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Wacol warehouse switchboard</a:t>
                      </a:r>
                    </a:p>
                  </a:txBody>
                  <a:tcPr>
                    <a:solidFill>
                      <a:srgbClr val="FFFFFF"/>
                    </a:solidFill>
                  </a:tcPr>
                </a:tc>
                <a:tc>
                  <a:txBody>
                    <a:bodyPr/>
                    <a:lstStyle/>
                    <a:p>
                      <a:pPr algn="l">
                        <a:defRPr>
                          <a:latin typeface="Roboto"/>
                        </a:defRPr>
                      </a:pPr>
                      <a:r>
                        <a:rPr sz="1050">
                          <a:solidFill>
                            <a:srgbClr val="25342A"/>
                          </a:solidFill>
                          <a:latin typeface="Roboto"/>
                        </a:rPr>
                        <a:t>4 Sep</a:t>
                      </a:r>
                    </a:p>
                  </a:txBody>
                  <a:tcPr>
                    <a:solidFill>
                      <a:srgbClr val="FFFFFF"/>
                    </a:solidFill>
                  </a:tcPr>
                </a:tc>
                <a:tc>
                  <a:txBody>
                    <a:bodyPr/>
                    <a:lstStyle/>
                    <a:p>
                      <a:pPr algn="r">
                        <a:defRPr>
                          <a:latin typeface="Roboto"/>
                        </a:defRPr>
                      </a:pPr>
                      <a:r>
                        <a:rPr sz="1050">
                          <a:solidFill>
                            <a:srgbClr val="25342A"/>
                          </a:solidFill>
                          <a:latin typeface="Roboto"/>
                        </a:rPr>
                        <a:t>$46,800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32</a:t>
                      </a:r>
                    </a:p>
                  </a:txBody>
                  <a:tcPr>
                    <a:solidFill>
                      <a:srgbClr val="FFFFFF"/>
                    </a:solidFill>
                  </a:tcPr>
                </a:tc>
              </a:tr>
              <a:tr h="310896">
                <a:tc>
                  <a:txBody>
                    <a:bodyPr/>
                    <a:lstStyle/>
                    <a:p>
                      <a:pPr algn="l">
                        <a:defRPr>
                          <a:latin typeface="Roboto"/>
                        </a:defRPr>
                      </a:pPr>
                      <a:r>
                        <a:rPr sz="1050">
                          <a:solidFill>
                            <a:srgbClr val="25342A"/>
                          </a:solidFill>
                          <a:latin typeface="Roboto"/>
                        </a:rPr>
                        <a:t>Milton office tower</a:t>
                      </a:r>
                    </a:p>
                  </a:txBody>
                  <a:tcPr>
                    <a:solidFill>
                      <a:srgbClr val="F7FAF7"/>
                    </a:solidFill>
                  </a:tcPr>
                </a:tc>
                <a:tc>
                  <a:txBody>
                    <a:bodyPr/>
                    <a:lstStyle/>
                    <a:p>
                      <a:pPr algn="l">
                        <a:defRPr>
                          <a:latin typeface="Roboto"/>
                        </a:defRPr>
                      </a:pPr>
                      <a:r>
                        <a:rPr sz="1050">
                          <a:solidFill>
                            <a:srgbClr val="25342A"/>
                          </a:solidFill>
                          <a:latin typeface="Roboto"/>
                        </a:rPr>
                        <a:t>1 Sep</a:t>
                      </a:r>
                    </a:p>
                  </a:txBody>
                  <a:tcPr>
                    <a:solidFill>
                      <a:srgbClr val="F7FAF7"/>
                    </a:solidFill>
                  </a:tcPr>
                </a:tc>
                <a:tc>
                  <a:txBody>
                    <a:bodyPr/>
                    <a:lstStyle/>
                    <a:p>
                      <a:pPr algn="r">
                        <a:defRPr>
                          <a:latin typeface="Roboto"/>
                        </a:defRPr>
                      </a:pPr>
                      <a:r>
                        <a:rPr sz="1050">
                          <a:solidFill>
                            <a:srgbClr val="25342A"/>
                          </a:solidFill>
                          <a:latin typeface="Roboto"/>
                        </a:rPr>
                        <a:t>$4,200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35</a:t>
                      </a:r>
                    </a:p>
                  </a:txBody>
                  <a:tcPr>
                    <a:solidFill>
                      <a:srgbClr val="F7FAF7"/>
                    </a:solidFill>
                  </a:tcPr>
                </a:tc>
              </a:tr>
              <a:tr h="310896">
                <a:tc>
                  <a:txBody>
                    <a:bodyPr/>
                    <a:lstStyle/>
                    <a:p>
                      <a:pPr algn="l">
                        <a:defRPr>
                          <a:latin typeface="Roboto"/>
                        </a:defRPr>
                      </a:pPr>
                      <a:r>
                        <a:rPr sz="1050">
                          <a:solidFill>
                            <a:srgbClr val="25342A"/>
                          </a:solidFill>
                          <a:latin typeface="Roboto"/>
                        </a:rPr>
                        <a:t>Rocklea factory</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$3,900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35</a:t>
                      </a:r>
                    </a:p>
                  </a:txBody>
                  <a:tcPr>
                    <a:solidFill>
                      <a:srgbClr val="FFFFFF"/>
                    </a:solidFill>
                  </a:tcPr>
                </a:tc>
              </a:tr>
              <a:tr h="310896">
                <a:tc>
                  <a:txBody>
                    <a:bodyPr/>
                    <a:lstStyle/>
                    <a:p>
                      <a:pPr algn="l">
                        <a:defRPr>
                          <a:latin typeface="Roboto"/>
                        </a:defRPr>
                      </a:pPr>
                      <a:r>
                        <a:rPr sz="1050">
                          <a:solidFill>
                            <a:srgbClr val="25342A"/>
                          </a:solidFill>
                          <a:latin typeface="Roboto"/>
                        </a:rPr>
                        <a:t>Bulimba school</a:t>
                      </a:r>
                    </a:p>
                  </a:txBody>
                  <a:tcPr>
                    <a:solidFill>
                      <a:srgbClr val="F7FAF7"/>
                    </a:solidFill>
                  </a:tcPr>
                </a:tc>
                <a:tc>
                  <a:txBody>
                    <a:bodyPr/>
                    <a:lstStyle/>
                    <a:p>
                      <a:pPr algn="l">
                        <a:defRPr>
                          <a:latin typeface="Roboto"/>
                        </a:defRPr>
                      </a:pPr>
                      <a:r>
                        <a:rPr sz="1050">
                          <a:solidFill>
                            <a:srgbClr val="25342A"/>
                          </a:solidFill>
                          <a:latin typeface="Roboto"/>
                        </a:rPr>
                        <a:t>1 Sep</a:t>
                      </a:r>
                    </a:p>
                  </a:txBody>
                  <a:tcPr>
                    <a:solidFill>
                      <a:srgbClr val="F7FAF7"/>
                    </a:solidFill>
                  </a:tcPr>
                </a:tc>
                <a:tc>
                  <a:txBody>
                    <a:bodyPr/>
                    <a:lstStyle/>
                    <a:p>
                      <a:pPr algn="r">
                        <a:defRPr>
                          <a:latin typeface="Roboto"/>
                        </a:defRPr>
                      </a:pPr>
                      <a:r>
                        <a:rPr sz="1050">
                          <a:solidFill>
                            <a:srgbClr val="25342A"/>
                          </a:solidFill>
                          <a:latin typeface="Roboto"/>
                        </a:rPr>
                        <a:t>$2,800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35</a:t>
                      </a:r>
                    </a:p>
                  </a:txBody>
                  <a:tcPr>
                    <a:solidFill>
                      <a:srgbClr val="F7FAF7"/>
                    </a:solidFill>
                  </a:tcPr>
                </a:tc>
              </a:tr>
              <a:tr h="310896">
                <a:tc>
                  <a:txBody>
                    <a:bodyPr/>
                    <a:lstStyle/>
                    <a:p>
                      <a:pPr algn="l">
                        <a:defRPr>
                          <a:latin typeface="Roboto"/>
                        </a:defRPr>
                      </a:pPr>
                      <a:r>
                        <a:rPr sz="1050">
                          <a:solidFill>
                            <a:srgbClr val="25342A"/>
                          </a:solidFill>
                          <a:latin typeface="Roboto"/>
                        </a:rPr>
                        <a:t>West End brewery</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$2,600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35</a:t>
                      </a:r>
                    </a:p>
                  </a:txBody>
                  <a:tcPr>
                    <a:solidFill>
                      <a:srgbClr val="FFFFFF"/>
                    </a:solidFill>
                  </a:tcPr>
                </a:tc>
              </a:tr>
              <a:tr h="310896">
                <a:tc>
                  <a:txBody>
                    <a:bodyPr/>
                    <a:lstStyle/>
                    <a:p>
                      <a:pPr algn="l">
                        <a:defRPr>
                          <a:latin typeface="Roboto"/>
                        </a:defRPr>
                      </a:pPr>
                      <a:r>
                        <a:rPr sz="1050">
                          <a:solidFill>
                            <a:srgbClr val="25342A"/>
                          </a:solidFill>
                          <a:latin typeface="Roboto"/>
                        </a:rPr>
                        <a:t>Kangaroo Point townhouses</a:t>
                      </a:r>
                    </a:p>
                  </a:txBody>
                  <a:tcPr>
                    <a:solidFill>
                      <a:srgbClr val="F7FAF7"/>
                    </a:solidFill>
                  </a:tcPr>
                </a:tc>
                <a:tc>
                  <a:txBody>
                    <a:bodyPr/>
                    <a:lstStyle/>
                    <a:p>
                      <a:pPr algn="l">
                        <a:defRPr>
                          <a:latin typeface="Roboto"/>
                        </a:defRPr>
                      </a:pPr>
                      <a:r>
                        <a:rPr sz="1050">
                          <a:solidFill>
                            <a:srgbClr val="25342A"/>
                          </a:solidFill>
                          <a:latin typeface="Roboto"/>
                        </a:rPr>
                        <a:t>1 Sep</a:t>
                      </a:r>
                    </a:p>
                  </a:txBody>
                  <a:tcPr>
                    <a:solidFill>
                      <a:srgbClr val="F7FAF7"/>
                    </a:solidFill>
                  </a:tcPr>
                </a:tc>
                <a:tc>
                  <a:txBody>
                    <a:bodyPr/>
                    <a:lstStyle/>
                    <a:p>
                      <a:pPr algn="r">
                        <a:defRPr>
                          <a:latin typeface="Roboto"/>
                        </a:defRPr>
                      </a:pPr>
                      <a:r>
                        <a:rPr sz="1050">
                          <a:solidFill>
                            <a:srgbClr val="25342A"/>
                          </a:solidFill>
                          <a:latin typeface="Roboto"/>
                        </a:rPr>
                        <a:t>$2,400</a:t>
                      </a:r>
                    </a:p>
                  </a:txBody>
                  <a:tcPr>
                    <a:solidFill>
                      <a:srgbClr val="F7FAF7"/>
                    </a:solidFill>
                  </a:tcPr>
                </a:tc>
                <a:tc>
                  <a:txBody>
                    <a:bodyPr/>
                    <a:lstStyle/>
                    <a:p>
                      <a:pPr algn="r">
                        <a:defRPr>
                          <a:latin typeface="Roboto"/>
                        </a:defRPr>
                      </a:pPr>
                      <a:r>
                        <a:rPr sz="1050">
                          <a:solidFill>
                            <a:srgbClr val="25342A"/>
                          </a:solidFill>
                          <a:latin typeface="Roboto"/>
                        </a:rPr>
                        <a:t>30</a:t>
                      </a:r>
                    </a:p>
                  </a:txBody>
                  <a:tcPr>
                    <a:solidFill>
                      <a:srgbClr val="F7FAF7"/>
                    </a:solidFill>
                  </a:tcPr>
                </a:tc>
                <a:tc>
                  <a:txBody>
                    <a:bodyPr/>
                    <a:lstStyle/>
                    <a:p>
                      <a:pPr algn="r">
                        <a:defRPr>
                          <a:latin typeface="Roboto"/>
                        </a:defRPr>
                      </a:pPr>
                      <a:r>
                        <a:rPr sz="1050">
                          <a:solidFill>
                            <a:srgbClr val="25342A"/>
                          </a:solidFill>
                          <a:latin typeface="Roboto"/>
                        </a:rPr>
                        <a:t>35</a:t>
                      </a:r>
                    </a:p>
                  </a:txBody>
                  <a:tcPr>
                    <a:solidFill>
                      <a:srgbClr val="F7FAF7"/>
                    </a:solidFill>
                  </a:tcPr>
                </a:tc>
              </a:tr>
              <a:tr h="310896">
                <a:tc>
                  <a:txBody>
                    <a:bodyPr/>
                    <a:lstStyle/>
                    <a:p>
                      <a:pPr algn="l">
                        <a:defRPr>
                          <a:latin typeface="Roboto"/>
                        </a:defRPr>
                      </a:pPr>
                      <a:r>
                        <a:rPr sz="1050">
                          <a:solidFill>
                            <a:srgbClr val="25342A"/>
                          </a:solidFill>
                          <a:latin typeface="Roboto"/>
                        </a:rPr>
                        <a:t>Newstead gym</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$1,600</a:t>
                      </a:r>
                    </a:p>
                  </a:txBody>
                  <a:tcPr>
                    <a:solidFill>
                      <a:srgbClr val="FFFFFF"/>
                    </a:solidFill>
                  </a:tcPr>
                </a:tc>
                <a:tc>
                  <a:txBody>
                    <a:bodyPr/>
                    <a:lstStyle/>
                    <a:p>
                      <a:pPr algn="r">
                        <a:defRPr>
                          <a:latin typeface="Roboto"/>
                        </a:defRPr>
                      </a:pPr>
                      <a:r>
                        <a:rPr sz="1050">
                          <a:solidFill>
                            <a:srgbClr val="25342A"/>
                          </a:solidFill>
                          <a:latin typeface="Roboto"/>
                        </a:rPr>
                        <a:t>30</a:t>
                      </a:r>
                    </a:p>
                  </a:txBody>
                  <a:tcPr>
                    <a:solidFill>
                      <a:srgbClr val="FFFFFF"/>
                    </a:solidFill>
                  </a:tcPr>
                </a:tc>
                <a:tc>
                  <a:txBody>
                    <a:bodyPr/>
                    <a:lstStyle/>
                    <a:p>
                      <a:pPr algn="r">
                        <a:defRPr>
                          <a:latin typeface="Roboto"/>
                        </a:defRPr>
                      </a:pPr>
                      <a:r>
                        <a:rPr sz="1050">
                          <a:solidFill>
                            <a:srgbClr val="25342A"/>
                          </a:solidFill>
                          <a:latin typeface="Roboto"/>
                        </a:rPr>
                        <a:t>35</a:t>
                      </a:r>
                    </a:p>
                  </a:txBody>
                  <a:tcPr>
                    <a:solidFill>
                      <a:srgbClr val="FFFFFF"/>
                    </a:solidFill>
                  </a:tcPr>
                </a:tc>
              </a:tr>
              <a:tr h="310896">
                <a:tc>
                  <a:txBody>
                    <a:bodyPr/>
                    <a:lstStyle/>
                    <a:p>
                      <a:pPr algn="l">
                        <a:defRPr>
                          <a:latin typeface="Roboto"/>
                        </a:defRPr>
                      </a:pPr>
                      <a:r>
                        <a:rPr sz="1050">
                          <a:solidFill>
                            <a:srgbClr val="25342A"/>
                          </a:solidFill>
                          <a:latin typeface="Roboto"/>
                        </a:rPr>
                        <a:t>Call-out 15, September</a:t>
                      </a:r>
                    </a:p>
                  </a:txBody>
                  <a:tcPr>
                    <a:solidFill>
                      <a:srgbClr val="F7FAF7"/>
                    </a:solidFill>
                  </a:tcPr>
                </a:tc>
                <a:tc>
                  <a:txBody>
                    <a:bodyPr/>
                    <a:lstStyle/>
                    <a:p>
                      <a:pPr algn="l">
                        <a:defRPr>
                          <a:latin typeface="Roboto"/>
                        </a:defRPr>
                      </a:pPr>
                      <a:r>
                        <a:rPr sz="1050">
                          <a:solidFill>
                            <a:srgbClr val="25342A"/>
                          </a:solidFill>
                          <a:latin typeface="Roboto"/>
                        </a:rPr>
                        <a:t>15 Sep</a:t>
                      </a:r>
                    </a:p>
                  </a:txBody>
                  <a:tcPr>
                    <a:solidFill>
                      <a:srgbClr val="F7FAF7"/>
                    </a:solidFill>
                  </a:tcPr>
                </a:tc>
                <a:tc>
                  <a:txBody>
                    <a:bodyPr/>
                    <a:lstStyle/>
                    <a:p>
                      <a:pPr algn="r">
                        <a:defRPr>
                          <a:latin typeface="Roboto"/>
                        </a:defRPr>
                      </a:pPr>
                      <a:r>
                        <a:rPr sz="1050">
                          <a:solidFill>
                            <a:srgbClr val="25342A"/>
                          </a:solidFill>
                          <a:latin typeface="Roboto"/>
                        </a:rPr>
                        <a:t>$775</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21</a:t>
                      </a:r>
                    </a:p>
                  </a:txBody>
                  <a:tcPr>
                    <a:solidFill>
                      <a:srgbClr val="F7FAF7"/>
                    </a:solidFill>
                  </a:tcPr>
                </a:tc>
              </a:tr>
              <a:tr h="310896">
                <a:tc>
                  <a:txBody>
                    <a:bodyPr/>
                    <a:lstStyle/>
                    <a:p>
                      <a:pPr algn="l">
                        <a:defRPr>
                          <a:latin typeface="Roboto"/>
                        </a:defRPr>
                      </a:pPr>
                      <a:r>
                        <a:rPr sz="1050">
                          <a:solidFill>
                            <a:srgbClr val="25342A"/>
                          </a:solidFill>
                          <a:latin typeface="Roboto"/>
                        </a:rPr>
                        <a:t>Call-out 9, September</a:t>
                      </a:r>
                    </a:p>
                  </a:txBody>
                  <a:tcPr>
                    <a:solidFill>
                      <a:srgbClr val="FFFFFF"/>
                    </a:solidFill>
                  </a:tcPr>
                </a:tc>
                <a:tc>
                  <a:txBody>
                    <a:bodyPr/>
                    <a:lstStyle/>
                    <a:p>
                      <a:pPr algn="l">
                        <a:defRPr>
                          <a:latin typeface="Roboto"/>
                        </a:defRPr>
                      </a:pPr>
                      <a:r>
                        <a:rPr sz="1050">
                          <a:solidFill>
                            <a:srgbClr val="25342A"/>
                          </a:solidFill>
                          <a:latin typeface="Roboto"/>
                        </a:rPr>
                        <a:t>22 Sep</a:t>
                      </a:r>
                    </a:p>
                  </a:txBody>
                  <a:tcPr>
                    <a:solidFill>
                      <a:srgbClr val="FFFFFF"/>
                    </a:solidFill>
                  </a:tcPr>
                </a:tc>
                <a:tc>
                  <a:txBody>
                    <a:bodyPr/>
                    <a:lstStyle/>
                    <a:p>
                      <a:pPr algn="r">
                        <a:defRPr>
                          <a:latin typeface="Roboto"/>
                        </a:defRPr>
                      </a:pPr>
                      <a:r>
                        <a:rPr sz="1050">
                          <a:solidFill>
                            <a:srgbClr val="25342A"/>
                          </a:solidFill>
                          <a:latin typeface="Roboto"/>
                        </a:rPr>
                        <a:t>$762</a:t>
                      </a:r>
                    </a:p>
                  </a:txBody>
                  <a:tcPr>
                    <a:solidFill>
                      <a:srgbClr val="FFFFFF"/>
                    </a:solidFill>
                  </a:tcPr>
                </a:tc>
                <a:tc>
                  <a:txBody>
                    <a:bodyPr/>
                    <a:lstStyle/>
                    <a:p>
                      <a:pPr algn="r">
                        <a:defRPr>
                          <a:latin typeface="Roboto"/>
                        </a:defRPr>
                      </a:pPr>
                      <a:r>
                        <a:rPr sz="1050">
                          <a:solidFill>
                            <a:srgbClr val="25342A"/>
                          </a:solidFill>
                          <a:latin typeface="Roboto"/>
                        </a:rPr>
                        <a:t>7</a:t>
                      </a:r>
                    </a:p>
                  </a:txBody>
                  <a:tcPr>
                    <a:solidFill>
                      <a:srgbClr val="FFFFFF"/>
                    </a:solidFill>
                  </a:tcPr>
                </a:tc>
                <a:tc>
                  <a:txBody>
                    <a:bodyPr/>
                    <a:lstStyle/>
                    <a:p>
                      <a:pPr algn="r">
                        <a:defRPr>
                          <a:latin typeface="Roboto"/>
                        </a:defRPr>
                      </a:pPr>
                      <a:r>
                        <a:rPr sz="1050">
                          <a:solidFill>
                            <a:srgbClr val="25342A"/>
                          </a:solidFill>
                          <a:latin typeface="Roboto"/>
                        </a:rPr>
                        <a:t>14</a:t>
                      </a:r>
                    </a:p>
                  </a:txBody>
                  <a:tcPr>
                    <a:solidFill>
                      <a:srgbClr val="FFFFFF"/>
                    </a:solidFill>
                  </a:tcPr>
                </a:tc>
              </a:tr>
              <a:tr h="310896">
                <a:tc>
                  <a:txBody>
                    <a:bodyPr/>
                    <a:lstStyle/>
                    <a:p>
                      <a:pPr algn="l">
                        <a:defRPr>
                          <a:latin typeface="Roboto"/>
                        </a:defRPr>
                      </a:pPr>
                      <a:r>
                        <a:rPr sz="1050">
                          <a:solidFill>
                            <a:srgbClr val="25342A"/>
                          </a:solidFill>
                          <a:latin typeface="Roboto"/>
                        </a:rPr>
                        <a:t>Call-out 32, September</a:t>
                      </a:r>
                    </a:p>
                  </a:txBody>
                  <a:tcPr>
                    <a:solidFill>
                      <a:srgbClr val="F7FAF7"/>
                    </a:solidFill>
                  </a:tcPr>
                </a:tc>
                <a:tc>
                  <a:txBody>
                    <a:bodyPr/>
                    <a:lstStyle/>
                    <a:p>
                      <a:pPr algn="l">
                        <a:defRPr>
                          <a:latin typeface="Roboto"/>
                        </a:defRPr>
                      </a:pPr>
                      <a:r>
                        <a:rPr sz="1050">
                          <a:solidFill>
                            <a:srgbClr val="25342A"/>
                          </a:solidFill>
                          <a:latin typeface="Roboto"/>
                        </a:rPr>
                        <a:t>21 Sep</a:t>
                      </a:r>
                    </a:p>
                  </a:txBody>
                  <a:tcPr>
                    <a:solidFill>
                      <a:srgbClr val="F7FAF7"/>
                    </a:solidFill>
                  </a:tcPr>
                </a:tc>
                <a:tc>
                  <a:txBody>
                    <a:bodyPr/>
                    <a:lstStyle/>
                    <a:p>
                      <a:pPr algn="r">
                        <a:defRPr>
                          <a:latin typeface="Roboto"/>
                        </a:defRPr>
                      </a:pPr>
                      <a:r>
                        <a:rPr sz="1050">
                          <a:solidFill>
                            <a:srgbClr val="25342A"/>
                          </a:solidFill>
                          <a:latin typeface="Roboto"/>
                        </a:rPr>
                        <a:t>$597</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c>
                  <a:txBody>
                    <a:bodyPr/>
                    <a:lstStyle/>
                    <a:p>
                      <a:pPr algn="r">
                        <a:defRPr>
                          <a:latin typeface="Roboto"/>
                        </a:defRPr>
                      </a:pPr>
                      <a:r>
                        <a:rPr sz="1050">
                          <a:solidFill>
                            <a:srgbClr val="25342A"/>
                          </a:solidFill>
                          <a:latin typeface="Roboto"/>
                        </a:rPr>
                        <a:t>15</a:t>
                      </a:r>
                    </a:p>
                  </a:txBody>
                  <a:tcPr>
                    <a:solidFill>
                      <a:srgbClr val="F7FAF7"/>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8 Oct 2026, 9:35am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5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5342A"/>
      </a:dk2>
      <a:lt2>
        <a:srgbClr val="F4F7F2"/>
      </a:lt2>
      <a:accent1>
        <a:srgbClr val="2F7A5D"/>
      </a:accent1>
      <a:accent2>
        <a:srgbClr val="0E9F6E"/>
      </a:accent2>
      <a:accent3>
        <a:srgbClr val="7D8790"/>
      </a:accent3>
      <a:accent4>
        <a:srgbClr val="8A6D3B"/>
      </a:accent4>
      <a:accent5>
        <a:srgbClr val="B42318"/>
      </a:accent5>
      <a:accent6>
        <a:srgbClr val="8E9CAB"/>
      </a:accent6>
      <a:hlink>
        <a:srgbClr val="0000FF"/>
      </a:hlink>
      <a:folHlink>
        <a:srgbClr val="800080"/>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