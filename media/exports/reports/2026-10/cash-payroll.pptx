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Sheet1!$A$2:$A$159</c:f>
              <c:strCache>
                <c:ptCount val="158"/>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pt idx="152">
                  <c:v>31 Dec</c:v>
                </c:pt>
                <c:pt idx="153">
                  <c:v>1 Jan</c:v>
                </c:pt>
                <c:pt idx="154">
                  <c:v>2 Jan</c:v>
                </c:pt>
                <c:pt idx="155">
                  <c:v>3 Jan</c:v>
                </c:pt>
                <c:pt idx="156">
                  <c:v>4 Jan</c:v>
                </c:pt>
                <c:pt idx="157">
                  <c:v>5 Jan</c:v>
                </c:pt>
              </c:strCache>
            </c:strRef>
          </c:cat>
          <c:val>
            <c:numRef>
              <c:f>Sheet1!$B$2:$B$159</c:f>
              <c:numCache>
                <c:formatCode>$#,##0;[Red]($#,##0);"-"</c:formatCode>
                <c:ptCount val="158"/>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103886</c:v>
                </c:pt>
                <c:pt idx="62">
                  <c:v>104453</c:v>
                </c:pt>
                <c:pt idx="63">
                  <c:v>104453</c:v>
                </c:pt>
                <c:pt idx="64">
                  <c:v>104453</c:v>
                </c:pt>
                <c:pt idx="65">
                  <c:v>104453</c:v>
                </c:pt>
                <c:pt idx="66">
                  <c:v>115211</c:v>
                </c:pt>
                <c:pt idx="67">
                  <c:v>115211</c:v>
                </c:pt>
                <c:pt idx="68">
                  <c:v>116043</c:v>
                </c:pt>
                <c:pt idx="69">
                  <c:v>139642</c:v>
                </c:pt>
                <c:pt idx="70">
                  <c:v>139642</c:v>
                </c:pt>
                <c:pt idx="71">
                  <c:v>139642</c:v>
                </c:pt>
                <c:pt idx="72">
                  <c:v>140234</c:v>
                </c:pt>
                <c:pt idx="73">
                  <c:v>226704</c:v>
                </c:pt>
                <c:pt idx="74">
                  <c:v>228269</c:v>
                </c:pt>
                <c:pt idx="75">
                  <c:v>132634</c:v>
                </c:pt>
                <c:pt idx="76">
                  <c:v>134199</c:v>
                </c:pt>
                <c:pt idx="77">
                  <c:v>134199</c:v>
                </c:pt>
                <c:pt idx="78">
                  <c:v>134199</c:v>
                </c:pt>
                <c:pt idx="79">
                  <c:v>151604</c:v>
                </c:pt>
                <c:pt idx="80">
                  <c:v>153168</c:v>
                </c:pt>
                <c:pt idx="81">
                  <c:v>154733</c:v>
                </c:pt>
                <c:pt idx="82">
                  <c:v>156298</c:v>
                </c:pt>
                <c:pt idx="83">
                  <c:v>169963</c:v>
                </c:pt>
                <c:pt idx="84">
                  <c:v>169963</c:v>
                </c:pt>
                <c:pt idx="85">
                  <c:v>169963</c:v>
                </c:pt>
                <c:pt idx="86">
                  <c:v>171527</c:v>
                </c:pt>
                <c:pt idx="87">
                  <c:v>173092</c:v>
                </c:pt>
                <c:pt idx="88">
                  <c:v>83404</c:v>
                </c:pt>
                <c:pt idx="89">
                  <c:v>67057</c:v>
                </c:pt>
                <c:pt idx="90">
                  <c:v>68622</c:v>
                </c:pt>
                <c:pt idx="91">
                  <c:v>68622</c:v>
                </c:pt>
                <c:pt idx="92">
                  <c:v>68622</c:v>
                </c:pt>
                <c:pt idx="93">
                  <c:v>99104</c:v>
                </c:pt>
                <c:pt idx="94">
                  <c:v>100668</c:v>
                </c:pt>
                <c:pt idx="95">
                  <c:v>102233</c:v>
                </c:pt>
                <c:pt idx="96">
                  <c:v>103798</c:v>
                </c:pt>
                <c:pt idx="97">
                  <c:v>112336</c:v>
                </c:pt>
                <c:pt idx="98">
                  <c:v>112336</c:v>
                </c:pt>
                <c:pt idx="99">
                  <c:v>112336</c:v>
                </c:pt>
                <c:pt idx="100">
                  <c:v>127849</c:v>
                </c:pt>
                <c:pt idx="101">
                  <c:v>129414</c:v>
                </c:pt>
                <c:pt idx="102">
                  <c:v>137953</c:v>
                </c:pt>
                <c:pt idx="103">
                  <c:v>109880</c:v>
                </c:pt>
                <c:pt idx="104">
                  <c:v>118419</c:v>
                </c:pt>
                <c:pt idx="105">
                  <c:v>118419</c:v>
                </c:pt>
                <c:pt idx="106">
                  <c:v>118419</c:v>
                </c:pt>
                <c:pt idx="107">
                  <c:v>73344</c:v>
                </c:pt>
                <c:pt idx="108">
                  <c:v>74908</c:v>
                </c:pt>
                <c:pt idx="109">
                  <c:v>83447</c:v>
                </c:pt>
                <c:pt idx="110">
                  <c:v>91986</c:v>
                </c:pt>
                <c:pt idx="111">
                  <c:v>100524</c:v>
                </c:pt>
                <c:pt idx="112">
                  <c:v>100524</c:v>
                </c:pt>
                <c:pt idx="113">
                  <c:v>100524</c:v>
                </c:pt>
                <c:pt idx="114">
                  <c:v>116037</c:v>
                </c:pt>
                <c:pt idx="115">
                  <c:v>117602</c:v>
                </c:pt>
                <c:pt idx="116">
                  <c:v>126140</c:v>
                </c:pt>
                <c:pt idx="117">
                  <c:v>98068</c:v>
                </c:pt>
                <c:pt idx="118">
                  <c:v>106607</c:v>
                </c:pt>
                <c:pt idx="119">
                  <c:v>106607</c:v>
                </c:pt>
                <c:pt idx="120">
                  <c:v>106607</c:v>
                </c:pt>
                <c:pt idx="121">
                  <c:v>55452</c:v>
                </c:pt>
                <c:pt idx="122">
                  <c:v>106901</c:v>
                </c:pt>
                <c:pt idx="123">
                  <c:v>115440</c:v>
                </c:pt>
                <c:pt idx="124">
                  <c:v>123979</c:v>
                </c:pt>
                <c:pt idx="125">
                  <c:v>132517</c:v>
                </c:pt>
                <c:pt idx="126">
                  <c:v>132517</c:v>
                </c:pt>
                <c:pt idx="127">
                  <c:v>132517</c:v>
                </c:pt>
                <c:pt idx="128">
                  <c:v>148030</c:v>
                </c:pt>
                <c:pt idx="129">
                  <c:v>149595</c:v>
                </c:pt>
                <c:pt idx="130">
                  <c:v>158133</c:v>
                </c:pt>
                <c:pt idx="131">
                  <c:v>130061</c:v>
                </c:pt>
                <c:pt idx="132">
                  <c:v>138600</c:v>
                </c:pt>
                <c:pt idx="133">
                  <c:v>138600</c:v>
                </c:pt>
                <c:pt idx="134">
                  <c:v>138600</c:v>
                </c:pt>
                <c:pt idx="135">
                  <c:v>154112</c:v>
                </c:pt>
                <c:pt idx="136">
                  <c:v>95089</c:v>
                </c:pt>
                <c:pt idx="137">
                  <c:v>103628</c:v>
                </c:pt>
                <c:pt idx="138">
                  <c:v>112167</c:v>
                </c:pt>
                <c:pt idx="139">
                  <c:v>120705</c:v>
                </c:pt>
                <c:pt idx="140">
                  <c:v>120705</c:v>
                </c:pt>
                <c:pt idx="141">
                  <c:v>120705</c:v>
                </c:pt>
                <c:pt idx="142">
                  <c:v>136218</c:v>
                </c:pt>
                <c:pt idx="143">
                  <c:v>137783</c:v>
                </c:pt>
                <c:pt idx="144">
                  <c:v>146321</c:v>
                </c:pt>
                <c:pt idx="145">
                  <c:v>118249</c:v>
                </c:pt>
                <c:pt idx="146">
                  <c:v>118249</c:v>
                </c:pt>
                <c:pt idx="147">
                  <c:v>118249</c:v>
                </c:pt>
                <c:pt idx="148">
                  <c:v>118249</c:v>
                </c:pt>
                <c:pt idx="149">
                  <c:v>118249</c:v>
                </c:pt>
                <c:pt idx="150">
                  <c:v>138865</c:v>
                </c:pt>
                <c:pt idx="151">
                  <c:v>147404</c:v>
                </c:pt>
                <c:pt idx="152">
                  <c:v>144159</c:v>
                </c:pt>
                <c:pt idx="153">
                  <c:v>144159</c:v>
                </c:pt>
                <c:pt idx="154">
                  <c:v>144159</c:v>
                </c:pt>
                <c:pt idx="155">
                  <c:v>144159</c:v>
                </c:pt>
                <c:pt idx="156">
                  <c:v>165081</c:v>
                </c:pt>
                <c:pt idx="157">
                  <c:v>166646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8"/>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November: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Unpaid invoices collected</c:v>
                </c:pt>
                <c:pt idx="5">
                  <c:v>New work collected</c:v>
                </c:pt>
              </c:strCache>
            </c:strRef>
          </c:cat>
          <c:val>
            <c:numRef>
              <c:f>Sheet1!$B$2:$B$7</c:f>
              <c:numCache>
                <c:formatCode>$#,##0;[Red]($#,##0);"-"</c:formatCode>
                <c:ptCount val="6"/>
                <c:pt idx="0">
                  <c:v>-181764</c:v>
                </c:pt>
                <c:pt idx="1">
                  <c:v>-73222</c:v>
                </c:pt>
                <c:pt idx="2">
                  <c:v>-7160</c:v>
                </c:pt>
                <c:pt idx="3">
                  <c:v>0</c:v>
                </c:pt>
                <c:pt idx="4">
                  <c:v>90585</c:v>
                </c:pt>
                <c:pt idx="5">
                  <c:v>158391</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2149.65"/>
          <c:min val="-209028.59999999998"/>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October 2026 to date.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6 Oct: $115,211; Paid to employees in November: $73,222; After the tightest pay run, 26 Nov: $98,068; Lowest point, next 13 weeks: $55,452. Cash at bank was $115,211 at 2pm on 6 October. November has 2 pay runs ($73,222). The tightest is 26 November: $98,068 left after paying wages, $61,457 more than a pay run in reserve. The lowest point in the 13 weeks is $55,452 on 30 November. 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30 September forecast has done so far. For 5 October it said $133,401; the bank says $104,453, $28,948 less. $31,304 of it is 11 invoices expected by then and not yet paid, the largest Milton office tower ($5,170).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75819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October 2026 to date.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55295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6 Oct, then forecast to 5 Jan</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6 Oct</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$115,211</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2pm, still moving</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November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26 Nov</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$98,068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$55,452</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158061"/>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83741"/>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$115,211 at 2pm on 6 October. November has 2 pay runs ($73,222). The tightest is 26 November: $98,068 left after paying wages, $61,457 more than a pay run in reserve. The lowest point in the 13 weeks is $55,452 on 30 November.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How the 30 September forecast has done so far</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454152"/>
          </a:xfrm>
          <a:prstGeom prst="rect">
            <a:avLst/>
          </a:prstGeom>
          <a:noFill/>
        </p:spPr>
        <p:txBody>
          <a:bodyPr wrap="square" lIns="45720" rIns="45720">
            <a:spAutoFit/>
          </a:bodyPr>
          <a:lstStyle/>
          <a:p>
            <a:pPr>
              <a:defRPr>
                <a:latin typeface="Roboto"/>
              </a:defRPr>
            </a:pPr>
            <a:r>
              <a:rPr sz="1200" b="0">
                <a:solidFill>
                  <a:srgbClr val="5F6F63"/>
                </a:solidFill>
                <a:latin typeface="Roboto"/>
              </a:rPr>
              <a:t>For 5 October it said $133,401; the bank says $104,453, $28,948 less. $31,304 of it is 11 invoices expected by then and not yet paid, the largest Milton office tower ($5,170).</a:t>
            </a:r>
          </a:p>
        </p:txBody>
      </p:sp>
      <p:graphicFrame>
        <p:nvGraphicFramePr>
          <p:cNvPr id="6" name="Table 5"/>
          <p:cNvGraphicFramePr>
            <a:graphicFrameLocks noGrp="1"/>
          </p:cNvGraphicFramePr>
          <p:nvPr/>
        </p:nvGraphicFramePr>
        <p:xfrm>
          <a:off x="457200" y="1469136"/>
          <a:ext cx="11277294" cy="1554480"/>
        </p:xfrm>
        <a:graphic>
          <a:graphicData uri="http://schemas.openxmlformats.org/drawingml/2006/table">
            <a:tbl>
              <a:tblPr bandRow="1">
                <a:tableStyleId>{5C22544A-7EE6-4342-B048-85BDC9FD1C3A}</a:tableStyleId>
              </a:tblPr>
              <a:tblGrid>
                <a:gridCol w="3608734"/>
                <a:gridCol w="7668560"/>
              </a:tblGrid>
              <a:tr h="310896">
                <a:tc>
                  <a:txBody>
                    <a:bodyPr/>
                    <a:lstStyle/>
                    <a:p>
                      <a:pPr algn="l">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$133,401</a:t>
                      </a:r>
                    </a:p>
                  </a:txBody>
                  <a:tcPr>
                    <a:solidFill>
                      <a:srgbClr val="FFFFFF"/>
                    </a:solidFill>
                  </a:tcPr>
                </a:tc>
              </a:tr>
              <a:tr h="310896">
                <a:tc>
                  <a:txBody>
                    <a:bodyPr/>
                    <a:lstStyle/>
                    <a:p>
                      <a:pPr algn="l">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$104,453</a:t>
                      </a:r>
                    </a:p>
                  </a:txBody>
                  <a:tcPr>
                    <a:solidFill>
                      <a:srgbClr val="F7FAF7"/>
                    </a:solidFill>
                  </a:tcPr>
                </a:tc>
              </a:tr>
              <a:tr h="310896">
                <a:tc>
                  <a:txBody>
                    <a:bodyPr/>
                    <a:lstStyle/>
                    <a:p>
                      <a:pPr algn="l">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($28,948)</a:t>
                      </a:r>
                    </a:p>
                  </a:txBody>
                  <a:tcPr>
                    <a:solidFill>
                      <a:srgbClr val="FFFFFF"/>
                    </a:solidFill>
                  </a:tcPr>
                </a:tc>
              </a:tr>
              <a:tr h="310896">
                <a:tc>
                  <a:txBody>
                    <a:bodyPr/>
                    <a:lstStyle/>
                    <a:p>
                      <a:pPr algn="l">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B42318"/>
                          </a:solidFill>
                          <a:latin typeface="Roboto"/>
                        </a:rPr>
                        <a:t>($31,304)</a:t>
                      </a:r>
                    </a:p>
                  </a:txBody>
                  <a:tcPr>
                    <a:solidFill>
                      <a:srgbClr val="F7FAF7"/>
                    </a:solidFill>
                  </a:tcPr>
                </a:tc>
              </a:tr>
              <a:tr h="310896">
                <a:tc>
                  <a:txBody>
                    <a:bodyPr/>
                    <a:lstStyle/>
                    <a:p>
                      <a:pPr algn="l">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25342A"/>
                          </a:solidFill>
                          <a:latin typeface="Roboto"/>
                        </a:rPr>
                        <a:t>$2,356</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November: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13 Oct</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c>
                  <a:txBody>
                    <a:bodyPr/>
                    <a:lstStyle/>
                    <a:p>
                      <a:pPr algn="r">
                        <a:defRPr>
                          <a:latin typeface="Roboto"/>
                        </a:defRPr>
                      </a:pPr>
                      <a:r>
                        <a:rPr sz="1050">
                          <a:solidFill>
                            <a:srgbClr val="25342A"/>
                          </a:solidFill>
                          <a:latin typeface="Roboto"/>
                        </a:rPr>
                        <a:t>$111,493</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$226,704</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r>
              <a:tr h="310896">
                <a:tc>
                  <a:txBody>
                    <a:bodyPr/>
                    <a:lstStyle/>
                    <a:p>
                      <a:pPr algn="l">
                        <a:defRPr>
                          <a:latin typeface="Roboto"/>
                        </a:defRPr>
                      </a:pPr>
                      <a:r>
                        <a:rPr sz="1050">
                          <a:solidFill>
                            <a:srgbClr val="25342A"/>
                          </a:solidFill>
                          <a:latin typeface="Roboto"/>
                        </a:rPr>
                        <a:t>20 Oct</a:t>
                      </a:r>
                    </a:p>
                  </a:txBody>
                  <a:tcPr>
                    <a:solidFill>
                      <a:srgbClr val="F7FAF7"/>
                    </a:solidFill>
                  </a:tcPr>
                </a:tc>
                <a:tc>
                  <a:txBody>
                    <a:bodyPr/>
                    <a:lstStyle/>
                    <a:p>
                      <a:pPr algn="r">
                        <a:defRPr>
                          <a:latin typeface="Roboto"/>
                        </a:defRPr>
                      </a:pPr>
                      <a:r>
                        <a:rPr sz="1050">
                          <a:solidFill>
                            <a:srgbClr val="25342A"/>
                          </a:solidFill>
                          <a:latin typeface="Roboto"/>
                        </a:rPr>
                        <a:t>$226,704</a:t>
                      </a:r>
                    </a:p>
                  </a:txBody>
                  <a:tcPr>
                    <a:solidFill>
                      <a:srgbClr val="F7FAF7"/>
                    </a:solidFill>
                  </a:tcPr>
                </a:tc>
                <a:tc>
                  <a:txBody>
                    <a:bodyPr/>
                    <a:lstStyle/>
                    <a:p>
                      <a:pPr algn="r">
                        <a:defRPr>
                          <a:latin typeface="Roboto"/>
                        </a:defRPr>
                      </a:pPr>
                      <a:r>
                        <a:rPr sz="1050">
                          <a:solidFill>
                            <a:srgbClr val="25342A"/>
                          </a:solidFill>
                          <a:latin typeface="Roboto"/>
                        </a:rPr>
                        <a:t>$15,840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$153,168</a:t>
                      </a:r>
                    </a:p>
                  </a:txBody>
                  <a:tcPr>
                    <a:solidFill>
                      <a:srgbClr val="F7FAF7"/>
                    </a:solidFill>
                  </a:tcPr>
                </a:tc>
                <a:tc>
                  <a:txBody>
                    <a:bodyPr/>
                    <a:lstStyle/>
                    <a:p>
                      <a:pPr algn="r">
                        <a:defRPr>
                          <a:latin typeface="Roboto"/>
                        </a:defRPr>
                      </a:pPr>
                      <a:r>
                        <a:rPr sz="1050">
                          <a:solidFill>
                            <a:srgbClr val="25342A"/>
                          </a:solidFill>
                          <a:latin typeface="Roboto"/>
                        </a:rPr>
                        <a:t>$132,634</a:t>
                      </a:r>
                    </a:p>
                  </a:txBody>
                  <a:tcPr>
                    <a:solidFill>
                      <a:srgbClr val="F7FAF7"/>
                    </a:solidFill>
                  </a:tcPr>
                </a:tc>
              </a:tr>
              <a:tr h="310896">
                <a:tc>
                  <a:txBody>
                    <a:bodyPr/>
                    <a:lstStyle/>
                    <a:p>
                      <a:pPr algn="l">
                        <a:defRPr>
                          <a:latin typeface="Roboto"/>
                        </a:defRPr>
                      </a:pPr>
                      <a:r>
                        <a:rPr sz="1050">
                          <a:solidFill>
                            <a:srgbClr val="25342A"/>
                          </a:solidFill>
                          <a:latin typeface="Roboto"/>
                        </a:rPr>
                        <a:t>27 Oct</a:t>
                      </a:r>
                    </a:p>
                  </a:txBody>
                  <a:tcPr>
                    <a:solidFill>
                      <a:srgbClr val="FFFFFF"/>
                    </a:solidFill>
                  </a:tcPr>
                </a:tc>
                <a:tc>
                  <a:txBody>
                    <a:bodyPr/>
                    <a:lstStyle/>
                    <a:p>
                      <a:pPr algn="r">
                        <a:defRPr>
                          <a:latin typeface="Roboto"/>
                        </a:defRPr>
                      </a:pPr>
                      <a:r>
                        <a:rPr sz="1050">
                          <a:solidFill>
                            <a:srgbClr val="25342A"/>
                          </a:solidFill>
                          <a:latin typeface="Roboto"/>
                        </a:rPr>
                        <a:t>$153,168</a:t>
                      </a:r>
                    </a:p>
                  </a:txBody>
                  <a:tcPr>
                    <a:solidFill>
                      <a:srgbClr val="FFFFFF"/>
                    </a:solidFill>
                  </a:tcPr>
                </a:tc>
                <a:tc>
                  <a:txBody>
                    <a:bodyPr/>
                    <a:lstStyle/>
                    <a:p>
                      <a:pPr algn="r">
                        <a:defRPr>
                          <a:latin typeface="Roboto"/>
                        </a:defRPr>
                      </a:pPr>
                      <a:r>
                        <a:rPr sz="1050">
                          <a:solidFill>
                            <a:srgbClr val="25342A"/>
                          </a:solidFill>
                          <a:latin typeface="Roboto"/>
                        </a:rPr>
                        <a:t>$12,100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$173,092</a:t>
                      </a:r>
                    </a:p>
                  </a:txBody>
                  <a:tcPr>
                    <a:solidFill>
                      <a:srgbClr val="FFFFFF"/>
                    </a:solidFill>
                  </a:tcPr>
                </a:tc>
                <a:tc>
                  <a:txBody>
                    <a:bodyPr/>
                    <a:lstStyle/>
                    <a:p>
                      <a:pPr algn="r">
                        <a:defRPr>
                          <a:latin typeface="Roboto"/>
                        </a:defRPr>
                      </a:pPr>
                      <a:r>
                        <a:rPr sz="1050">
                          <a:solidFill>
                            <a:srgbClr val="25342A"/>
                          </a:solidFill>
                          <a:latin typeface="Roboto"/>
                        </a:rPr>
                        <a:t>$154,733</a:t>
                      </a:r>
                    </a:p>
                  </a:txBody>
                  <a:tcPr>
                    <a:solidFill>
                      <a:srgbClr val="FFFFFF"/>
                    </a:solidFill>
                  </a:tcPr>
                </a:tc>
              </a:tr>
              <a:tr h="310896">
                <a:tc>
                  <a:txBody>
                    <a:bodyPr/>
                    <a:lstStyle/>
                    <a:p>
                      <a:pPr algn="l">
                        <a:defRPr>
                          <a:latin typeface="Roboto"/>
                        </a:defRPr>
                      </a:pPr>
                      <a:r>
                        <a:rPr sz="1050">
                          <a:solidFill>
                            <a:srgbClr val="25342A"/>
                          </a:solidFill>
                          <a:latin typeface="Roboto"/>
                        </a:rPr>
                        <a:t>3 Nov</a:t>
                      </a:r>
                    </a:p>
                  </a:txBody>
                  <a:tcPr>
                    <a:solidFill>
                      <a:srgbClr val="F7FAF7"/>
                    </a:solidFill>
                  </a:tcPr>
                </a:tc>
                <a:tc>
                  <a:txBody>
                    <a:bodyPr/>
                    <a:lstStyle/>
                    <a:p>
                      <a:pPr algn="r">
                        <a:defRPr>
                          <a:latin typeface="Roboto"/>
                        </a:defRPr>
                      </a:pPr>
                      <a:r>
                        <a:rPr sz="1050">
                          <a:solidFill>
                            <a:srgbClr val="25342A"/>
                          </a:solidFill>
                          <a:latin typeface="Roboto"/>
                        </a:rPr>
                        <a:t>$173,092</a:t>
                      </a:r>
                    </a:p>
                  </a:txBody>
                  <a:tcPr>
                    <a:solidFill>
                      <a:srgbClr val="F7FAF7"/>
                    </a:solidFill>
                  </a:tcPr>
                </a:tc>
                <a:tc>
                  <a:txBody>
                    <a:bodyPr/>
                    <a:lstStyle/>
                    <a:p>
                      <a:pPr algn="r">
                        <a:defRPr>
                          <a:latin typeface="Roboto"/>
                        </a:defRPr>
                      </a:pPr>
                      <a:r>
                        <a:rPr sz="1050">
                          <a:solidFill>
                            <a:srgbClr val="25342A"/>
                          </a:solidFill>
                          <a:latin typeface="Roboto"/>
                        </a:rPr>
                        <a:t>$109,285</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$100,668</a:t>
                      </a:r>
                    </a:p>
                  </a:txBody>
                  <a:tcPr>
                    <a:solidFill>
                      <a:srgbClr val="F7FAF7"/>
                    </a:solidFill>
                  </a:tcPr>
                </a:tc>
                <a:tc>
                  <a:txBody>
                    <a:bodyPr/>
                    <a:lstStyle/>
                    <a:p>
                      <a:pPr algn="r">
                        <a:defRPr>
                          <a:latin typeface="Roboto"/>
                        </a:defRPr>
                      </a:pPr>
                      <a:r>
                        <a:rPr sz="1050">
                          <a:solidFill>
                            <a:srgbClr val="25342A"/>
                          </a:solidFill>
                          <a:latin typeface="Roboto"/>
                        </a:rPr>
                        <a:t>$67,057</a:t>
                      </a:r>
                    </a:p>
                  </a:txBody>
                  <a:tcPr>
                    <a:solidFill>
                      <a:srgbClr val="F7FAF7"/>
                    </a:solidFill>
                  </a:tcPr>
                </a:tc>
              </a:tr>
              <a:tr h="310896">
                <a:tc>
                  <a:txBody>
                    <a:bodyPr/>
                    <a:lstStyle/>
                    <a:p>
                      <a:pPr algn="l">
                        <a:defRPr>
                          <a:latin typeface="Roboto"/>
                        </a:defRPr>
                      </a:pPr>
                      <a:r>
                        <a:rPr sz="1050">
                          <a:solidFill>
                            <a:srgbClr val="25342A"/>
                          </a:solidFill>
                          <a:latin typeface="Roboto"/>
                        </a:rPr>
                        <a:t>10 Nov</a:t>
                      </a:r>
                    </a:p>
                  </a:txBody>
                  <a:tcPr>
                    <a:solidFill>
                      <a:srgbClr val="FFFFFF"/>
                    </a:solidFill>
                  </a:tcPr>
                </a:tc>
                <a:tc>
                  <a:txBody>
                    <a:bodyPr/>
                    <a:lstStyle/>
                    <a:p>
                      <a:pPr algn="r">
                        <a:defRPr>
                          <a:latin typeface="Roboto"/>
                        </a:defRPr>
                      </a:pPr>
                      <a:r>
                        <a:rPr sz="1050">
                          <a:solidFill>
                            <a:srgbClr val="25342A"/>
                          </a:solidFill>
                          <a:latin typeface="Roboto"/>
                        </a:rPr>
                        <a:t>$100,668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$28,746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$129,414</a:t>
                      </a:r>
                    </a:p>
                  </a:txBody>
                  <a:tcPr>
                    <a:solidFill>
                      <a:srgbClr val="FFFFFF"/>
                    </a:solidFill>
                  </a:tcPr>
                </a:tc>
                <a:tc>
                  <a:txBody>
                    <a:bodyPr/>
                    <a:lstStyle/>
                    <a:p>
                      <a:pPr algn="r">
                        <a:defRPr>
                          <a:latin typeface="Roboto"/>
                        </a:defRPr>
                      </a:pPr>
                      <a:r>
                        <a:rPr sz="1050">
                          <a:solidFill>
                            <a:srgbClr val="25342A"/>
                          </a:solidFill>
                          <a:latin typeface="Roboto"/>
                        </a:rPr>
                        <a:t>$102,233</a:t>
                      </a:r>
                    </a:p>
                  </a:txBody>
                  <a:tcPr>
                    <a:solidFill>
                      <a:srgbClr val="FFFFFF"/>
                    </a:solidFill>
                  </a:tcPr>
                </a:tc>
              </a:tr>
              <a:tr h="310896">
                <a:tc>
                  <a:txBody>
                    <a:bodyPr/>
                    <a:lstStyle/>
                    <a:p>
                      <a:pPr algn="l">
                        <a:defRPr>
                          <a:latin typeface="Roboto"/>
                        </a:defRPr>
                      </a:pPr>
                      <a:r>
                        <a:rPr sz="1050">
                          <a:solidFill>
                            <a:srgbClr val="25342A"/>
                          </a:solidFill>
                          <a:latin typeface="Roboto"/>
                        </a:rPr>
                        <a:t>17 Nov</a:t>
                      </a:r>
                    </a:p>
                  </a:txBody>
                  <a:tcPr>
                    <a:solidFill>
                      <a:srgbClr val="F7FAF7"/>
                    </a:solidFill>
                  </a:tcPr>
                </a:tc>
                <a:tc>
                  <a:txBody>
                    <a:bodyPr/>
                    <a:lstStyle/>
                    <a:p>
                      <a:pPr algn="r">
                        <a:defRPr>
                          <a:latin typeface="Roboto"/>
                        </a:defRPr>
                      </a:pPr>
                      <a:r>
                        <a:rPr sz="1050">
                          <a:solidFill>
                            <a:srgbClr val="25342A"/>
                          </a:solidFill>
                          <a:latin typeface="Roboto"/>
                        </a:rPr>
                        <a:t>$129,414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$74,908</a:t>
                      </a:r>
                    </a:p>
                  </a:txBody>
                  <a:tcPr>
                    <a:solidFill>
                      <a:srgbClr val="F7FAF7"/>
                    </a:solidFill>
                  </a:tcPr>
                </a:tc>
                <a:tc>
                  <a:txBody>
                    <a:bodyPr/>
                    <a:lstStyle/>
                    <a:p>
                      <a:pPr algn="r">
                        <a:defRPr>
                          <a:latin typeface="Roboto"/>
                        </a:defRPr>
                      </a:pPr>
                      <a:r>
                        <a:rPr sz="1050">
                          <a:solidFill>
                            <a:srgbClr val="25342A"/>
                          </a:solidFill>
                          <a:latin typeface="Roboto"/>
                        </a:rPr>
                        <a:t>$73,344</a:t>
                      </a:r>
                    </a:p>
                  </a:txBody>
                  <a:tcPr>
                    <a:solidFill>
                      <a:srgbClr val="F7FAF7"/>
                    </a:solidFill>
                  </a:tcPr>
                </a:tc>
              </a:tr>
              <a:tr h="310896">
                <a:tc>
                  <a:txBody>
                    <a:bodyPr/>
                    <a:lstStyle/>
                    <a:p>
                      <a:pPr algn="l">
                        <a:defRPr>
                          <a:latin typeface="Roboto"/>
                        </a:defRPr>
                      </a:pPr>
                      <a:r>
                        <a:rPr sz="1050">
                          <a:solidFill>
                            <a:srgbClr val="25342A"/>
                          </a:solidFill>
                          <a:latin typeface="Roboto"/>
                        </a:rPr>
                        <a:t>24 Nov</a:t>
                      </a:r>
                    </a:p>
                  </a:txBody>
                  <a:tcPr>
                    <a:solidFill>
                      <a:srgbClr val="FFFFFF"/>
                    </a:solidFill>
                  </a:tcPr>
                </a:tc>
                <a:tc>
                  <a:txBody>
                    <a:bodyPr/>
                    <a:lstStyle/>
                    <a:p>
                      <a:pPr algn="r">
                        <a:defRPr>
                          <a:latin typeface="Roboto"/>
                        </a:defRPr>
                      </a:pPr>
                      <a:r>
                        <a:rPr sz="1050">
                          <a:solidFill>
                            <a:srgbClr val="25342A"/>
                          </a:solidFill>
                          <a:latin typeface="Roboto"/>
                        </a:rPr>
                        <a:t>$74,908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$117,602</a:t>
                      </a:r>
                    </a:p>
                  </a:txBody>
                  <a:tcPr>
                    <a:solidFill>
                      <a:srgbClr val="FFFFFF"/>
                    </a:solidFill>
                  </a:tcPr>
                </a:tc>
                <a:tc>
                  <a:txBody>
                    <a:bodyPr/>
                    <a:lstStyle/>
                    <a:p>
                      <a:pPr algn="r">
                        <a:defRPr>
                          <a:latin typeface="Roboto"/>
                        </a:defRPr>
                      </a:pPr>
                      <a:r>
                        <a:rPr sz="1050">
                          <a:solidFill>
                            <a:srgbClr val="25342A"/>
                          </a:solidFill>
                          <a:latin typeface="Roboto"/>
                        </a:rPr>
                        <a:t>$83,447</a:t>
                      </a:r>
                    </a:p>
                  </a:txBody>
                  <a:tcPr>
                    <a:solidFill>
                      <a:srgbClr val="FFFFFF"/>
                    </a:solidFill>
                  </a:tcPr>
                </a:tc>
              </a:tr>
              <a:tr h="310896">
                <a:tc>
                  <a:txBody>
                    <a:bodyPr/>
                    <a:lstStyle/>
                    <a:p>
                      <a:pPr algn="l">
                        <a:defRPr>
                          <a:latin typeface="Roboto"/>
                        </a:defRPr>
                      </a:pPr>
                      <a:r>
                        <a:rPr sz="1050">
                          <a:solidFill>
                            <a:srgbClr val="25342A"/>
                          </a:solidFill>
                          <a:latin typeface="Roboto"/>
                        </a:rPr>
                        <a:t>1 Dec</a:t>
                      </a:r>
                    </a:p>
                  </a:txBody>
                  <a:tcPr>
                    <a:solidFill>
                      <a:srgbClr val="F7FAF7"/>
                    </a:solidFill>
                  </a:tcPr>
                </a:tc>
                <a:tc>
                  <a:txBody>
                    <a:bodyPr/>
                    <a:lstStyle/>
                    <a:p>
                      <a:pPr algn="r">
                        <a:defRPr>
                          <a:latin typeface="Roboto"/>
                        </a:defRPr>
                      </a:pPr>
                      <a:r>
                        <a:rPr sz="1050">
                          <a:solidFill>
                            <a:srgbClr val="25342A"/>
                          </a:solidFill>
                          <a:latin typeface="Roboto"/>
                        </a:rPr>
                        <a:t>$117,602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$92,578</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$106,901</a:t>
                      </a:r>
                    </a:p>
                  </a:txBody>
                  <a:tcPr>
                    <a:solidFill>
                      <a:srgbClr val="F7FAF7"/>
                    </a:solidFill>
                  </a:tcPr>
                </a:tc>
                <a:tc>
                  <a:txBody>
                    <a:bodyPr/>
                    <a:lstStyle/>
                    <a:p>
                      <a:pPr algn="r">
                        <a:defRPr>
                          <a:latin typeface="Roboto"/>
                        </a:defRPr>
                      </a:pPr>
                      <a:r>
                        <a:rPr sz="1050">
                          <a:solidFill>
                            <a:srgbClr val="25342A"/>
                          </a:solidFill>
                          <a:latin typeface="Roboto"/>
                        </a:rPr>
                        <a:t>$55,452</a:t>
                      </a:r>
                    </a:p>
                  </a:txBody>
                  <a:tcPr>
                    <a:solidFill>
                      <a:srgbClr val="F7FAF7"/>
                    </a:solidFill>
                  </a:tcPr>
                </a:tc>
              </a:tr>
              <a:tr h="310896">
                <a:tc>
                  <a:txBody>
                    <a:bodyPr/>
                    <a:lstStyle/>
                    <a:p>
                      <a:pPr algn="l">
                        <a:defRPr>
                          <a:latin typeface="Roboto"/>
                        </a:defRPr>
                      </a:pPr>
                      <a:r>
                        <a:rPr sz="1050">
                          <a:solidFill>
                            <a:srgbClr val="25342A"/>
                          </a:solidFill>
                          <a:latin typeface="Roboto"/>
                        </a:rPr>
                        <a:t>8 Dec</a:t>
                      </a:r>
                    </a:p>
                  </a:txBody>
                  <a:tcPr>
                    <a:solidFill>
                      <a:srgbClr val="FFFFFF"/>
                    </a:solidFill>
                  </a:tcPr>
                </a:tc>
                <a:tc>
                  <a:txBody>
                    <a:bodyPr/>
                    <a:lstStyle/>
                    <a:p>
                      <a:pPr algn="r">
                        <a:defRPr>
                          <a:latin typeface="Roboto"/>
                        </a:defRPr>
                      </a:pPr>
                      <a:r>
                        <a:rPr sz="1050">
                          <a:solidFill>
                            <a:srgbClr val="25342A"/>
                          </a:solidFill>
                          <a:latin typeface="Roboto"/>
                        </a:rPr>
                        <a:t>$106,901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$149,595</a:t>
                      </a:r>
                    </a:p>
                  </a:txBody>
                  <a:tcPr>
                    <a:solidFill>
                      <a:srgbClr val="FFFFFF"/>
                    </a:solidFill>
                  </a:tcPr>
                </a:tc>
                <a:tc>
                  <a:txBody>
                    <a:bodyPr/>
                    <a:lstStyle/>
                    <a:p>
                      <a:pPr algn="r">
                        <a:defRPr>
                          <a:latin typeface="Roboto"/>
                        </a:defRPr>
                      </a:pPr>
                      <a:r>
                        <a:rPr sz="1050">
                          <a:solidFill>
                            <a:srgbClr val="25342A"/>
                          </a:solidFill>
                          <a:latin typeface="Roboto"/>
                        </a:rPr>
                        <a:t>$115,440</a:t>
                      </a:r>
                    </a:p>
                  </a:txBody>
                  <a:tcPr>
                    <a:solidFill>
                      <a:srgbClr val="FFFFFF"/>
                    </a:solidFill>
                  </a:tcPr>
                </a:tc>
              </a:tr>
              <a:tr h="310896">
                <a:tc>
                  <a:txBody>
                    <a:bodyPr/>
                    <a:lstStyle/>
                    <a:p>
                      <a:pPr algn="l">
                        <a:defRPr>
                          <a:latin typeface="Roboto"/>
                        </a:defRPr>
                      </a:pPr>
                      <a:r>
                        <a:rPr sz="1050">
                          <a:solidFill>
                            <a:srgbClr val="25342A"/>
                          </a:solidFill>
                          <a:latin typeface="Roboto"/>
                        </a:rPr>
                        <a:t>15 Dec</a:t>
                      </a:r>
                    </a:p>
                  </a:txBody>
                  <a:tcPr>
                    <a:solidFill>
                      <a:srgbClr val="F7FAF7"/>
                    </a:solidFill>
                  </a:tcPr>
                </a:tc>
                <a:tc>
                  <a:txBody>
                    <a:bodyPr/>
                    <a:lstStyle/>
                    <a:p>
                      <a:pPr algn="r">
                        <a:defRPr>
                          <a:latin typeface="Roboto"/>
                        </a:defRPr>
                      </a:pPr>
                      <a:r>
                        <a:rPr sz="1050">
                          <a:solidFill>
                            <a:srgbClr val="25342A"/>
                          </a:solidFill>
                          <a:latin typeface="Roboto"/>
                        </a:rPr>
                        <a:t>$149,595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r>
              <a:tr h="310896">
                <a:tc>
                  <a:txBody>
                    <a:bodyPr/>
                    <a:lstStyle/>
                    <a:p>
                      <a:pPr algn="l">
                        <a:defRPr>
                          <a:latin typeface="Roboto"/>
                        </a:defRPr>
                      </a:pPr>
                      <a:r>
                        <a:rPr sz="1050">
                          <a:solidFill>
                            <a:srgbClr val="25342A"/>
                          </a:solidFill>
                          <a:latin typeface="Roboto"/>
                        </a:rPr>
                        <a:t>22 Dec</a:t>
                      </a:r>
                    </a:p>
                  </a:txBody>
                  <a:tcPr>
                    <a:solidFill>
                      <a:srgbClr val="FFFFFF"/>
                    </a:solidFill>
                  </a:tcPr>
                </a:tc>
                <a:tc>
                  <a:txBody>
                    <a:bodyPr/>
                    <a:lstStyle/>
                    <a:p>
                      <a:pPr algn="r">
                        <a:defRPr>
                          <a:latin typeface="Roboto"/>
                        </a:defRPr>
                      </a:pPr>
                      <a:r>
                        <a:rPr sz="1050">
                          <a:solidFill>
                            <a:srgbClr val="25342A"/>
                          </a:solidFill>
                          <a:latin typeface="Roboto"/>
                        </a:rPr>
                        <a:t>$95,089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$137,783</a:t>
                      </a:r>
                    </a:p>
                  </a:txBody>
                  <a:tcPr>
                    <a:solidFill>
                      <a:srgbClr val="FFFFFF"/>
                    </a:solidFill>
                  </a:tcPr>
                </a:tc>
                <a:tc>
                  <a:txBody>
                    <a:bodyPr/>
                    <a:lstStyle/>
                    <a:p>
                      <a:pPr algn="r">
                        <a:defRPr>
                          <a:latin typeface="Roboto"/>
                        </a:defRPr>
                      </a:pPr>
                      <a:r>
                        <a:rPr sz="1050">
                          <a:solidFill>
                            <a:srgbClr val="25342A"/>
                          </a:solidFill>
                          <a:latin typeface="Roboto"/>
                        </a:rPr>
                        <a:t>$103,628</a:t>
                      </a:r>
                    </a:p>
                  </a:txBody>
                  <a:tcPr>
                    <a:solidFill>
                      <a:srgbClr val="FFFFFF"/>
                    </a:solidFill>
                  </a:tcPr>
                </a:tc>
              </a:tr>
              <a:tr h="310896">
                <a:tc>
                  <a:txBody>
                    <a:bodyPr/>
                    <a:lstStyle/>
                    <a:p>
                      <a:pPr algn="l">
                        <a:defRPr>
                          <a:latin typeface="Roboto"/>
                        </a:defRPr>
                      </a:pPr>
                      <a:r>
                        <a:rPr sz="1050">
                          <a:solidFill>
                            <a:srgbClr val="25342A"/>
                          </a:solidFill>
                          <a:latin typeface="Roboto"/>
                        </a:rPr>
                        <a:t>29 Dec</a:t>
                      </a:r>
                    </a:p>
                  </a:txBody>
                  <a:tcPr>
                    <a:solidFill>
                      <a:srgbClr val="F7FAF7"/>
                    </a:solidFill>
                  </a:tcPr>
                </a:tc>
                <a:tc>
                  <a:txBody>
                    <a:bodyPr/>
                    <a:lstStyle/>
                    <a:p>
                      <a:pPr algn="r">
                        <a:defRPr>
                          <a:latin typeface="Roboto"/>
                        </a:defRPr>
                      </a:pPr>
                      <a:r>
                        <a:rPr sz="1050">
                          <a:solidFill>
                            <a:srgbClr val="25342A"/>
                          </a:solidFill>
                          <a:latin typeface="Roboto"/>
                        </a:rPr>
                        <a:t>$137,783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$138,865</a:t>
                      </a:r>
                    </a:p>
                  </a:txBody>
                  <a:tcPr>
                    <a:solidFill>
                      <a:srgbClr val="F7FAF7"/>
                    </a:solidFill>
                  </a:tcPr>
                </a:tc>
                <a:tc>
                  <a:txBody>
                    <a:bodyPr/>
                    <a:lstStyle/>
                    <a:p>
                      <a:pPr algn="r">
                        <a:defRPr>
                          <a:latin typeface="Roboto"/>
                        </a:defRPr>
                      </a:pPr>
                      <a:r>
                        <a:rPr sz="1050">
                          <a:solidFill>
                            <a:srgbClr val="25342A"/>
                          </a:solidFill>
                          <a:latin typeface="Roboto"/>
                        </a:rPr>
                        <a:t>$118,249</a:t>
                      </a:r>
                    </a:p>
                  </a:txBody>
                  <a:tcPr>
                    <a:solidFill>
                      <a:srgbClr val="F7FAF7"/>
                    </a:solidFill>
                  </a:tcPr>
                </a:tc>
              </a:tr>
              <a:tr h="310896">
                <a:tc>
                  <a:txBody>
                    <a:bodyPr/>
                    <a:lstStyle/>
                    <a:p>
                      <a:pPr algn="l">
                        <a:defRPr>
                          <a:latin typeface="Roboto"/>
                        </a:defRPr>
                      </a:pPr>
                      <a:r>
                        <a:rPr sz="1050">
                          <a:solidFill>
                            <a:srgbClr val="25342A"/>
                          </a:solidFill>
                          <a:latin typeface="Roboto"/>
                        </a:rPr>
                        <a:t>5 Jan</a:t>
                      </a:r>
                    </a:p>
                  </a:txBody>
                  <a:tcPr>
                    <a:solidFill>
                      <a:srgbClr val="FFFFFF"/>
                    </a:solidFill>
                  </a:tcPr>
                </a:tc>
                <a:tc>
                  <a:txBody>
                    <a:bodyPr/>
                    <a:lstStyle/>
                    <a:p>
                      <a:pPr algn="r">
                        <a:defRPr>
                          <a:latin typeface="Roboto"/>
                        </a:defRPr>
                      </a:pPr>
                      <a:r>
                        <a:rPr sz="1050">
                          <a:solidFill>
                            <a:srgbClr val="25342A"/>
                          </a:solidFill>
                          <a:latin typeface="Roboto"/>
                        </a:rPr>
                        <a:t>$138,865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$89,449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$166,646</a:t>
                      </a:r>
                    </a:p>
                  </a:txBody>
                  <a:tcPr>
                    <a:solidFill>
                      <a:srgbClr val="FFFFFF"/>
                    </a:solidFill>
                  </a:tcPr>
                </a:tc>
                <a:tc>
                  <a:txBody>
                    <a:bodyPr/>
                    <a:lstStyle/>
                    <a:p>
                      <a:pPr algn="r">
                        <a:defRPr>
                          <a:latin typeface="Roboto"/>
                        </a:defRPr>
                      </a:pPr>
                      <a:r>
                        <a:rPr sz="1050">
                          <a:solidFill>
                            <a:srgbClr val="25342A"/>
                          </a:solidFill>
                          <a:latin typeface="Roboto"/>
                        </a:rPr>
                        <a:t>$144,159</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Wacol warehouse switchboard</a:t>
                      </a:r>
                    </a:p>
                  </a:txBody>
                  <a:tcPr>
                    <a:solidFill>
                      <a:srgbClr val="FFFFFF"/>
                    </a:solidFill>
                  </a:tcPr>
                </a:tc>
                <a:tc>
                  <a:txBody>
                    <a:bodyPr/>
                    <a:lstStyle/>
                    <a:p>
                      <a:pPr algn="l">
                        <a:defRPr>
                          <a:latin typeface="Roboto"/>
                        </a:defRPr>
                      </a:pPr>
                      <a:r>
                        <a:rPr sz="1050">
                          <a:solidFill>
                            <a:srgbClr val="25342A"/>
                          </a:solidFill>
                          <a:latin typeface="Roboto"/>
                        </a:rPr>
                        <a:t>4 Sep</a:t>
                      </a:r>
                    </a:p>
                  </a:txBody>
                  <a:tcPr>
                    <a:solidFill>
                      <a:srgbClr val="FFFFFF"/>
                    </a:solidFill>
                  </a:tcPr>
                </a:tc>
                <a:tc>
                  <a:txBody>
                    <a:bodyPr/>
                    <a:lstStyle/>
                    <a:p>
                      <a:pPr algn="r">
                        <a:defRPr>
                          <a:latin typeface="Roboto"/>
                        </a:defRPr>
                      </a:pPr>
                      <a:r>
                        <a:rPr sz="1050">
                          <a:solidFill>
                            <a:srgbClr val="25342A"/>
                          </a:solidFill>
                          <a:latin typeface="Roboto"/>
                        </a:rPr>
                        <a:t>$57,640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32</a:t>
                      </a:r>
                    </a:p>
                  </a:txBody>
                  <a:tcPr>
                    <a:solidFill>
                      <a:srgbClr val="FFFFFF"/>
                    </a:solidFill>
                  </a:tcPr>
                </a:tc>
              </a:tr>
              <a:tr h="310896">
                <a:tc>
                  <a:txBody>
                    <a:bodyPr/>
                    <a:lstStyle/>
                    <a:p>
                      <a:pPr algn="l">
                        <a:defRPr>
                          <a:latin typeface="Roboto"/>
                        </a:defRPr>
                      </a:pPr>
                      <a:r>
                        <a:rPr sz="1050">
                          <a:solidFill>
                            <a:srgbClr val="25342A"/>
                          </a:solidFill>
                          <a:latin typeface="Roboto"/>
                        </a:rPr>
                        <a:t>Milton office tower</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$5,170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Rocklea factory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$4,785</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Bulimba school</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$3,465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West End brewery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$3,190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Kangaroo Point townhouses</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$2,970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Newstead gym</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$1,980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Call-out 15, September</a:t>
                      </a:r>
                    </a:p>
                  </a:txBody>
                  <a:tcPr>
                    <a:solidFill>
                      <a:srgbClr val="F7FAF7"/>
                    </a:solidFill>
                  </a:tcPr>
                </a:tc>
                <a:tc>
                  <a:txBody>
                    <a:bodyPr/>
                    <a:lstStyle/>
                    <a:p>
                      <a:pPr algn="l">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$932</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21</a:t>
                      </a:r>
                    </a:p>
                  </a:txBody>
                  <a:tcPr>
                    <a:solidFill>
                      <a:srgbClr val="F7FAF7"/>
                    </a:solidFill>
                  </a:tcPr>
                </a:tc>
              </a:tr>
              <a:tr h="310896">
                <a:tc>
                  <a:txBody>
                    <a:bodyPr/>
                    <a:lstStyle/>
                    <a:p>
                      <a:pPr algn="l">
                        <a:defRPr>
                          <a:latin typeface="Roboto"/>
                        </a:defRPr>
                      </a:pPr>
                      <a:r>
                        <a:rPr sz="1050">
                          <a:solidFill>
                            <a:srgbClr val="25342A"/>
                          </a:solidFill>
                          <a:latin typeface="Roboto"/>
                        </a:rPr>
                        <a:t>Call-out 9, September</a:t>
                      </a:r>
                    </a:p>
                  </a:txBody>
                  <a:tcPr>
                    <a:solidFill>
                      <a:srgbClr val="FFFFFF"/>
                    </a:solidFill>
                  </a:tcPr>
                </a:tc>
                <a:tc>
                  <a:txBody>
                    <a:bodyPr/>
                    <a:lstStyle/>
                    <a:p>
                      <a:pPr algn="l">
                        <a:defRPr>
                          <a:latin typeface="Roboto"/>
                        </a:defRPr>
                      </a:pPr>
                      <a:r>
                        <a:rPr sz="1050">
                          <a:solidFill>
                            <a:srgbClr val="25342A"/>
                          </a:solidFill>
                          <a:latin typeface="Roboto"/>
                        </a:rPr>
                        <a:t>22 Sep</a:t>
                      </a:r>
                    </a:p>
                  </a:txBody>
                  <a:tcPr>
                    <a:solidFill>
                      <a:srgbClr val="FFFFFF"/>
                    </a:solidFill>
                  </a:tcPr>
                </a:tc>
                <a:tc>
                  <a:txBody>
                    <a:bodyPr/>
                    <a:lstStyle/>
                    <a:p>
                      <a:pPr algn="r">
                        <a:defRPr>
                          <a:latin typeface="Roboto"/>
                        </a:defRPr>
                      </a:pPr>
                      <a:r>
                        <a:rPr sz="1050">
                          <a:solidFill>
                            <a:srgbClr val="25342A"/>
                          </a:solidFill>
                          <a:latin typeface="Roboto"/>
                        </a:rPr>
                        <a:t>$917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r h="310896">
                <a:tc>
                  <a:txBody>
                    <a:bodyPr/>
                    <a:lstStyle/>
                    <a:p>
                      <a:pPr algn="l">
                        <a:defRPr>
                          <a:latin typeface="Roboto"/>
                        </a:defRPr>
                      </a:pPr>
                      <a:r>
                        <a:rPr sz="1050">
                          <a:solidFill>
                            <a:srgbClr val="25342A"/>
                          </a:solidFill>
                          <a:latin typeface="Roboto"/>
                        </a:rPr>
                        <a:t>Call-out 32, September</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r h="310896">
                <a:tc>
                  <a:txBody>
                    <a:bodyPr/>
                    <a:lstStyle/>
                    <a:p>
                      <a:pPr algn="l">
                        <a:defRPr>
                          <a:latin typeface="Roboto"/>
                        </a:defRPr>
                      </a:pPr>
                      <a:r>
                        <a:rPr sz="1050">
                          <a:solidFill>
                            <a:srgbClr val="25342A"/>
                          </a:solidFill>
                          <a:latin typeface="Roboto"/>
                        </a:rPr>
                        <a:t>Call-out 28, September</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11</a:t>
                      </a:r>
                    </a:p>
                  </a:txBody>
                  <a:tcPr>
                    <a:solidFill>
                      <a:srgbClr val="FFFFFF"/>
                    </a:solidFill>
                  </a:tcPr>
                </a:tc>
              </a:tr>
              <a:tr h="310896">
                <a:tc>
                  <a:txBody>
                    <a:bodyPr/>
                    <a:lstStyle/>
                    <a:p>
                      <a:pPr algn="l">
                        <a:defRPr>
                          <a:latin typeface="Roboto"/>
                        </a:defRPr>
                      </a:pPr>
                      <a:r>
                        <a:rPr sz="1050">
                          <a:solidFill>
                            <a:srgbClr val="25342A"/>
                          </a:solidFill>
                          <a:latin typeface="Roboto"/>
                        </a:rPr>
                        <a:t>Call-out 49, September</a:t>
                      </a:r>
                    </a:p>
                  </a:txBody>
                  <a:tcPr>
                    <a:solidFill>
                      <a:srgbClr val="F7FAF7"/>
                    </a:solidFill>
                  </a:tcPr>
                </a:tc>
                <a:tc>
                  <a:txBody>
                    <a:bodyPr/>
                    <a:lstStyle/>
                    <a:p>
                      <a:pPr algn="l">
                        <a:defRPr>
                          <a:latin typeface="Roboto"/>
                        </a:defRPr>
                      </a:pPr>
                      <a:r>
                        <a:rPr sz="1050">
                          <a:solidFill>
                            <a:srgbClr val="25342A"/>
                          </a:solidFill>
                          <a:latin typeface="Roboto"/>
                        </a:rPr>
                        <a:t>27 Sep</a:t>
                      </a:r>
                    </a:p>
                  </a:txBody>
                  <a:tcPr>
                    <a:solidFill>
                      <a:srgbClr val="F7FAF7"/>
                    </a:solidFill>
                  </a:tcPr>
                </a:tc>
                <a:tc>
                  <a:txBody>
                    <a:bodyPr/>
                    <a:lstStyle/>
                    <a:p>
                      <a:pPr algn="r">
                        <a:defRPr>
                          <a:latin typeface="Roboto"/>
                        </a:defRPr>
                      </a:pPr>
                      <a:r>
                        <a:rPr sz="1050">
                          <a:solidFill>
                            <a:srgbClr val="25342A"/>
                          </a:solidFill>
                          <a:latin typeface="Roboto"/>
                        </a:rPr>
                        <a:t>$645</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63, September</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21</a:t>
                      </a:r>
                    </a:p>
                  </a:txBody>
                  <a:tcPr>
                    <a:solidFill>
                      <a:srgbClr val="FFFFFF"/>
                    </a:solidFill>
                  </a:tcPr>
                </a:tc>
              </a:tr>
              <a:tr h="310896">
                <a:tc>
                  <a:txBody>
                    <a:bodyPr/>
                    <a:lstStyle/>
                    <a:p>
                      <a:pPr algn="l">
                        <a:defRPr>
                          <a:latin typeface="Roboto"/>
                        </a:defRPr>
                      </a:pPr>
                      <a:r>
                        <a:rPr sz="1050">
                          <a:solidFill>
                            <a:srgbClr val="25342A"/>
                          </a:solidFill>
                          <a:latin typeface="Roboto"/>
                        </a:rPr>
                        <a:t>Call-out 50, September</a:t>
                      </a:r>
                    </a:p>
                  </a:txBody>
                  <a:tcPr>
                    <a:solidFill>
                      <a:srgbClr val="F7FAF7"/>
                    </a:solidFill>
                  </a:tcPr>
                </a:tc>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$598</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1865376"/>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22, September</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19</a:t>
                      </a:r>
                    </a:p>
                  </a:txBody>
                  <a:tcPr>
                    <a:solidFill>
                      <a:srgbClr val="FFFFFF"/>
                    </a:solidFill>
                  </a:tcPr>
                </a:tc>
              </a:tr>
              <a:tr h="310896">
                <a:tc>
                  <a:txBody>
                    <a:bodyPr/>
                    <a:lstStyle/>
                    <a:p>
                      <a:pPr algn="l">
                        <a:defRPr>
                          <a:latin typeface="Roboto"/>
                        </a:defRPr>
                      </a:pPr>
                      <a:r>
                        <a:rPr sz="1050">
                          <a:solidFill>
                            <a:srgbClr val="25342A"/>
                          </a:solidFill>
                          <a:latin typeface="Roboto"/>
                        </a:rPr>
                        <a:t>Call-out 38, September</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13</a:t>
                      </a:r>
                    </a:p>
                  </a:txBody>
                  <a:tcPr>
                    <a:solidFill>
                      <a:srgbClr val="F7FAF7"/>
                    </a:solidFill>
                  </a:tcPr>
                </a:tc>
              </a:tr>
              <a:tr h="310896">
                <a:tc>
                  <a:txBody>
                    <a:bodyPr/>
                    <a:lstStyle/>
                    <a:p>
                      <a:pPr algn="l">
                        <a:defRPr>
                          <a:latin typeface="Roboto"/>
                        </a:defRPr>
                      </a:pPr>
                      <a:r>
                        <a:rPr sz="1050">
                          <a:solidFill>
                            <a:srgbClr val="25342A"/>
                          </a:solidFill>
                          <a:latin typeface="Roboto"/>
                        </a:rPr>
                        <a:t>Call-out 26, September</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10</a:t>
                      </a:r>
                    </a:p>
                  </a:txBody>
                  <a:tcPr>
                    <a:solidFill>
                      <a:srgbClr val="FFFFFF"/>
                    </a:solidFill>
                  </a:tcPr>
                </a:tc>
              </a:tr>
              <a:tr h="310896">
                <a:tc>
                  <a:txBody>
                    <a:bodyPr/>
                    <a:lstStyle/>
                    <a:p>
                      <a:pPr algn="l">
                        <a:defRPr>
                          <a:latin typeface="Roboto"/>
                        </a:defRPr>
                      </a:pPr>
                      <a:r>
                        <a:rPr sz="1050">
                          <a:solidFill>
                            <a:srgbClr val="25342A"/>
                          </a:solidFill>
                          <a:latin typeface="Roboto"/>
                        </a:rPr>
                        <a:t>Call-out 31, September</a:t>
                      </a:r>
                    </a:p>
                  </a:txBody>
                  <a:tcPr>
                    <a:solidFill>
                      <a:srgbClr val="F7FAF7"/>
                    </a:solidFill>
                  </a:tcPr>
                </a:tc>
                <a:tc>
                  <a:txBody>
                    <a:bodyPr/>
                    <a:lstStyle/>
                    <a:p>
                      <a:pPr algn="l">
                        <a:defRPr>
                          <a:latin typeface="Roboto"/>
                        </a:defRPr>
                      </a:pPr>
                      <a:r>
                        <a:rPr sz="1050">
                          <a:solidFill>
                            <a:srgbClr val="25342A"/>
                          </a:solidFill>
                          <a:latin typeface="Roboto"/>
                        </a:rPr>
                        <a:t>13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10896">
                <a:tc>
                  <a:txBody>
                    <a:bodyPr/>
                    <a:lstStyle/>
                    <a:p>
                      <a:pPr algn="l">
                        <a:defRPr>
                          <a:latin typeface="Roboto"/>
                        </a:defRPr>
                      </a:pPr>
                      <a:r>
                        <a:rPr sz="1050">
                          <a:solidFill>
                            <a:srgbClr val="25342A"/>
                          </a:solidFill>
                          <a:latin typeface="Roboto"/>
                        </a:rPr>
                        <a:t>Call-out 43, September</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20</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7 of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