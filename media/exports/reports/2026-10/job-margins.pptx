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10.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Sheet9.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Sheet10.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7D8790"/>
              </a:solidFill>
            </c:spPr>
          </c:dPt>
          <c:dPt>
            <c:idx val="1"/>
            <c:spPr>
              <a:solidFill>
                <a:srgbClr val="0E9F6E"/>
              </a:solidFill>
            </c:spPr>
          </c:dPt>
          <c:dPt>
            <c:idx val="2"/>
            <c:spPr>
              <a:solidFill>
                <a:srgbClr val="0E9F6E"/>
              </a:solidFill>
            </c:spPr>
          </c:dPt>
          <c:cat>
            <c:strRef>
              <c:f>Sheet1!$A$2:$A$4</c:f>
              <c:strCache>
                <c:ptCount val="3"/>
                <c:pt idx="0">
                  <c:v>Installations</c:v>
                </c:pt>
                <c:pt idx="1">
                  <c:v>Call-outs and repairs</c:v>
                </c:pt>
                <c:pt idx="2">
                  <c:v>Maintenance contracts</c:v>
                </c:pt>
              </c:strCache>
            </c:strRef>
          </c:cat>
          <c:val>
            <c:numRef>
              <c:f>Sheet1!$B$2:$B$4</c:f>
              <c:numCache>
                <c:formatCode>0.0"%";[Red](0.0"%")</c:formatCode>
                <c:ptCount val="3"/>
                <c:pt idx="0">
                  <c:v>22.0</c:v>
                </c:pt>
                <c:pt idx="1">
                  <c:v>45.0</c:v>
                </c:pt>
                <c:pt idx="2">
                  <c:v>59.5</c:v>
                </c:pt>
              </c:numCache>
            </c:numRef>
          </c:val>
        </c:ser>
        <c:dLbls>
          <c:numFmt formatCode="0.0&quot;%&quot;;[Red](0.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latin typeface="Roboto"/>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7D8790"/>
              </a:solidFill>
            </c:spPr>
          </c:dPt>
          <c:dPt>
            <c:idx val="1"/>
            <c:spPr>
              <a:solidFill>
                <a:srgbClr val="0E9F6E"/>
              </a:solidFill>
            </c:spPr>
          </c:dPt>
          <c:dPt>
            <c:idx val="2"/>
            <c:spPr>
              <a:solidFill>
                <a:srgbClr val="0E9F6E"/>
              </a:solidFill>
            </c:spPr>
          </c:dPt>
          <c:cat>
            <c:strRef>
              <c:f>Sheet1!$A$2:$A$4</c:f>
              <c:strCache>
                <c:ptCount val="3"/>
                <c:pt idx="0">
                  <c:v>Installations</c:v>
                </c:pt>
                <c:pt idx="1">
                  <c:v>Call-outs and repairs</c:v>
                </c:pt>
                <c:pt idx="2">
                  <c:v>Maintenance contracts</c:v>
                </c:pt>
              </c:strCache>
            </c:strRef>
          </c:cat>
          <c:val>
            <c:numRef>
              <c:f>Sheet1!$B$2:$B$4</c:f>
              <c:numCache>
                <c:formatCode>$#,##0;[Red]($#,##0);"-"</c:formatCode>
                <c:ptCount val="3"/>
                <c:pt idx="0">
                  <c:v>7258</c:v>
                </c:pt>
                <c:pt idx="1">
                  <c:v>1519</c:v>
                </c:pt>
                <c:pt idx="2">
                  <c:v>24116</c:v>
                </c:pt>
              </c:numCache>
            </c:numRef>
          </c:val>
        </c:ser>
        <c:dLbls>
          <c:numFmt formatCode="$#,##0;[Red]($#,##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latin typeface="Roboto"/>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0E9F6E"/>
              </a:solidFill>
            </c:spPr>
          </c:dPt>
          <c:dPt>
            <c:idx val="1"/>
            <c:spPr>
              <a:solidFill>
                <a:srgbClr val="0E9F6E"/>
              </a:solidFill>
            </c:spPr>
          </c:dPt>
          <c:dPt>
            <c:idx val="2"/>
            <c:spPr>
              <a:solidFill>
                <a:srgbClr val="0E9F6E"/>
              </a:solidFill>
            </c:spPr>
          </c:dPt>
          <c:dPt>
            <c:idx val="3"/>
            <c:spPr>
              <a:solidFill>
                <a:srgbClr val="0E9F6E"/>
              </a:solidFill>
            </c:spPr>
          </c:dPt>
          <c:dPt>
            <c:idx val="4"/>
            <c:spPr>
              <a:solidFill>
                <a:srgbClr val="0E9F6E"/>
              </a:solidFill>
            </c:spPr>
          </c:dPt>
          <c:dPt>
            <c:idx val="5"/>
            <c:spPr>
              <a:solidFill>
                <a:srgbClr val="0E9F6E"/>
              </a:solidFill>
            </c:spPr>
          </c:dPt>
          <c:dPt>
            <c:idx val="6"/>
            <c:spPr>
              <a:solidFill>
                <a:srgbClr val="0E9F6E"/>
              </a:solidFill>
            </c:spPr>
          </c:dPt>
          <c:dPt>
            <c:idx val="7"/>
            <c:spPr>
              <a:solidFill>
                <a:srgbClr val="0E9F6E"/>
              </a:solidFill>
            </c:spPr>
          </c:dPt>
          <c:dPt>
            <c:idx val="8"/>
            <c:spPr>
              <a:solidFill>
                <a:srgbClr val="0E9F6E"/>
              </a:solidFill>
            </c:spPr>
          </c:dPt>
          <c:dPt>
            <c:idx val="9"/>
            <c:spPr>
              <a:solidFill>
                <a:srgbClr val="0E9F6E"/>
              </a:solidFill>
            </c:spPr>
          </c:dPt>
          <c:dPt>
            <c:idx val="10"/>
            <c:spPr>
              <a:solidFill>
                <a:srgbClr val="0E9F6E"/>
              </a:solidFill>
            </c:spPr>
          </c:dPt>
          <c:dPt>
            <c:idx val="11"/>
            <c:spPr>
              <a:solidFill>
                <a:srgbClr val="0E9F6E"/>
              </a:solidFill>
            </c:spPr>
          </c:dPt>
          <c:dPt>
            <c:idx val="12"/>
            <c:spPr>
              <a:solidFill>
                <a:srgbClr val="0E9F6E"/>
              </a:solidFill>
            </c:spPr>
          </c:dPt>
          <c:dPt>
            <c:idx val="13"/>
            <c:spPr>
              <a:solidFill>
                <a:srgbClr val="0E9F6E"/>
              </a:solidFill>
            </c:spPr>
          </c:dPt>
          <c:cat>
            <c:strRef>
              <c:f>Sheet1!$A$2:$A$15</c:f>
              <c:strCache>
                <c:ptCount val="14"/>
                <c:pt idx="0">
                  <c:v>Kangaroo Point townhouses</c:v>
                </c:pt>
                <c:pt idx="1">
                  <c:v>West End brewery</c:v>
                </c:pt>
                <c:pt idx="2">
                  <c:v>Rocklea factory</c:v>
                </c:pt>
                <c:pt idx="3">
                  <c:v>Milton office tower</c:v>
                </c:pt>
                <c:pt idx="4">
                  <c:v>Bulimba school</c:v>
                </c:pt>
                <c:pt idx="5">
                  <c:v>Wacol logistics depot</c:v>
                </c:pt>
                <c:pt idx="6">
                  <c:v>Chermside retail centre</c:v>
                </c:pt>
                <c:pt idx="7">
                  <c:v>Fortitude Valley hotel</c:v>
                </c:pt>
                <c:pt idx="8">
                  <c:v>Riverside Apartments (strata)</c:v>
                </c:pt>
                <c:pt idx="9">
                  <c:v>Newstead gym</c:v>
                </c:pt>
                <c:pt idx="10">
                  <c:v>Southbank cafe group</c:v>
                </c:pt>
                <c:pt idx="11">
                  <c:v>Ashgrove aged care</c:v>
                </c:pt>
                <c:pt idx="12">
                  <c:v>Wynnum medical centre</c:v>
                </c:pt>
                <c:pt idx="13">
                  <c:v>Carindale vet clinic</c:v>
                </c:pt>
              </c:strCache>
            </c:strRef>
          </c:cat>
          <c:val>
            <c:numRef>
              <c:f>Sheet1!$B$2:$B$15</c:f>
              <c:numCache>
                <c:formatCode>0.0"%";[Red](0.0"%")</c:formatCode>
                <c:ptCount val="14"/>
                <c:pt idx="0">
                  <c:v>58.2</c:v>
                </c:pt>
                <c:pt idx="1">
                  <c:v>58.8</c:v>
                </c:pt>
                <c:pt idx="2">
                  <c:v>58.8</c:v>
                </c:pt>
                <c:pt idx="3">
                  <c:v>59.0</c:v>
                </c:pt>
                <c:pt idx="4">
                  <c:v>59.0</c:v>
                </c:pt>
                <c:pt idx="5">
                  <c:v>59.1</c:v>
                </c:pt>
                <c:pt idx="6">
                  <c:v>59.4</c:v>
                </c:pt>
                <c:pt idx="7">
                  <c:v>59.9</c:v>
                </c:pt>
                <c:pt idx="8">
                  <c:v>59.9</c:v>
                </c:pt>
                <c:pt idx="9">
                  <c:v>59.9</c:v>
                </c:pt>
                <c:pt idx="10">
                  <c:v>60.0</c:v>
                </c:pt>
                <c:pt idx="11">
                  <c:v>60.0</c:v>
                </c:pt>
                <c:pt idx="12">
                  <c:v>61.1</c:v>
                </c:pt>
                <c:pt idx="13">
                  <c:v>62.2</c:v>
                </c:pt>
              </c:numCache>
            </c:numRef>
          </c:val>
        </c:ser>
        <c:dLbls>
          <c:numFmt formatCode="0.0&quot;%&quot;;[Red](0.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latin typeface="Roboto"/>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0E9F6E"/>
              </a:solidFill>
            </c:spPr>
          </c:dPt>
          <c:dPt>
            <c:idx val="1"/>
            <c:spPr>
              <a:solidFill>
                <a:srgbClr val="0E9F6E"/>
              </a:solidFill>
            </c:spPr>
          </c:dPt>
          <c:dPt>
            <c:idx val="2"/>
            <c:spPr>
              <a:solidFill>
                <a:srgbClr val="0E9F6E"/>
              </a:solidFill>
            </c:spPr>
          </c:dPt>
          <c:dPt>
            <c:idx val="3"/>
            <c:spPr>
              <a:solidFill>
                <a:srgbClr val="0E9F6E"/>
              </a:solidFill>
            </c:spPr>
          </c:dPt>
          <c:dPt>
            <c:idx val="4"/>
            <c:spPr>
              <a:solidFill>
                <a:srgbClr val="0E9F6E"/>
              </a:solidFill>
            </c:spPr>
          </c:dPt>
          <c:dPt>
            <c:idx val="5"/>
            <c:spPr>
              <a:solidFill>
                <a:srgbClr val="0E9F6E"/>
              </a:solidFill>
            </c:spPr>
          </c:dPt>
          <c:dPt>
            <c:idx val="6"/>
            <c:spPr>
              <a:solidFill>
                <a:srgbClr val="0E9F6E"/>
              </a:solidFill>
            </c:spPr>
          </c:dPt>
          <c:dPt>
            <c:idx val="7"/>
            <c:spPr>
              <a:solidFill>
                <a:srgbClr val="0E9F6E"/>
              </a:solidFill>
            </c:spPr>
          </c:dPt>
          <c:dPt>
            <c:idx val="8"/>
            <c:spPr>
              <a:solidFill>
                <a:srgbClr val="0E9F6E"/>
              </a:solidFill>
            </c:spPr>
          </c:dPt>
          <c:dPt>
            <c:idx val="9"/>
            <c:spPr>
              <a:solidFill>
                <a:srgbClr val="0E9F6E"/>
              </a:solidFill>
            </c:spPr>
          </c:dPt>
          <c:dPt>
            <c:idx val="10"/>
            <c:spPr>
              <a:solidFill>
                <a:srgbClr val="0E9F6E"/>
              </a:solidFill>
            </c:spPr>
          </c:dPt>
          <c:dPt>
            <c:idx val="11"/>
            <c:spPr>
              <a:solidFill>
                <a:srgbClr val="0E9F6E"/>
              </a:solidFill>
            </c:spPr>
          </c:dPt>
          <c:dPt>
            <c:idx val="12"/>
            <c:spPr>
              <a:solidFill>
                <a:srgbClr val="0E9F6E"/>
              </a:solidFill>
            </c:spPr>
          </c:dPt>
          <c:dPt>
            <c:idx val="13"/>
            <c:spPr>
              <a:solidFill>
                <a:srgbClr val="0E9F6E"/>
              </a:solidFill>
            </c:spPr>
          </c:dPt>
          <c:cat>
            <c:strRef>
              <c:f>Sheet1!$A$2:$A$15</c:f>
              <c:strCache>
                <c:ptCount val="14"/>
                <c:pt idx="0">
                  <c:v>Kangaroo Point townhouses</c:v>
                </c:pt>
                <c:pt idx="1">
                  <c:v>West End brewery</c:v>
                </c:pt>
                <c:pt idx="2">
                  <c:v>Rocklea factory</c:v>
                </c:pt>
                <c:pt idx="3">
                  <c:v>Milton office tower</c:v>
                </c:pt>
                <c:pt idx="4">
                  <c:v>Bulimba school</c:v>
                </c:pt>
                <c:pt idx="5">
                  <c:v>Wacol logistics depot</c:v>
                </c:pt>
                <c:pt idx="6">
                  <c:v>Chermside retail centre</c:v>
                </c:pt>
                <c:pt idx="7">
                  <c:v>Fortitude Valley hotel</c:v>
                </c:pt>
                <c:pt idx="8">
                  <c:v>Riverside Apartments (strata)</c:v>
                </c:pt>
                <c:pt idx="9">
                  <c:v>Newstead gym</c:v>
                </c:pt>
                <c:pt idx="10">
                  <c:v>Southbank cafe group</c:v>
                </c:pt>
                <c:pt idx="11">
                  <c:v>Ashgrove aged care</c:v>
                </c:pt>
                <c:pt idx="12">
                  <c:v>Wynnum medical centre</c:v>
                </c:pt>
                <c:pt idx="13">
                  <c:v>Carindale vet clinic</c:v>
                </c:pt>
              </c:strCache>
            </c:strRef>
          </c:cat>
          <c:val>
            <c:numRef>
              <c:f>Sheet1!$B$2:$B$15</c:f>
              <c:numCache>
                <c:formatCode>$#,##0;[Red]($#,##0);"-"</c:formatCode>
                <c:ptCount val="14"/>
                <c:pt idx="0">
                  <c:v>1398</c:v>
                </c:pt>
                <c:pt idx="1">
                  <c:v>1530</c:v>
                </c:pt>
                <c:pt idx="2">
                  <c:v>2294</c:v>
                </c:pt>
                <c:pt idx="3">
                  <c:v>2478</c:v>
                </c:pt>
                <c:pt idx="4">
                  <c:v>1652</c:v>
                </c:pt>
                <c:pt idx="5">
                  <c:v>1774</c:v>
                </c:pt>
                <c:pt idx="6">
                  <c:v>2436</c:v>
                </c:pt>
                <c:pt idx="7">
                  <c:v>2038</c:v>
                </c:pt>
                <c:pt idx="8">
                  <c:v>1916</c:v>
                </c:pt>
                <c:pt idx="9">
                  <c:v>958</c:v>
                </c:pt>
                <c:pt idx="10">
                  <c:v>1080</c:v>
                </c:pt>
                <c:pt idx="11">
                  <c:v>2160</c:v>
                </c:pt>
                <c:pt idx="12">
                  <c:v>1344</c:v>
                </c:pt>
                <c:pt idx="13">
                  <c:v>1058</c:v>
                </c:pt>
              </c:numCache>
            </c:numRef>
          </c:val>
        </c:ser>
        <c:dLbls>
          <c:numFmt formatCode="$#,##0;[Red]($#,##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latin typeface="Roboto"/>
        </a:defRPr>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7D8790"/>
              </a:solidFill>
            </c:spPr>
          </c:dPt>
          <c:cat>
            <c:strRef>
              <c:f>Sheet1!$A$2:$A$2</c:f>
              <c:strCache>
                <c:ptCount val="1"/>
                <c:pt idx="0">
                  <c:v>Morningside house air-con install</c:v>
                </c:pt>
              </c:strCache>
            </c:strRef>
          </c:cat>
          <c:val>
            <c:numRef>
              <c:f>Sheet1!$B$2:$B$2</c:f>
              <c:numCache>
                <c:formatCode>0.0"%";[Red](0.0"%")</c:formatCode>
                <c:ptCount val="1"/>
                <c:pt idx="0">
                  <c:v>22.0</c:v>
                </c:pt>
              </c:numCache>
            </c:numRef>
          </c:val>
        </c:ser>
        <c:dLbls>
          <c:numFmt formatCode="0.0&quot;%&quot;;[Red](0.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latin typeface="Roboto"/>
        </a:defRPr>
      </a:pPr>
      <a:endParaRPr lang="en-US"/>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7D8790"/>
              </a:solidFill>
            </c:spPr>
          </c:dPt>
          <c:cat>
            <c:strRef>
              <c:f>Sheet1!$A$2:$A$2</c:f>
              <c:strCache>
                <c:ptCount val="1"/>
                <c:pt idx="0">
                  <c:v>Morningside house air-con install</c:v>
                </c:pt>
              </c:strCache>
            </c:strRef>
          </c:cat>
          <c:val>
            <c:numRef>
              <c:f>Sheet1!$B$2:$B$2</c:f>
              <c:numCache>
                <c:formatCode>$#,##0;[Red]($#,##0);"-"</c:formatCode>
                <c:ptCount val="1"/>
                <c:pt idx="0">
                  <c:v>7258</c:v>
                </c:pt>
              </c:numCache>
            </c:numRef>
          </c:val>
        </c:ser>
        <c:dLbls>
          <c:numFmt formatCode="$#,##0;[Red]($#,##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latin typeface="Roboto"/>
        </a:defRPr>
      </a:pPr>
      <a:endParaRPr lang="en-US"/>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0E9F6E"/>
              </a:solidFill>
            </c:spPr>
          </c:dPt>
          <c:dPt>
            <c:idx val="1"/>
            <c:spPr>
              <a:solidFill>
                <a:srgbClr val="0E9F6E"/>
              </a:solidFill>
            </c:spPr>
          </c:dPt>
          <c:dPt>
            <c:idx val="2"/>
            <c:spPr>
              <a:solidFill>
                <a:srgbClr val="0E9F6E"/>
              </a:solidFill>
            </c:spPr>
          </c:dPt>
          <c:dPt>
            <c:idx val="3"/>
            <c:spPr>
              <a:solidFill>
                <a:srgbClr val="0E9F6E"/>
              </a:solidFill>
            </c:spPr>
          </c:dPt>
          <c:dPt>
            <c:idx val="4"/>
            <c:spPr>
              <a:solidFill>
                <a:srgbClr val="0E9F6E"/>
              </a:solidFill>
            </c:spPr>
          </c:dPt>
          <c:cat>
            <c:strRef>
              <c:f>Sheet1!$A$2:$A$6</c:f>
              <c:strCache>
                <c:ptCount val="5"/>
                <c:pt idx="0">
                  <c:v>2.5-hour call-outs (1)</c:v>
                </c:pt>
                <c:pt idx="1">
                  <c:v>1-hour call-outs (2)</c:v>
                </c:pt>
                <c:pt idx="2">
                  <c:v>1.5-hour call-outs (1)</c:v>
                </c:pt>
                <c:pt idx="3">
                  <c:v>3-hour call-outs (1)</c:v>
                </c:pt>
                <c:pt idx="4">
                  <c:v>4-hour call-outs (2)</c:v>
                </c:pt>
              </c:strCache>
            </c:strRef>
          </c:cat>
          <c:val>
            <c:numRef>
              <c:f>Sheet1!$B$2:$B$6</c:f>
              <c:numCache>
                <c:formatCode>0.0"%";[Red](0.0"%")</c:formatCode>
                <c:ptCount val="5"/>
                <c:pt idx="0">
                  <c:v>41.0</c:v>
                </c:pt>
                <c:pt idx="1">
                  <c:v>42.0</c:v>
                </c:pt>
                <c:pt idx="2">
                  <c:v>44.2</c:v>
                </c:pt>
                <c:pt idx="3">
                  <c:v>44.7</c:v>
                </c:pt>
                <c:pt idx="4">
                  <c:v>48.1</c:v>
                </c:pt>
              </c:numCache>
            </c:numRef>
          </c:val>
        </c:ser>
        <c:dLbls>
          <c:numFmt formatCode="0.0&quot;%&quot;;[Red](0.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latin typeface="Roboto"/>
        </a:defRPr>
      </a:pPr>
      <a:endParaRPr lang="en-US"/>
    </a:p>
  </c:tx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0E9F6E"/>
              </a:solidFill>
            </c:spPr>
          </c:dPt>
          <c:dPt>
            <c:idx val="1"/>
            <c:spPr>
              <a:solidFill>
                <a:srgbClr val="0E9F6E"/>
              </a:solidFill>
            </c:spPr>
          </c:dPt>
          <c:dPt>
            <c:idx val="2"/>
            <c:spPr>
              <a:solidFill>
                <a:srgbClr val="0E9F6E"/>
              </a:solidFill>
            </c:spPr>
          </c:dPt>
          <c:dPt>
            <c:idx val="3"/>
            <c:spPr>
              <a:solidFill>
                <a:srgbClr val="0E9F6E"/>
              </a:solidFill>
            </c:spPr>
          </c:dPt>
          <c:dPt>
            <c:idx val="4"/>
            <c:spPr>
              <a:solidFill>
                <a:srgbClr val="0E9F6E"/>
              </a:solidFill>
            </c:spPr>
          </c:dPt>
          <c:cat>
            <c:strRef>
              <c:f>Sheet1!$A$2:$A$6</c:f>
              <c:strCache>
                <c:ptCount val="5"/>
                <c:pt idx="0">
                  <c:v>2.5-hour call-outs (1)</c:v>
                </c:pt>
                <c:pt idx="1">
                  <c:v>1-hour call-outs (2)</c:v>
                </c:pt>
                <c:pt idx="2">
                  <c:v>1.5-hour call-outs (1)</c:v>
                </c:pt>
                <c:pt idx="3">
                  <c:v>3-hour call-outs (1)</c:v>
                </c:pt>
                <c:pt idx="4">
                  <c:v>4-hour call-outs (2)</c:v>
                </c:pt>
              </c:strCache>
            </c:strRef>
          </c:cat>
          <c:val>
            <c:numRef>
              <c:f>Sheet1!$B$2:$B$6</c:f>
              <c:numCache>
                <c:formatCode>$#,##0;[Red]($#,##0);"-"</c:formatCode>
                <c:ptCount val="5"/>
                <c:pt idx="0">
                  <c:v>250</c:v>
                </c:pt>
                <c:pt idx="1">
                  <c:v>193</c:v>
                </c:pt>
                <c:pt idx="2">
                  <c:v>136</c:v>
                </c:pt>
                <c:pt idx="3">
                  <c:v>270</c:v>
                </c:pt>
                <c:pt idx="4">
                  <c:v>670</c:v>
                </c:pt>
              </c:numCache>
            </c:numRef>
          </c:val>
        </c:ser>
        <c:dLbls>
          <c:numFmt formatCode="$#,##0;[Red]($#,##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latin typeface="Roboto"/>
        </a:defRPr>
      </a:pPr>
      <a:endParaRPr lang="en-US"/>
    </a:p>
  </c:tx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0"/>
  <c:chart>
    <c:autoTitleDeleted val="0"/>
    <c:plotArea>
      <c:layout/>
      <c:areaChart>
        <c:grouping val="standard"/>
        <c:varyColors val="0"/>
        <c:ser>
          <c:idx val="0"/>
          <c:order val="0"/>
          <c:tx>
            <c:strRef>
              <c:f>Sheet1!$B$1</c:f>
              <c:strCache>
                <c:ptCount val="1"/>
                <c:pt idx="0">
                  <c:v>Value</c:v>
                </c:pt>
              </c:strCache>
            </c:strRef>
          </c:tx>
          <c:spPr>
            <a:solidFill>
              <a:srgbClr val="0E9F6E">
                <a:alpha val="25000"/>
              </a:srgbClr>
            </a:solidFill>
            <a:ln w="31750">
              <a:solidFill>
                <a:srgbClr val="0E9F6E"/>
              </a:solidFill>
            </a:ln>
          </c:spPr>
          <c:cat>
            <c:strRef>
              <c:f>Sheet1!$A$2:$A$25</c:f>
              <c:strCache>
                <c:ptCount val="24"/>
                <c:pt idx="0">
                  <c:v>Nov 24</c:v>
                </c:pt>
                <c:pt idx="1">
                  <c:v>Dec 24</c:v>
                </c:pt>
                <c:pt idx="2">
                  <c:v>Jan 25</c:v>
                </c:pt>
                <c:pt idx="3">
                  <c:v>Feb 25</c:v>
                </c:pt>
                <c:pt idx="4">
                  <c:v>Mar 25</c:v>
                </c:pt>
                <c:pt idx="5">
                  <c:v>Apr 25</c:v>
                </c:pt>
                <c:pt idx="6">
                  <c:v>May 25</c:v>
                </c:pt>
                <c:pt idx="7">
                  <c:v>Jun 25</c:v>
                </c:pt>
                <c:pt idx="8">
                  <c:v>Jul 25</c:v>
                </c:pt>
                <c:pt idx="9">
                  <c:v>Aug 25</c:v>
                </c:pt>
                <c:pt idx="10">
                  <c:v>Sep 25</c:v>
                </c:pt>
                <c:pt idx="11">
                  <c:v>Oct 25</c:v>
                </c:pt>
                <c:pt idx="12">
                  <c:v>Nov 25</c:v>
                </c:pt>
                <c:pt idx="13">
                  <c:v>Dec 25</c:v>
                </c:pt>
                <c:pt idx="14">
                  <c:v>Jan 26</c:v>
                </c:pt>
                <c:pt idx="15">
                  <c:v>Feb 26</c:v>
                </c:pt>
                <c:pt idx="16">
                  <c:v>Mar 26</c:v>
                </c:pt>
                <c:pt idx="17">
                  <c:v>Apr 26</c:v>
                </c:pt>
                <c:pt idx="18">
                  <c:v>May 26</c:v>
                </c:pt>
                <c:pt idx="19">
                  <c:v>Jun 26</c:v>
                </c:pt>
                <c:pt idx="20">
                  <c:v>Jul 26</c:v>
                </c:pt>
                <c:pt idx="21">
                  <c:v>Aug 26</c:v>
                </c:pt>
                <c:pt idx="22">
                  <c:v>Sep 26</c:v>
                </c:pt>
                <c:pt idx="23">
                  <c:v>Oct 26</c:v>
                </c:pt>
              </c:strCache>
            </c:strRef>
          </c:cat>
          <c:val>
            <c:numRef>
              <c:f>Sheet1!$B$2:$B$25</c:f>
              <c:numCache>
                <c:formatCode>0.0"%";[Red](0.0"%")</c:formatCode>
                <c:ptCount val="24"/>
                <c:pt idx="0">
                  <c:v>37.0</c:v>
                </c:pt>
                <c:pt idx="1">
                  <c:v>40.4</c:v>
                </c:pt>
                <c:pt idx="2">
                  <c:v>42.7</c:v>
                </c:pt>
                <c:pt idx="3">
                  <c:v>36.4</c:v>
                </c:pt>
                <c:pt idx="4">
                  <c:v>36.5</c:v>
                </c:pt>
                <c:pt idx="5">
                  <c:v>38.4</c:v>
                </c:pt>
                <c:pt idx="6">
                  <c:v>35.5</c:v>
                </c:pt>
                <c:pt idx="7">
                  <c:v>40.5</c:v>
                </c:pt>
                <c:pt idx="8">
                  <c:v>35.6</c:v>
                </c:pt>
                <c:pt idx="9">
                  <c:v>43.8</c:v>
                </c:pt>
                <c:pt idx="10">
                  <c:v>37.6</c:v>
                </c:pt>
                <c:pt idx="11">
                  <c:v>38.4</c:v>
                </c:pt>
                <c:pt idx="12">
                  <c:v>33.7</c:v>
                </c:pt>
                <c:pt idx="13">
                  <c:v>37.4</c:v>
                </c:pt>
                <c:pt idx="14">
                  <c:v>35.3</c:v>
                </c:pt>
                <c:pt idx="15">
                  <c:v>38.6</c:v>
                </c:pt>
                <c:pt idx="16">
                  <c:v>35.6</c:v>
                </c:pt>
                <c:pt idx="17">
                  <c:v>41.7</c:v>
                </c:pt>
                <c:pt idx="18">
                  <c:v>39.0</c:v>
                </c:pt>
                <c:pt idx="19">
                  <c:v>38.5</c:v>
                </c:pt>
                <c:pt idx="20">
                  <c:v>36.8</c:v>
                </c:pt>
                <c:pt idx="21">
                  <c:v>41.1</c:v>
                </c:pt>
                <c:pt idx="22">
                  <c:v>36.1</c:v>
                </c:pt>
                <c:pt idx="23">
                  <c:v>42.8</c:v>
                </c:pt>
              </c:numCache>
            </c:numRef>
          </c:val>
        </c:ser>
        <c:dLbls>
          <c:showLegendKey val="0"/>
          <c:showVal val="0"/>
          <c:showCatName val="0"/>
          <c:showSerName val="0"/>
          <c:showPercent val="0"/>
          <c:showBubbleSize val="0"/>
        </c:dLbls>
        <c:axId val="-2101159928"/>
        <c:axId val="-2100718248"/>
      </c:areaChart>
      <c:catAx>
        <c:axId val="-2101159928"/>
        <c:scaling>
          <c:orientation val="minMax"/>
        </c:scaling>
        <c:delete val="0"/>
        <c:axPos val="b"/>
        <c:numFmt formatCode="General" sourceLinked="1"/>
        <c:majorTickMark val="out"/>
        <c:minorTickMark val="none"/>
        <c:tickLblPos val="nextTo"/>
        <c:txPr>
          <a:bodyPr/>
          <a:lstStyle/>
          <a:p>
            <a:pPr>
              <a:defRPr sz="1000"/>
            </a:pPr>
          </a:p>
        </c:txPr>
        <c:crossAx val="-2100718248"/>
        <c:crosses val="autoZero"/>
        <c:auto val="1"/>
        <c:lblAlgn val="ctr"/>
        <c:lblOffset val="100"/>
        <c:noMultiLvlLbl val="0"/>
      </c:catAx>
      <c:valAx>
        <c:axId val="-2100718248"/>
        <c:scaling>
          <c:orientation val="minMax"/>
        </c:scaling>
        <c:delete val="0"/>
        <c:axPos val="l"/>
        <c:majorGridlines>
          <c:spPr>
            <a:ln>
              <a:solidFill>
                <a:srgbClr val="E6EAE7"/>
              </a:solidFill>
            </a:ln>
          </c:spPr>
        </c:majorGridlines>
        <c:numFmt formatCode="0.0&quot;%&quot;;[Red](0.0&quot;%&quot;)" sourceLinked="0"/>
        <c:majorTickMark val="out"/>
        <c:minorTickMark val="none"/>
        <c:tickLblPos val="nextTo"/>
        <c:spPr>
          <a:ln>
            <a:noFill/>
          </a:ln>
        </c:spPr>
        <c:txPr>
          <a:bodyPr/>
          <a:lstStyle/>
          <a:p>
            <a:pPr>
              <a:defRPr sz="1000"/>
            </a:pPr>
          </a:p>
        </c:txPr>
        <c:crossAx val="-2101159928"/>
        <c:crosses val="autoZero"/>
        <c:crossBetween val="midCat"/>
      </c:valAx>
    </c:plotArea>
    <c:plotVisOnly val="1"/>
    <c:dispBlanksAs val="zero"/>
    <c:showDLblsOverMax val="0"/>
  </c:chart>
  <c:txPr>
    <a:bodyPr/>
    <a:lstStyle/>
    <a:p>
      <a:pPr>
        <a:defRPr sz="1800">
          <a:latin typeface="Roboto"/>
        </a:defRPr>
      </a:pPr>
      <a:endParaRPr/>
    </a:p>
  </c:tx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0"/>
  <c:chart>
    <c:autoTitleDeleted val="0"/>
    <c:plotArea>
      <c:layout/>
      <c:areaChart>
        <c:grouping val="standard"/>
        <c:varyColors val="0"/>
        <c:ser>
          <c:idx val="0"/>
          <c:order val="0"/>
          <c:tx>
            <c:strRef>
              <c:f>Sheet1!$B$1</c:f>
              <c:strCache>
                <c:ptCount val="1"/>
                <c:pt idx="0">
                  <c:v>Value</c:v>
                </c:pt>
              </c:strCache>
            </c:strRef>
          </c:tx>
          <c:spPr>
            <a:solidFill>
              <a:srgbClr val="0E9F6E">
                <a:alpha val="25000"/>
              </a:srgbClr>
            </a:solidFill>
            <a:ln w="31750">
              <a:solidFill>
                <a:srgbClr val="0E9F6E"/>
              </a:solidFill>
            </a:ln>
          </c:spPr>
          <c:cat>
            <c:strRef>
              <c:f>Sheet1!$A$2:$A$25</c:f>
              <c:strCache>
                <c:ptCount val="24"/>
                <c:pt idx="0">
                  <c:v>Nov 24</c:v>
                </c:pt>
                <c:pt idx="1">
                  <c:v>Dec 24</c:v>
                </c:pt>
                <c:pt idx="2">
                  <c:v>Jan 25</c:v>
                </c:pt>
                <c:pt idx="3">
                  <c:v>Feb 25</c:v>
                </c:pt>
                <c:pt idx="4">
                  <c:v>Mar 25</c:v>
                </c:pt>
                <c:pt idx="5">
                  <c:v>Apr 25</c:v>
                </c:pt>
                <c:pt idx="6">
                  <c:v>May 25</c:v>
                </c:pt>
                <c:pt idx="7">
                  <c:v>Jun 25</c:v>
                </c:pt>
                <c:pt idx="8">
                  <c:v>Jul 25</c:v>
                </c:pt>
                <c:pt idx="9">
                  <c:v>Aug 25</c:v>
                </c:pt>
                <c:pt idx="10">
                  <c:v>Sep 25</c:v>
                </c:pt>
                <c:pt idx="11">
                  <c:v>Oct 25</c:v>
                </c:pt>
                <c:pt idx="12">
                  <c:v>Nov 25</c:v>
                </c:pt>
                <c:pt idx="13">
                  <c:v>Dec 25</c:v>
                </c:pt>
                <c:pt idx="14">
                  <c:v>Jan 26</c:v>
                </c:pt>
                <c:pt idx="15">
                  <c:v>Feb 26</c:v>
                </c:pt>
                <c:pt idx="16">
                  <c:v>Mar 26</c:v>
                </c:pt>
                <c:pt idx="17">
                  <c:v>Apr 26</c:v>
                </c:pt>
                <c:pt idx="18">
                  <c:v>May 26</c:v>
                </c:pt>
                <c:pt idx="19">
                  <c:v>Jun 26</c:v>
                </c:pt>
                <c:pt idx="20">
                  <c:v>Jul 26</c:v>
                </c:pt>
                <c:pt idx="21">
                  <c:v>Aug 26</c:v>
                </c:pt>
                <c:pt idx="22">
                  <c:v>Sep 26</c:v>
                </c:pt>
                <c:pt idx="23">
                  <c:v>Oct 26</c:v>
                </c:pt>
              </c:strCache>
            </c:strRef>
          </c:cat>
          <c:val>
            <c:numRef>
              <c:f>Sheet1!$B$2:$B$25</c:f>
              <c:numCache>
                <c:formatCode>$#,##0;[Red]($#,##0);"-"</c:formatCode>
                <c:ptCount val="24"/>
                <c:pt idx="0">
                  <c:v>66458</c:v>
                </c:pt>
                <c:pt idx="1">
                  <c:v>57840</c:v>
                </c:pt>
                <c:pt idx="2">
                  <c:v>60167</c:v>
                </c:pt>
                <c:pt idx="3">
                  <c:v>58595</c:v>
                </c:pt>
                <c:pt idx="4">
                  <c:v>49330</c:v>
                </c:pt>
                <c:pt idx="5">
                  <c:v>47897</c:v>
                </c:pt>
                <c:pt idx="6">
                  <c:v>46116</c:v>
                </c:pt>
                <c:pt idx="7">
                  <c:v>66529</c:v>
                </c:pt>
                <c:pt idx="8">
                  <c:v>66434</c:v>
                </c:pt>
                <c:pt idx="9">
                  <c:v>60906</c:v>
                </c:pt>
                <c:pt idx="10">
                  <c:v>48201</c:v>
                </c:pt>
                <c:pt idx="11">
                  <c:v>49446</c:v>
                </c:pt>
                <c:pt idx="12">
                  <c:v>58844</c:v>
                </c:pt>
                <c:pt idx="13">
                  <c:v>50453</c:v>
                </c:pt>
                <c:pt idx="14">
                  <c:v>58190</c:v>
                </c:pt>
                <c:pt idx="15">
                  <c:v>75710</c:v>
                </c:pt>
                <c:pt idx="16">
                  <c:v>68158</c:v>
                </c:pt>
                <c:pt idx="17">
                  <c:v>68843</c:v>
                </c:pt>
                <c:pt idx="18">
                  <c:v>63105</c:v>
                </c:pt>
                <c:pt idx="19">
                  <c:v>66663</c:v>
                </c:pt>
                <c:pt idx="20">
                  <c:v>71121</c:v>
                </c:pt>
                <c:pt idx="21">
                  <c:v>73637</c:v>
                </c:pt>
                <c:pt idx="22">
                  <c:v>73107</c:v>
                </c:pt>
                <c:pt idx="23">
                  <c:v>32893</c:v>
                </c:pt>
              </c:numCache>
            </c:numRef>
          </c:val>
        </c:ser>
        <c:dLbls>
          <c:showLegendKey val="0"/>
          <c:showVal val="0"/>
          <c:showCatName val="0"/>
          <c:showSerName val="0"/>
          <c:showPercent val="0"/>
          <c:showBubbleSize val="0"/>
        </c:dLbls>
        <c:axId val="-2101159928"/>
        <c:axId val="-2100718248"/>
      </c:areaChart>
      <c:catAx>
        <c:axId val="-2101159928"/>
        <c:scaling>
          <c:orientation val="minMax"/>
        </c:scaling>
        <c:delete val="0"/>
        <c:axPos val="b"/>
        <c:numFmt formatCode="General" sourceLinked="1"/>
        <c:majorTickMark val="out"/>
        <c:minorTickMark val="none"/>
        <c:tickLblPos val="nextTo"/>
        <c:txPr>
          <a:bodyPr/>
          <a:lstStyle/>
          <a:p>
            <a:pPr>
              <a:defRPr sz="1000"/>
            </a:pPr>
          </a:p>
        </c:txPr>
        <c:crossAx val="-2100718248"/>
        <c:crosses val="autoZero"/>
        <c:auto val="1"/>
        <c:lblAlgn val="ctr"/>
        <c:lblOffset val="100"/>
        <c:noMultiLvlLbl val="0"/>
      </c:catAx>
      <c:valAx>
        <c:axId val="-2100718248"/>
        <c:scaling>
          <c:orientation val="minMax"/>
        </c:scaling>
        <c:delete val="0"/>
        <c:axPos val="l"/>
        <c:majorGridlines>
          <c:spPr>
            <a:ln>
              <a:solidFill>
                <a:srgbClr val="E6EAE7"/>
              </a:solidFill>
            </a:ln>
          </c:spPr>
        </c:majorGridlines>
        <c:numFmt formatCode="$#,##0;[Red]($#,##0);&quot;-&quot;" sourceLinked="0"/>
        <c:majorTickMark val="out"/>
        <c:minorTickMark val="none"/>
        <c:tickLblPos val="nextTo"/>
        <c:spPr>
          <a:ln>
            <a:noFill/>
          </a:ln>
        </c:spPr>
        <c:txPr>
          <a:bodyPr/>
          <a:lstStyle/>
          <a:p>
            <a:pPr>
              <a:defRPr sz="1000"/>
            </a:pPr>
          </a:p>
        </c:txPr>
        <c:crossAx val="-2101159928"/>
        <c:crosses val="autoZero"/>
        <c:crossBetween val="midCat"/>
      </c:valAx>
    </c:plotArea>
    <c:plotVisOnly val="1"/>
    <c:dispBlanksAs val="zero"/>
    <c:showDLblsOverMax val="0"/>
  </c:chart>
  <c:txPr>
    <a:bodyPr/>
    <a:lstStyle/>
    <a:p>
      <a:pPr>
        <a:defRPr sz="1800">
          <a:latin typeface="Roboto"/>
        </a:defRPr>
      </a:pPr>
      <a:endParaRPr/>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5.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6.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548640"/>
            <a:ext cx="640080" cy="640080"/>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a:latin typeface="Roboto"/>
              </a:defRPr>
            </a:pPr>
            <a:r>
              <a:rPr sz="1600" b="1">
                <a:solidFill>
                  <a:srgbClr val="FFFFFF"/>
                </a:solidFill>
                <a:latin typeface="Roboto"/>
              </a:rPr>
              <a:t>4th</a:t>
            </a:r>
          </a:p>
        </p:txBody>
      </p:sp>
      <p:sp>
        <p:nvSpPr>
          <p:cNvPr id="3" name="TextBox 2"/>
          <p:cNvSpPr txBox="1"/>
          <p:nvPr/>
        </p:nvSpPr>
        <p:spPr>
          <a:xfrm>
            <a:off x="1234440" y="658368"/>
            <a:ext cx="5486400" cy="457200"/>
          </a:xfrm>
          <a:prstGeom prst="rect">
            <a:avLst/>
          </a:prstGeom>
          <a:noFill/>
        </p:spPr>
        <p:txBody>
          <a:bodyPr wrap="square">
            <a:spAutoFit/>
          </a:bodyPr>
          <a:lstStyle/>
          <a:p>
            <a:pPr>
              <a:defRPr>
                <a:latin typeface="Roboto"/>
              </a:defRPr>
            </a:pPr>
            <a:r>
              <a:rPr sz="1800" b="1">
                <a:solidFill>
                  <a:srgbClr val="25342A"/>
                </a:solidFill>
                <a:latin typeface="Roboto"/>
              </a:rPr>
              <a:t>The Fourth Sheet</a:t>
            </a:r>
          </a:p>
        </p:txBody>
      </p:sp>
      <p:sp>
        <p:nvSpPr>
          <p:cNvPr id="4" name="TextBox 3"/>
          <p:cNvSpPr txBox="1"/>
          <p:nvPr/>
        </p:nvSpPr>
        <p:spPr>
          <a:xfrm>
            <a:off x="457200" y="1554480"/>
            <a:ext cx="10972800" cy="365760"/>
          </a:xfrm>
          <a:prstGeom prst="rect">
            <a:avLst/>
          </a:prstGeom>
          <a:noFill/>
        </p:spPr>
        <p:txBody>
          <a:bodyPr wrap="square">
            <a:spAutoFit/>
          </a:bodyPr>
          <a:lstStyle/>
          <a:p>
            <a:pPr>
              <a:defRPr>
                <a:latin typeface="Roboto"/>
              </a:defRPr>
            </a:pPr>
            <a:r>
              <a:rPr sz="1100" b="1">
                <a:solidFill>
                  <a:srgbClr val="8A7A52"/>
                </a:solidFill>
                <a:latin typeface="Roboto"/>
              </a:rPr>
              <a:t>SAMPLE DATA · invented figures for demonstration</a:t>
            </a:r>
          </a:p>
        </p:txBody>
      </p:sp>
      <p:sp>
        <p:nvSpPr>
          <p:cNvPr id="5" name="TextBox 4"/>
          <p:cNvSpPr txBox="1"/>
          <p:nvPr/>
        </p:nvSpPr>
        <p:spPr>
          <a:xfrm>
            <a:off x="457200" y="2011680"/>
            <a:ext cx="11247120" cy="1097280"/>
          </a:xfrm>
          <a:prstGeom prst="rect">
            <a:avLst/>
          </a:prstGeom>
          <a:noFill/>
        </p:spPr>
        <p:txBody>
          <a:bodyPr wrap="square">
            <a:spAutoFit/>
          </a:bodyPr>
          <a:lstStyle/>
          <a:p>
            <a:pPr>
              <a:defRPr>
                <a:latin typeface="Roboto"/>
              </a:defRPr>
            </a:pPr>
            <a:r>
              <a:rPr sz="3400" b="1">
                <a:solidFill>
                  <a:srgbClr val="25342A"/>
                </a:solidFill>
                <a:latin typeface="Roboto"/>
              </a:rPr>
              <a:t>Which jobs actually make money?</a:t>
            </a:r>
          </a:p>
        </p:txBody>
      </p:sp>
      <p:sp>
        <p:nvSpPr>
          <p:cNvPr id="6" name="TextBox 5"/>
          <p:cNvSpPr txBox="1"/>
          <p:nvPr/>
        </p:nvSpPr>
        <p:spPr>
          <a:xfrm>
            <a:off x="457200" y="3154680"/>
            <a:ext cx="11247120" cy="457200"/>
          </a:xfrm>
          <a:prstGeom prst="rect">
            <a:avLst/>
          </a:prstGeom>
          <a:noFill/>
        </p:spPr>
        <p:txBody>
          <a:bodyPr wrap="square">
            <a:spAutoFit/>
          </a:bodyPr>
          <a:lstStyle/>
          <a:p>
            <a:pPr>
              <a:defRPr>
                <a:latin typeface="Roboto"/>
              </a:defRPr>
            </a:pPr>
            <a:r>
              <a:rPr sz="1600" b="0">
                <a:solidFill>
                  <a:srgbClr val="5F6F63"/>
                </a:solidFill>
                <a:latin typeface="Roboto"/>
              </a:rPr>
              <a:t>Sample Electrical &amp; Air Pty Ltd</a:t>
            </a:r>
          </a:p>
        </p:txBody>
      </p:sp>
      <p:sp>
        <p:nvSpPr>
          <p:cNvPr id="7" name="TextBox 6"/>
          <p:cNvSpPr txBox="1"/>
          <p:nvPr/>
        </p:nvSpPr>
        <p:spPr>
          <a:xfrm>
            <a:off x="457200" y="3703320"/>
            <a:ext cx="11247120" cy="1097280"/>
          </a:xfrm>
          <a:prstGeom prst="rect">
            <a:avLst/>
          </a:prstGeom>
          <a:noFill/>
        </p:spPr>
        <p:txBody>
          <a:bodyPr wrap="square">
            <a:spAutoFit/>
          </a:bodyPr>
          <a:lstStyle/>
          <a:p>
            <a:pPr>
              <a:defRPr>
                <a:latin typeface="Roboto"/>
              </a:defRPr>
            </a:pPr>
            <a:r>
              <a:rPr sz="1400" b="0">
                <a:solidFill>
                  <a:srgbClr val="25342A"/>
                </a:solidFill>
                <a:latin typeface="Roboto"/>
              </a:rPr>
              <a:t>Period: October 2026 to date. Every job's gross margin: revenue less materials, subcontractors and technician time at $68 an hour (fully loaded: wages and all on-costs). Pick a type of job and every number, chart and note on the page follows it.</a:t>
            </a:r>
          </a:p>
        </p:txBody>
      </p:sp>
      <p:sp>
        <p:nvSpPr>
          <p:cNvPr id="8" name="TextBox 7"/>
          <p:cNvSpPr txBox="1"/>
          <p:nvPr/>
        </p:nvSpPr>
        <p:spPr>
          <a:xfrm>
            <a:off x="457200" y="4937760"/>
            <a:ext cx="11247120" cy="1097280"/>
          </a:xfrm>
          <a:prstGeom prst="rect">
            <a:avLst/>
          </a:prstGeom>
          <a:noFill/>
        </p:spPr>
        <p:txBody>
          <a:bodyPr wrap="square">
            <a:spAutoFit/>
          </a:bodyPr>
          <a:lstStyle/>
          <a:p>
            <a:pPr>
              <a:defRPr>
                <a:latin typeface="Roboto"/>
              </a:defRPr>
            </a:pPr>
            <a:r>
              <a:rPr sz="1100" b="0">
                <a:solidFill>
                  <a:srgbClr val="5F6F63"/>
                </a:solidFill>
                <a:latin typeface="Roboto"/>
              </a:rPr>
              <a:t>How final is this data?</a:t>
            </a:r>
          </a:p>
          <a:p>
            <a:pPr>
              <a:defRPr>
                <a:latin typeface="Roboto"/>
              </a:defRPr>
            </a:pPr>
            <a:r>
              <a:rPr sz="1100" b="0">
                <a:solidFill>
                  <a:srgbClr val="5F6F63"/>
                </a:solidFill>
                <a:latin typeface="Roboto"/>
              </a:rPr>
              <a:t>September 2026: Locked. September 2026 is locked (closed 2 Oct 2026). These numbers won't change.</a:t>
            </a:r>
          </a:p>
          <a:p>
            <a:pPr>
              <a:defRPr>
                <a:latin typeface="Roboto"/>
              </a:defRPr>
            </a:pPr>
            <a:r>
              <a:rPr sz="1100" b="0">
                <a:solidFill>
                  <a:srgbClr val="5F6F63"/>
                </a:solidFill>
                <a:latin typeface="Roboto"/>
              </a:rPr>
              <a:t>October 2026: Incomplete. October 2026 is still in progress: figures to 6 Oct only.</a:t>
            </a:r>
          </a:p>
        </p:txBody>
      </p:sp>
      <p:sp>
        <p:nvSpPr>
          <p:cNvPr id="9" name="TextBox 8"/>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10" name="TextBox 9"/>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1" name="TextBox 10"/>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 of 21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Gross margin, not profit</a:t>
            </a:r>
          </a:p>
        </p:txBody>
      </p:sp>
      <p:sp>
        <p:nvSpPr>
          <p:cNvPr id="5" name="Rectangle 4"/>
          <p:cNvSpPr/>
          <p:nvPr/>
        </p:nvSpPr>
        <p:spPr>
          <a:xfrm>
            <a:off x="457200" y="1554480"/>
            <a:ext cx="11277295"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10820095" cy="365760"/>
          </a:xfrm>
          <a:prstGeom prst="rect">
            <a:avLst/>
          </a:prstGeom>
          <a:noFill/>
        </p:spPr>
        <p:txBody>
          <a:bodyPr wrap="square">
            <a:spAutoFit/>
          </a:bodyPr>
          <a:lstStyle/>
          <a:p>
            <a:pPr>
              <a:defRPr>
                <a:latin typeface="Roboto"/>
              </a:defRPr>
            </a:pPr>
            <a:r>
              <a:rPr sz="1100" b="1">
                <a:solidFill>
                  <a:srgbClr val="5F6F63"/>
                </a:solidFill>
                <a:latin typeface="Roboto"/>
              </a:rPr>
              <a:t>GROSS MARGIN, NOT PROFIT</a:t>
            </a:r>
          </a:p>
        </p:txBody>
      </p:sp>
      <p:sp>
        <p:nvSpPr>
          <p:cNvPr id="7" name="TextBox 6"/>
          <p:cNvSpPr txBox="1"/>
          <p:nvPr/>
        </p:nvSpPr>
        <p:spPr>
          <a:xfrm>
            <a:off x="685800" y="2103120"/>
            <a:ext cx="10820095" cy="3749039"/>
          </a:xfrm>
          <a:prstGeom prst="rect">
            <a:avLst/>
          </a:prstGeom>
          <a:noFill/>
        </p:spPr>
        <p:txBody>
          <a:bodyPr wrap="square">
            <a:spAutoFit/>
          </a:bodyPr>
          <a:lstStyle/>
          <a:p>
            <a:pPr>
              <a:defRPr>
                <a:latin typeface="Roboto"/>
              </a:defRPr>
            </a:pPr>
            <a:r>
              <a:rPr sz="1600" b="0">
                <a:solidFill>
                  <a:srgbClr val="25342A"/>
                </a:solidFill>
                <a:latin typeface="Roboto"/>
              </a:rPr>
              <a:t>Gross margin is not profit. Job gross margin = revenue less materials, subcontractors and technician time charged to the job at $68 an hour (wages and all on-costs). Not included: technician time not charged to any job (travel, training, waiting), and overheads (office wages, marketing, vehicles, rent, insurance, IT, depreciation, interest). Profit is what's left after those. Wages always include all on-costs: super, payroll tax, workers' compensation insurance and leave.</a:t>
            </a:r>
          </a:p>
        </p:txBody>
      </p:sp>
      <p:sp>
        <p:nvSpPr>
          <p:cNvPr id="8" name="TextBox 7"/>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9" name="TextBox 8"/>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0" name="TextBox 9"/>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2 of 21</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From gross margin to profit · latest closed month: September</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October is still in progress and wages are paid fortnightly, so a part month can't be bridged: this is September, the latest closed month. September's jobs made $73,107 gross margin (36.1%). Technician time not charged to jobs took $3,430 and overheads $59,580, leaving $10,097 profit before tax (5.0% of revenue). To cover overheads, jobs need a 31.1% gross margin on average.</a:t>
            </a:r>
          </a:p>
        </p:txBody>
      </p:sp>
      <p:graphicFrame>
        <p:nvGraphicFramePr>
          <p:cNvPr id="6" name="Table 5"/>
          <p:cNvGraphicFramePr>
            <a:graphicFrameLocks noGrp="1"/>
          </p:cNvGraphicFramePr>
          <p:nvPr/>
        </p:nvGraphicFramePr>
        <p:xfrm>
          <a:off x="457200" y="1463040"/>
          <a:ext cx="11247120" cy="3950208"/>
        </p:xfrm>
        <a:graphic>
          <a:graphicData uri="http://schemas.openxmlformats.org/drawingml/2006/table">
            <a:tbl>
              <a:tblPr firstRow="1" bandRow="1">
                <a:tableStyleId>{5C22544A-7EE6-4342-B048-85BDC9FD1C3A}</a:tableStyleId>
              </a:tblPr>
              <a:tblGrid>
                <a:gridCol w="5623560"/>
                <a:gridCol w="5623560"/>
              </a:tblGrid>
              <a:tr h="329184">
                <a:tc>
                  <a:txBody>
                    <a:bodyPr/>
                    <a:lstStyle/>
                    <a:p>
                      <a:pPr>
                        <a:defRPr>
                          <a:latin typeface="Roboto"/>
                        </a:defRPr>
                      </a:pPr>
                    </a:p>
                  </a:txBody>
                  <a:tcPr>
                    <a:solidFill>
                      <a:srgbClr val="2F7A5D"/>
                    </a:solidFill>
                  </a:tcPr>
                </a:tc>
                <a:tc>
                  <a:txBody>
                    <a:bodyPr/>
                    <a:lstStyle/>
                    <a:p>
                      <a:pPr algn="r">
                        <a:defRPr>
                          <a:latin typeface="Roboto"/>
                        </a:defRPr>
                      </a:pPr>
                      <a:r>
                        <a:rPr sz="1100" b="1">
                          <a:solidFill>
                            <a:srgbClr val="FFFFFF"/>
                          </a:solidFill>
                          <a:latin typeface="Roboto"/>
                        </a:rPr>
                        <a:t>September 2026</a:t>
                      </a:r>
                    </a:p>
                  </a:txBody>
                  <a:tcPr>
                    <a:solidFill>
                      <a:srgbClr val="2F7A5D"/>
                    </a:solidFill>
                  </a:tcPr>
                </a:tc>
              </a:tr>
              <a:tr h="329184">
                <a:tc>
                  <a:txBody>
                    <a:bodyPr/>
                    <a:lstStyle/>
                    <a:p>
                      <a:pPr>
                        <a:defRPr>
                          <a:latin typeface="Roboto"/>
                        </a:defRPr>
                      </a:pPr>
                      <a:r>
                        <a:rPr sz="1050">
                          <a:solidFill>
                            <a:srgbClr val="25342A"/>
                          </a:solidFill>
                          <a:latin typeface="Roboto"/>
                        </a:rPr>
                        <a:t>Gross margin on jobs</a:t>
                      </a:r>
                    </a:p>
                  </a:txBody>
                  <a:tcPr>
                    <a:solidFill>
                      <a:srgbClr val="FFFFFF"/>
                    </a:solidFill>
                  </a:tcPr>
                </a:tc>
                <a:tc>
                  <a:txBody>
                    <a:bodyPr/>
                    <a:lstStyle/>
                    <a:p>
                      <a:pPr algn="r">
                        <a:defRPr>
                          <a:latin typeface="Roboto"/>
                        </a:defRPr>
                      </a:pPr>
                      <a:r>
                        <a:rPr sz="1050">
                          <a:solidFill>
                            <a:srgbClr val="25342A"/>
                          </a:solidFill>
                          <a:latin typeface="Roboto"/>
                        </a:rPr>
                        <a:t>$73,107</a:t>
                      </a:r>
                    </a:p>
                  </a:txBody>
                  <a:tcPr>
                    <a:solidFill>
                      <a:srgbClr val="FFFFFF"/>
                    </a:solidFill>
                  </a:tcPr>
                </a:tc>
              </a:tr>
              <a:tr h="329184">
                <a:tc>
                  <a:txBody>
                    <a:bodyPr/>
                    <a:lstStyle/>
                    <a:p>
                      <a:pPr>
                        <a:defRPr>
                          <a:latin typeface="Roboto"/>
                        </a:defRPr>
                      </a:pPr>
                      <a:r>
                        <a:rPr sz="1050">
                          <a:solidFill>
                            <a:srgbClr val="25342A"/>
                          </a:solidFill>
                          <a:latin typeface="Roboto"/>
                        </a:rPr>
                        <a:t>Technician wages and on-costs</a:t>
                      </a:r>
                    </a:p>
                  </a:txBody>
                  <a:tcPr>
                    <a:solidFill>
                      <a:srgbClr val="F7FAF7"/>
                    </a:solidFill>
                  </a:tcPr>
                </a:tc>
                <a:tc>
                  <a:txBody>
                    <a:bodyPr/>
                    <a:lstStyle/>
                    <a:p>
                      <a:pPr algn="r">
                        <a:defRPr>
                          <a:latin typeface="Roboto"/>
                        </a:defRPr>
                      </a:pPr>
                      <a:r>
                        <a:rPr sz="1050">
                          <a:solidFill>
                            <a:srgbClr val="25342A"/>
                          </a:solidFill>
                          <a:latin typeface="Roboto"/>
                        </a:rPr>
                        <a:t>$54,600</a:t>
                      </a:r>
                    </a:p>
                  </a:txBody>
                  <a:tcPr>
                    <a:solidFill>
                      <a:srgbClr val="F7FAF7"/>
                    </a:solidFill>
                  </a:tcPr>
                </a:tc>
              </a:tr>
              <a:tr h="329184">
                <a:tc>
                  <a:txBody>
                    <a:bodyPr/>
                    <a:lstStyle/>
                    <a:p>
                      <a:pPr>
                        <a:defRPr>
                          <a:latin typeface="Roboto"/>
                        </a:defRPr>
                      </a:pPr>
                      <a:r>
                        <a:rPr sz="1050">
                          <a:solidFill>
                            <a:srgbClr val="25342A"/>
                          </a:solidFill>
                          <a:latin typeface="Roboto"/>
                        </a:rPr>
                        <a:t>Technician time charged to jobs (at cost)</a:t>
                      </a:r>
                    </a:p>
                  </a:txBody>
                  <a:tcPr>
                    <a:solidFill>
                      <a:srgbClr val="FFFFFF"/>
                    </a:solidFill>
                  </a:tcPr>
                </a:tc>
                <a:tc>
                  <a:txBody>
                    <a:bodyPr/>
                    <a:lstStyle/>
                    <a:p>
                      <a:pPr algn="r">
                        <a:defRPr>
                          <a:latin typeface="Roboto"/>
                        </a:defRPr>
                      </a:pPr>
                      <a:r>
                        <a:rPr sz="1050">
                          <a:solidFill>
                            <a:srgbClr val="25342A"/>
                          </a:solidFill>
                          <a:latin typeface="Roboto"/>
                        </a:rPr>
                        <a:t>$51,170</a:t>
                      </a:r>
                    </a:p>
                  </a:txBody>
                  <a:tcPr>
                    <a:solidFill>
                      <a:srgbClr val="FFFFFF"/>
                    </a:solidFill>
                  </a:tcPr>
                </a:tc>
              </a:tr>
              <a:tr h="329184">
                <a:tc>
                  <a:txBody>
                    <a:bodyPr/>
                    <a:lstStyle/>
                    <a:p>
                      <a:pPr>
                        <a:defRPr>
                          <a:latin typeface="Roboto"/>
                        </a:defRPr>
                      </a:pPr>
                      <a:r>
                        <a:rPr sz="1050">
                          <a:solidFill>
                            <a:srgbClr val="25342A"/>
                          </a:solidFill>
                          <a:latin typeface="Roboto"/>
                        </a:rPr>
                        <a:t>Technician time not charged to jobs</a:t>
                      </a:r>
                    </a:p>
                  </a:txBody>
                  <a:tcPr>
                    <a:solidFill>
                      <a:srgbClr val="F7FAF7"/>
                    </a:solidFill>
                  </a:tcPr>
                </a:tc>
                <a:tc>
                  <a:txBody>
                    <a:bodyPr/>
                    <a:lstStyle/>
                    <a:p>
                      <a:pPr algn="r">
                        <a:defRPr>
                          <a:latin typeface="Roboto"/>
                        </a:defRPr>
                      </a:pPr>
                      <a:r>
                        <a:rPr sz="1050">
                          <a:solidFill>
                            <a:srgbClr val="25342A"/>
                          </a:solidFill>
                          <a:latin typeface="Roboto"/>
                        </a:rPr>
                        <a:t>$3,430</a:t>
                      </a:r>
                    </a:p>
                  </a:txBody>
                  <a:tcPr>
                    <a:solidFill>
                      <a:srgbClr val="F7FAF7"/>
                    </a:solidFill>
                  </a:tcPr>
                </a:tc>
              </a:tr>
              <a:tr h="329184">
                <a:tc>
                  <a:txBody>
                    <a:bodyPr/>
                    <a:lstStyle/>
                    <a:p>
                      <a:pPr>
                        <a:defRPr>
                          <a:latin typeface="Roboto"/>
                        </a:defRPr>
                      </a:pPr>
                      <a:r>
                        <a:rPr sz="1050">
                          <a:solidFill>
                            <a:srgbClr val="25342A"/>
                          </a:solidFill>
                          <a:latin typeface="Roboto"/>
                        </a:rPr>
                        <a:t>Gross profit (the P&amp;L)</a:t>
                      </a:r>
                    </a:p>
                  </a:txBody>
                  <a:tcPr>
                    <a:solidFill>
                      <a:srgbClr val="FFFFFF"/>
                    </a:solidFill>
                  </a:tcPr>
                </a:tc>
                <a:tc>
                  <a:txBody>
                    <a:bodyPr/>
                    <a:lstStyle/>
                    <a:p>
                      <a:pPr algn="r">
                        <a:defRPr>
                          <a:latin typeface="Roboto"/>
                        </a:defRPr>
                      </a:pPr>
                      <a:r>
                        <a:rPr sz="1050">
                          <a:solidFill>
                            <a:srgbClr val="25342A"/>
                          </a:solidFill>
                          <a:latin typeface="Roboto"/>
                        </a:rPr>
                        <a:t>$69,677</a:t>
                      </a:r>
                    </a:p>
                  </a:txBody>
                  <a:tcPr>
                    <a:solidFill>
                      <a:srgbClr val="FFFFFF"/>
                    </a:solidFill>
                  </a:tcPr>
                </a:tc>
              </a:tr>
              <a:tr h="329184">
                <a:tc>
                  <a:txBody>
                    <a:bodyPr/>
                    <a:lstStyle/>
                    <a:p>
                      <a:pPr>
                        <a:defRPr>
                          <a:latin typeface="Roboto"/>
                        </a:defRPr>
                      </a:pPr>
                      <a:r>
                        <a:rPr sz="1050">
                          <a:solidFill>
                            <a:srgbClr val="25342A"/>
                          </a:solidFill>
                          <a:latin typeface="Roboto"/>
                        </a:rPr>
                        <a:t>Overheads (operating expenses, depreciation, interest)</a:t>
                      </a:r>
                    </a:p>
                  </a:txBody>
                  <a:tcPr>
                    <a:solidFill>
                      <a:srgbClr val="F7FAF7"/>
                    </a:solidFill>
                  </a:tcPr>
                </a:tc>
                <a:tc>
                  <a:txBody>
                    <a:bodyPr/>
                    <a:lstStyle/>
                    <a:p>
                      <a:pPr algn="r">
                        <a:defRPr>
                          <a:latin typeface="Roboto"/>
                        </a:defRPr>
                      </a:pPr>
                      <a:r>
                        <a:rPr sz="1050">
                          <a:solidFill>
                            <a:srgbClr val="25342A"/>
                          </a:solidFill>
                          <a:latin typeface="Roboto"/>
                        </a:rPr>
                        <a:t>$59,580</a:t>
                      </a:r>
                    </a:p>
                  </a:txBody>
                  <a:tcPr>
                    <a:solidFill>
                      <a:srgbClr val="F7FAF7"/>
                    </a:solidFill>
                  </a:tcPr>
                </a:tc>
              </a:tr>
              <a:tr h="329184">
                <a:tc>
                  <a:txBody>
                    <a:bodyPr/>
                    <a:lstStyle/>
                    <a:p>
                      <a:pPr>
                        <a:defRPr>
                          <a:latin typeface="Roboto"/>
                        </a:defRPr>
                      </a:pPr>
                      <a:r>
                        <a:rPr sz="1050">
                          <a:solidFill>
                            <a:srgbClr val="25342A"/>
                          </a:solidFill>
                          <a:latin typeface="Roboto"/>
                        </a:rPr>
                        <a:t>Profit before tax (the P&amp;L)</a:t>
                      </a:r>
                    </a:p>
                  </a:txBody>
                  <a:tcPr>
                    <a:solidFill>
                      <a:srgbClr val="FFFFFF"/>
                    </a:solidFill>
                  </a:tcPr>
                </a:tc>
                <a:tc>
                  <a:txBody>
                    <a:bodyPr/>
                    <a:lstStyle/>
                    <a:p>
                      <a:pPr algn="r">
                        <a:defRPr>
                          <a:latin typeface="Roboto"/>
                        </a:defRPr>
                      </a:pPr>
                      <a:r>
                        <a:rPr sz="1050">
                          <a:solidFill>
                            <a:srgbClr val="25342A"/>
                          </a:solidFill>
                          <a:latin typeface="Roboto"/>
                        </a:rPr>
                        <a:t>$10,097</a:t>
                      </a:r>
                    </a:p>
                  </a:txBody>
                  <a:tcPr>
                    <a:solidFill>
                      <a:srgbClr val="FFFFFF"/>
                    </a:solidFill>
                  </a:tcPr>
                </a:tc>
              </a:tr>
              <a:tr h="329184">
                <a:tc>
                  <a:txBody>
                    <a:bodyPr/>
                    <a:lstStyle/>
                    <a:p>
                      <a:pPr>
                        <a:defRPr>
                          <a:latin typeface="Roboto"/>
                        </a:defRPr>
                      </a:pPr>
                      <a:r>
                        <a:rPr sz="1050">
                          <a:solidFill>
                            <a:srgbClr val="25342A"/>
                          </a:solidFill>
                          <a:latin typeface="Roboto"/>
                        </a:rPr>
                        <a:t>Revenue</a:t>
                      </a:r>
                    </a:p>
                  </a:txBody>
                  <a:tcPr>
                    <a:solidFill>
                      <a:srgbClr val="F7FAF7"/>
                    </a:solidFill>
                  </a:tcPr>
                </a:tc>
                <a:tc>
                  <a:txBody>
                    <a:bodyPr/>
                    <a:lstStyle/>
                    <a:p>
                      <a:pPr algn="r">
                        <a:defRPr>
                          <a:latin typeface="Roboto"/>
                        </a:defRPr>
                      </a:pPr>
                      <a:r>
                        <a:rPr sz="1050">
                          <a:solidFill>
                            <a:srgbClr val="25342A"/>
                          </a:solidFill>
                          <a:latin typeface="Roboto"/>
                        </a:rPr>
                        <a:t>$202,337</a:t>
                      </a:r>
                    </a:p>
                  </a:txBody>
                  <a:tcPr>
                    <a:solidFill>
                      <a:srgbClr val="F7FAF7"/>
                    </a:solidFill>
                  </a:tcPr>
                </a:tc>
              </a:tr>
              <a:tr h="329184">
                <a:tc>
                  <a:txBody>
                    <a:bodyPr/>
                    <a:lstStyle/>
                    <a:p>
                      <a:pPr>
                        <a:defRPr>
                          <a:latin typeface="Roboto"/>
                        </a:defRPr>
                      </a:pPr>
                      <a:r>
                        <a:rPr sz="1050">
                          <a:solidFill>
                            <a:srgbClr val="25342A"/>
                          </a:solidFill>
                          <a:latin typeface="Roboto"/>
                        </a:rPr>
                        <a:t>Gross margin on jobs, %</a:t>
                      </a:r>
                    </a:p>
                  </a:txBody>
                  <a:tcPr>
                    <a:solidFill>
                      <a:srgbClr val="FFFFFF"/>
                    </a:solidFill>
                  </a:tcPr>
                </a:tc>
                <a:tc>
                  <a:txBody>
                    <a:bodyPr/>
                    <a:lstStyle/>
                    <a:p>
                      <a:pPr algn="r">
                        <a:defRPr>
                          <a:latin typeface="Roboto"/>
                        </a:defRPr>
                      </a:pPr>
                      <a:r>
                        <a:rPr sz="1050">
                          <a:solidFill>
                            <a:srgbClr val="25342A"/>
                          </a:solidFill>
                          <a:latin typeface="Roboto"/>
                        </a:rPr>
                        <a:t>36.1%</a:t>
                      </a:r>
                    </a:p>
                  </a:txBody>
                  <a:tcPr>
                    <a:solidFill>
                      <a:srgbClr val="FFFFFF"/>
                    </a:solidFill>
                  </a:tcPr>
                </a:tc>
              </a:tr>
              <a:tr h="329184">
                <a:tc>
                  <a:txBody>
                    <a:bodyPr/>
                    <a:lstStyle/>
                    <a:p>
                      <a:pPr>
                        <a:defRPr>
                          <a:latin typeface="Roboto"/>
                        </a:defRPr>
                      </a:pPr>
                      <a:r>
                        <a:rPr sz="1050">
                          <a:solidFill>
                            <a:srgbClr val="25342A"/>
                          </a:solidFill>
                          <a:latin typeface="Roboto"/>
                        </a:rPr>
                        <a:t>Profit before tax, % of revenue</a:t>
                      </a:r>
                    </a:p>
                  </a:txBody>
                  <a:tcPr>
                    <a:solidFill>
                      <a:srgbClr val="F7FAF7"/>
                    </a:solidFill>
                  </a:tcPr>
                </a:tc>
                <a:tc>
                  <a:txBody>
                    <a:bodyPr/>
                    <a:lstStyle/>
                    <a:p>
                      <a:pPr algn="r">
                        <a:defRPr>
                          <a:latin typeface="Roboto"/>
                        </a:defRPr>
                      </a:pPr>
                      <a:r>
                        <a:rPr sz="1050">
                          <a:solidFill>
                            <a:srgbClr val="25342A"/>
                          </a:solidFill>
                          <a:latin typeface="Roboto"/>
                        </a:rPr>
                        <a:t>5.0%</a:t>
                      </a:r>
                    </a:p>
                  </a:txBody>
                  <a:tcPr>
                    <a:solidFill>
                      <a:srgbClr val="F7FAF7"/>
                    </a:solidFill>
                  </a:tcPr>
                </a:tc>
              </a:tr>
              <a:tr h="329184">
                <a:tc>
                  <a:txBody>
                    <a:bodyPr/>
                    <a:lstStyle/>
                    <a:p>
                      <a:pPr>
                        <a:defRPr>
                          <a:latin typeface="Roboto"/>
                        </a:defRPr>
                      </a:pPr>
                      <a:r>
                        <a:rPr sz="1050">
                          <a:solidFill>
                            <a:srgbClr val="25342A"/>
                          </a:solidFill>
                          <a:latin typeface="Roboto"/>
                        </a:rPr>
                        <a:t>Gross margin jobs need just to cover overheads and time not charged</a:t>
                      </a:r>
                    </a:p>
                  </a:txBody>
                  <a:tcPr>
                    <a:solidFill>
                      <a:srgbClr val="FFFFFF"/>
                    </a:solidFill>
                  </a:tcPr>
                </a:tc>
                <a:tc>
                  <a:txBody>
                    <a:bodyPr/>
                    <a:lstStyle/>
                    <a:p>
                      <a:pPr algn="r">
                        <a:defRPr>
                          <a:latin typeface="Roboto"/>
                        </a:defRPr>
                      </a:pPr>
                      <a:r>
                        <a:rPr sz="1050">
                          <a:solidFill>
                            <a:srgbClr val="25342A"/>
                          </a:solidFill>
                          <a:latin typeface="Roboto"/>
                        </a:rPr>
                        <a:t>31.1%</a:t>
                      </a:r>
                    </a:p>
                  </a:txBody>
                  <a:tcPr>
                    <a:solidFill>
                      <a:srgbClr val="FFFFFF"/>
                    </a:solidFill>
                  </a:tcPr>
                </a:tc>
              </a:tr>
            </a:tbl>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3 of 21</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Headline numbers · Type of job: All jobs</a:t>
            </a:r>
          </a:p>
        </p:txBody>
      </p:sp>
      <p:sp>
        <p:nvSpPr>
          <p:cNvPr id="5" name="Rectangle 4"/>
          <p:cNvSpPr/>
          <p:nvPr/>
        </p:nvSpPr>
        <p:spPr>
          <a:xfrm>
            <a:off x="457200"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40080"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Job gross margin, October so far · All jobs</a:t>
            </a:r>
          </a:p>
        </p:txBody>
      </p:sp>
      <p:sp>
        <p:nvSpPr>
          <p:cNvPr id="7" name="TextBox 6"/>
          <p:cNvSpPr txBox="1"/>
          <p:nvPr/>
        </p:nvSpPr>
        <p:spPr>
          <a:xfrm>
            <a:off x="640080"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42.8%</a:t>
            </a:r>
          </a:p>
        </p:txBody>
      </p:sp>
      <p:sp>
        <p:nvSpPr>
          <p:cNvPr id="8" name="TextBox 7"/>
          <p:cNvSpPr txBox="1"/>
          <p:nvPr/>
        </p:nvSpPr>
        <p:spPr>
          <a:xfrm>
            <a:off x="640080"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target 35.0%</a:t>
            </a:r>
          </a:p>
        </p:txBody>
      </p:sp>
      <p:sp>
        <p:nvSpPr>
          <p:cNvPr id="9" name="Rectangle 8"/>
          <p:cNvSpPr/>
          <p:nvPr/>
        </p:nvSpPr>
        <p:spPr>
          <a:xfrm>
            <a:off x="4307738"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0" name="TextBox 9"/>
          <p:cNvSpPr txBox="1"/>
          <p:nvPr/>
        </p:nvSpPr>
        <p:spPr>
          <a:xfrm>
            <a:off x="4490618"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Job gross margin, September · All jobs</a:t>
            </a:r>
          </a:p>
        </p:txBody>
      </p:sp>
      <p:sp>
        <p:nvSpPr>
          <p:cNvPr id="11" name="TextBox 10"/>
          <p:cNvSpPr txBox="1"/>
          <p:nvPr/>
        </p:nvSpPr>
        <p:spPr>
          <a:xfrm>
            <a:off x="4490618"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36.1%</a:t>
            </a:r>
          </a:p>
        </p:txBody>
      </p:sp>
      <p:sp>
        <p:nvSpPr>
          <p:cNvPr id="12" name="TextBox 11"/>
          <p:cNvSpPr txBox="1"/>
          <p:nvPr/>
        </p:nvSpPr>
        <p:spPr>
          <a:xfrm>
            <a:off x="4490618"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target 35.0%</a:t>
            </a:r>
          </a:p>
        </p:txBody>
      </p:sp>
      <p:sp>
        <p:nvSpPr>
          <p:cNvPr id="13" name="Rectangle 12"/>
          <p:cNvSpPr/>
          <p:nvPr/>
        </p:nvSpPr>
        <p:spPr>
          <a:xfrm>
            <a:off x="8158276"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4" name="TextBox 13"/>
          <p:cNvSpPr txBox="1"/>
          <p:nvPr/>
        </p:nvSpPr>
        <p:spPr>
          <a:xfrm>
            <a:off x="8341156"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Gross margin jobs need to break even</a:t>
            </a:r>
          </a:p>
        </p:txBody>
      </p:sp>
      <p:sp>
        <p:nvSpPr>
          <p:cNvPr id="15" name="TextBox 14"/>
          <p:cNvSpPr txBox="1"/>
          <p:nvPr/>
        </p:nvSpPr>
        <p:spPr>
          <a:xfrm>
            <a:off x="8341156"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31.1%</a:t>
            </a:r>
          </a:p>
        </p:txBody>
      </p:sp>
      <p:sp>
        <p:nvSpPr>
          <p:cNvPr id="16" name="TextBox 15"/>
          <p:cNvSpPr txBox="1"/>
          <p:nvPr/>
        </p:nvSpPr>
        <p:spPr>
          <a:xfrm>
            <a:off x="8341156"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covers overheads and time not charged (September)</a:t>
            </a:r>
          </a:p>
        </p:txBody>
      </p:sp>
      <p:sp>
        <p:nvSpPr>
          <p:cNvPr id="17" name="TextBox 1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18" name="TextBox 1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9" name="TextBox 1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4 of 21</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Job gross margin by type of job, October 2026 to date · Gross margin % · Type of job: All jobs</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Revenue less materials, subcontractors and technician time at $68/hour. Target 35.0% is what to price for; break-even 31.1% only covers overheads and time not charged.</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172200"/>
            <a:ext cx="10972800" cy="274320"/>
          </a:xfrm>
          <a:prstGeom prst="rect">
            <a:avLst/>
          </a:prstGeom>
          <a:noFill/>
        </p:spPr>
        <p:txBody>
          <a:bodyPr wrap="square">
            <a:spAutoFit/>
          </a:bodyPr>
          <a:lstStyle/>
          <a:p>
            <a:pPr>
              <a:defRPr>
                <a:latin typeface="Roboto"/>
              </a:defRPr>
            </a:pPr>
            <a:r>
              <a:rPr sz="1000" b="0">
                <a:solidFill>
                  <a:srgbClr val="5F6F63"/>
                </a:solidFill>
                <a:latin typeface="Roboto"/>
              </a:rPr>
              <a:t>Target 35.0%  ·  grey = below target</a:t>
            </a:r>
          </a:p>
        </p:txBody>
      </p:sp>
      <p:sp>
        <p:nvSpPr>
          <p:cNvPr id="8" name="TextBox 7"/>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9" name="TextBox 8"/>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0" name="TextBox 9"/>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5 of 21</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Job gross margin by type of job, October 2026 to date · Gross margin $ · Type of job: All jobs</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Revenue less materials, subcontractors and technician time at $68/hour. Target 35.0% is what to price for; break-even 31.1% only covers overheads and time not charged.</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6 of 21</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What it shows · Type of job: All jobs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In October so far maintenance contracts made a 59.5% job gross margin, installations made a 22.0% job gross margin, call-outs and repairs made a 45.0% job gross margin (technician time at $68 an hour, wages and all on-costs). Jobs need 31.1% just to cover overheads.</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9" name="TextBox 8"/>
          <p:cNvSpPr txBox="1"/>
          <p:nvPr/>
        </p:nvSpPr>
        <p:spPr>
          <a:xfrm>
            <a:off x="6461607"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Installations: 22.0% gross margin, 13.0 points under the 35.0% target: about $4,292 on $33,000 of revenue in October so far. It's below the 31.1% needed to cover overheads, too. Maintenance contracts: 59.5% gross margin, 24.5 points over the 35.0% target ($9,941 ahead on $40,500 in October so far).</a:t>
            </a:r>
          </a:p>
        </p:txBody>
      </p:sp>
      <p:sp>
        <p:nvSpPr>
          <p:cNvPr id="11" name="TextBox 10"/>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7 of 21</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Headline numbers · Type of job: Maintenance contracts</a:t>
            </a:r>
          </a:p>
        </p:txBody>
      </p:sp>
      <p:sp>
        <p:nvSpPr>
          <p:cNvPr id="5" name="Rectangle 4"/>
          <p:cNvSpPr/>
          <p:nvPr/>
        </p:nvSpPr>
        <p:spPr>
          <a:xfrm>
            <a:off x="457200"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40080"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Job gross margin, October so far · Maintenance contracts</a:t>
            </a:r>
          </a:p>
        </p:txBody>
      </p:sp>
      <p:sp>
        <p:nvSpPr>
          <p:cNvPr id="7" name="TextBox 6"/>
          <p:cNvSpPr txBox="1"/>
          <p:nvPr/>
        </p:nvSpPr>
        <p:spPr>
          <a:xfrm>
            <a:off x="640080"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59.5%</a:t>
            </a:r>
          </a:p>
        </p:txBody>
      </p:sp>
      <p:sp>
        <p:nvSpPr>
          <p:cNvPr id="8" name="TextBox 7"/>
          <p:cNvSpPr txBox="1"/>
          <p:nvPr/>
        </p:nvSpPr>
        <p:spPr>
          <a:xfrm>
            <a:off x="640080"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target 35.0%</a:t>
            </a:r>
          </a:p>
        </p:txBody>
      </p:sp>
      <p:sp>
        <p:nvSpPr>
          <p:cNvPr id="9" name="Rectangle 8"/>
          <p:cNvSpPr/>
          <p:nvPr/>
        </p:nvSpPr>
        <p:spPr>
          <a:xfrm>
            <a:off x="4307738"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0" name="TextBox 9"/>
          <p:cNvSpPr txBox="1"/>
          <p:nvPr/>
        </p:nvSpPr>
        <p:spPr>
          <a:xfrm>
            <a:off x="4490618"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Job gross margin, September · Maintenance contracts</a:t>
            </a:r>
          </a:p>
        </p:txBody>
      </p:sp>
      <p:sp>
        <p:nvSpPr>
          <p:cNvPr id="11" name="TextBox 10"/>
          <p:cNvSpPr txBox="1"/>
          <p:nvPr/>
        </p:nvSpPr>
        <p:spPr>
          <a:xfrm>
            <a:off x="4490618"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59.5%</a:t>
            </a:r>
          </a:p>
        </p:txBody>
      </p:sp>
      <p:sp>
        <p:nvSpPr>
          <p:cNvPr id="12" name="TextBox 11"/>
          <p:cNvSpPr txBox="1"/>
          <p:nvPr/>
        </p:nvSpPr>
        <p:spPr>
          <a:xfrm>
            <a:off x="4490618"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target 35.0%</a:t>
            </a:r>
          </a:p>
        </p:txBody>
      </p:sp>
      <p:sp>
        <p:nvSpPr>
          <p:cNvPr id="13" name="Rectangle 12"/>
          <p:cNvSpPr/>
          <p:nvPr/>
        </p:nvSpPr>
        <p:spPr>
          <a:xfrm>
            <a:off x="8158276"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4" name="TextBox 13"/>
          <p:cNvSpPr txBox="1"/>
          <p:nvPr/>
        </p:nvSpPr>
        <p:spPr>
          <a:xfrm>
            <a:off x="8341156"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Gross margin jobs need to break even</a:t>
            </a:r>
          </a:p>
        </p:txBody>
      </p:sp>
      <p:sp>
        <p:nvSpPr>
          <p:cNvPr id="15" name="TextBox 14"/>
          <p:cNvSpPr txBox="1"/>
          <p:nvPr/>
        </p:nvSpPr>
        <p:spPr>
          <a:xfrm>
            <a:off x="8341156"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31.1%</a:t>
            </a:r>
          </a:p>
        </p:txBody>
      </p:sp>
      <p:sp>
        <p:nvSpPr>
          <p:cNvPr id="16" name="TextBox 15"/>
          <p:cNvSpPr txBox="1"/>
          <p:nvPr/>
        </p:nvSpPr>
        <p:spPr>
          <a:xfrm>
            <a:off x="8341156"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covers overheads and time not charged (September)</a:t>
            </a:r>
          </a:p>
        </p:txBody>
      </p:sp>
      <p:sp>
        <p:nvSpPr>
          <p:cNvPr id="17" name="TextBox 1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18" name="TextBox 1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9" name="TextBox 1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8 of 21</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Job gross margin on each maintenance contract, October 2026 to date · Gross margin % · Type of job: Maintenance contracts</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The month's fee less materials and technician time at $68/hour. Target 35.0% is what to price for; break-even 31.1% only covers overheads and time not charged.</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172200"/>
            <a:ext cx="10972800" cy="274320"/>
          </a:xfrm>
          <a:prstGeom prst="rect">
            <a:avLst/>
          </a:prstGeom>
          <a:noFill/>
        </p:spPr>
        <p:txBody>
          <a:bodyPr wrap="square">
            <a:spAutoFit/>
          </a:bodyPr>
          <a:lstStyle/>
          <a:p>
            <a:pPr>
              <a:defRPr>
                <a:latin typeface="Roboto"/>
              </a:defRPr>
            </a:pPr>
            <a:r>
              <a:rPr sz="1000" b="0">
                <a:solidFill>
                  <a:srgbClr val="5F6F63"/>
                </a:solidFill>
                <a:latin typeface="Roboto"/>
              </a:rPr>
              <a:t>Target 35.0%  ·  grey = below target</a:t>
            </a:r>
          </a:p>
        </p:txBody>
      </p:sp>
      <p:sp>
        <p:nvSpPr>
          <p:cNvPr id="8" name="TextBox 7"/>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9" name="TextBox 8"/>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0" name="TextBox 9"/>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9 of 21</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Job gross margin on each maintenance contract, October 2026 to date · Gross margin $ · Type of job: Maintenance contracts</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The month's fee less materials and technician time at $68/hour. Target 35.0% is what to price for; break-even 31.1% only covers overheads and time not charged.</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10 of 21</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What it shows · Type of job: Maintenance contracts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All 14 contracts made more than the 35.0% job gross margin target. The thinnest was Kangaroo Point townhouses at 58.2% job gross margin: 14.0 h of technician time on a $2,400 monthly fee.</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9" name="TextBox 8"/>
          <p:cNvSpPr txBox="1"/>
          <p:nvPr/>
        </p:nvSpPr>
        <p:spPr>
          <a:xfrm>
            <a:off x="6461607"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The thinnest, Kangaroo Point townhouses: 58.2% gross margin, 23.3 points over the 35.0% target ($558 ahead on $2,400 in October so far). All maintenance contracts: 59.5% gross margin, 24.5 points over the 35.0% target ($9,941 ahead on $40,500 in October so far).</a:t>
            </a:r>
          </a:p>
        </p:txBody>
      </p:sp>
      <p:sp>
        <p:nvSpPr>
          <p:cNvPr id="11" name="TextBox 10"/>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11 of 21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Headline numbers · Type of job: Installations</a:t>
            </a:r>
          </a:p>
        </p:txBody>
      </p:sp>
      <p:sp>
        <p:nvSpPr>
          <p:cNvPr id="5" name="Rectangle 4"/>
          <p:cNvSpPr/>
          <p:nvPr/>
        </p:nvSpPr>
        <p:spPr>
          <a:xfrm>
            <a:off x="457200"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40080"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Job gross margin, October so far · Installations</a:t>
            </a:r>
          </a:p>
        </p:txBody>
      </p:sp>
      <p:sp>
        <p:nvSpPr>
          <p:cNvPr id="7" name="TextBox 6"/>
          <p:cNvSpPr txBox="1"/>
          <p:nvPr/>
        </p:nvSpPr>
        <p:spPr>
          <a:xfrm>
            <a:off x="640080"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22.0%</a:t>
            </a:r>
          </a:p>
        </p:txBody>
      </p:sp>
      <p:sp>
        <p:nvSpPr>
          <p:cNvPr id="8" name="TextBox 7"/>
          <p:cNvSpPr txBox="1"/>
          <p:nvPr/>
        </p:nvSpPr>
        <p:spPr>
          <a:xfrm>
            <a:off x="640080"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target 35.0%</a:t>
            </a:r>
          </a:p>
        </p:txBody>
      </p:sp>
      <p:sp>
        <p:nvSpPr>
          <p:cNvPr id="9" name="Rectangle 8"/>
          <p:cNvSpPr/>
          <p:nvPr/>
        </p:nvSpPr>
        <p:spPr>
          <a:xfrm>
            <a:off x="4307738"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0" name="TextBox 9"/>
          <p:cNvSpPr txBox="1"/>
          <p:nvPr/>
        </p:nvSpPr>
        <p:spPr>
          <a:xfrm>
            <a:off x="4490618"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Job gross margin, September · Installations</a:t>
            </a:r>
          </a:p>
        </p:txBody>
      </p:sp>
      <p:sp>
        <p:nvSpPr>
          <p:cNvPr id="11" name="TextBox 10"/>
          <p:cNvSpPr txBox="1"/>
          <p:nvPr/>
        </p:nvSpPr>
        <p:spPr>
          <a:xfrm>
            <a:off x="4490618"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27.0%</a:t>
            </a:r>
          </a:p>
        </p:txBody>
      </p:sp>
      <p:sp>
        <p:nvSpPr>
          <p:cNvPr id="12" name="TextBox 11"/>
          <p:cNvSpPr txBox="1"/>
          <p:nvPr/>
        </p:nvSpPr>
        <p:spPr>
          <a:xfrm>
            <a:off x="4490618"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target 35.0%</a:t>
            </a:r>
          </a:p>
        </p:txBody>
      </p:sp>
      <p:sp>
        <p:nvSpPr>
          <p:cNvPr id="13" name="Rectangle 12"/>
          <p:cNvSpPr/>
          <p:nvPr/>
        </p:nvSpPr>
        <p:spPr>
          <a:xfrm>
            <a:off x="8158276"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4" name="TextBox 13"/>
          <p:cNvSpPr txBox="1"/>
          <p:nvPr/>
        </p:nvSpPr>
        <p:spPr>
          <a:xfrm>
            <a:off x="8341156"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Gross margin jobs need to break even</a:t>
            </a:r>
          </a:p>
        </p:txBody>
      </p:sp>
      <p:sp>
        <p:nvSpPr>
          <p:cNvPr id="15" name="TextBox 14"/>
          <p:cNvSpPr txBox="1"/>
          <p:nvPr/>
        </p:nvSpPr>
        <p:spPr>
          <a:xfrm>
            <a:off x="8341156"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31.1%</a:t>
            </a:r>
          </a:p>
        </p:txBody>
      </p:sp>
      <p:sp>
        <p:nvSpPr>
          <p:cNvPr id="16" name="TextBox 15"/>
          <p:cNvSpPr txBox="1"/>
          <p:nvPr/>
        </p:nvSpPr>
        <p:spPr>
          <a:xfrm>
            <a:off x="8341156"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covers overheads and time not charged (September)</a:t>
            </a:r>
          </a:p>
        </p:txBody>
      </p:sp>
      <p:sp>
        <p:nvSpPr>
          <p:cNvPr id="17" name="TextBox 1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18" name="TextBox 1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9" name="TextBox 1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12 of 21</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Job gross margin on each installation invoiced in October 2026 to date · Gross margin % · Type of job: Installations</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Whole job, recognised when invoiced: revenue less materials, subcontractors and technician time at $68/hour. One target for every job for now. Target 35.0% is what to price for; break-even 31.1% only covers overheads and time not charged.</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172200"/>
            <a:ext cx="10972800" cy="274320"/>
          </a:xfrm>
          <a:prstGeom prst="rect">
            <a:avLst/>
          </a:prstGeom>
          <a:noFill/>
        </p:spPr>
        <p:txBody>
          <a:bodyPr wrap="square">
            <a:spAutoFit/>
          </a:bodyPr>
          <a:lstStyle/>
          <a:p>
            <a:pPr>
              <a:defRPr>
                <a:latin typeface="Roboto"/>
              </a:defRPr>
            </a:pPr>
            <a:r>
              <a:rPr sz="1000" b="0">
                <a:solidFill>
                  <a:srgbClr val="5F6F63"/>
                </a:solidFill>
                <a:latin typeface="Roboto"/>
              </a:rPr>
              <a:t>Target 35.0%  ·  grey = below target</a:t>
            </a:r>
          </a:p>
        </p:txBody>
      </p:sp>
      <p:sp>
        <p:nvSpPr>
          <p:cNvPr id="8" name="TextBox 7"/>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9" name="TextBox 8"/>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0" name="TextBox 9"/>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13 of 21</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Job gross margin on each installation invoiced in October 2026 to date · Gross margin $ · Type of job: Installations</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Whole job, recognised when invoiced: revenue less materials, subcontractors and technician time at $68/hour. One target for every job for now. Target 35.0% is what to price for; break-even 31.1% only covers overheads and time not charged.</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14 of 21</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What it shows · Type of job: Installations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1 of the 1 installation jobs invoiced in October so far made less than the 35.0% job gross margin target. The Morningside house air-con install made a 22.0% job gross margin: 131.5 h of technician time ($8,942) and $2,300 of subcontractors on a $33,000 job. Jobs need 31.1% gross margin just to cover overheads.</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9" name="TextBox 8"/>
          <p:cNvSpPr txBox="1"/>
          <p:nvPr/>
        </p:nvSpPr>
        <p:spPr>
          <a:xfrm>
            <a:off x="6461607"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1 installation under the 35.0% target, worth about $4,292 between them on $33,000 of revenue. The biggest gap, Morningside house air-con install: 22.0% gross margin, 13.0 points under the 35.0% target: about $4,292 on $33,000 of revenue in October so far. It's below the 31.1% needed to cover overheads, too.</a:t>
            </a:r>
          </a:p>
        </p:txBody>
      </p:sp>
      <p:sp>
        <p:nvSpPr>
          <p:cNvPr id="11" name="TextBox 10"/>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15 of 21</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Headline numbers · Type of job: Call-outs and repairs</a:t>
            </a:r>
          </a:p>
        </p:txBody>
      </p:sp>
      <p:sp>
        <p:nvSpPr>
          <p:cNvPr id="5" name="Rectangle 4"/>
          <p:cNvSpPr/>
          <p:nvPr/>
        </p:nvSpPr>
        <p:spPr>
          <a:xfrm>
            <a:off x="457200" y="1645920"/>
            <a:ext cx="2036003"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40080" y="1783080"/>
            <a:ext cx="1670243" cy="457200"/>
          </a:xfrm>
          <a:prstGeom prst="rect">
            <a:avLst/>
          </a:prstGeom>
          <a:noFill/>
        </p:spPr>
        <p:txBody>
          <a:bodyPr wrap="square">
            <a:spAutoFit/>
          </a:bodyPr>
          <a:lstStyle/>
          <a:p>
            <a:pPr>
              <a:defRPr>
                <a:latin typeface="Roboto"/>
              </a:defRPr>
            </a:pPr>
            <a:r>
              <a:rPr sz="1200" b="0">
                <a:solidFill>
                  <a:srgbClr val="5F6F63"/>
                </a:solidFill>
                <a:latin typeface="Roboto"/>
              </a:rPr>
              <a:t>Job gross margin, October so far · Call-outs and repairs</a:t>
            </a:r>
          </a:p>
        </p:txBody>
      </p:sp>
      <p:sp>
        <p:nvSpPr>
          <p:cNvPr id="7" name="TextBox 6"/>
          <p:cNvSpPr txBox="1"/>
          <p:nvPr/>
        </p:nvSpPr>
        <p:spPr>
          <a:xfrm>
            <a:off x="640080" y="2240280"/>
            <a:ext cx="1670243" cy="731520"/>
          </a:xfrm>
          <a:prstGeom prst="rect">
            <a:avLst/>
          </a:prstGeom>
          <a:noFill/>
        </p:spPr>
        <p:txBody>
          <a:bodyPr wrap="square">
            <a:spAutoFit/>
          </a:bodyPr>
          <a:lstStyle/>
          <a:p>
            <a:pPr>
              <a:defRPr>
                <a:latin typeface="Roboto"/>
              </a:defRPr>
            </a:pPr>
            <a:r>
              <a:rPr sz="3000" b="1">
                <a:solidFill>
                  <a:srgbClr val="2F7A5D"/>
                </a:solidFill>
                <a:latin typeface="Roboto"/>
              </a:rPr>
              <a:t>45.0%</a:t>
            </a:r>
          </a:p>
        </p:txBody>
      </p:sp>
      <p:sp>
        <p:nvSpPr>
          <p:cNvPr id="8" name="TextBox 7"/>
          <p:cNvSpPr txBox="1"/>
          <p:nvPr/>
        </p:nvSpPr>
        <p:spPr>
          <a:xfrm>
            <a:off x="640080" y="3017520"/>
            <a:ext cx="1670243" cy="548640"/>
          </a:xfrm>
          <a:prstGeom prst="rect">
            <a:avLst/>
          </a:prstGeom>
          <a:noFill/>
        </p:spPr>
        <p:txBody>
          <a:bodyPr wrap="square">
            <a:spAutoFit/>
          </a:bodyPr>
          <a:lstStyle/>
          <a:p>
            <a:pPr>
              <a:defRPr>
                <a:latin typeface="Roboto"/>
              </a:defRPr>
            </a:pPr>
            <a:r>
              <a:rPr sz="1100" b="0">
                <a:solidFill>
                  <a:srgbClr val="5F6F63"/>
                </a:solidFill>
                <a:latin typeface="Roboto"/>
              </a:rPr>
              <a:t>target 35.0%</a:t>
            </a:r>
          </a:p>
        </p:txBody>
      </p:sp>
      <p:sp>
        <p:nvSpPr>
          <p:cNvPr id="9" name="Rectangle 8"/>
          <p:cNvSpPr/>
          <p:nvPr/>
        </p:nvSpPr>
        <p:spPr>
          <a:xfrm>
            <a:off x="2767523" y="1645920"/>
            <a:ext cx="2036003"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0" name="TextBox 9"/>
          <p:cNvSpPr txBox="1"/>
          <p:nvPr/>
        </p:nvSpPr>
        <p:spPr>
          <a:xfrm>
            <a:off x="2950403" y="1783080"/>
            <a:ext cx="1670243" cy="457200"/>
          </a:xfrm>
          <a:prstGeom prst="rect">
            <a:avLst/>
          </a:prstGeom>
          <a:noFill/>
        </p:spPr>
        <p:txBody>
          <a:bodyPr wrap="square">
            <a:spAutoFit/>
          </a:bodyPr>
          <a:lstStyle/>
          <a:p>
            <a:pPr>
              <a:defRPr>
                <a:latin typeface="Roboto"/>
              </a:defRPr>
            </a:pPr>
            <a:r>
              <a:rPr sz="1200" b="0">
                <a:solidFill>
                  <a:srgbClr val="5F6F63"/>
                </a:solidFill>
                <a:latin typeface="Roboto"/>
              </a:rPr>
              <a:t>Job gross margin, September · Call-outs and repairs</a:t>
            </a:r>
          </a:p>
        </p:txBody>
      </p:sp>
      <p:sp>
        <p:nvSpPr>
          <p:cNvPr id="11" name="TextBox 10"/>
          <p:cNvSpPr txBox="1"/>
          <p:nvPr/>
        </p:nvSpPr>
        <p:spPr>
          <a:xfrm>
            <a:off x="2950403" y="2240280"/>
            <a:ext cx="1670243" cy="731520"/>
          </a:xfrm>
          <a:prstGeom prst="rect">
            <a:avLst/>
          </a:prstGeom>
          <a:noFill/>
        </p:spPr>
        <p:txBody>
          <a:bodyPr wrap="square">
            <a:spAutoFit/>
          </a:bodyPr>
          <a:lstStyle/>
          <a:p>
            <a:pPr>
              <a:defRPr>
                <a:latin typeface="Roboto"/>
              </a:defRPr>
            </a:pPr>
            <a:r>
              <a:rPr sz="3000" b="1">
                <a:solidFill>
                  <a:srgbClr val="2F7A5D"/>
                </a:solidFill>
                <a:latin typeface="Roboto"/>
              </a:rPr>
              <a:t>43.9%</a:t>
            </a:r>
          </a:p>
        </p:txBody>
      </p:sp>
      <p:sp>
        <p:nvSpPr>
          <p:cNvPr id="12" name="TextBox 11"/>
          <p:cNvSpPr txBox="1"/>
          <p:nvPr/>
        </p:nvSpPr>
        <p:spPr>
          <a:xfrm>
            <a:off x="2950403" y="3017520"/>
            <a:ext cx="1670243" cy="548640"/>
          </a:xfrm>
          <a:prstGeom prst="rect">
            <a:avLst/>
          </a:prstGeom>
          <a:noFill/>
        </p:spPr>
        <p:txBody>
          <a:bodyPr wrap="square">
            <a:spAutoFit/>
          </a:bodyPr>
          <a:lstStyle/>
          <a:p>
            <a:pPr>
              <a:defRPr>
                <a:latin typeface="Roboto"/>
              </a:defRPr>
            </a:pPr>
            <a:r>
              <a:rPr sz="1100" b="0">
                <a:solidFill>
                  <a:srgbClr val="5F6F63"/>
                </a:solidFill>
                <a:latin typeface="Roboto"/>
              </a:rPr>
              <a:t>target 35.0%</a:t>
            </a:r>
          </a:p>
        </p:txBody>
      </p:sp>
      <p:sp>
        <p:nvSpPr>
          <p:cNvPr id="13" name="Rectangle 12"/>
          <p:cNvSpPr/>
          <p:nvPr/>
        </p:nvSpPr>
        <p:spPr>
          <a:xfrm>
            <a:off x="5077846" y="1645920"/>
            <a:ext cx="2036003"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4" name="TextBox 13"/>
          <p:cNvSpPr txBox="1"/>
          <p:nvPr/>
        </p:nvSpPr>
        <p:spPr>
          <a:xfrm>
            <a:off x="5260726" y="1783080"/>
            <a:ext cx="1670243" cy="457200"/>
          </a:xfrm>
          <a:prstGeom prst="rect">
            <a:avLst/>
          </a:prstGeom>
          <a:noFill/>
        </p:spPr>
        <p:txBody>
          <a:bodyPr wrap="square">
            <a:spAutoFit/>
          </a:bodyPr>
          <a:lstStyle/>
          <a:p>
            <a:pPr>
              <a:defRPr>
                <a:latin typeface="Roboto"/>
              </a:defRPr>
            </a:pPr>
            <a:r>
              <a:rPr sz="1200" b="0">
                <a:solidFill>
                  <a:srgbClr val="5F6F63"/>
                </a:solidFill>
                <a:latin typeface="Roboto"/>
              </a:rPr>
              <a:t>Gross margin jobs need to break even</a:t>
            </a:r>
          </a:p>
        </p:txBody>
      </p:sp>
      <p:sp>
        <p:nvSpPr>
          <p:cNvPr id="15" name="TextBox 14"/>
          <p:cNvSpPr txBox="1"/>
          <p:nvPr/>
        </p:nvSpPr>
        <p:spPr>
          <a:xfrm>
            <a:off x="5260726" y="2240280"/>
            <a:ext cx="1670243" cy="731520"/>
          </a:xfrm>
          <a:prstGeom prst="rect">
            <a:avLst/>
          </a:prstGeom>
          <a:noFill/>
        </p:spPr>
        <p:txBody>
          <a:bodyPr wrap="square">
            <a:spAutoFit/>
          </a:bodyPr>
          <a:lstStyle/>
          <a:p>
            <a:pPr>
              <a:defRPr>
                <a:latin typeface="Roboto"/>
              </a:defRPr>
            </a:pPr>
            <a:r>
              <a:rPr sz="3000" b="1">
                <a:solidFill>
                  <a:srgbClr val="2F7A5D"/>
                </a:solidFill>
                <a:latin typeface="Roboto"/>
              </a:rPr>
              <a:t>31.1%</a:t>
            </a:r>
          </a:p>
        </p:txBody>
      </p:sp>
      <p:sp>
        <p:nvSpPr>
          <p:cNvPr id="16" name="TextBox 15"/>
          <p:cNvSpPr txBox="1"/>
          <p:nvPr/>
        </p:nvSpPr>
        <p:spPr>
          <a:xfrm>
            <a:off x="5260726" y="3017520"/>
            <a:ext cx="1670243" cy="548640"/>
          </a:xfrm>
          <a:prstGeom prst="rect">
            <a:avLst/>
          </a:prstGeom>
          <a:noFill/>
        </p:spPr>
        <p:txBody>
          <a:bodyPr wrap="square">
            <a:spAutoFit/>
          </a:bodyPr>
          <a:lstStyle/>
          <a:p>
            <a:pPr>
              <a:defRPr>
                <a:latin typeface="Roboto"/>
              </a:defRPr>
            </a:pPr>
            <a:r>
              <a:rPr sz="1100" b="0">
                <a:solidFill>
                  <a:srgbClr val="5F6F63"/>
                </a:solidFill>
                <a:latin typeface="Roboto"/>
              </a:rPr>
              <a:t>covers overheads and time not charged (September)</a:t>
            </a:r>
          </a:p>
        </p:txBody>
      </p:sp>
      <p:sp>
        <p:nvSpPr>
          <p:cNvPr id="17" name="Rectangle 16"/>
          <p:cNvSpPr/>
          <p:nvPr/>
        </p:nvSpPr>
        <p:spPr>
          <a:xfrm>
            <a:off x="7388169" y="1645920"/>
            <a:ext cx="2036003"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8" name="TextBox 17"/>
          <p:cNvSpPr txBox="1"/>
          <p:nvPr/>
        </p:nvSpPr>
        <p:spPr>
          <a:xfrm>
            <a:off x="7571049" y="1783080"/>
            <a:ext cx="1670243" cy="457200"/>
          </a:xfrm>
          <a:prstGeom prst="rect">
            <a:avLst/>
          </a:prstGeom>
          <a:noFill/>
        </p:spPr>
        <p:txBody>
          <a:bodyPr wrap="square">
            <a:spAutoFit/>
          </a:bodyPr>
          <a:lstStyle/>
          <a:p>
            <a:pPr>
              <a:defRPr>
                <a:latin typeface="Roboto"/>
              </a:defRPr>
            </a:pPr>
            <a:r>
              <a:rPr sz="1200" b="0">
                <a:solidFill>
                  <a:srgbClr val="5F6F63"/>
                </a:solidFill>
                <a:latin typeface="Roboto"/>
              </a:rPr>
              <a:t>Technician time charged, October so far</a:t>
            </a:r>
          </a:p>
        </p:txBody>
      </p:sp>
      <p:sp>
        <p:nvSpPr>
          <p:cNvPr id="19" name="TextBox 18"/>
          <p:cNvSpPr txBox="1"/>
          <p:nvPr/>
        </p:nvSpPr>
        <p:spPr>
          <a:xfrm>
            <a:off x="7571049" y="2240280"/>
            <a:ext cx="1670243" cy="731520"/>
          </a:xfrm>
          <a:prstGeom prst="rect">
            <a:avLst/>
          </a:prstGeom>
          <a:noFill/>
        </p:spPr>
        <p:txBody>
          <a:bodyPr wrap="square">
            <a:spAutoFit/>
          </a:bodyPr>
          <a:lstStyle/>
          <a:p>
            <a:pPr>
              <a:defRPr>
                <a:latin typeface="Roboto"/>
              </a:defRPr>
            </a:pPr>
            <a:r>
              <a:rPr sz="3000" b="1">
                <a:solidFill>
                  <a:srgbClr val="2F7A5D"/>
                </a:solidFill>
                <a:latin typeface="Roboto"/>
              </a:rPr>
              <a:t>$2,465</a:t>
            </a:r>
          </a:p>
        </p:txBody>
      </p:sp>
      <p:sp>
        <p:nvSpPr>
          <p:cNvPr id="20" name="TextBox 19"/>
          <p:cNvSpPr txBox="1"/>
          <p:nvPr/>
        </p:nvSpPr>
        <p:spPr>
          <a:xfrm>
            <a:off x="7571049" y="3017520"/>
            <a:ext cx="1670243" cy="548640"/>
          </a:xfrm>
          <a:prstGeom prst="rect">
            <a:avLst/>
          </a:prstGeom>
          <a:noFill/>
        </p:spPr>
        <p:txBody>
          <a:bodyPr wrap="square">
            <a:spAutoFit/>
          </a:bodyPr>
          <a:lstStyle/>
          <a:p>
            <a:pPr>
              <a:defRPr>
                <a:latin typeface="Roboto"/>
              </a:defRPr>
            </a:pPr>
            <a:r>
              <a:rPr sz="1100" b="0">
                <a:solidFill>
                  <a:srgbClr val="5F6F63"/>
                </a:solidFill>
                <a:latin typeface="Roboto"/>
              </a:rPr>
              <a:t>73.0% of call-out revenue</a:t>
            </a:r>
          </a:p>
        </p:txBody>
      </p:sp>
      <p:sp>
        <p:nvSpPr>
          <p:cNvPr id="21" name="Rectangle 20"/>
          <p:cNvSpPr/>
          <p:nvPr/>
        </p:nvSpPr>
        <p:spPr>
          <a:xfrm>
            <a:off x="9698492" y="1645920"/>
            <a:ext cx="2036003"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22" name="TextBox 21"/>
          <p:cNvSpPr txBox="1"/>
          <p:nvPr/>
        </p:nvSpPr>
        <p:spPr>
          <a:xfrm>
            <a:off x="9881372" y="1783080"/>
            <a:ext cx="1670243" cy="457200"/>
          </a:xfrm>
          <a:prstGeom prst="rect">
            <a:avLst/>
          </a:prstGeom>
          <a:noFill/>
        </p:spPr>
        <p:txBody>
          <a:bodyPr wrap="square">
            <a:spAutoFit/>
          </a:bodyPr>
          <a:lstStyle/>
          <a:p>
            <a:pPr>
              <a:defRPr>
                <a:latin typeface="Roboto"/>
              </a:defRPr>
            </a:pPr>
            <a:r>
              <a:rPr sz="1200" b="0">
                <a:solidFill>
                  <a:srgbClr val="5F6F63"/>
                </a:solidFill>
                <a:latin typeface="Roboto"/>
              </a:rPr>
              <a:t>Materials charged, October so far</a:t>
            </a:r>
          </a:p>
        </p:txBody>
      </p:sp>
      <p:sp>
        <p:nvSpPr>
          <p:cNvPr id="23" name="TextBox 22"/>
          <p:cNvSpPr txBox="1"/>
          <p:nvPr/>
        </p:nvSpPr>
        <p:spPr>
          <a:xfrm>
            <a:off x="9881372" y="2240280"/>
            <a:ext cx="1670243" cy="731520"/>
          </a:xfrm>
          <a:prstGeom prst="rect">
            <a:avLst/>
          </a:prstGeom>
          <a:noFill/>
        </p:spPr>
        <p:txBody>
          <a:bodyPr wrap="square">
            <a:spAutoFit/>
          </a:bodyPr>
          <a:lstStyle/>
          <a:p>
            <a:pPr>
              <a:defRPr>
                <a:latin typeface="Roboto"/>
              </a:defRPr>
            </a:pPr>
            <a:r>
              <a:rPr sz="3000" b="1">
                <a:solidFill>
                  <a:srgbClr val="2F7A5D"/>
                </a:solidFill>
                <a:latin typeface="Roboto"/>
              </a:rPr>
              <a:t>$910</a:t>
            </a:r>
          </a:p>
        </p:txBody>
      </p:sp>
      <p:sp>
        <p:nvSpPr>
          <p:cNvPr id="24" name="TextBox 23"/>
          <p:cNvSpPr txBox="1"/>
          <p:nvPr/>
        </p:nvSpPr>
        <p:spPr>
          <a:xfrm>
            <a:off x="9881372" y="3017520"/>
            <a:ext cx="1670243" cy="548640"/>
          </a:xfrm>
          <a:prstGeom prst="rect">
            <a:avLst/>
          </a:prstGeom>
          <a:noFill/>
        </p:spPr>
        <p:txBody>
          <a:bodyPr wrap="square">
            <a:spAutoFit/>
          </a:bodyPr>
          <a:lstStyle/>
          <a:p>
            <a:pPr>
              <a:defRPr>
                <a:latin typeface="Roboto"/>
              </a:defRPr>
            </a:pPr>
            <a:r>
              <a:rPr sz="1100" b="0">
                <a:solidFill>
                  <a:srgbClr val="5F6F63"/>
                </a:solidFill>
                <a:latin typeface="Roboto"/>
              </a:rPr>
              <a:t>$700 at cost, plus 30%</a:t>
            </a:r>
          </a:p>
        </p:txBody>
      </p:sp>
      <p:sp>
        <p:nvSpPr>
          <p:cNvPr id="25" name="TextBox 24"/>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26" name="TextBox 25"/>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27" name="TextBox 26"/>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16 of 21</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Job gross margin on call-outs by length, October 2026 to date · Gross margin % · Type of job: Call-outs and repairs</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Charged at $145/hour plus materials at cost × 1.3; technician time at $68/hour. Target 35.0% is what to price for; break-even 31.1% only covers overheads and time not charged.</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172200"/>
            <a:ext cx="10972800" cy="274320"/>
          </a:xfrm>
          <a:prstGeom prst="rect">
            <a:avLst/>
          </a:prstGeom>
          <a:noFill/>
        </p:spPr>
        <p:txBody>
          <a:bodyPr wrap="square">
            <a:spAutoFit/>
          </a:bodyPr>
          <a:lstStyle/>
          <a:p>
            <a:pPr>
              <a:defRPr>
                <a:latin typeface="Roboto"/>
              </a:defRPr>
            </a:pPr>
            <a:r>
              <a:rPr sz="1000" b="0">
                <a:solidFill>
                  <a:srgbClr val="5F6F63"/>
                </a:solidFill>
                <a:latin typeface="Roboto"/>
              </a:rPr>
              <a:t>Target 35.0%  ·  grey = below target</a:t>
            </a:r>
          </a:p>
        </p:txBody>
      </p:sp>
      <p:sp>
        <p:nvSpPr>
          <p:cNvPr id="8" name="TextBox 7"/>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9" name="TextBox 8"/>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0" name="TextBox 9"/>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17 of 21</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Job gross margin on call-outs by length, October 2026 to date · Gross margin $ · Type of job: Call-outs and repairs</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Charged at $145/hour plus materials at cost × 1.3; technician time at $68/hour. Target 35.0% is what to price for; break-even 31.1% only covers overheads and time not charged.</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18 of 21</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What it shows · Type of job: Call-outs and repairs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7 call-outs in October so far billed $2,465 of technician time and $910 of materials ($700 at cost plus 30%), and made a 45.0% job gross margin between them. Gross margins run from 41.0% to 48.1% by length: the hourly rate covers technician time comfortably, so the gross margin mostly moves with how much material goes on the van.</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9" name="TextBox 8"/>
          <p:cNvSpPr txBox="1"/>
          <p:nvPr/>
        </p:nvSpPr>
        <p:spPr>
          <a:xfrm>
            <a:off x="6461607"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All call-outs: 45.0% gross margin, 10.0 points over the 35.0% target ($338 ahead on $3,375 in October so far).</a:t>
            </a:r>
          </a:p>
        </p:txBody>
      </p:sp>
      <p:sp>
        <p:nvSpPr>
          <p:cNvPr id="11" name="TextBox 10"/>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19 of 21</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Job gross margin by month · Gross margin % · Every type of job at once</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Tap a month for its workings.</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20 of 21</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Job gross margin by month · Gross margin $ · Every type of job at once</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Tap a month for its workings.</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21 of 21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