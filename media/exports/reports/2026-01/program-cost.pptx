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Community meals (2025-26)</c:v>
                </c:pt>
                <c:pt idx="1">
                  <c:v>Digital literacy</c:v>
                </c:pt>
                <c:pt idx="2">
                  <c:v>Youth outreach</c:v>
                </c:pt>
                <c:pt idx="3">
                  <c:v>Housing support</c:v>
                </c:pt>
              </c:strCache>
            </c:strRef>
          </c:cat>
          <c:val>
            <c:numRef>
              <c:f>Sheet1!$B$2:$B$5</c:f>
              <c:numCache>
                <c:formatCode>$#,##0;[Red]($#,##0);"-"</c:formatCode>
                <c:ptCount val="4"/>
                <c:pt idx="0">
                  <c:v>6943</c:v>
                </c:pt>
                <c:pt idx="1">
                  <c:v>8305</c:v>
                </c:pt>
                <c:pt idx="2">
                  <c:v>39701</c:v>
                </c:pt>
                <c:pt idx="3">
                  <c:v>57236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Community meals (2025-26)</c:v>
                </c:pt>
                <c:pt idx="1">
                  <c:v>Digital literacy</c:v>
                </c:pt>
                <c:pt idx="2">
                  <c:v>Youth outreach</c:v>
                </c:pt>
                <c:pt idx="3">
                  <c:v>Housing support</c:v>
                </c:pt>
              </c:strCache>
            </c:strRef>
          </c:cat>
          <c:val>
            <c:numRef>
              <c:f>Sheet1!$B$2:$B$5</c:f>
              <c:numCache>
                <c:formatCode>0.0"%";[Red](0.0"%")</c:formatCode>
                <c:ptCount val="4"/>
                <c:pt idx="0">
                  <c:v>6.2</c:v>
                </c:pt>
                <c:pt idx="1">
                  <c:v>7.4</c:v>
                </c:pt>
                <c:pt idx="2">
                  <c:v>35.4</c:v>
                </c:pt>
                <c:pt idx="3">
                  <c:v>51.0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26600</c:v>
                </c:pt>
                <c:pt idx="1">
                  <c:v>31800</c:v>
                </c:pt>
                <c:pt idx="2">
                  <c:v>29700</c:v>
                </c:pt>
                <c:pt idx="3">
                  <c:v>62700</c:v>
                </c:pt>
                <c:pt idx="4">
                  <c:v>61700</c:v>
                </c:pt>
                <c:pt idx="5">
                  <c:v>54500</c:v>
                </c:pt>
                <c:pt idx="6">
                  <c:v>61500</c:v>
                </c:pt>
                <c:pt idx="7">
                  <c:v>61700</c:v>
                </c:pt>
                <c:pt idx="8">
                  <c:v>52200</c:v>
                </c:pt>
                <c:pt idx="9">
                  <c:v>59063</c:v>
                </c:pt>
                <c:pt idx="10">
                  <c:v>61544</c:v>
                </c:pt>
                <c:pt idx="11">
                  <c:v>62137</c:v>
                </c:pt>
                <c:pt idx="12">
                  <c:v>69185</c:v>
                </c:pt>
                <c:pt idx="13">
                  <c:v>70164</c:v>
                </c:pt>
                <c:pt idx="14">
                  <c:v>68793</c:v>
                </c:pt>
                <c:pt idx="15">
                  <c:v>59785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FFFFFF"/>
                </a:solidFill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5342A"/>
                </a:solidFill>
                <a:latin typeface="Arial"/>
              </a:rPr>
              <a:t>The 4th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7A52"/>
                </a:solidFill>
                <a:latin typeface="Arial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5342A"/>
                </a:solidFill>
                <a:latin typeface="Arial"/>
              </a:rPr>
              <a:t>What does each program really cost?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F6F63"/>
                </a:solidFill>
                <a:latin typeface="Arial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5342A"/>
                </a:solidFill>
                <a:latin typeface="Arial"/>
              </a:rPr>
              <a:t>Period: January 2026.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How final is this data?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December 2025: Locked. December 2025 is locked (closed 5 Jan 2026). These numbers won't change.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January 2026: Locked. January 2026 is locked (closed 3 Feb 2026). These numbers won't change.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1 of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Full cost of each program, January 2026 · $ · Program: All programs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2 of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Full cost of each program, January 2026 · % of total · Program: All programs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3 of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Program: All programs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Housing support is the biggest program: $57,236 in January once its share of untied program costs and administration is added to $30,502 of grant spending. Shared costs add 87.6% on top of grant spending across all programs.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4 of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Program: Housing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Housing support cost $57,236 in full in January: $30,502 paid by the State Housing Program grant, and $26,734 of shared costs no grant covers. It has spent 101.7% of its budget to date, with $329,498 left and 11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The full cost is $57,236 a month; $26,734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5 of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Program: Youth outreach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Youth outreach cost $39,701 in full in January: $21,157 paid by the State Department of Families grant, and $18,544 of shared costs no grant covers. It has spent 99.6% of its budget to date, with $340,523 left and 17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The full cost is $39,701 a month; $18,544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6 of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Program: Digital literacy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Digital literacy cost $8,305 in full in January: $4,426 paid by the Philanthropic foundation grant, and $3,879 of shared costs no grant covers. It has spent 97.0% of its budget to date, with $70,608 left and 14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The full cost is $8,305 a month; $3,879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7 of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Program: Community meals (2025-26)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Community meals (2025-26) cost $6,943 in full in January: $3,700 paid by the Local council community grant grant, and $3,243 of shared costs no grant covers. It has spent 96.2% of its budget to date, with $19,300 left and 5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The full cost is $6,943 a month; $3,243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8 of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Grant spending, by month · Spend $ · Every program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Grant spending only (the program's direct cost). All programs includes grants that have finished.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9 of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