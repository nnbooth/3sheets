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Sheet1!$A$2:$A$17</c:f>
              <c:strCache>
                <c:ptCount val="16"/>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strCache>
            </c:strRef>
          </c:cat>
          <c:val>
            <c:numRef>
              <c:f>Sheet1!$B$2:$B$17</c:f>
              <c:numCache>
                <c:formatCode>$#,##0;[Red]($#,##0);"-"</c:formatCode>
                <c:ptCount val="16"/>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pt idx="15">
                  <c:v>164780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Sheet1!$A$2:$A$17</c:f>
              <c:strCache>
                <c:ptCount val="16"/>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strCache>
            </c:strRef>
          </c:cat>
          <c:val>
            <c:numRef>
              <c:f>Sheet1!$B$2:$B$17</c:f>
              <c:numCache>
                <c:formatCode>0.0"%";[Red](0.0"%")</c:formatCode>
                <c:ptCount val="16"/>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Sheet1!$A$2:$A$17</c:f>
              <c:strCache>
                <c:ptCount val="16"/>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strCache>
            </c:strRef>
          </c:cat>
          <c:val>
            <c:numRef>
              <c:f>Sheet1!$B$2:$B$17</c:f>
              <c:numCache>
                <c:formatCode>$#,##0;[Red]($#,##0);"-"</c:formatCode>
                <c:ptCount val="16"/>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pt idx="15">
                  <c:v>92370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Sheet1!$A$2:$A$17</c:f>
              <c:strCache>
                <c:ptCount val="16"/>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strCache>
            </c:strRef>
          </c:cat>
          <c:val>
            <c:numRef>
              <c:f>Sheet1!$B$2:$B$17</c:f>
              <c:numCache>
                <c:formatCode>0.0"%";[Red](0.0"%")</c:formatCode>
                <c:ptCount val="16"/>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pt idx="15">
                  <c:v>64.8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January 2026.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December 2025: Locked. December 2025 is locked (closed 5 Jan 2026). These numbers won't change.</a:t>
            </a:r>
          </a:p>
          <a:p>
            <a:pPr>
              <a:defRPr>
                <a:latin typeface="Roboto"/>
              </a:defRPr>
            </a:pPr>
            <a:r>
              <a:rPr sz="1100" b="0">
                <a:solidFill>
                  <a:srgbClr val="5F6F63"/>
                </a:solidFill>
                <a:latin typeface="Roboto"/>
              </a:rPr>
              <a:t>January 2026: Locked. January 2026 is locked (closed 3 Feb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January's jobs made $58,190 gross margin (35.3%). Technician time not charged to jobs took $4,620 and overheads $58,730, leaving ($5,160) profit before tax ((3.1%) of revenue). To cover overheads, jobs need a 38.4%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January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$58,190</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$49,980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$4,620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$53,570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$58,730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B42318"/>
                          </a:solidFill>
                          <a:latin typeface="Roboto"/>
                        </a:rPr>
                        <a:t>($5,160)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$164,780</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35.3%</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B42318"/>
                          </a:solidFill>
                          <a:latin typeface="Roboto"/>
                        </a:rPr>
                        <a:t>(3.1%)</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38.4%</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16.9%</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$164,780 against $140,909</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$1,057,722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37.1%</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$392,474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$1,057,722 this financial year to date (Jul to Jan 2026). Maintenance contracts make the highest gross margin (59.5%); Installations the lowest (27.0%). The business needs 38.4%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27.0% gross margin, 8.0 points under the 35.0% target: about $51,576 on $648,400 of revenue this financial year to date. It's below the 38.4% needed to cover overheads, too. Maintenance contracts: 59.5% gross margin, 24.5 points over the 35.0% target ($59,418 ahead on $242,800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45.1%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$35,800 against $24,670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$242,800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$144,398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$242,800 this financial year to date, at a 59.5% gross margin (above the 37.1%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24.5 points over the 35.0% target ($59,418 ahead on $242,800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$97,500 against $89,400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$648,400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27.0%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$175,364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$648,400 this financial year to date, at a 27.0% gross margin (below the 37.1%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27.0% gross margin, 8.0 points under the 35.0% target: about $51,576 on $648,400 of revenue this financial year to date. It's below the 38.4%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17.3%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$31,480 against $26,839</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$166,522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43.7%</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$72,712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$166,522 this financial year to date, at a 43.7% gross margin (above the 37.1%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43.7% gross margin, 8.7 points over the 35.0% target ($14,429 ahead on $166,522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Jan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$242,800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$144,398</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$648,400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$175,364</a:t>
                      </a:r>
                    </a:p>
                  </a:txBody>
                  <a:tcPr>
                    <a:solidFill>
                      <a:srgbClr val="F7FAF7"/>
                    </a:solidFill>
                  </a:tcPr>
                </a:tc>
                <a:tc>
                  <a:txBody>
                    <a:bodyPr/>
                    <a:lstStyle/>
                    <a:p>
                      <a:pPr algn="r">
                        <a:defRPr>
                          <a:latin typeface="Roboto"/>
                        </a:defRPr>
                      </a:pPr>
                      <a:r>
                        <a:rPr sz="1050">
                          <a:solidFill>
                            <a:srgbClr val="25342A"/>
                          </a:solidFill>
                          <a:latin typeface="Roboto"/>
                        </a:rPr>
                        <a:t>27.0%</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$166,522</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$72,712</a:t>
                      </a:r>
                    </a:p>
                  </a:txBody>
                  <a:tcPr>
                    <a:solidFill>
                      <a:srgbClr val="FFFFFF"/>
                    </a:solidFill>
                  </a:tcPr>
                </a:tc>
                <a:tc>
                  <a:txBody>
                    <a:bodyPr/>
                    <a:lstStyle/>
                    <a:p>
                      <a:pPr algn="r">
                        <a:defRPr>
                          <a:latin typeface="Roboto"/>
                        </a:defRPr>
                      </a:pPr>
                      <a:r>
                        <a:rPr sz="1050">
                          <a:solidFill>
                            <a:srgbClr val="25342A"/>
                          </a:solidFill>
                          <a:latin typeface="Roboto"/>
                        </a:rPr>
                        <a:t>43.7%</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$1,057,722</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$392,474</a:t>
                      </a:r>
                    </a:p>
                  </a:txBody>
                  <a:tcPr>
                    <a:solidFill>
                      <a:srgbClr val="F7FAF7"/>
                    </a:solidFill>
                  </a:tcPr>
                </a:tc>
                <a:tc>
                  <a:txBody>
                    <a:bodyPr/>
                    <a:lstStyle/>
                    <a:p>
                      <a:pPr algn="r">
                        <a:defRPr>
                          <a:latin typeface="Roboto"/>
                        </a:defRPr>
                      </a:pPr>
                      <a:r>
                        <a:rPr sz="1050" b="1">
                          <a:solidFill>
                            <a:srgbClr val="25342A"/>
                          </a:solidFill>
                          <a:latin typeface="Roboto"/>
                        </a:rPr>
                        <a:t>37.1%</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January's client work made $59,850 gross margin (64.8%). Consultant time not charged to client work took $8,330 and overheads $51,360, leaving $160 profit before tax (0.2% of revenue). To cover overheads, client work needs a 64.6%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January 2026</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$59,850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$38,750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$30,420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$8,330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$51,520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$51,360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$160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$92,370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64.8%</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0.2%</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64.6%</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4.7%</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$92,370 against $88,250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$524,320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64.1%</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$336,140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$524,320 this financial year to date (Jul to Jan 2026). Training makes the highest gross margin (75.7%); Projects the lowest (61.3%). The business needs 64.6%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61.3% gross margin, 21.3 points over the 40.0% target ($69,112 ahead on $324,020 this financial year to date). Training: 75.7% gross margin, 35.7 points over the 40.0% target ($17,940 ahead on $50,200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(10.0%)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$60,170 against $66,850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$324,020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61.3%</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$198,720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$324,020 this financial year to date, at a 61.3% gross margin (below the 64.1%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61.3% gross margin, 21.3 points over the 40.0% target ($69,112 ahead on $324,020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88.7%</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$28,300 against $15,000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$150,100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66.2%</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$99,400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$150,100 this financial year to date, at a 66.2% gross margin (above the 64.1%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66.2% gross margin, 26.2 points over the 40.0% target ($39,360 ahead on $150,100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January against January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(39.1%)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$3,900 against $6,400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Jan 2026)</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$50,200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75.7%</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$38,020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$50,200 this financial year to date, at a 75.7% gross margin (above the 64.1%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75.7% gross margin, 35.7 points over the 40.0% target ($17,940 ahead on $50,200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Jan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$324,020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$198,720</a:t>
                      </a:r>
                    </a:p>
                  </a:txBody>
                  <a:tcPr>
                    <a:solidFill>
                      <a:srgbClr val="FFFFFF"/>
                    </a:solidFill>
                  </a:tcPr>
                </a:tc>
                <a:tc>
                  <a:txBody>
                    <a:bodyPr/>
                    <a:lstStyle/>
                    <a:p>
                      <a:pPr algn="r">
                        <a:defRPr>
                          <a:latin typeface="Roboto"/>
                        </a:defRPr>
                      </a:pPr>
                      <a:r>
                        <a:rPr sz="1050">
                          <a:solidFill>
                            <a:srgbClr val="25342A"/>
                          </a:solidFill>
                          <a:latin typeface="Roboto"/>
                        </a:rPr>
                        <a:t>61.3%</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$150,100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$99,400</a:t>
                      </a:r>
                    </a:p>
                  </a:txBody>
                  <a:tcPr>
                    <a:solidFill>
                      <a:srgbClr val="F7FAF7"/>
                    </a:solidFill>
                  </a:tcPr>
                </a:tc>
                <a:tc>
                  <a:txBody>
                    <a:bodyPr/>
                    <a:lstStyle/>
                    <a:p>
                      <a:pPr algn="r">
                        <a:defRPr>
                          <a:latin typeface="Roboto"/>
                        </a:defRPr>
                      </a:pPr>
                      <a:r>
                        <a:rPr sz="1050">
                          <a:solidFill>
                            <a:srgbClr val="25342A"/>
                          </a:solidFill>
                          <a:latin typeface="Roboto"/>
                        </a:rPr>
                        <a:t>66.2%</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$50,200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$38,020</a:t>
                      </a:r>
                    </a:p>
                  </a:txBody>
                  <a:tcPr>
                    <a:solidFill>
                      <a:srgbClr val="FFFFFF"/>
                    </a:solidFill>
                  </a:tcPr>
                </a:tc>
                <a:tc>
                  <a:txBody>
                    <a:bodyPr/>
                    <a:lstStyle/>
                    <a:p>
                      <a:pPr algn="r">
                        <a:defRPr>
                          <a:latin typeface="Roboto"/>
                        </a:defRPr>
                      </a:pPr>
                      <a:r>
                        <a:rPr sz="1050">
                          <a:solidFill>
                            <a:srgbClr val="25342A"/>
                          </a:solidFill>
                          <a:latin typeface="Roboto"/>
                        </a:rPr>
                        <a:t>75.7%</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$524,320</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$336,140</a:t>
                      </a:r>
                    </a:p>
                  </a:txBody>
                  <a:tcPr>
                    <a:solidFill>
                      <a:srgbClr val="F7FAF7"/>
                    </a:solidFill>
                  </a:tcPr>
                </a:tc>
                <a:tc>
                  <a:txBody>
                    <a:bodyPr/>
                    <a:lstStyle/>
                    <a:p>
                      <a:pPr algn="r">
                        <a:defRPr>
                          <a:latin typeface="Roboto"/>
                        </a:defRPr>
                      </a:pPr>
                      <a:r>
                        <a:rPr sz="1050" b="1">
                          <a:solidFill>
                            <a:srgbClr val="25342A"/>
                          </a:solidFill>
                          <a:latin typeface="Roboto"/>
                        </a:rPr>
                        <a:t>64.1%</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