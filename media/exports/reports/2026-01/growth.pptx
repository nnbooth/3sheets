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$#,##0;[Red]($#,##0);"-"</c:formatCode>
                <c:ptCount val="16"/>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Sheet1!$A$2:$A$17</c:f>
              <c:strCache>
                <c:ptCount val="16"/>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strCache>
            </c:strRef>
          </c:cat>
          <c:val>
            <c:numRef>
              <c:f>Sheet1!$B$2:$B$17</c:f>
              <c:numCache>
                <c:formatCode>0.0"%";[Red](0.0"%")</c:formatCode>
                <c:ptCount val="16"/>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January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December 2025: Locked. December 2025 is locked (closed 5 Jan 2026). These numbers won't change.</a:t>
            </a:r>
          </a:p>
          <a:p>
            <a:r>
              <a:rPr sz="1100" b="0">
                <a:solidFill>
                  <a:srgbClr val="5F6F63"/>
                </a:solidFill>
                <a:latin typeface="Arial"/>
              </a:rPr>
              <a:t>January 2026: Locked. January 2026 is locked (closed 3 Feb 2026).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January's jobs made $58,190 gross margin (35.3%). Technician time not charged to jobs took $4,620 and overheads $58,730, leaving ($5,160) profit before tax ((3.1%) of revenue). To cover overheads, jobs need a 38.4%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January 2026</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$58,190</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$54,600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$49,980</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$4,620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$53,570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$58,730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($5,160)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$164,780</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35.3%</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(3.1%)</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38.4%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16.9%</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$164,780 against $140,909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$1,057,722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37.1%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$392,474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$1,057,722 this financial year to date (Jul to Jan 2026). Maintenance contracts make the highest gross margin (59.5%); Installations the lowest (27.0%). The business needs 38.4%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27.0%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45.1%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$35,800 against $24,670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$242,800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59.5%</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$144,398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Maintenance contracts brought in $242,800 this financial year to date, at a 59.5%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21.0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9.1%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$97,500 against $89,400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$648,400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27.0%</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$175,364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Installations brought in $648,400 this financial year to date, at a 27.0% gross margin (below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Installations: 27.0% gross margin, below the 38.4%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17.3%</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$31,480 against $26,839</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$166,522</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43.7%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$72,712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Call-outs and repairs brought in $166,522 this financial year to date, at a 43.7% gross margin (above the 37.1%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and repairs: 43.7% gross margin, 5.2 points clear of the 38.4%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line: financial year to date (Jul to Jan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Maintenance contracts</a:t>
                      </a:r>
                    </a:p>
                  </a:txBody>
                  <a:tcPr>
                    <a:solidFill>
                      <a:srgbClr val="FFFFFF"/>
                    </a:solidFill>
                  </a:tcPr>
                </a:tc>
                <a:tc>
                  <a:txBody>
                    <a:bodyPr/>
                    <a:lstStyle/>
                    <a:p>
                      <a:pPr algn="r"/>
                      <a:r>
                        <a:rPr sz="1050">
                          <a:solidFill>
                            <a:srgbClr val="25342A"/>
                          </a:solidFill>
                        </a:rPr>
                        <a:t>$242,800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$144,398</a:t>
                      </a:r>
                    </a:p>
                  </a:txBody>
                  <a:tcPr>
                    <a:solidFill>
                      <a:srgbClr val="FFFFFF"/>
                    </a:solidFill>
                  </a:tcPr>
                </a:tc>
                <a:tc>
                  <a:txBody>
                    <a:bodyPr/>
                    <a:lstStyle/>
                    <a:p>
                      <a:pPr algn="r"/>
                      <a:r>
                        <a:rPr sz="1050">
                          <a:solidFill>
                            <a:srgbClr val="25342A"/>
                          </a:solidFill>
                        </a:rPr>
                        <a:t>59.5%</a:t>
                      </a:r>
                    </a:p>
                  </a:txBody>
                  <a:tcPr>
                    <a:solidFill>
                      <a:srgbClr val="FFFFFF"/>
                    </a:solidFill>
                  </a:tcPr>
                </a:tc>
              </a:tr>
              <a:tr h="329184">
                <a:tc>
                  <a:txBody>
                    <a:bodyPr/>
                    <a:lstStyle/>
                    <a:p>
                      <a:r>
                        <a:rPr sz="1050">
                          <a:solidFill>
                            <a:srgbClr val="25342A"/>
                          </a:solidFill>
                        </a:rPr>
                        <a:t>Installations</a:t>
                      </a:r>
                    </a:p>
                  </a:txBody>
                  <a:tcPr>
                    <a:solidFill>
                      <a:srgbClr val="F7FAF7"/>
                    </a:solidFill>
                  </a:tcPr>
                </a:tc>
                <a:tc>
                  <a:txBody>
                    <a:bodyPr/>
                    <a:lstStyle/>
                    <a:p>
                      <a:pPr algn="r"/>
                      <a:r>
                        <a:rPr sz="1050">
                          <a:solidFill>
                            <a:srgbClr val="25342A"/>
                          </a:solidFill>
                        </a:rPr>
                        <a:t>$648,400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$175,364</a:t>
                      </a:r>
                    </a:p>
                  </a:txBody>
                  <a:tcPr>
                    <a:solidFill>
                      <a:srgbClr val="F7FAF7"/>
                    </a:solidFill>
                  </a:tcPr>
                </a:tc>
                <a:tc>
                  <a:txBody>
                    <a:bodyPr/>
                    <a:lstStyle/>
                    <a:p>
                      <a:pPr algn="r"/>
                      <a:r>
                        <a:rPr sz="1050">
                          <a:solidFill>
                            <a:srgbClr val="25342A"/>
                          </a:solidFill>
                        </a:rPr>
                        <a:t>27.0%</a:t>
                      </a:r>
                    </a:p>
                  </a:txBody>
                  <a:tcPr>
                    <a:solidFill>
                      <a:srgbClr val="F7FAF7"/>
                    </a:solidFill>
                  </a:tcPr>
                </a:tc>
              </a:tr>
              <a:tr h="329184">
                <a:tc>
                  <a:txBody>
                    <a:bodyPr/>
                    <a:lstStyle/>
                    <a:p>
                      <a:r>
                        <a:rPr sz="1050">
                          <a:solidFill>
                            <a:srgbClr val="25342A"/>
                          </a:solidFill>
                        </a:rPr>
                        <a:t>Call-outs and repairs</a:t>
                      </a:r>
                    </a:p>
                  </a:txBody>
                  <a:tcPr>
                    <a:solidFill>
                      <a:srgbClr val="FFFFFF"/>
                    </a:solidFill>
                  </a:tcPr>
                </a:tc>
                <a:tc>
                  <a:txBody>
                    <a:bodyPr/>
                    <a:lstStyle/>
                    <a:p>
                      <a:pPr algn="r"/>
                      <a:r>
                        <a:rPr sz="1050">
                          <a:solidFill>
                            <a:srgbClr val="25342A"/>
                          </a:solidFill>
                        </a:rPr>
                        <a:t>$166,522</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$72,712</a:t>
                      </a:r>
                    </a:p>
                  </a:txBody>
                  <a:tcPr>
                    <a:solidFill>
                      <a:srgbClr val="FFFFFF"/>
                    </a:solidFill>
                  </a:tcPr>
                </a:tc>
                <a:tc>
                  <a:txBody>
                    <a:bodyPr/>
                    <a:lstStyle/>
                    <a:p>
                      <a:pPr algn="r"/>
                      <a:r>
                        <a:rPr sz="1050">
                          <a:solidFill>
                            <a:srgbClr val="25342A"/>
                          </a:solidFill>
                        </a:rPr>
                        <a:t>43.7%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$1,057,722</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$392,474</a:t>
                      </a:r>
                    </a:p>
                  </a:txBody>
                  <a:tcPr>
                    <a:solidFill>
                      <a:srgbClr val="F7FAF7"/>
                    </a:solidFill>
                  </a:tcPr>
                </a:tc>
                <a:tc>
                  <a:txBody>
                    <a:bodyPr/>
                    <a:lstStyle/>
                    <a:p>
                      <a:pPr algn="r"/>
                      <a:r>
                        <a:rPr sz="1050" b="1">
                          <a:solidFill>
                            <a:srgbClr val="25342A"/>
                          </a:solidFill>
                        </a:rPr>
                        <a:t>37.1%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January's client work made $59,850 gross margin (64.8%). Consultant time not charged to client work took $8,330 and overheads $51,360, leaving $160 profit before tax (0.2% of revenue). To cover overheads, client work needs a 64.6%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January 2026</a:t>
                      </a:r>
                    </a:p>
                  </a:txBody>
                  <a:tcPr>
                    <a:solidFill>
                      <a:srgbClr val="2F7A5D"/>
                    </a:solidFill>
                  </a:tcPr>
                </a:tc>
              </a:tr>
              <a:tr h="329184">
                <a:tc>
                  <a:txBody>
                    <a:bodyPr/>
                    <a:lstStyle/>
                    <a:p>
                      <a:r>
                        <a:rPr sz="1050">
                          <a:solidFill>
                            <a:srgbClr val="25342A"/>
                          </a:solidFill>
                        </a:rPr>
                        <a:t>Gross margin on client work</a:t>
                      </a:r>
                    </a:p>
                  </a:txBody>
                  <a:tcPr>
                    <a:solidFill>
                      <a:srgbClr val="FFFFFF"/>
                    </a:solidFill>
                  </a:tcPr>
                </a:tc>
                <a:tc>
                  <a:txBody>
                    <a:bodyPr/>
                    <a:lstStyle/>
                    <a:p>
                      <a:pPr algn="r"/>
                      <a:r>
                        <a:rPr sz="1050">
                          <a:solidFill>
                            <a:srgbClr val="25342A"/>
                          </a:solidFill>
                        </a:rPr>
                        <a:t>$59,850</a:t>
                      </a:r>
                    </a:p>
                  </a:txBody>
                  <a:tcPr>
                    <a:solidFill>
                      <a:srgbClr val="FFFFFF"/>
                    </a:solidFill>
                  </a:tcPr>
                </a:tc>
              </a:tr>
              <a:tr h="329184">
                <a:tc>
                  <a:txBody>
                    <a:bodyPr/>
                    <a:lstStyle/>
                    <a:p>
                      <a:r>
                        <a:rPr sz="1050">
                          <a:solidFill>
                            <a:srgbClr val="25342A"/>
                          </a:solidFill>
                        </a:rPr>
                        <a:t>Consultant wages and on-costs</a:t>
                      </a:r>
                    </a:p>
                  </a:txBody>
                  <a:tcPr>
                    <a:solidFill>
                      <a:srgbClr val="F7FAF7"/>
                    </a:solidFill>
                  </a:tcPr>
                </a:tc>
                <a:tc>
                  <a:txBody>
                    <a:bodyPr/>
                    <a:lstStyle/>
                    <a:p>
                      <a:pPr algn="r"/>
                      <a:r>
                        <a:rPr sz="1050">
                          <a:solidFill>
                            <a:srgbClr val="25342A"/>
                          </a:solidFill>
                        </a:rPr>
                        <a:t>$38,750</a:t>
                      </a:r>
                    </a:p>
                  </a:txBody>
                  <a:tcPr>
                    <a:solidFill>
                      <a:srgbClr val="F7FAF7"/>
                    </a:solidFill>
                  </a:tcPr>
                </a:tc>
              </a:tr>
              <a:tr h="329184">
                <a:tc>
                  <a:txBody>
                    <a:bodyPr/>
                    <a:lstStyle/>
                    <a:p>
                      <a:r>
                        <a:rPr sz="1050">
                          <a:solidFill>
                            <a:srgbClr val="25342A"/>
                          </a:solidFill>
                        </a:rPr>
                        <a:t>Consultant time charged to client work (at cost)</a:t>
                      </a:r>
                    </a:p>
                  </a:txBody>
                  <a:tcPr>
                    <a:solidFill>
                      <a:srgbClr val="FFFFFF"/>
                    </a:solidFill>
                  </a:tcPr>
                </a:tc>
                <a:tc>
                  <a:txBody>
                    <a:bodyPr/>
                    <a:lstStyle/>
                    <a:p>
                      <a:pPr algn="r"/>
                      <a:r>
                        <a:rPr sz="1050">
                          <a:solidFill>
                            <a:srgbClr val="25342A"/>
                          </a:solidFill>
                        </a:rPr>
                        <a:t>$30,420</a:t>
                      </a:r>
                    </a:p>
                  </a:txBody>
                  <a:tcPr>
                    <a:solidFill>
                      <a:srgbClr val="FFFFFF"/>
                    </a:solidFill>
                  </a:tcPr>
                </a:tc>
              </a:tr>
              <a:tr h="329184">
                <a:tc>
                  <a:txBody>
                    <a:bodyPr/>
                    <a:lstStyle/>
                    <a:p>
                      <a:r>
                        <a:rPr sz="1050">
                          <a:solidFill>
                            <a:srgbClr val="25342A"/>
                          </a:solidFill>
                        </a:rPr>
                        <a:t>Consultant time not charged to client work</a:t>
                      </a:r>
                    </a:p>
                  </a:txBody>
                  <a:tcPr>
                    <a:solidFill>
                      <a:srgbClr val="F7FAF7"/>
                    </a:solidFill>
                  </a:tcPr>
                </a:tc>
                <a:tc>
                  <a:txBody>
                    <a:bodyPr/>
                    <a:lstStyle/>
                    <a:p>
                      <a:pPr algn="r"/>
                      <a:r>
                        <a:rPr sz="1050">
                          <a:solidFill>
                            <a:srgbClr val="25342A"/>
                          </a:solidFill>
                        </a:rPr>
                        <a:t>$8,330</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$51,520</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$51,360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25342A"/>
                          </a:solidFill>
                        </a:rPr>
                        <a:t>$160</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$92,370</a:t>
                      </a:r>
                    </a:p>
                  </a:txBody>
                  <a:tcPr>
                    <a:solidFill>
                      <a:srgbClr val="F7FAF7"/>
                    </a:solidFill>
                  </a:tcPr>
                </a:tc>
              </a:tr>
              <a:tr h="329184">
                <a:tc>
                  <a:txBody>
                    <a:bodyPr/>
                    <a:lstStyle/>
                    <a:p>
                      <a:r>
                        <a:rPr sz="1050">
                          <a:solidFill>
                            <a:srgbClr val="25342A"/>
                          </a:solidFill>
                        </a:rPr>
                        <a:t>Gross margin on client work, %</a:t>
                      </a:r>
                    </a:p>
                  </a:txBody>
                  <a:tcPr>
                    <a:solidFill>
                      <a:srgbClr val="FFFFFF"/>
                    </a:solidFill>
                  </a:tcPr>
                </a:tc>
                <a:tc>
                  <a:txBody>
                    <a:bodyPr/>
                    <a:lstStyle/>
                    <a:p>
                      <a:pPr algn="r"/>
                      <a:r>
                        <a:rPr sz="1050">
                          <a:solidFill>
                            <a:srgbClr val="25342A"/>
                          </a:solidFill>
                        </a:rPr>
                        <a:t>64.8%</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25342A"/>
                          </a:solidFill>
                        </a:rPr>
                        <a:t>0.2%</a:t>
                      </a:r>
                    </a:p>
                  </a:txBody>
                  <a:tcPr>
                    <a:solidFill>
                      <a:srgbClr val="F7FAF7"/>
                    </a:solidFill>
                  </a:tcPr>
                </a:tc>
              </a:tr>
              <a:tr h="329184">
                <a:tc>
                  <a:txBody>
                    <a:bodyPr/>
                    <a:lstStyle/>
                    <a:p>
                      <a:r>
                        <a:rPr sz="1050">
                          <a:solidFill>
                            <a:srgbClr val="25342A"/>
                          </a:solidFill>
                        </a:rPr>
                        <a:t>Gross margin client work need just to cover overheads and time not charged</a:t>
                      </a:r>
                    </a:p>
                  </a:txBody>
                  <a:tcPr>
                    <a:solidFill>
                      <a:srgbClr val="FFFFFF"/>
                    </a:solidFill>
                  </a:tcPr>
                </a:tc>
                <a:tc>
                  <a:txBody>
                    <a:bodyPr/>
                    <a:lstStyle/>
                    <a:p>
                      <a:pPr algn="r"/>
                      <a:r>
                        <a:rPr sz="1050">
                          <a:solidFill>
                            <a:srgbClr val="25342A"/>
                          </a:solidFill>
                        </a:rPr>
                        <a:t>64.6%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4.7%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$92,370 against $88,250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$524,320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64.1%</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$336,140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Revenue is $524,320 this financial year to date (Jul to Jan 2026). Training makes the highest gross margin (75.7%); Projects the lowest (61.3%). The business needs 64.6%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75.7% gross margin, the most profitable work you do. Projects: 61.3% gross margin, below the 64.6%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(10.0%)</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$60,170 against $66,850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$324,020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61.3%</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$198,720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Projects brought in $324,020 this financial year to date, at a 61.3% gross margin (below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Projects: 61.3% gross margin, below the 64.6%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2F7A5D"/>
                </a:solidFill>
                <a:latin typeface="Arial"/>
              </a:rPr>
              <a:t>88.7%</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$28,300 against $15,000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$150,100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66.2%</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$99,400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Retainers brought in $150,100 this financial year to date, at a 66.2%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Retainers: 66.2% gross margin, 1.6 points clear of the 64.6%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3210458" cy="457200"/>
          </a:xfrm>
          <a:prstGeom prst="rect">
            <a:avLst/>
          </a:prstGeom>
          <a:noFill/>
        </p:spPr>
        <p:txBody>
          <a:bodyPr wrap="square">
            <a:spAutoFit/>
          </a:bodyPr>
          <a:lstStyle/>
          <a:p>
            <a:r>
              <a:rPr sz="1200" b="0">
                <a:solidFill>
                  <a:srgbClr val="5F6F63"/>
                </a:solidFill>
                <a:latin typeface="Arial"/>
              </a:rPr>
              <a:t>January against January last year</a:t>
            </a:r>
          </a:p>
        </p:txBody>
      </p:sp>
      <p:sp>
        <p:nvSpPr>
          <p:cNvPr id="7" name="TextBox 6"/>
          <p:cNvSpPr txBox="1"/>
          <p:nvPr/>
        </p:nvSpPr>
        <p:spPr>
          <a:xfrm>
            <a:off x="640080" y="2240280"/>
            <a:ext cx="3210458" cy="731520"/>
          </a:xfrm>
          <a:prstGeom prst="rect">
            <a:avLst/>
          </a:prstGeom>
          <a:noFill/>
        </p:spPr>
        <p:txBody>
          <a:bodyPr wrap="square">
            <a:spAutoFit/>
          </a:bodyPr>
          <a:lstStyle/>
          <a:p>
            <a:r>
              <a:rPr sz="3000" b="1">
                <a:solidFill>
                  <a:srgbClr val="B42318"/>
                </a:solidFill>
                <a:latin typeface="Arial"/>
              </a:rPr>
              <a:t>(39.1%)</a:t>
            </a:r>
          </a:p>
        </p:txBody>
      </p:sp>
      <p:sp>
        <p:nvSpPr>
          <p:cNvPr id="8" name="TextBox 7"/>
          <p:cNvSpPr txBox="1"/>
          <p:nvPr/>
        </p:nvSpPr>
        <p:spPr>
          <a:xfrm>
            <a:off x="640080" y="3017520"/>
            <a:ext cx="3210458" cy="548640"/>
          </a:xfrm>
          <a:prstGeom prst="rect">
            <a:avLst/>
          </a:prstGeom>
          <a:noFill/>
        </p:spPr>
        <p:txBody>
          <a:bodyPr wrap="square">
            <a:spAutoFit/>
          </a:bodyPr>
          <a:lstStyle/>
          <a:p>
            <a:r>
              <a:rPr sz="1100" b="0">
                <a:solidFill>
                  <a:srgbClr val="5F6F63"/>
                </a:solidFill>
                <a:latin typeface="Arial"/>
              </a:rPr>
              <a:t>$3,900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90618" y="1783080"/>
            <a:ext cx="3210458" cy="457200"/>
          </a:xfrm>
          <a:prstGeom prst="rect">
            <a:avLst/>
          </a:prstGeom>
          <a:noFill/>
        </p:spPr>
        <p:txBody>
          <a:bodyPr wrap="square">
            <a:spAutoFit/>
          </a:bodyPr>
          <a:lstStyle/>
          <a:p>
            <a:r>
              <a:rPr sz="1200" b="0">
                <a:solidFill>
                  <a:srgbClr val="5F6F63"/>
                </a:solidFill>
                <a:latin typeface="Arial"/>
              </a:rPr>
              <a:t>Year to date (Jul to Jan 2026)</a:t>
            </a:r>
          </a:p>
        </p:txBody>
      </p:sp>
      <p:sp>
        <p:nvSpPr>
          <p:cNvPr id="11" name="TextBox 10"/>
          <p:cNvSpPr txBox="1"/>
          <p:nvPr/>
        </p:nvSpPr>
        <p:spPr>
          <a:xfrm>
            <a:off x="4490618" y="2240280"/>
            <a:ext cx="3210458" cy="731520"/>
          </a:xfrm>
          <a:prstGeom prst="rect">
            <a:avLst/>
          </a:prstGeom>
          <a:noFill/>
        </p:spPr>
        <p:txBody>
          <a:bodyPr wrap="square">
            <a:spAutoFit/>
          </a:bodyPr>
          <a:lstStyle/>
          <a:p>
            <a:r>
              <a:rPr sz="3000" b="1">
                <a:solidFill>
                  <a:srgbClr val="2F7A5D"/>
                </a:solidFill>
                <a:latin typeface="Arial"/>
              </a:rPr>
              <a:t>$50,200</a:t>
            </a:r>
          </a:p>
        </p:txBody>
      </p:sp>
      <p:sp>
        <p:nvSpPr>
          <p:cNvPr id="12" name="TextBox 11"/>
          <p:cNvSpPr txBox="1"/>
          <p:nvPr/>
        </p:nvSpPr>
        <p:spPr>
          <a:xfrm>
            <a:off x="4490618" y="3017520"/>
            <a:ext cx="3210458" cy="548640"/>
          </a:xfrm>
          <a:prstGeom prst="rect">
            <a:avLst/>
          </a:prstGeom>
          <a:noFill/>
        </p:spPr>
        <p:txBody>
          <a:bodyPr wrap="square">
            <a:spAutoFit/>
          </a:bodyPr>
          <a:lstStyle/>
          <a:p>
            <a:r>
              <a:rPr sz="1100" b="0">
                <a:solidFill>
                  <a:srgbClr val="5F6F63"/>
                </a:solidFill>
                <a:latin typeface="Arial"/>
              </a:rPr>
              <a:t>same period last year: not in the data</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41156" y="1783080"/>
            <a:ext cx="3210458" cy="457200"/>
          </a:xfrm>
          <a:prstGeom prst="rect">
            <a:avLst/>
          </a:prstGeom>
          <a:noFill/>
        </p:spPr>
        <p:txBody>
          <a:bodyPr wrap="square">
            <a:spAutoFit/>
          </a:bodyPr>
          <a:lstStyle/>
          <a:p>
            <a:r>
              <a:rPr sz="1200" b="0">
                <a:solidFill>
                  <a:srgbClr val="5F6F63"/>
                </a:solidFill>
                <a:latin typeface="Arial"/>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r>
              <a:rPr sz="3000" b="1">
                <a:solidFill>
                  <a:srgbClr val="2F7A5D"/>
                </a:solidFill>
                <a:latin typeface="Arial"/>
              </a:rPr>
              <a:t>75.7%</a:t>
            </a:r>
          </a:p>
        </p:txBody>
      </p:sp>
      <p:sp>
        <p:nvSpPr>
          <p:cNvPr id="16" name="TextBox 15"/>
          <p:cNvSpPr txBox="1"/>
          <p:nvPr/>
        </p:nvSpPr>
        <p:spPr>
          <a:xfrm>
            <a:off x="8341156" y="3017520"/>
            <a:ext cx="3210458" cy="548640"/>
          </a:xfrm>
          <a:prstGeom prst="rect">
            <a:avLst/>
          </a:prstGeom>
          <a:noFill/>
        </p:spPr>
        <p:txBody>
          <a:bodyPr wrap="square">
            <a:spAutoFit/>
          </a:bodyPr>
          <a:lstStyle/>
          <a:p>
            <a:r>
              <a:rPr sz="1100" b="0">
                <a:solidFill>
                  <a:srgbClr val="5F6F63"/>
                </a:solidFill>
                <a:latin typeface="Arial"/>
              </a:rPr>
              <a:t>$38,020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Training brought in $50,200 this financial year to date, at a 75.7% gross margin (above the 64.1%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Training: 75.7% gross margin, 11.1 points clear of the 64.6%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By type of work: financial year to date (Jul to Jan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txBody>
                  <a:tcPr>
                    <a:solidFill>
                      <a:srgbClr val="2F7A5D"/>
                    </a:solidFill>
                  </a:tcPr>
                </a:tc>
                <a:tc>
                  <a:txBody>
                    <a:bodyPr/>
                    <a:lstStyle/>
                    <a:p>
                      <a:pPr algn="r"/>
                      <a:r>
                        <a:rPr sz="1100" b="1">
                          <a:solidFill>
                            <a:srgbClr val="FFFFFF"/>
                          </a:solidFill>
                        </a:rPr>
                        <a:t>Year to date</a:t>
                      </a:r>
                    </a:p>
                  </a:txBody>
                  <a:tcPr>
                    <a:solidFill>
                      <a:srgbClr val="2F7A5D"/>
                    </a:solidFill>
                  </a:tcPr>
                </a:tc>
                <a:tc>
                  <a:txBody>
                    <a:bodyPr/>
                    <a:lstStyle/>
                    <a:p>
                      <a:pPr algn="r"/>
                      <a:r>
                        <a:rPr sz="1100" b="1">
                          <a:solidFill>
                            <a:srgbClr val="FFFFFF"/>
                          </a:solidFill>
                        </a:rPr>
                        <a:t>Same period last year</a:t>
                      </a:r>
                    </a:p>
                  </a:txBody>
                  <a:tcPr>
                    <a:solidFill>
                      <a:srgbClr val="2F7A5D"/>
                    </a:solidFill>
                  </a:tcPr>
                </a:tc>
                <a:tc>
                  <a:txBody>
                    <a:bodyPr/>
                    <a:lstStyle/>
                    <a:p>
                      <a:pPr algn="r"/>
                      <a:r>
                        <a:rPr sz="1100" b="1">
                          <a:solidFill>
                            <a:srgbClr val="FFFFFF"/>
                          </a:solidFill>
                        </a:rPr>
                        <a:t>Growth</a:t>
                      </a:r>
                    </a:p>
                  </a:txBody>
                  <a:tcPr>
                    <a:solidFill>
                      <a:srgbClr val="2F7A5D"/>
                    </a:solidFill>
                  </a:tcPr>
                </a:tc>
                <a:tc>
                  <a:txBody>
                    <a:bodyPr/>
                    <a:lstStyle/>
                    <a:p>
                      <a:pPr algn="r"/>
                      <a:r>
                        <a:rPr sz="1100" b="1">
                          <a:solidFill>
                            <a:srgbClr val="FFFFFF"/>
                          </a:solidFill>
                        </a:rPr>
                        <a:t>Gross margin $</a:t>
                      </a:r>
                    </a:p>
                  </a:txBody>
                  <a:tcPr>
                    <a:solidFill>
                      <a:srgbClr val="2F7A5D"/>
                    </a:solidFill>
                  </a:tcPr>
                </a:tc>
                <a:tc>
                  <a:txBody>
                    <a:bodyPr/>
                    <a:lstStyle/>
                    <a:p>
                      <a:pPr algn="r"/>
                      <a:r>
                        <a:rPr sz="1100" b="1">
                          <a:solidFill>
                            <a:srgbClr val="FFFFFF"/>
                          </a:solidFill>
                        </a:rPr>
                        <a:t>Gross margin %</a:t>
                      </a:r>
                    </a:p>
                  </a:txBody>
                  <a:tcPr>
                    <a:solidFill>
                      <a:srgbClr val="2F7A5D"/>
                    </a:solidFill>
                  </a:tcPr>
                </a:tc>
              </a:tr>
              <a:tr h="329184">
                <a:tc>
                  <a:txBody>
                    <a:bodyPr/>
                    <a:lstStyle/>
                    <a:p>
                      <a:r>
                        <a:rPr sz="1050">
                          <a:solidFill>
                            <a:srgbClr val="25342A"/>
                          </a:solidFill>
                        </a:rPr>
                        <a:t>Projects</a:t>
                      </a:r>
                    </a:p>
                  </a:txBody>
                  <a:tcPr>
                    <a:solidFill>
                      <a:srgbClr val="FFFFFF"/>
                    </a:solidFill>
                  </a:tcPr>
                </a:tc>
                <a:tc>
                  <a:txBody>
                    <a:bodyPr/>
                    <a:lstStyle/>
                    <a:p>
                      <a:pPr algn="r"/>
                      <a:r>
                        <a:rPr sz="1050">
                          <a:solidFill>
                            <a:srgbClr val="25342A"/>
                          </a:solidFill>
                        </a:rPr>
                        <a:t>$324,020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$198,720</a:t>
                      </a:r>
                    </a:p>
                  </a:txBody>
                  <a:tcPr>
                    <a:solidFill>
                      <a:srgbClr val="FFFFFF"/>
                    </a:solidFill>
                  </a:tcPr>
                </a:tc>
                <a:tc>
                  <a:txBody>
                    <a:bodyPr/>
                    <a:lstStyle/>
                    <a:p>
                      <a:pPr algn="r"/>
                      <a:r>
                        <a:rPr sz="1050">
                          <a:solidFill>
                            <a:srgbClr val="25342A"/>
                          </a:solidFill>
                        </a:rPr>
                        <a:t>61.3%</a:t>
                      </a:r>
                    </a:p>
                  </a:txBody>
                  <a:tcPr>
                    <a:solidFill>
                      <a:srgbClr val="FFFFFF"/>
                    </a:solidFill>
                  </a:tcPr>
                </a:tc>
              </a:tr>
              <a:tr h="329184">
                <a:tc>
                  <a:txBody>
                    <a:bodyPr/>
                    <a:lstStyle/>
                    <a:p>
                      <a:r>
                        <a:rPr sz="1050">
                          <a:solidFill>
                            <a:srgbClr val="25342A"/>
                          </a:solidFill>
                        </a:rPr>
                        <a:t>Retainers</a:t>
                      </a:r>
                    </a:p>
                  </a:txBody>
                  <a:tcPr>
                    <a:solidFill>
                      <a:srgbClr val="F7FAF7"/>
                    </a:solidFill>
                  </a:tcPr>
                </a:tc>
                <a:tc>
                  <a:txBody>
                    <a:bodyPr/>
                    <a:lstStyle/>
                    <a:p>
                      <a:pPr algn="r"/>
                      <a:r>
                        <a:rPr sz="1050">
                          <a:solidFill>
                            <a:srgbClr val="25342A"/>
                          </a:solidFill>
                        </a:rPr>
                        <a:t>$150,100</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a:t>
                      </a:r>
                    </a:p>
                  </a:txBody>
                  <a:tcPr>
                    <a:solidFill>
                      <a:srgbClr val="F7FAF7"/>
                    </a:solidFill>
                  </a:tcPr>
                </a:tc>
                <a:tc>
                  <a:txBody>
                    <a:bodyPr/>
                    <a:lstStyle/>
                    <a:p>
                      <a:pPr algn="r"/>
                      <a:r>
                        <a:rPr sz="1050">
                          <a:solidFill>
                            <a:srgbClr val="25342A"/>
                          </a:solidFill>
                        </a:rPr>
                        <a:t>$99,400</a:t>
                      </a:r>
                    </a:p>
                  </a:txBody>
                  <a:tcPr>
                    <a:solidFill>
                      <a:srgbClr val="F7FAF7"/>
                    </a:solidFill>
                  </a:tcPr>
                </a:tc>
                <a:tc>
                  <a:txBody>
                    <a:bodyPr/>
                    <a:lstStyle/>
                    <a:p>
                      <a:pPr algn="r"/>
                      <a:r>
                        <a:rPr sz="1050">
                          <a:solidFill>
                            <a:srgbClr val="25342A"/>
                          </a:solidFill>
                        </a:rPr>
                        <a:t>66.2%</a:t>
                      </a:r>
                    </a:p>
                  </a:txBody>
                  <a:tcPr>
                    <a:solidFill>
                      <a:srgbClr val="F7FAF7"/>
                    </a:solidFill>
                  </a:tcPr>
                </a:tc>
              </a:tr>
              <a:tr h="329184">
                <a:tc>
                  <a:txBody>
                    <a:bodyPr/>
                    <a:lstStyle/>
                    <a:p>
                      <a:r>
                        <a:rPr sz="1050">
                          <a:solidFill>
                            <a:srgbClr val="25342A"/>
                          </a:solidFill>
                        </a:rPr>
                        <a:t>Training</a:t>
                      </a:r>
                    </a:p>
                  </a:txBody>
                  <a:tcPr>
                    <a:solidFill>
                      <a:srgbClr val="FFFFFF"/>
                    </a:solidFill>
                  </a:tcPr>
                </a:tc>
                <a:tc>
                  <a:txBody>
                    <a:bodyPr/>
                    <a:lstStyle/>
                    <a:p>
                      <a:pPr algn="r"/>
                      <a:r>
                        <a:rPr sz="1050">
                          <a:solidFill>
                            <a:srgbClr val="25342A"/>
                          </a:solidFill>
                        </a:rPr>
                        <a:t>$50,200</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a:t>
                      </a:r>
                    </a:p>
                  </a:txBody>
                  <a:tcPr>
                    <a:solidFill>
                      <a:srgbClr val="FFFFFF"/>
                    </a:solidFill>
                  </a:tcPr>
                </a:tc>
                <a:tc>
                  <a:txBody>
                    <a:bodyPr/>
                    <a:lstStyle/>
                    <a:p>
                      <a:pPr algn="r"/>
                      <a:r>
                        <a:rPr sz="1050">
                          <a:solidFill>
                            <a:srgbClr val="25342A"/>
                          </a:solidFill>
                        </a:rPr>
                        <a:t>$38,020</a:t>
                      </a:r>
                    </a:p>
                  </a:txBody>
                  <a:tcPr>
                    <a:solidFill>
                      <a:srgbClr val="FFFFFF"/>
                    </a:solidFill>
                  </a:tcPr>
                </a:tc>
                <a:tc>
                  <a:txBody>
                    <a:bodyPr/>
                    <a:lstStyle/>
                    <a:p>
                      <a:pPr algn="r"/>
                      <a:r>
                        <a:rPr sz="1050">
                          <a:solidFill>
                            <a:srgbClr val="25342A"/>
                          </a:solidFill>
                        </a:rPr>
                        <a:t>75.7%</a:t>
                      </a:r>
                    </a:p>
                  </a:txBody>
                  <a:tcPr>
                    <a:solidFill>
                      <a:srgbClr val="FFFFFF"/>
                    </a:solidFill>
                  </a:tcPr>
                </a:tc>
              </a:tr>
              <a:tr h="329184">
                <a:tc>
                  <a:txBody>
                    <a:bodyPr/>
                    <a:lstStyle/>
                    <a:p>
                      <a:r>
                        <a:rPr sz="1050" b="1">
                          <a:solidFill>
                            <a:srgbClr val="25342A"/>
                          </a:solidFill>
                        </a:rPr>
                        <a:t>Total</a:t>
                      </a:r>
                    </a:p>
                  </a:txBody>
                  <a:tcPr>
                    <a:solidFill>
                      <a:srgbClr val="F7FAF7"/>
                    </a:solidFill>
                  </a:tcPr>
                </a:tc>
                <a:tc>
                  <a:txBody>
                    <a:bodyPr/>
                    <a:lstStyle/>
                    <a:p>
                      <a:pPr algn="r"/>
                      <a:r>
                        <a:rPr sz="1050" b="1">
                          <a:solidFill>
                            <a:srgbClr val="25342A"/>
                          </a:solidFill>
                        </a:rPr>
                        <a:t>$524,320</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a:t>
                      </a:r>
                    </a:p>
                  </a:txBody>
                  <a:tcPr>
                    <a:solidFill>
                      <a:srgbClr val="F7FAF7"/>
                    </a:solidFill>
                  </a:tcPr>
                </a:tc>
                <a:tc>
                  <a:txBody>
                    <a:bodyPr/>
                    <a:lstStyle/>
                    <a:p>
                      <a:pPr algn="r"/>
                      <a:r>
                        <a:rPr sz="1050" b="1">
                          <a:solidFill>
                            <a:srgbClr val="25342A"/>
                          </a:solidFill>
                        </a:rPr>
                        <a:t>$336,140</a:t>
                      </a:r>
                    </a:p>
                  </a:txBody>
                  <a:tcPr>
                    <a:solidFill>
                      <a:srgbClr val="F7FAF7"/>
                    </a:solidFill>
                  </a:tcPr>
                </a:tc>
                <a:tc>
                  <a:txBody>
                    <a:bodyPr/>
                    <a:lstStyle/>
                    <a:p>
                      <a:pPr algn="r"/>
                      <a:r>
                        <a:rPr sz="1050" b="1">
                          <a:solidFill>
                            <a:srgbClr val="25342A"/>
                          </a:solidFill>
                        </a:rPr>
                        <a:t>64.1%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