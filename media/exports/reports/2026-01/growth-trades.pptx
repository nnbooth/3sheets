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Sheet1!$A$2:$A$17</c:f>
              <c:strCache>
                <c:ptCount val="16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</c:strCache>
            </c:strRef>
          </c:cat>
          <c:val>
            <c:numRef>
              <c:f>Sheet1!$B$2:$B$17</c:f>
              <c:numCache>
                <c:formatCode>$#,##0;[Red]($#,##0);"-"</c:formatCode>
                <c:ptCount val="16"/>
                <c:pt idx="0">
                  <c:v>191014</c:v>
                </c:pt>
                <c:pt idx="1">
                  <c:v>200124</c:v>
                </c:pt>
                <c:pt idx="2">
                  <c:v>159406</c:v>
                </c:pt>
                <c:pt idx="3">
                  <c:v>156794</c:v>
                </c:pt>
                <c:pt idx="4">
                  <c:v>179190</c:v>
                </c:pt>
                <c:pt idx="5">
                  <c:v>150465</c:v>
                </c:pt>
                <c:pt idx="6">
                  <c:v>138865</c:v>
                </c:pt>
                <c:pt idx="7">
                  <c:v>144649</c:v>
                </c:pt>
                <c:pt idx="8">
                  <c:v>183265</c:v>
                </c:pt>
                <c:pt idx="9">
                  <c:v>208588</c:v>
                </c:pt>
                <c:pt idx="10">
                  <c:v>155118</c:v>
                </c:pt>
                <c:pt idx="11">
                  <c:v>143077</c:v>
                </c:pt>
                <c:pt idx="12">
                  <c:v>143566</c:v>
                </c:pt>
                <c:pt idx="13">
                  <c:v>194966</c:v>
                </c:pt>
                <c:pt idx="14">
                  <c:v>150283</c:v>
                </c:pt>
                <c:pt idx="15">
                  <c:v>183306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2"/>
        <c:noMultiLvlLbl val="0"/>
      </c:catAx>
      <c:valAx>
        <c:axId val="-2100718248"/>
        <c:scaling>
          <c:orientation val="minMax"/>
          <c:max val="250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50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Sheet1!$A$2:$A$17</c:f>
              <c:strCache>
                <c:ptCount val="16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</c:strCache>
            </c:strRef>
          </c:cat>
          <c:val>
            <c:numRef>
              <c:f>Sheet1!$B$2:$B$17</c:f>
              <c:numCache>
                <c:formatCode>$#,##0;[Red]($#,##0);"-"</c:formatCode>
                <c:ptCount val="16"/>
                <c:pt idx="0">
                  <c:v>27650</c:v>
                </c:pt>
                <c:pt idx="1">
                  <c:v>27650</c:v>
                </c:pt>
                <c:pt idx="2">
                  <c:v>27650</c:v>
                </c:pt>
                <c:pt idx="3">
                  <c:v>27650</c:v>
                </c:pt>
                <c:pt idx="4">
                  <c:v>31300</c:v>
                </c:pt>
                <c:pt idx="5">
                  <c:v>31300</c:v>
                </c:pt>
                <c:pt idx="6">
                  <c:v>31300</c:v>
                </c:pt>
                <c:pt idx="7">
                  <c:v>31300</c:v>
                </c:pt>
                <c:pt idx="8">
                  <c:v>35720</c:v>
                </c:pt>
                <c:pt idx="9">
                  <c:v>37200</c:v>
                </c:pt>
                <c:pt idx="10">
                  <c:v>37200</c:v>
                </c:pt>
                <c:pt idx="11">
                  <c:v>37200</c:v>
                </c:pt>
                <c:pt idx="12">
                  <c:v>40100</c:v>
                </c:pt>
                <c:pt idx="13">
                  <c:v>40100</c:v>
                </c:pt>
                <c:pt idx="14">
                  <c:v>40100</c:v>
                </c:pt>
                <c:pt idx="15">
                  <c:v>40100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2"/>
        <c:noMultiLvlLbl val="0"/>
      </c:catAx>
      <c:valAx>
        <c:axId val="-2100718248"/>
        <c:scaling>
          <c:orientation val="minMax"/>
          <c:max val="50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10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Sheet1!$A$2:$A$17</c:f>
              <c:strCache>
                <c:ptCount val="16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</c:strCache>
            </c:strRef>
          </c:cat>
          <c:val>
            <c:numRef>
              <c:f>Sheet1!$B$2:$B$17</c:f>
              <c:numCache>
                <c:formatCode>$#,##0;[Red]($#,##0);"-"</c:formatCode>
                <c:ptCount val="16"/>
                <c:pt idx="0">
                  <c:v>141600</c:v>
                </c:pt>
                <c:pt idx="1">
                  <c:v>147100</c:v>
                </c:pt>
                <c:pt idx="2">
                  <c:v>103700</c:v>
                </c:pt>
                <c:pt idx="3">
                  <c:v>100100</c:v>
                </c:pt>
                <c:pt idx="4">
                  <c:v>118600</c:v>
                </c:pt>
                <c:pt idx="5">
                  <c:v>96400</c:v>
                </c:pt>
                <c:pt idx="6">
                  <c:v>83900</c:v>
                </c:pt>
                <c:pt idx="7">
                  <c:v>89900</c:v>
                </c:pt>
                <c:pt idx="8">
                  <c:v>126300</c:v>
                </c:pt>
                <c:pt idx="9">
                  <c:v>152100</c:v>
                </c:pt>
                <c:pt idx="10">
                  <c:v>96500</c:v>
                </c:pt>
                <c:pt idx="11">
                  <c:v>84200</c:v>
                </c:pt>
                <c:pt idx="12">
                  <c:v>79300</c:v>
                </c:pt>
                <c:pt idx="13">
                  <c:v>126900</c:v>
                </c:pt>
                <c:pt idx="14">
                  <c:v>78100</c:v>
                </c:pt>
                <c:pt idx="15">
                  <c:v>109100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2"/>
        <c:noMultiLvlLbl val="0"/>
      </c:catAx>
      <c:valAx>
        <c:axId val="-2100718248"/>
        <c:scaling>
          <c:orientation val="minMax"/>
          <c:max val="200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50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Sheet1!$A$2:$A$17</c:f>
              <c:strCache>
                <c:ptCount val="16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</c:strCache>
            </c:strRef>
          </c:cat>
          <c:val>
            <c:numRef>
              <c:f>Sheet1!$B$2:$B$17</c:f>
              <c:numCache>
                <c:formatCode>$#,##0;[Red]($#,##0);"-"</c:formatCode>
                <c:ptCount val="16"/>
                <c:pt idx="0">
                  <c:v>21764</c:v>
                </c:pt>
                <c:pt idx="1">
                  <c:v>25374</c:v>
                </c:pt>
                <c:pt idx="2">
                  <c:v>28056</c:v>
                </c:pt>
                <c:pt idx="3">
                  <c:v>29044</c:v>
                </c:pt>
                <c:pt idx="4">
                  <c:v>29290</c:v>
                </c:pt>
                <c:pt idx="5">
                  <c:v>22765</c:v>
                </c:pt>
                <c:pt idx="6">
                  <c:v>23665</c:v>
                </c:pt>
                <c:pt idx="7">
                  <c:v>23449</c:v>
                </c:pt>
                <c:pt idx="8">
                  <c:v>21245</c:v>
                </c:pt>
                <c:pt idx="9">
                  <c:v>19288</c:v>
                </c:pt>
                <c:pt idx="10">
                  <c:v>21418</c:v>
                </c:pt>
                <c:pt idx="11">
                  <c:v>21677</c:v>
                </c:pt>
                <c:pt idx="12">
                  <c:v>24166</c:v>
                </c:pt>
                <c:pt idx="13">
                  <c:v>27966</c:v>
                </c:pt>
                <c:pt idx="14">
                  <c:v>32083</c:v>
                </c:pt>
                <c:pt idx="15">
                  <c:v>34106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2"/>
        <c:noMultiLvlLbl val="0"/>
      </c:catAx>
      <c:valAx>
        <c:axId val="-2100718248"/>
        <c:scaling>
          <c:orientation val="minMax"/>
          <c:max val="40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10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Which products and services are growing?. Sample Electrical &amp; Air Pty Ltd. Period: January 2026. Revenue, gross margin and growth (year on year) by product or service line over 24 months. Pick a line and every number, chart and note follows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Trades · All. January against January last year: 16.9%; Year to date (Jul to Jan 2026): $1,178,904; Gross margin, year to date: 43.6%. Revenue is $1,178,904 this financial year to date (Jul to Jan 2026). Maintenance contracts make the highest gross margin (63.8%); Installations the lowest (34.9%). The business needs 44.2% gross margin just to cover overheads. Installations: 34.9% gross margin, 0.1 points under the 35.0% target: about $1,006 on $726,200 of revenue this financial year to date. It's below the 44.2% needed to cover overheads, too. Maintenance contracts: 63.8% gross margin, 28.8 points over the 35.0% target ($78,398 ahead on $272,000 this financial year to date).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Trades · Maintenance contracts. January against January last year: 45.0%; Year to date (Jul to Jan 2026): $272,000; Gross margin, year to date: 63.8%. Maintenance contracts brought in $272,000 this financial year to date, at a 63.8% gross margin (above the 43.6% overall). Maintenance contracts: 63.8% gross margin, 28.8 points over the 35.0% target ($78,398 ahead on $272,000 this financial year to date).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Trades · Installations. January against January last year: 9.0%; Year to date (Jul to Jan 2026): $726,200; Gross margin, year to date: 34.9%. Installations brought in $726,200 this financial year to date, at a 34.9% gross margin (below the 43.6% overall). Installations: 34.9% gross margin, 0.1 points under the 35.0% target: about $1,006 on $726,200 of revenue this financial year to date. It's below the 44.2% needed to cover overheads, too.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Trades · Call-outs and repairs. January against January last year: 17.4%; Year to date (Jul to Jan 2026): $180,704; Gross margin, year to date: 48.1%. Call-outs and repairs brought in $180,704 this financial year to date, at a 48.1% gross margin (above the 43.6% overall). Call-outs and repairs: 48.1% gross margin, 13.1 points over the 35.0% target ($23,648 ahead on $180,704 this financial year to date).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By line: financial year to date (Jul to Jan 2026) against the same period last year · Trades. Same period last year: Not available: the data starts October 2024. From gross margin to profit: January's jobs made $76,716 gross margin (41.9%). Technician time not charged to jobs took $22,372 and overheads $58,730, leaving ($4,386) profit before tax ((2.4%) of revenue). To cover overheads, jobs need a 44.2% gross margin on average.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Relationship Id="rId3" Type="http://schemas.openxmlformats.org/officeDocument/2006/relationships/chart" Target="../charts/chart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Relationship Id="rId3" Type="http://schemas.openxmlformats.org/officeDocument/2006/relationships/chart" Target="../charts/chart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965960"/>
            <a:ext cx="11277295" cy="1097280"/>
          </a:xfrm>
        </p:spPr>
        <p:txBody>
          <a:bodyPr wrap="square"/>
          <a:lstStyle/>
          <a:p>
            <a:pPr algn="l"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Which products and services are growing?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>
                <a:latin typeface="Roboto"/>
              </a:defRPr>
            </a:pPr>
            <a:r>
              <a:rPr sz="1600" b="1">
                <a:solidFill>
                  <a:srgbClr val="FFFFFF"/>
                </a:solidFill>
                <a:latin typeface="Roboto"/>
              </a:rPr>
              <a:t>4th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77295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Electrical &amp; Air Pty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77295" cy="5359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January 2026. Revenue, gross margin and growth (year on year) by product or service line over 24 months. Pick a line and every number, chart and note follows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330700"/>
            <a:ext cx="11277295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December 2025: Locked. December 2025 is locked (closed 5 Jan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January 2026: Locked. January 2026 is locked (closed 3 Feb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2026: Incomplete. October 2026 is still in progress: figures to 6 Oct only.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growth-trades.pptx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9 Oct 2026, 8:41am · Sample data · Made with Python (python-pptx)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Trades · All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products and services are growing?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Revenue, gross margin and growth by line, by month · All. Gross margin is not profit.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January against January last year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16.9%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$183,306 against $156,794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Year to date (Jul to Jan 2026)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$1,178,904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same period last year: not in the data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margin, year to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43.6%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$513,656 before overheads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211988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9" name="Rectangle 18"/>
          <p:cNvSpPr/>
          <p:nvPr/>
        </p:nvSpPr>
        <p:spPr>
          <a:xfrm>
            <a:off x="457200" y="4815840"/>
            <a:ext cx="5501487" cy="149352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594360" y="487070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5145024"/>
            <a:ext cx="5227167" cy="1127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Revenue is $1,178,904 this financial year to date (Jul to Jan 2026). Maintenance contracts make the highest gross margin (63.8%); Installations the lowest (34.9%). The business needs 44.2% gross margin just to cover overheads.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3007" y="4815840"/>
            <a:ext cx="5501487" cy="149352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6370167" y="487070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0167" y="5145024"/>
            <a:ext cx="5227167" cy="1127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Installations: 34.9% gross margin, 0.1 points under the 35.0% target: about $1,006 on $726,200 of revenue this financial year to date. It's below the 44.2% needed to cover overheads, too. Maintenance contracts: 63.8% gross margin, 28.8 points over the 35.0% target ($78,398 ahead on $272,000 this financial year to date).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growth-trades.pptx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9 Oct 2026, 8:41am · Sample data · Made with Python (python-pptx)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Trades · Maintenance contracts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products and services are growing?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Revenue, gross margin and growth by line, by month · Maintenance contracts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January against January last year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45.0%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$40,100 against $27,650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Year to date (Jul to Jan 2026)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$272,000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same period last year: not in the data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margin, year to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63.8%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$173,598 before overheads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271424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9" name="Rectangle 18"/>
          <p:cNvSpPr/>
          <p:nvPr/>
        </p:nvSpPr>
        <p:spPr>
          <a:xfrm>
            <a:off x="457200" y="5410200"/>
            <a:ext cx="5501487" cy="89916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594360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Maintenance contracts brought in $272,000 this financial year to date, at a 63.8% gross margin (above the 43.6% overall).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3007" y="5410200"/>
            <a:ext cx="5501487" cy="89916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6370167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0167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Maintenance contracts: 63.8% gross margin, 28.8 points over the 35.0% target ($78,398 ahead on $272,000 this financial year to date).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growth-trades.pptx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9 Oct 2026, 8:41am · Sample data · Made with Python (python-pptx)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Trades · Installations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products and services are growing?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Revenue, gross margin and growth by line, by month · Installations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January against January last year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9.0%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$109,100 against $100,100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Year to date (Jul to Jan 2026)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$726,200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same period last year: not in the data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margin, year to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34.9%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$253,164 before overheads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251612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9" name="Rectangle 18"/>
          <p:cNvSpPr/>
          <p:nvPr/>
        </p:nvSpPr>
        <p:spPr>
          <a:xfrm>
            <a:off x="457200" y="5212080"/>
            <a:ext cx="5501487" cy="109728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594360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Installations brought in $726,200 this financial year to date, at a 34.9% gross margin (below the 43.6% overall).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3007" y="5212080"/>
            <a:ext cx="5501487" cy="109728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6370167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0167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Installations: 34.9% gross margin, 0.1 points under the 35.0% target: about $1,006 on $726,200 of revenue this financial year to date. It's below the 44.2% needed to cover overheads, too.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growth-trades.pptx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9 Oct 2026, 8:41am · Sample data · Made with Python (python-pptx)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4 of 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Trades · Call-outs and repairs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products and services are growing?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Revenue, gross margin and growth by line, by month · Call-outs and repairs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January against January last year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17.4%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$34,106 against $29,044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Year to date (Jul to Jan 2026)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$180,704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same period last year: not in the data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margin, year to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48.1%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$86,894 before overheads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271424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9" name="Rectangle 18"/>
          <p:cNvSpPr/>
          <p:nvPr/>
        </p:nvSpPr>
        <p:spPr>
          <a:xfrm>
            <a:off x="457200" y="5410200"/>
            <a:ext cx="5501487" cy="89916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594360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Call-outs and repairs brought in $180,704 this financial year to date, at a 48.1% gross margin (above the 43.6% overall).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3007" y="5410200"/>
            <a:ext cx="5501487" cy="89916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6370167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0167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Call-outs and repairs: 48.1% gross margin, 13.1 points over the 35.0% target ($23,648 ahead on $180,704 this financial year to date).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growth-trades.pptx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9 Oct 2026, 8:41am · Sample data · Made with Python (python-pptx)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5 of 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71932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000" b="1">
                <a:solidFill>
                  <a:srgbClr val="25342A"/>
                </a:solidFill>
                <a:latin typeface="Roboto"/>
              </a:rPr>
              <a:t>By line: financial year to date (Jul to Jan 2026) against the same period last year · Trades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products and services are growing?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58240"/>
            <a:ext cx="11277295" cy="644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Same period last year: Not available: the data starts October 2024. From gross margin to profit: January's jobs made $76,716 gross margin (41.9%). Technician time not charged to jobs took $22,372 and overheads $58,730, leaving ($4,386) profit before tax ((2.4%) of revenue). To cover overheads, jobs need a 44.2% gross margin on average.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903476"/>
          <a:ext cx="11277295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9549"/>
                <a:gridCol w="1879549"/>
                <a:gridCol w="1879549"/>
                <a:gridCol w="1879549"/>
                <a:gridCol w="1879549"/>
                <a:gridCol w="1879550"/>
              </a:tblGrid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Year to date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Same period last year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Growth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Gross margin $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Gross margin %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Maintenance contracts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$272,000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$173,598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63.8%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Installations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$726,200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–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–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$253,164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34.9%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Call-outs and repairs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$180,704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$86,894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48.1%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Total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$1,178,904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–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–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$513,656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43.6%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growth-trades.pptx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9 Oct 2026, 8:41am · Sample data · Made with Python (python-pptx)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6 of 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342A"/>
      </a:dk2>
      <a:lt2>
        <a:srgbClr val="F4F7F2"/>
      </a:lt2>
      <a:accent1>
        <a:srgbClr val="2F7A5D"/>
      </a:accent1>
      <a:accent2>
        <a:srgbClr val="0E9F6E"/>
      </a:accent2>
      <a:accent3>
        <a:srgbClr val="7D8790"/>
      </a:accent3>
      <a:accent4>
        <a:srgbClr val="8A6D3B"/>
      </a:accent4>
      <a:accent5>
        <a:srgbClr val="B42318"/>
      </a:accent5>
      <a:accent6>
        <a:srgbClr val="8E9CAB"/>
      </a:accent6>
      <a:hlink>
        <a:srgbClr val="0000FF"/>
      </a:hlink>
      <a:folHlink>
        <a:srgbClr val="800080"/>
      </a:folHlink>
    </a:clrScheme>
    <a:fontScheme name="Office">
      <a:maj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