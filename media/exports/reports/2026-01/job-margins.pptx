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23.9</c:v>
                </c:pt>
                <c:pt idx="1">
                  <c:v>43.3</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23284</c:v>
                </c:pt>
                <c:pt idx="1">
                  <c:v>13622</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dPt>
            <c:idx val="4"/>
            <c:spPr>
              <a:solidFill>
                <a:srgbClr val="0E9F6E"/>
              </a:solidFill>
            </c:spPr>
          </c:dPt>
          <c:cat>
            <c:strRef>
              <c:f>Sheet1!$A$2:$A$6</c:f>
              <c:strCache>
                <c:ptCount val="5"/>
                <c:pt idx="0">
                  <c:v>Mount Gravatt clinic solar and battery</c:v>
                </c:pt>
                <c:pt idx="1">
                  <c:v>West End factory switchboard upgrade</c:v>
                </c:pt>
                <c:pt idx="2">
                  <c:v>Milton townhouses switchboard upgrade</c:v>
                </c:pt>
                <c:pt idx="3">
                  <c:v>Wynnum office data cabling</c:v>
                </c:pt>
                <c:pt idx="4">
                  <c:v>Chermside shop data cabling</c:v>
                </c:pt>
              </c:strCache>
            </c:strRef>
          </c:cat>
          <c:val>
            <c:numRef>
              <c:f>Sheet1!$B$2:$B$6</c:f>
              <c:numCache>
                <c:formatCode>0.0"%";[Red](0.0"%")</c:formatCode>
                <c:ptCount val="5"/>
                <c:pt idx="0">
                  <c:v>10.1</c:v>
                </c:pt>
                <c:pt idx="1">
                  <c:v>24.0</c:v>
                </c:pt>
                <c:pt idx="2">
                  <c:v>24.7</c:v>
                </c:pt>
                <c:pt idx="3">
                  <c:v>31.0</c:v>
                </c:pt>
                <c:pt idx="4">
                  <c:v>38.9</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dPt>
            <c:idx val="4"/>
            <c:spPr>
              <a:solidFill>
                <a:srgbClr val="0E9F6E"/>
              </a:solidFill>
            </c:spPr>
          </c:dPt>
          <c:cat>
            <c:strRef>
              <c:f>Sheet1!$A$2:$A$6</c:f>
              <c:strCache>
                <c:ptCount val="5"/>
                <c:pt idx="0">
                  <c:v>Mount Gravatt clinic solar and battery</c:v>
                </c:pt>
                <c:pt idx="1">
                  <c:v>West End factory switchboard upgrade</c:v>
                </c:pt>
                <c:pt idx="2">
                  <c:v>Milton townhouses switchboard upgrade</c:v>
                </c:pt>
                <c:pt idx="3">
                  <c:v>Wynnum office data cabling</c:v>
                </c:pt>
                <c:pt idx="4">
                  <c:v>Chermside shop data cabling</c:v>
                </c:pt>
              </c:strCache>
            </c:strRef>
          </c:cat>
          <c:val>
            <c:numRef>
              <c:f>Sheet1!$B$2:$B$6</c:f>
              <c:numCache>
                <c:formatCode>$#,##0;[Red]($#,##0);"-"</c:formatCode>
                <c:ptCount val="5"/>
                <c:pt idx="0">
                  <c:v>2720</c:v>
                </c:pt>
                <c:pt idx="1">
                  <c:v>6652</c:v>
                </c:pt>
                <c:pt idx="2">
                  <c:v>3234</c:v>
                </c:pt>
                <c:pt idx="3">
                  <c:v>3408</c:v>
                </c:pt>
                <c:pt idx="4">
                  <c:v>7270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(11)</c:v>
                </c:pt>
                <c:pt idx="2">
                  <c:v>2.5-hour call-outs (11)</c:v>
                </c:pt>
                <c:pt idx="3">
                  <c:v>2-hour call-outs (8)</c:v>
                </c:pt>
                <c:pt idx="4">
                  <c:v>3-hour call-outs (21)</c:v>
                </c:pt>
                <c:pt idx="5">
                  <c:v>4-hour call-outs (4)</c:v>
                </c:pt>
              </c:strCache>
            </c:strRef>
          </c:cat>
          <c:val>
            <c:numRef>
              <c:f>Sheet1!$B$2:$B$7</c:f>
              <c:numCache>
                <c:formatCode>0.0"%";[Red](0.0"%")</c:formatCode>
                <c:ptCount val="6"/>
                <c:pt idx="0">
                  <c:v>37.2</c:v>
                </c:pt>
                <c:pt idx="1">
                  <c:v>39.0</c:v>
                </c:pt>
                <c:pt idx="2">
                  <c:v>42.1</c:v>
                </c:pt>
                <c:pt idx="3">
                  <c:v>43.3</c:v>
                </c:pt>
                <c:pt idx="4">
                  <c:v>45.9</c:v>
                </c:pt>
                <c:pt idx="5">
                  <c:v>46.1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(11)</c:v>
                </c:pt>
                <c:pt idx="2">
                  <c:v>2.5-hour call-outs (11)</c:v>
                </c:pt>
                <c:pt idx="3">
                  <c:v>2-hour call-outs (8)</c:v>
                </c:pt>
                <c:pt idx="4">
                  <c:v>3-hour call-outs (21)</c:v>
                </c:pt>
                <c:pt idx="5">
                  <c:v>4-hour call-outs (4)</c:v>
                </c:pt>
              </c:strCache>
            </c:strRef>
          </c:cat>
          <c:val>
            <c:numRef>
              <c:f>Sheet1!$B$2:$B$7</c:f>
              <c:numCache>
                <c:formatCode>$#,##0;[Red]($#,##0);"-"</c:formatCode>
                <c:ptCount val="6"/>
                <c:pt idx="0">
                  <c:v>803</c:v>
                </c:pt>
                <c:pt idx="1">
                  <c:v>1766</c:v>
                </c:pt>
                <c:pt idx="2">
                  <c:v>2646</c:v>
                </c:pt>
                <c:pt idx="3">
                  <c:v>1493</c:v>
                </c:pt>
                <c:pt idx="4">
                  <c:v>5520</c:v>
                </c:pt>
                <c:pt idx="5">
                  <c:v>1394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0.0"%";[Red](0.0"%")</c:formatCode>
                <c:ptCount val="16"/>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$#,##0;[Red]($#,##0);"-"</c:formatCode>
                <c:ptCount val="16"/>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January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December 2025: Locked. December 2025 is locked (closed 5 Jan 2026). These numbers won't change.</a:t>
            </a:r>
          </a:p>
          <a:p>
            <a:pPr>
              <a:defRPr>
                <a:latin typeface="Roboto"/>
              </a:defRPr>
            </a:pPr>
            <a:r>
              <a:rPr sz="1100" b="0">
                <a:solidFill>
                  <a:srgbClr val="5F6F63"/>
                </a:solidFill>
                <a:latin typeface="Roboto"/>
              </a:rPr>
              <a:t>January 2026: Locked. January 2026 is locked (closed 3 Feb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January's jobs made $58,190 gross margin (35.3%). Technician time not charged to jobs took $4,620 and overheads $58,730, leaving ($5,160) profit before tax ((3.1%) of revenue). To cover overheads, jobs need a 38.4%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January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$58,190</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$49,980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$4,620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$53,570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$58,730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($5,160)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$164,780</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35.3%</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(3.1%)</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38.4%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35.3%</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December 37.4%</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January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January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January maintenance contracts made a 59.5% job gross margin, installations made a 23.9% job gross margin, call-outs and repairs made a 43.3% job gross margin (technician time at $68 an hour, wages and all on-costs). Jobs need 38.4%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23.9% gross margin, below the 38.4%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December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January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January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19.8 points clear of the 38.4%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23.9%</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December 23.4%</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January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January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of the 5 installation jobs invoiced in January made less than the 35.0% job gross margin target. The Mount Gravatt clinic solar and battery made a 10.1% job gross margin: 110.0 h of technician time ($7,480) and $3,000 of subcontractors on a $27,000 job. Jobs need 38.4%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38.4% overheads need: Wynnum office data cabling (31.0%), Milton townhouses switchboard upgrade (24.7%), West End factory switchboard upgrade (24.0%), Mount Gravatt clinic solar and battery (10.1%). Most profitable: Chermside shop data cabling (38.9%).</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January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December 43.5%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January</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$21,171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67.3%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January</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$10,309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$7,930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January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January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62 call-outs in January billed $21,171 of technician time and $10,309 of materials ($7,930 at cost plus 30%), and made a 43.3% job gross margin between them. Gross margins run from 37.2% to 46.1%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43.3% gross margin, 4.8 points clear of the 38.4%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