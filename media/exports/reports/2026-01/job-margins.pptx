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0.0"%";[Red](0.0"%")</c:formatCode>
                <c:ptCount val="3"/>
                <c:pt idx="0">
                  <c:v>23.9</c:v>
                </c:pt>
                <c:pt idx="1">
                  <c:v>43.3</c:v>
                </c:pt>
                <c:pt idx="2">
                  <c:v>59.5</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$#,##0;[Red]($#,##0);"-"</c:formatCode>
                <c:ptCount val="3"/>
                <c:pt idx="0">
                  <c:v>23284</c:v>
                </c:pt>
                <c:pt idx="1">
                  <c:v>13622</c:v>
                </c:pt>
                <c:pt idx="2">
                  <c:v>21284</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cat>
            <c:strRef>
              <c:f>Sheet1!$A$2:$A$13</c:f>
              <c:strCache>
                <c:ptCount val="12"/>
                <c:pt idx="0">
                  <c:v>Kangaroo Point townhouses</c:v>
                </c:pt>
                <c:pt idx="1">
                  <c:v>West End brewery</c:v>
                </c:pt>
                <c:pt idx="2">
                  <c:v>Rocklea factory</c:v>
                </c:pt>
                <c:pt idx="3">
                  <c:v>Milton office tower</c:v>
                </c:pt>
                <c:pt idx="4">
                  <c:v>Bulimba school</c:v>
                </c:pt>
                <c:pt idx="5">
                  <c:v>Chermside retail centre</c:v>
                </c:pt>
                <c:pt idx="6">
                  <c:v>Fortitude Valley hotel</c:v>
                </c:pt>
                <c:pt idx="7">
                  <c:v>Riverside Apartments (strata)</c:v>
                </c:pt>
                <c:pt idx="8">
                  <c:v>Newstead gym</c:v>
                </c:pt>
                <c:pt idx="9">
                  <c:v>Southbank cafe group</c:v>
                </c:pt>
                <c:pt idx="10">
                  <c:v>Ashgrove aged care</c:v>
                </c:pt>
                <c:pt idx="11">
                  <c:v>Wynnum medical centre</c:v>
                </c:pt>
              </c:strCache>
            </c:strRef>
          </c:cat>
          <c:val>
            <c:numRef>
              <c:f>Sheet1!$B$2:$B$13</c:f>
              <c:numCache>
                <c:formatCode>0.0"%";[Red](0.0"%")</c:formatCode>
                <c:ptCount val="12"/>
                <c:pt idx="0">
                  <c:v>58.2</c:v>
                </c:pt>
                <c:pt idx="1">
                  <c:v>58.8</c:v>
                </c:pt>
                <c:pt idx="2">
                  <c:v>58.8</c:v>
                </c:pt>
                <c:pt idx="3">
                  <c:v>59.0</c:v>
                </c:pt>
                <c:pt idx="4">
                  <c:v>59.0</c:v>
                </c:pt>
                <c:pt idx="5">
                  <c:v>59.4</c:v>
                </c:pt>
                <c:pt idx="6">
                  <c:v>59.9</c:v>
                </c:pt>
                <c:pt idx="7">
                  <c:v>59.9</c:v>
                </c:pt>
                <c:pt idx="8">
                  <c:v>59.9</c:v>
                </c:pt>
                <c:pt idx="9">
                  <c:v>60.0</c:v>
                </c:pt>
                <c:pt idx="10">
                  <c:v>60.0</c:v>
                </c:pt>
                <c:pt idx="11">
                  <c:v>61.1</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cat>
            <c:strRef>
              <c:f>Sheet1!$A$2:$A$13</c:f>
              <c:strCache>
                <c:ptCount val="12"/>
                <c:pt idx="0">
                  <c:v>Kangaroo Point townhouses</c:v>
                </c:pt>
                <c:pt idx="1">
                  <c:v>West End brewery</c:v>
                </c:pt>
                <c:pt idx="2">
                  <c:v>Rocklea factory</c:v>
                </c:pt>
                <c:pt idx="3">
                  <c:v>Milton office tower</c:v>
                </c:pt>
                <c:pt idx="4">
                  <c:v>Bulimba school</c:v>
                </c:pt>
                <c:pt idx="5">
                  <c:v>Chermside retail centre</c:v>
                </c:pt>
                <c:pt idx="6">
                  <c:v>Fortitude Valley hotel</c:v>
                </c:pt>
                <c:pt idx="7">
                  <c:v>Riverside Apartments (strata)</c:v>
                </c:pt>
                <c:pt idx="8">
                  <c:v>Newstead gym</c:v>
                </c:pt>
                <c:pt idx="9">
                  <c:v>Southbank cafe group</c:v>
                </c:pt>
                <c:pt idx="10">
                  <c:v>Ashgrove aged care</c:v>
                </c:pt>
                <c:pt idx="11">
                  <c:v>Wynnum medical centre</c:v>
                </c:pt>
              </c:strCache>
            </c:strRef>
          </c:cat>
          <c:val>
            <c:numRef>
              <c:f>Sheet1!$B$2:$B$13</c:f>
              <c:numCache>
                <c:formatCode>$#,##0;[Red]($#,##0);"-"</c:formatCode>
                <c:ptCount val="12"/>
                <c:pt idx="0">
                  <c:v>1398</c:v>
                </c:pt>
                <c:pt idx="1">
                  <c:v>1530</c:v>
                </c:pt>
                <c:pt idx="2">
                  <c:v>2294</c:v>
                </c:pt>
                <c:pt idx="3">
                  <c:v>2478</c:v>
                </c:pt>
                <c:pt idx="4">
                  <c:v>1652</c:v>
                </c:pt>
                <c:pt idx="5">
                  <c:v>2436</c:v>
                </c:pt>
                <c:pt idx="6">
                  <c:v>2038</c:v>
                </c:pt>
                <c:pt idx="7">
                  <c:v>1916</c:v>
                </c:pt>
                <c:pt idx="8">
                  <c:v>958</c:v>
                </c:pt>
                <c:pt idx="9">
                  <c:v>1080</c:v>
                </c:pt>
                <c:pt idx="10">
                  <c:v>2160</c:v>
                </c:pt>
                <c:pt idx="11">
                  <c:v>1344</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dPt>
            <c:idx val="1"/>
            <c:spPr>
              <a:solidFill>
                <a:srgbClr val="7D8790"/>
              </a:solidFill>
            </c:spPr>
          </c:dPt>
          <c:dPt>
            <c:idx val="2"/>
            <c:spPr>
              <a:solidFill>
                <a:srgbClr val="7D8790"/>
              </a:solidFill>
            </c:spPr>
          </c:dPt>
          <c:dPt>
            <c:idx val="3"/>
            <c:spPr>
              <a:solidFill>
                <a:srgbClr val="7D8790"/>
              </a:solidFill>
            </c:spPr>
          </c:dPt>
          <c:dPt>
            <c:idx val="4"/>
            <c:spPr>
              <a:solidFill>
                <a:srgbClr val="0E9F6E"/>
              </a:solidFill>
            </c:spPr>
          </c:dPt>
          <c:cat>
            <c:strRef>
              <c:f>Sheet1!$A$2:$A$6</c:f>
              <c:strCache>
                <c:ptCount val="5"/>
                <c:pt idx="0">
                  <c:v>Mount Gravatt clinic solar and battery</c:v>
                </c:pt>
                <c:pt idx="1">
                  <c:v>West End factory switchboard upgrade</c:v>
                </c:pt>
                <c:pt idx="2">
                  <c:v>Milton townhouses switchboard upgrade</c:v>
                </c:pt>
                <c:pt idx="3">
                  <c:v>Wynnum office data cabling</c:v>
                </c:pt>
                <c:pt idx="4">
                  <c:v>Chermside shop data cabling</c:v>
                </c:pt>
              </c:strCache>
            </c:strRef>
          </c:cat>
          <c:val>
            <c:numRef>
              <c:f>Sheet1!$B$2:$B$6</c:f>
              <c:numCache>
                <c:formatCode>0.0"%";[Red](0.0"%")</c:formatCode>
                <c:ptCount val="5"/>
                <c:pt idx="0">
                  <c:v>10.1</c:v>
                </c:pt>
                <c:pt idx="1">
                  <c:v>24.0</c:v>
                </c:pt>
                <c:pt idx="2">
                  <c:v>24.7</c:v>
                </c:pt>
                <c:pt idx="3">
                  <c:v>31.0</c:v>
                </c:pt>
                <c:pt idx="4">
                  <c:v>38.9</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dPt>
            <c:idx val="1"/>
            <c:spPr>
              <a:solidFill>
                <a:srgbClr val="7D8790"/>
              </a:solidFill>
            </c:spPr>
          </c:dPt>
          <c:dPt>
            <c:idx val="2"/>
            <c:spPr>
              <a:solidFill>
                <a:srgbClr val="7D8790"/>
              </a:solidFill>
            </c:spPr>
          </c:dPt>
          <c:dPt>
            <c:idx val="3"/>
            <c:spPr>
              <a:solidFill>
                <a:srgbClr val="7D8790"/>
              </a:solidFill>
            </c:spPr>
          </c:dPt>
          <c:dPt>
            <c:idx val="4"/>
            <c:spPr>
              <a:solidFill>
                <a:srgbClr val="0E9F6E"/>
              </a:solidFill>
            </c:spPr>
          </c:dPt>
          <c:cat>
            <c:strRef>
              <c:f>Sheet1!$A$2:$A$6</c:f>
              <c:strCache>
                <c:ptCount val="5"/>
                <c:pt idx="0">
                  <c:v>Mount Gravatt clinic solar and battery</c:v>
                </c:pt>
                <c:pt idx="1">
                  <c:v>West End factory switchboard upgrade</c:v>
                </c:pt>
                <c:pt idx="2">
                  <c:v>Milton townhouses switchboard upgrade</c:v>
                </c:pt>
                <c:pt idx="3">
                  <c:v>Wynnum office data cabling</c:v>
                </c:pt>
                <c:pt idx="4">
                  <c:v>Chermside shop data cabling</c:v>
                </c:pt>
              </c:strCache>
            </c:strRef>
          </c:cat>
          <c:val>
            <c:numRef>
              <c:f>Sheet1!$B$2:$B$6</c:f>
              <c:numCache>
                <c:formatCode>$#,##0;[Red]($#,##0);"-"</c:formatCode>
                <c:ptCount val="5"/>
                <c:pt idx="0">
                  <c:v>2720</c:v>
                </c:pt>
                <c:pt idx="1">
                  <c:v>6652</c:v>
                </c:pt>
                <c:pt idx="2">
                  <c:v>3234</c:v>
                </c:pt>
                <c:pt idx="3">
                  <c:v>3408</c:v>
                </c:pt>
                <c:pt idx="4">
                  <c:v>7270</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1-hour call-outs (7)</c:v>
                </c:pt>
                <c:pt idx="1">
                  <c:v>1.5-hour call-outs (11)</c:v>
                </c:pt>
                <c:pt idx="2">
                  <c:v>2.5-hour call-outs (11)</c:v>
                </c:pt>
                <c:pt idx="3">
                  <c:v>2-hour call-outs (8)</c:v>
                </c:pt>
                <c:pt idx="4">
                  <c:v>3-hour call-outs (21)</c:v>
                </c:pt>
                <c:pt idx="5">
                  <c:v>4-hour call-outs (4)</c:v>
                </c:pt>
              </c:strCache>
            </c:strRef>
          </c:cat>
          <c:val>
            <c:numRef>
              <c:f>Sheet1!$B$2:$B$7</c:f>
              <c:numCache>
                <c:formatCode>0.0"%";[Red](0.0"%")</c:formatCode>
                <c:ptCount val="6"/>
                <c:pt idx="0">
                  <c:v>37.2</c:v>
                </c:pt>
                <c:pt idx="1">
                  <c:v>39.0</c:v>
                </c:pt>
                <c:pt idx="2">
                  <c:v>42.1</c:v>
                </c:pt>
                <c:pt idx="3">
                  <c:v>43.3</c:v>
                </c:pt>
                <c:pt idx="4">
                  <c:v>45.9</c:v>
                </c:pt>
                <c:pt idx="5">
                  <c:v>46.1</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1-hour call-outs (7)</c:v>
                </c:pt>
                <c:pt idx="1">
                  <c:v>1.5-hour call-outs (11)</c:v>
                </c:pt>
                <c:pt idx="2">
                  <c:v>2.5-hour call-outs (11)</c:v>
                </c:pt>
                <c:pt idx="3">
                  <c:v>2-hour call-outs (8)</c:v>
                </c:pt>
                <c:pt idx="4">
                  <c:v>3-hour call-outs (21)</c:v>
                </c:pt>
                <c:pt idx="5">
                  <c:v>4-hour call-outs (4)</c:v>
                </c:pt>
              </c:strCache>
            </c:strRef>
          </c:cat>
          <c:val>
            <c:numRef>
              <c:f>Sheet1!$B$2:$B$7</c:f>
              <c:numCache>
                <c:formatCode>$#,##0;[Red]($#,##0);"-"</c:formatCode>
                <c:ptCount val="6"/>
                <c:pt idx="0">
                  <c:v>803</c:v>
                </c:pt>
                <c:pt idx="1">
                  <c:v>1766</c:v>
                </c:pt>
                <c:pt idx="2">
                  <c:v>2646</c:v>
                </c:pt>
                <c:pt idx="3">
                  <c:v>1493</c:v>
                </c:pt>
                <c:pt idx="4">
                  <c:v>5520</c:v>
                </c:pt>
                <c:pt idx="5">
                  <c:v>1394</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Sheet1!$A$2:$A$17</c:f>
              <c:strCache>
                <c:ptCount val="16"/>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strCache>
            </c:strRef>
          </c:cat>
          <c:val>
            <c:numRef>
              <c:f>Sheet1!$B$2:$B$17</c:f>
              <c:numCache>
                <c:formatCode>0.0"%";[Red](0.0"%")</c:formatCode>
                <c:ptCount val="16"/>
                <c:pt idx="0">
                  <c:v>33.1</c:v>
                </c:pt>
                <c:pt idx="1">
                  <c:v>37.0</c:v>
                </c:pt>
                <c:pt idx="2">
                  <c:v>40.4</c:v>
                </c:pt>
                <c:pt idx="3">
                  <c:v>42.7</c:v>
                </c:pt>
                <c:pt idx="4">
                  <c:v>36.4</c:v>
                </c:pt>
                <c:pt idx="5">
                  <c:v>36.5</c:v>
                </c:pt>
                <c:pt idx="6">
                  <c:v>38.4</c:v>
                </c:pt>
                <c:pt idx="7">
                  <c:v>35.5</c:v>
                </c:pt>
                <c:pt idx="8">
                  <c:v>40.5</c:v>
                </c:pt>
                <c:pt idx="9">
                  <c:v>35.6</c:v>
                </c:pt>
                <c:pt idx="10">
                  <c:v>43.8</c:v>
                </c:pt>
                <c:pt idx="11">
                  <c:v>37.6</c:v>
                </c:pt>
                <c:pt idx="12">
                  <c:v>38.4</c:v>
                </c:pt>
                <c:pt idx="13">
                  <c:v>33.7</c:v>
                </c:pt>
                <c:pt idx="14">
                  <c:v>37.4</c:v>
                </c:pt>
                <c:pt idx="15">
                  <c:v>35.3</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Sheet1!$A$2:$A$17</c:f>
              <c:strCache>
                <c:ptCount val="16"/>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strCache>
            </c:strRef>
          </c:cat>
          <c:val>
            <c:numRef>
              <c:f>Sheet1!$B$2:$B$17</c:f>
              <c:numCache>
                <c:formatCode>$#,##0;[Red]($#,##0);"-"</c:formatCode>
                <c:ptCount val="16"/>
                <c:pt idx="0">
                  <c:v>56675</c:v>
                </c:pt>
                <c:pt idx="1">
                  <c:v>66458</c:v>
                </c:pt>
                <c:pt idx="2">
                  <c:v>57840</c:v>
                </c:pt>
                <c:pt idx="3">
                  <c:v>60167</c:v>
                </c:pt>
                <c:pt idx="4">
                  <c:v>58595</c:v>
                </c:pt>
                <c:pt idx="5">
                  <c:v>49330</c:v>
                </c:pt>
                <c:pt idx="6">
                  <c:v>47897</c:v>
                </c:pt>
                <c:pt idx="7">
                  <c:v>46116</c:v>
                </c:pt>
                <c:pt idx="8">
                  <c:v>66529</c:v>
                </c:pt>
                <c:pt idx="9">
                  <c:v>66434</c:v>
                </c:pt>
                <c:pt idx="10">
                  <c:v>60906</c:v>
                </c:pt>
                <c:pt idx="11">
                  <c:v>48201</c:v>
                </c:pt>
                <c:pt idx="12">
                  <c:v>49446</c:v>
                </c:pt>
                <c:pt idx="13">
                  <c:v>58844</c:v>
                </c:pt>
                <c:pt idx="14">
                  <c:v>50453</c:v>
                </c:pt>
                <c:pt idx="15">
                  <c:v>58190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3" name="TextBox 2"/>
          <p:cNvSpPr txBox="1"/>
          <p:nvPr/>
        </p:nvSpPr>
        <p:spPr>
          <a:xfrm>
            <a:off x="1234440" y="658368"/>
            <a:ext cx="5486400" cy="457200"/>
          </a:xfrm>
          <a:prstGeom prst="rect">
            <a:avLst/>
          </a:prstGeom>
          <a:noFill/>
        </p:spPr>
        <p:txBody>
          <a:bodyPr wrap="square">
            <a:spAutoFit/>
          </a:bodyPr>
          <a:lstStyle/>
          <a:p>
            <a:pPr>
              <a:defRPr>
                <a:latin typeface="Roboto"/>
              </a:defRPr>
            </a:pPr>
            <a:r>
              <a:rPr sz="1800" b="1">
                <a:solidFill>
                  <a:srgbClr val="25342A"/>
                </a:solidFill>
                <a:latin typeface="Roboto"/>
              </a:rPr>
              <a:t>The Fourth Sheet</a:t>
            </a:r>
          </a:p>
        </p:txBody>
      </p:sp>
      <p:sp>
        <p:nvSpPr>
          <p:cNvPr id="4" name="TextBox 3"/>
          <p:cNvSpPr txBox="1"/>
          <p:nvPr/>
        </p:nvSpPr>
        <p:spPr>
          <a:xfrm>
            <a:off x="457200" y="1554480"/>
            <a:ext cx="10972800" cy="365760"/>
          </a:xfrm>
          <a:prstGeom prst="rect">
            <a:avLst/>
          </a:prstGeom>
          <a:noFill/>
        </p:spPr>
        <p:txBody>
          <a:bodyPr wrap="square">
            <a:spAutoFit/>
          </a:bodyPr>
          <a:lstStyle/>
          <a:p>
            <a:pPr>
              <a:defRPr>
                <a:latin typeface="Roboto"/>
              </a:defRPr>
            </a:pPr>
            <a:r>
              <a:rPr sz="1100" b="1">
                <a:solidFill>
                  <a:srgbClr val="8A7A52"/>
                </a:solidFill>
                <a:latin typeface="Roboto"/>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pPr>
              <a:defRPr>
                <a:latin typeface="Roboto"/>
              </a:defRPr>
            </a:pPr>
            <a:r>
              <a:rPr sz="3400" b="1">
                <a:solidFill>
                  <a:srgbClr val="25342A"/>
                </a:solidFill>
                <a:latin typeface="Roboto"/>
              </a:rPr>
              <a:t>Which jobs actually make money?</a:t>
            </a:r>
          </a:p>
        </p:txBody>
      </p:sp>
      <p:sp>
        <p:nvSpPr>
          <p:cNvPr id="6" name="TextBox 5"/>
          <p:cNvSpPr txBox="1"/>
          <p:nvPr/>
        </p:nvSpPr>
        <p:spPr>
          <a:xfrm>
            <a:off x="457200" y="3154680"/>
            <a:ext cx="11247120" cy="457200"/>
          </a:xfrm>
          <a:prstGeom prst="rect">
            <a:avLst/>
          </a:prstGeom>
          <a:noFill/>
        </p:spPr>
        <p:txBody>
          <a:bodyPr wrap="square">
            <a:spAutoFit/>
          </a:bodyPr>
          <a:lstStyle/>
          <a:p>
            <a:pPr>
              <a:defRPr>
                <a:latin typeface="Roboto"/>
              </a:defRPr>
            </a:pPr>
            <a:r>
              <a:rPr sz="1600" b="0">
                <a:solidFill>
                  <a:srgbClr val="5F6F63"/>
                </a:solidFill>
                <a:latin typeface="Roboto"/>
              </a:rPr>
              <a:t>Sample Electrical &amp; Air Pty Ltd</a:t>
            </a:r>
          </a:p>
        </p:txBody>
      </p:sp>
      <p:sp>
        <p:nvSpPr>
          <p:cNvPr id="7" name="TextBox 6"/>
          <p:cNvSpPr txBox="1"/>
          <p:nvPr/>
        </p:nvSpPr>
        <p:spPr>
          <a:xfrm>
            <a:off x="457200" y="3703320"/>
            <a:ext cx="11247120" cy="1097280"/>
          </a:xfrm>
          <a:prstGeom prst="rect">
            <a:avLst/>
          </a:prstGeom>
          <a:noFill/>
        </p:spPr>
        <p:txBody>
          <a:bodyPr wrap="square">
            <a:spAutoFit/>
          </a:bodyPr>
          <a:lstStyle/>
          <a:p>
            <a:pPr>
              <a:defRPr>
                <a:latin typeface="Roboto"/>
              </a:defRPr>
            </a:pPr>
            <a:r>
              <a:rPr sz="1400" b="0">
                <a:solidFill>
                  <a:srgbClr val="25342A"/>
                </a:solidFill>
                <a:latin typeface="Roboto"/>
              </a:rPr>
              <a:t>Period: January 2026. Every job's gross margin: revenue less materials, subcontractors and technician time at $68 an hour (fully loaded: wages and all on-costs). Pick a type of job and every number, chart and note on the page follows it.</a:t>
            </a:r>
          </a:p>
        </p:txBody>
      </p:sp>
      <p:sp>
        <p:nvSpPr>
          <p:cNvPr id="8" name="TextBox 7"/>
          <p:cNvSpPr txBox="1"/>
          <p:nvPr/>
        </p:nvSpPr>
        <p:spPr>
          <a:xfrm>
            <a:off x="457200" y="4937760"/>
            <a:ext cx="11247120" cy="1097280"/>
          </a:xfrm>
          <a:prstGeom prst="rect">
            <a:avLst/>
          </a:prstGeom>
          <a:noFill/>
        </p:spPr>
        <p:txBody>
          <a:bodyPr wrap="square">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December 2025: Locked. December 2025 is locked (closed 5 Jan 2026). These numbers won't change.</a:t>
            </a:r>
          </a:p>
          <a:p>
            <a:pPr>
              <a:defRPr>
                <a:latin typeface="Roboto"/>
              </a:defRPr>
            </a:pPr>
            <a:r>
              <a:rPr sz="1100" b="0">
                <a:solidFill>
                  <a:srgbClr val="5F6F63"/>
                </a:solidFill>
                <a:latin typeface="Roboto"/>
              </a:rPr>
              <a:t>January 2026: Locked. January 2026 is locked (closed 3 Feb 2026).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 of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 of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January's jobs made $58,190 gross margin (35.3%). Technician time not charged to jobs took $4,620 and overheads $58,730, leaving ($5,160) profit before tax ((3.1%) of revenue). To cover overheads, jobs need a 38.4%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January 2026</a:t>
                      </a:r>
                    </a:p>
                  </a:txBody>
                  <a:tcPr>
                    <a:solidFill>
                      <a:srgbClr val="2F7A5D"/>
                    </a:solidFill>
                  </a:tcPr>
                </a:tc>
              </a:tr>
              <a:tr h="329184">
                <a:tc>
                  <a:txBody>
                    <a:bodyPr/>
                    <a:lstStyle/>
                    <a:p>
                      <a:pPr>
                        <a:defRPr>
                          <a:latin typeface="Roboto"/>
                        </a:defRPr>
                      </a:pPr>
                      <a:r>
                        <a:rPr sz="1050">
                          <a:solidFill>
                            <a:srgbClr val="25342A"/>
                          </a:solidFill>
                          <a:latin typeface="Roboto"/>
                        </a:rPr>
                        <a:t>Gross margin on jobs</a:t>
                      </a:r>
                    </a:p>
                  </a:txBody>
                  <a:tcPr>
                    <a:solidFill>
                      <a:srgbClr val="FFFFFF"/>
                    </a:solidFill>
                  </a:tcPr>
                </a:tc>
                <a:tc>
                  <a:txBody>
                    <a:bodyPr/>
                    <a:lstStyle/>
                    <a:p>
                      <a:pPr algn="r">
                        <a:defRPr>
                          <a:latin typeface="Roboto"/>
                        </a:defRPr>
                      </a:pPr>
                      <a:r>
                        <a:rPr sz="1050">
                          <a:solidFill>
                            <a:srgbClr val="25342A"/>
                          </a:solidFill>
                          <a:latin typeface="Roboto"/>
                        </a:rPr>
                        <a:t>$58,190</a:t>
                      </a:r>
                    </a:p>
                  </a:txBody>
                  <a:tcPr>
                    <a:solidFill>
                      <a:srgbClr val="FFFFFF"/>
                    </a:solidFill>
                  </a:tcPr>
                </a:tc>
              </a:tr>
              <a:tr h="329184">
                <a:tc>
                  <a:txBody>
                    <a:bodyPr/>
                    <a:lstStyle/>
                    <a:p>
                      <a:pPr>
                        <a:defRPr>
                          <a:latin typeface="Roboto"/>
                        </a:defRPr>
                      </a:pPr>
                      <a:r>
                        <a:rPr sz="1050">
                          <a:solidFill>
                            <a:srgbClr val="25342A"/>
                          </a:solidFill>
                          <a:latin typeface="Roboto"/>
                        </a:rPr>
                        <a:t>Technician wages and on-costs</a:t>
                      </a:r>
                    </a:p>
                  </a:txBody>
                  <a:tcPr>
                    <a:solidFill>
                      <a:srgbClr val="F7FAF7"/>
                    </a:solidFill>
                  </a:tcPr>
                </a:tc>
                <a:tc>
                  <a:txBody>
                    <a:bodyPr/>
                    <a:lstStyle/>
                    <a:p>
                      <a:pPr algn="r">
                        <a:defRPr>
                          <a:latin typeface="Roboto"/>
                        </a:defRPr>
                      </a:pPr>
                      <a:r>
                        <a:rPr sz="1050">
                          <a:solidFill>
                            <a:srgbClr val="25342A"/>
                          </a:solidFill>
                          <a:latin typeface="Roboto"/>
                        </a:rPr>
                        <a:t>$54,600</a:t>
                      </a:r>
                    </a:p>
                  </a:txBody>
                  <a:tcPr>
                    <a:solidFill>
                      <a:srgbClr val="F7FAF7"/>
                    </a:solidFill>
                  </a:tcPr>
                </a:tc>
              </a:tr>
              <a:tr h="329184">
                <a:tc>
                  <a:txBody>
                    <a:bodyPr/>
                    <a:lstStyle/>
                    <a:p>
                      <a:pPr>
                        <a:defRPr>
                          <a:latin typeface="Roboto"/>
                        </a:defRPr>
                      </a:pPr>
                      <a:r>
                        <a:rPr sz="1050">
                          <a:solidFill>
                            <a:srgbClr val="25342A"/>
                          </a:solidFill>
                          <a:latin typeface="Roboto"/>
                        </a:rPr>
                        <a:t>Technician time charged to jobs (at cost)</a:t>
                      </a:r>
                    </a:p>
                  </a:txBody>
                  <a:tcPr>
                    <a:solidFill>
                      <a:srgbClr val="FFFFFF"/>
                    </a:solidFill>
                  </a:tcPr>
                </a:tc>
                <a:tc>
                  <a:txBody>
                    <a:bodyPr/>
                    <a:lstStyle/>
                    <a:p>
                      <a:pPr algn="r">
                        <a:defRPr>
                          <a:latin typeface="Roboto"/>
                        </a:defRPr>
                      </a:pPr>
                      <a:r>
                        <a:rPr sz="1050">
                          <a:solidFill>
                            <a:srgbClr val="25342A"/>
                          </a:solidFill>
                          <a:latin typeface="Roboto"/>
                        </a:rPr>
                        <a:t>$49,980</a:t>
                      </a:r>
                    </a:p>
                  </a:txBody>
                  <a:tcPr>
                    <a:solidFill>
                      <a:srgbClr val="FFFFFF"/>
                    </a:solidFill>
                  </a:tcPr>
                </a:tc>
              </a:tr>
              <a:tr h="329184">
                <a:tc>
                  <a:txBody>
                    <a:bodyPr/>
                    <a:lstStyle/>
                    <a:p>
                      <a:pPr>
                        <a:defRPr>
                          <a:latin typeface="Roboto"/>
                        </a:defRPr>
                      </a:pPr>
                      <a:r>
                        <a:rPr sz="1050">
                          <a:solidFill>
                            <a:srgbClr val="25342A"/>
                          </a:solidFill>
                          <a:latin typeface="Roboto"/>
                        </a:rPr>
                        <a:t>Technician time not charged to jobs</a:t>
                      </a:r>
                    </a:p>
                  </a:txBody>
                  <a:tcPr>
                    <a:solidFill>
                      <a:srgbClr val="F7FAF7"/>
                    </a:solidFill>
                  </a:tcPr>
                </a:tc>
                <a:tc>
                  <a:txBody>
                    <a:bodyPr/>
                    <a:lstStyle/>
                    <a:p>
                      <a:pPr algn="r">
                        <a:defRPr>
                          <a:latin typeface="Roboto"/>
                        </a:defRPr>
                      </a:pPr>
                      <a:r>
                        <a:rPr sz="1050">
                          <a:solidFill>
                            <a:srgbClr val="25342A"/>
                          </a:solidFill>
                          <a:latin typeface="Roboto"/>
                        </a:rPr>
                        <a:t>$4,620</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$53,570</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$58,730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B42318"/>
                          </a:solidFill>
                          <a:latin typeface="Roboto"/>
                        </a:rPr>
                        <a:t>($5,160)</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$164,780</a:t>
                      </a:r>
                    </a:p>
                  </a:txBody>
                  <a:tcPr>
                    <a:solidFill>
                      <a:srgbClr val="F7FAF7"/>
                    </a:solidFill>
                  </a:tcPr>
                </a:tc>
              </a:tr>
              <a:tr h="329184">
                <a:tc>
                  <a:txBody>
                    <a:bodyPr/>
                    <a:lstStyle/>
                    <a:p>
                      <a:pPr>
                        <a:defRPr>
                          <a:latin typeface="Roboto"/>
                        </a:defRPr>
                      </a:pPr>
                      <a:r>
                        <a:rPr sz="1050">
                          <a:solidFill>
                            <a:srgbClr val="25342A"/>
                          </a:solidFill>
                          <a:latin typeface="Roboto"/>
                        </a:rPr>
                        <a:t>Gross margin on jobs, %</a:t>
                      </a:r>
                    </a:p>
                  </a:txBody>
                  <a:tcPr>
                    <a:solidFill>
                      <a:srgbClr val="FFFFFF"/>
                    </a:solidFill>
                  </a:tcPr>
                </a:tc>
                <a:tc>
                  <a:txBody>
                    <a:bodyPr/>
                    <a:lstStyle/>
                    <a:p>
                      <a:pPr algn="r">
                        <a:defRPr>
                          <a:latin typeface="Roboto"/>
                        </a:defRPr>
                      </a:pPr>
                      <a:r>
                        <a:rPr sz="1050">
                          <a:solidFill>
                            <a:srgbClr val="25342A"/>
                          </a:solidFill>
                          <a:latin typeface="Roboto"/>
                        </a:rPr>
                        <a:t>35.3%</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B42318"/>
                          </a:solidFill>
                          <a:latin typeface="Roboto"/>
                        </a:rPr>
                        <a:t>(3.1%)</a:t>
                      </a:r>
                    </a:p>
                  </a:txBody>
                  <a:tcPr>
                    <a:solidFill>
                      <a:srgbClr val="F7FAF7"/>
                    </a:solidFill>
                  </a:tcPr>
                </a:tc>
              </a:tr>
              <a:tr h="329184">
                <a:tc>
                  <a:txBody>
                    <a:bodyPr/>
                    <a:lstStyle/>
                    <a:p>
                      <a:pPr>
                        <a:defRPr>
                          <a:latin typeface="Roboto"/>
                        </a:defRPr>
                      </a:pPr>
                      <a:r>
                        <a:rPr sz="1050">
                          <a:solidFill>
                            <a:srgbClr val="25342A"/>
                          </a:solidFill>
                          <a:latin typeface="Roboto"/>
                        </a:rPr>
                        <a:t>Gross margin jobs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38.4%</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3 of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All jobs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January · All jobs</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35.3%</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December · All jobs</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37.4%</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jobs need to break even</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38.4%</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covers overheads and time not charged (January)</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4 of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type of job, January 2026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Revenue less materials, subcontractors and technician time at $68/hour. Target 35.0% is what to price for; break-even 38.4%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5 of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type of job, January 2026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Revenue less materials, subcontractors and technician time at $68/hour. Target 35.0% is what to price for; break-even 38.4%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6 of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All jobs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 January maintenance contracts made a 59.5% job gross margin, installations made a 23.9% job gross margin, call-outs and repairs made a 43.3% job gross margin (technician time at $68 an hour, wages and all on-costs). Jobs need 38.4%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23.9% gross margin, 11.1 points under the 35.0% target: about $10,841 on $97,500 of revenue in January. It's below the 38.4% needed to cover overheads, too. Maintenance contracts: 59.5% gross margin, 24.5 points over the 35.0% target ($8,754 ahead on $35,800 in January).</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7 of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Maintenance contracts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January · Maintenance contracts</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59.5%</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December · Maintenance contracts</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59.5%</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jobs need to break even</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38.4%</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covers overheads and time not charged (January)</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8 of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maintenance contract, January 2026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The month's fee less materials and technician time at $68/hour. Target 35.0% is what to price for; break-even 38.4%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9 of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maintenance contract, January 2026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The month's fee less materials and technician time at $68/hour. Target 35.0% is what to price for; break-even 38.4%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10 of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All 12 contracts made more than the 35.0% job gross margin target. The thinnest was Kangaroo Point townhouses at 58.2% job gross margin: 14.0 h of technician time on a $2,400 monthly fee.</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The thinnest, Kangaroo Point townhouses: 58.2% gross margin, 23.3 points over the 35.0% target ($558 ahead on $2,400 in January). All maintenance contracts: 59.5% gross margin, 24.5 points over the 35.0% target ($8,754 ahead on $35,800 in January).</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11 of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Installations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January · Installations</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23.9%</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December · Installations</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23.4%</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jobs need to break even</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38.4%</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covers overheads and time not charged (January)</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12 of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installation invoiced in January 2026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Whole job, recognised when invoiced: revenue less materials, subcontractors and technician time at $68/hour. One target for every job for now. Target 35.0% is what to price for; break-even 38.4%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13 of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installation invoiced in January 2026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Whole job, recognised when invoiced: revenue less materials, subcontractors and technician time at $68/hour. One target for every job for now. Target 35.0% is what to price for; break-even 38.4%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14 of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4 of the 5 installation jobs invoiced in January made less than the 35.0% job gross margin target. The Mount Gravatt clinic solar and battery made a 10.1% job gross margin: 110.0 h of technician time ($7,480) and $3,000 of subcontractors on a $27,000 job. Jobs need 38.4%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4 installations under the 35.0% target, worth about $11,566 between them on $78,800 of revenue. The biggest gap, Mount Gravatt clinic solar and battery: 10.1% gross margin, 24.9 points under the 35.0% target: about $6,730 on $27,000 of revenue in January. It's below the 38.4% needed to cover overheads, too.</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15 of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Call-outs and repairs</a:t>
            </a:r>
          </a:p>
        </p:txBody>
      </p:sp>
      <p:sp>
        <p:nvSpPr>
          <p:cNvPr id="5" name="Rectangle 4"/>
          <p:cNvSpPr/>
          <p:nvPr/>
        </p:nvSpPr>
        <p:spPr>
          <a:xfrm>
            <a:off x="457200" y="1645920"/>
            <a:ext cx="2036003"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1670243" cy="457200"/>
          </a:xfrm>
          <a:prstGeom prst="rect">
            <a:avLst/>
          </a:prstGeom>
          <a:noFill/>
        </p:spPr>
        <p:txBody>
          <a:bodyPr wrap="square">
            <a:spAutoFit/>
          </a:bodyPr>
          <a:lstStyle/>
          <a:p>
            <a:pPr>
              <a:defRPr>
                <a:latin typeface="Roboto"/>
              </a:defRPr>
            </a:pPr>
            <a:r>
              <a:rPr sz="1200" b="0">
                <a:solidFill>
                  <a:srgbClr val="5F6F63"/>
                </a:solidFill>
                <a:latin typeface="Roboto"/>
              </a:rPr>
              <a:t>Job gross margin, January · Call-outs and repairs</a:t>
            </a:r>
          </a:p>
        </p:txBody>
      </p:sp>
      <p:sp>
        <p:nvSpPr>
          <p:cNvPr id="7" name="TextBox 6"/>
          <p:cNvSpPr txBox="1"/>
          <p:nvPr/>
        </p:nvSpPr>
        <p:spPr>
          <a:xfrm>
            <a:off x="640080" y="2240280"/>
            <a:ext cx="1670243" cy="731520"/>
          </a:xfrm>
          <a:prstGeom prst="rect">
            <a:avLst/>
          </a:prstGeom>
          <a:noFill/>
        </p:spPr>
        <p:txBody>
          <a:bodyPr wrap="square">
            <a:spAutoFit/>
          </a:bodyPr>
          <a:lstStyle/>
          <a:p>
            <a:pPr>
              <a:defRPr>
                <a:latin typeface="Roboto"/>
              </a:defRPr>
            </a:pPr>
            <a:r>
              <a:rPr sz="3000" b="1">
                <a:solidFill>
                  <a:srgbClr val="2F7A5D"/>
                </a:solidFill>
                <a:latin typeface="Roboto"/>
              </a:rPr>
              <a:t>43.3%</a:t>
            </a:r>
          </a:p>
        </p:txBody>
      </p:sp>
      <p:sp>
        <p:nvSpPr>
          <p:cNvPr id="8" name="TextBox 7"/>
          <p:cNvSpPr txBox="1"/>
          <p:nvPr/>
        </p:nvSpPr>
        <p:spPr>
          <a:xfrm>
            <a:off x="640080" y="3017520"/>
            <a:ext cx="1670243"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9" name="Rectangle 8"/>
          <p:cNvSpPr/>
          <p:nvPr/>
        </p:nvSpPr>
        <p:spPr>
          <a:xfrm>
            <a:off x="2767523" y="1645920"/>
            <a:ext cx="2036003"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2950403" y="1783080"/>
            <a:ext cx="1670243" cy="457200"/>
          </a:xfrm>
          <a:prstGeom prst="rect">
            <a:avLst/>
          </a:prstGeom>
          <a:noFill/>
        </p:spPr>
        <p:txBody>
          <a:bodyPr wrap="square">
            <a:spAutoFit/>
          </a:bodyPr>
          <a:lstStyle/>
          <a:p>
            <a:pPr>
              <a:defRPr>
                <a:latin typeface="Roboto"/>
              </a:defRPr>
            </a:pPr>
            <a:r>
              <a:rPr sz="1200" b="0">
                <a:solidFill>
                  <a:srgbClr val="5F6F63"/>
                </a:solidFill>
                <a:latin typeface="Roboto"/>
              </a:rPr>
              <a:t>Job gross margin, December · Call-outs and repairs</a:t>
            </a:r>
          </a:p>
        </p:txBody>
      </p:sp>
      <p:sp>
        <p:nvSpPr>
          <p:cNvPr id="11" name="TextBox 10"/>
          <p:cNvSpPr txBox="1"/>
          <p:nvPr/>
        </p:nvSpPr>
        <p:spPr>
          <a:xfrm>
            <a:off x="2950403" y="2240280"/>
            <a:ext cx="1670243" cy="731520"/>
          </a:xfrm>
          <a:prstGeom prst="rect">
            <a:avLst/>
          </a:prstGeom>
          <a:noFill/>
        </p:spPr>
        <p:txBody>
          <a:bodyPr wrap="square">
            <a:spAutoFit/>
          </a:bodyPr>
          <a:lstStyle/>
          <a:p>
            <a:pPr>
              <a:defRPr>
                <a:latin typeface="Roboto"/>
              </a:defRPr>
            </a:pPr>
            <a:r>
              <a:rPr sz="3000" b="1">
                <a:solidFill>
                  <a:srgbClr val="2F7A5D"/>
                </a:solidFill>
                <a:latin typeface="Roboto"/>
              </a:rPr>
              <a:t>43.5%</a:t>
            </a:r>
          </a:p>
        </p:txBody>
      </p:sp>
      <p:sp>
        <p:nvSpPr>
          <p:cNvPr id="12" name="TextBox 11"/>
          <p:cNvSpPr txBox="1"/>
          <p:nvPr/>
        </p:nvSpPr>
        <p:spPr>
          <a:xfrm>
            <a:off x="2950403" y="3017520"/>
            <a:ext cx="1670243"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13" name="Rectangle 12"/>
          <p:cNvSpPr/>
          <p:nvPr/>
        </p:nvSpPr>
        <p:spPr>
          <a:xfrm>
            <a:off x="5077846" y="1645920"/>
            <a:ext cx="2036003"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5260726" y="1783080"/>
            <a:ext cx="1670243" cy="457200"/>
          </a:xfrm>
          <a:prstGeom prst="rect">
            <a:avLst/>
          </a:prstGeom>
          <a:noFill/>
        </p:spPr>
        <p:txBody>
          <a:bodyPr wrap="square">
            <a:spAutoFit/>
          </a:bodyPr>
          <a:lstStyle/>
          <a:p>
            <a:pPr>
              <a:defRPr>
                <a:latin typeface="Roboto"/>
              </a:defRPr>
            </a:pPr>
            <a:r>
              <a:rPr sz="1200" b="0">
                <a:solidFill>
                  <a:srgbClr val="5F6F63"/>
                </a:solidFill>
                <a:latin typeface="Roboto"/>
              </a:rPr>
              <a:t>Gross margin jobs need to break even</a:t>
            </a:r>
          </a:p>
        </p:txBody>
      </p:sp>
      <p:sp>
        <p:nvSpPr>
          <p:cNvPr id="15" name="TextBox 14"/>
          <p:cNvSpPr txBox="1"/>
          <p:nvPr/>
        </p:nvSpPr>
        <p:spPr>
          <a:xfrm>
            <a:off x="5260726" y="2240280"/>
            <a:ext cx="1670243" cy="731520"/>
          </a:xfrm>
          <a:prstGeom prst="rect">
            <a:avLst/>
          </a:prstGeom>
          <a:noFill/>
        </p:spPr>
        <p:txBody>
          <a:bodyPr wrap="square">
            <a:spAutoFit/>
          </a:bodyPr>
          <a:lstStyle/>
          <a:p>
            <a:pPr>
              <a:defRPr>
                <a:latin typeface="Roboto"/>
              </a:defRPr>
            </a:pPr>
            <a:r>
              <a:rPr sz="3000" b="1">
                <a:solidFill>
                  <a:srgbClr val="2F7A5D"/>
                </a:solidFill>
                <a:latin typeface="Roboto"/>
              </a:rPr>
              <a:t>38.4%</a:t>
            </a:r>
          </a:p>
        </p:txBody>
      </p:sp>
      <p:sp>
        <p:nvSpPr>
          <p:cNvPr id="16" name="TextBox 15"/>
          <p:cNvSpPr txBox="1"/>
          <p:nvPr/>
        </p:nvSpPr>
        <p:spPr>
          <a:xfrm>
            <a:off x="5260726" y="3017520"/>
            <a:ext cx="1670243" cy="548640"/>
          </a:xfrm>
          <a:prstGeom prst="rect">
            <a:avLst/>
          </a:prstGeom>
          <a:noFill/>
        </p:spPr>
        <p:txBody>
          <a:bodyPr wrap="square">
            <a:spAutoFit/>
          </a:bodyPr>
          <a:lstStyle/>
          <a:p>
            <a:pPr>
              <a:defRPr>
                <a:latin typeface="Roboto"/>
              </a:defRPr>
            </a:pPr>
            <a:r>
              <a:rPr sz="1100" b="0">
                <a:solidFill>
                  <a:srgbClr val="5F6F63"/>
                </a:solidFill>
                <a:latin typeface="Roboto"/>
              </a:rPr>
              <a:t>covers overheads and time not charged (January)</a:t>
            </a:r>
          </a:p>
        </p:txBody>
      </p:sp>
      <p:sp>
        <p:nvSpPr>
          <p:cNvPr id="17" name="Rectangle 16"/>
          <p:cNvSpPr/>
          <p:nvPr/>
        </p:nvSpPr>
        <p:spPr>
          <a:xfrm>
            <a:off x="7388169" y="1645920"/>
            <a:ext cx="2036003"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8" name="TextBox 17"/>
          <p:cNvSpPr txBox="1"/>
          <p:nvPr/>
        </p:nvSpPr>
        <p:spPr>
          <a:xfrm>
            <a:off x="7571049" y="1783080"/>
            <a:ext cx="1670243" cy="457200"/>
          </a:xfrm>
          <a:prstGeom prst="rect">
            <a:avLst/>
          </a:prstGeom>
          <a:noFill/>
        </p:spPr>
        <p:txBody>
          <a:bodyPr wrap="square">
            <a:spAutoFit/>
          </a:bodyPr>
          <a:lstStyle/>
          <a:p>
            <a:pPr>
              <a:defRPr>
                <a:latin typeface="Roboto"/>
              </a:defRPr>
            </a:pPr>
            <a:r>
              <a:rPr sz="1200" b="0">
                <a:solidFill>
                  <a:srgbClr val="5F6F63"/>
                </a:solidFill>
                <a:latin typeface="Roboto"/>
              </a:rPr>
              <a:t>Technician time charged, January</a:t>
            </a:r>
          </a:p>
        </p:txBody>
      </p:sp>
      <p:sp>
        <p:nvSpPr>
          <p:cNvPr id="19" name="TextBox 18"/>
          <p:cNvSpPr txBox="1"/>
          <p:nvPr/>
        </p:nvSpPr>
        <p:spPr>
          <a:xfrm>
            <a:off x="7571049" y="2240280"/>
            <a:ext cx="1670243" cy="731520"/>
          </a:xfrm>
          <a:prstGeom prst="rect">
            <a:avLst/>
          </a:prstGeom>
          <a:noFill/>
        </p:spPr>
        <p:txBody>
          <a:bodyPr wrap="square">
            <a:spAutoFit/>
          </a:bodyPr>
          <a:lstStyle/>
          <a:p>
            <a:pPr>
              <a:defRPr>
                <a:latin typeface="Roboto"/>
              </a:defRPr>
            </a:pPr>
            <a:r>
              <a:rPr sz="3000" b="1">
                <a:solidFill>
                  <a:srgbClr val="2F7A5D"/>
                </a:solidFill>
                <a:latin typeface="Roboto"/>
              </a:rPr>
              <a:t>$21,171</a:t>
            </a:r>
          </a:p>
        </p:txBody>
      </p:sp>
      <p:sp>
        <p:nvSpPr>
          <p:cNvPr id="20" name="TextBox 19"/>
          <p:cNvSpPr txBox="1"/>
          <p:nvPr/>
        </p:nvSpPr>
        <p:spPr>
          <a:xfrm>
            <a:off x="7571049" y="3017520"/>
            <a:ext cx="1670243" cy="548640"/>
          </a:xfrm>
          <a:prstGeom prst="rect">
            <a:avLst/>
          </a:prstGeom>
          <a:noFill/>
        </p:spPr>
        <p:txBody>
          <a:bodyPr wrap="square">
            <a:spAutoFit/>
          </a:bodyPr>
          <a:lstStyle/>
          <a:p>
            <a:pPr>
              <a:defRPr>
                <a:latin typeface="Roboto"/>
              </a:defRPr>
            </a:pPr>
            <a:r>
              <a:rPr sz="1100" b="0">
                <a:solidFill>
                  <a:srgbClr val="5F6F63"/>
                </a:solidFill>
                <a:latin typeface="Roboto"/>
              </a:rPr>
              <a:t>67.3% of call-out revenue</a:t>
            </a:r>
          </a:p>
        </p:txBody>
      </p:sp>
      <p:sp>
        <p:nvSpPr>
          <p:cNvPr id="21" name="Rectangle 20"/>
          <p:cNvSpPr/>
          <p:nvPr/>
        </p:nvSpPr>
        <p:spPr>
          <a:xfrm>
            <a:off x="9698492" y="1645920"/>
            <a:ext cx="2036003"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22" name="TextBox 21"/>
          <p:cNvSpPr txBox="1"/>
          <p:nvPr/>
        </p:nvSpPr>
        <p:spPr>
          <a:xfrm>
            <a:off x="9881372" y="1783080"/>
            <a:ext cx="1670243" cy="457200"/>
          </a:xfrm>
          <a:prstGeom prst="rect">
            <a:avLst/>
          </a:prstGeom>
          <a:noFill/>
        </p:spPr>
        <p:txBody>
          <a:bodyPr wrap="square">
            <a:spAutoFit/>
          </a:bodyPr>
          <a:lstStyle/>
          <a:p>
            <a:pPr>
              <a:defRPr>
                <a:latin typeface="Roboto"/>
              </a:defRPr>
            </a:pPr>
            <a:r>
              <a:rPr sz="1200" b="0">
                <a:solidFill>
                  <a:srgbClr val="5F6F63"/>
                </a:solidFill>
                <a:latin typeface="Roboto"/>
              </a:rPr>
              <a:t>Materials charged, January</a:t>
            </a:r>
          </a:p>
        </p:txBody>
      </p:sp>
      <p:sp>
        <p:nvSpPr>
          <p:cNvPr id="23" name="TextBox 22"/>
          <p:cNvSpPr txBox="1"/>
          <p:nvPr/>
        </p:nvSpPr>
        <p:spPr>
          <a:xfrm>
            <a:off x="9881372" y="2240280"/>
            <a:ext cx="1670243" cy="731520"/>
          </a:xfrm>
          <a:prstGeom prst="rect">
            <a:avLst/>
          </a:prstGeom>
          <a:noFill/>
        </p:spPr>
        <p:txBody>
          <a:bodyPr wrap="square">
            <a:spAutoFit/>
          </a:bodyPr>
          <a:lstStyle/>
          <a:p>
            <a:pPr>
              <a:defRPr>
                <a:latin typeface="Roboto"/>
              </a:defRPr>
            </a:pPr>
            <a:r>
              <a:rPr sz="3000" b="1">
                <a:solidFill>
                  <a:srgbClr val="2F7A5D"/>
                </a:solidFill>
                <a:latin typeface="Roboto"/>
              </a:rPr>
              <a:t>$10,309</a:t>
            </a:r>
          </a:p>
        </p:txBody>
      </p:sp>
      <p:sp>
        <p:nvSpPr>
          <p:cNvPr id="24" name="TextBox 23"/>
          <p:cNvSpPr txBox="1"/>
          <p:nvPr/>
        </p:nvSpPr>
        <p:spPr>
          <a:xfrm>
            <a:off x="9881372" y="3017520"/>
            <a:ext cx="1670243" cy="548640"/>
          </a:xfrm>
          <a:prstGeom prst="rect">
            <a:avLst/>
          </a:prstGeom>
          <a:noFill/>
        </p:spPr>
        <p:txBody>
          <a:bodyPr wrap="square">
            <a:spAutoFit/>
          </a:bodyPr>
          <a:lstStyle/>
          <a:p>
            <a:pPr>
              <a:defRPr>
                <a:latin typeface="Roboto"/>
              </a:defRPr>
            </a:pPr>
            <a:r>
              <a:rPr sz="1100" b="0">
                <a:solidFill>
                  <a:srgbClr val="5F6F63"/>
                </a:solidFill>
                <a:latin typeface="Roboto"/>
              </a:rPr>
              <a:t>$7,930 at cost, plus 30%</a:t>
            </a:r>
          </a:p>
        </p:txBody>
      </p:sp>
      <p:sp>
        <p:nvSpPr>
          <p:cNvPr id="25" name="TextBox 24"/>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26" name="TextBox 25"/>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27" name="TextBox 26"/>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16 of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call-outs by length, January 2026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Charged at $145/hour plus materials at cost × 1.3; technician time at $68/hour. Target 35.0% is what to price for; break-even 38.4%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17 of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call-outs by length, January 2026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Charged at $145/hour plus materials at cost × 1.3; technician time at $68/hour. Target 35.0% is what to price for; break-even 38.4%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18 of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62 call-outs in January billed $21,171 of technician time and $10,309 of materials ($7,930 at cost plus 30%), and made a 43.3% job gross margin between them. Gross margins run from 37.2% to 46.1% by length: the hourly rate covers technician time comfortably, so the gross margin mostly moves with how much material goes on the van.</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All call-outs: 43.3% gross margin, 8.3 points over the 35.0% target ($2,604 ahead on $31,480 in January).</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19 of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20 of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21 of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