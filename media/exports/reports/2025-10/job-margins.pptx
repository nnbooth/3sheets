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26.1</c:v>
                </c:pt>
                <c:pt idx="1">
                  <c:v>43.3</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18512</c:v>
                </c:pt>
                <c:pt idx="1">
                  <c:v>9650</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0E9F6E"/>
              </a:solidFill>
            </c:spPr>
          </c:dPt>
          <c:cat>
            <c:strRef>
              <c:f>Sheet1!$A$2:$A$4</c:f>
              <c:strCache>
                <c:ptCount val="3"/>
                <c:pt idx="0">
                  <c:v>Salisbury shop solar and battery</c:v>
                </c:pt>
                <c:pt idx="1">
                  <c:v>Coorparoo shop air-con install</c:v>
                </c:pt>
                <c:pt idx="2">
                  <c:v>Aspley cafe data cabling</c:v>
                </c:pt>
              </c:strCache>
            </c:strRef>
          </c:cat>
          <c:val>
            <c:numRef>
              <c:f>Sheet1!$B$2:$B$4</c:f>
              <c:numCache>
                <c:formatCode>0.0"%";[Red](0.0"%")</c:formatCode>
                <c:ptCount val="3"/>
                <c:pt idx="0">
                  <c:v>17.3</c:v>
                </c:pt>
                <c:pt idx="1">
                  <c:v>32.5</c:v>
                </c:pt>
                <c:pt idx="2">
                  <c:v>37.8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0E9F6E"/>
              </a:solidFill>
            </c:spPr>
          </c:dPt>
          <c:cat>
            <c:strRef>
              <c:f>Sheet1!$A$2:$A$4</c:f>
              <c:strCache>
                <c:ptCount val="3"/>
                <c:pt idx="0">
                  <c:v>Salisbury shop solar and battery</c:v>
                </c:pt>
                <c:pt idx="1">
                  <c:v>Coorparoo shop air-con install</c:v>
                </c:pt>
                <c:pt idx="2">
                  <c:v>Aspley cafe data cabling</c:v>
                </c:pt>
              </c:strCache>
            </c:strRef>
          </c:cat>
          <c:val>
            <c:numRef>
              <c:f>Sheet1!$B$2:$B$4</c:f>
              <c:numCache>
                <c:formatCode>$#,##0;[Red]($#,##0);"-"</c:formatCode>
                <c:ptCount val="3"/>
                <c:pt idx="0">
                  <c:v>6140</c:v>
                </c:pt>
                <c:pt idx="1">
                  <c:v>6016</c:v>
                </c:pt>
                <c:pt idx="2">
                  <c:v>6356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(3)</c:v>
                </c:pt>
                <c:pt idx="2">
                  <c:v>2-hour call-outs (9)</c:v>
                </c:pt>
                <c:pt idx="3">
                  <c:v>2.5-hour call-outs (8)</c:v>
                </c:pt>
                <c:pt idx="4">
                  <c:v>3-hour call-outs (10)</c:v>
                </c:pt>
                <c:pt idx="5">
                  <c:v>4-hour call-outs (6)</c:v>
                </c:pt>
              </c:strCache>
            </c:strRef>
          </c:cat>
          <c:val>
            <c:numRef>
              <c:f>Sheet1!$B$2:$B$7</c:f>
              <c:numCache>
                <c:formatCode>0.0"%";[Red](0.0"%")</c:formatCode>
                <c:ptCount val="6"/>
                <c:pt idx="0">
                  <c:v>37.8</c:v>
                </c:pt>
                <c:pt idx="1">
                  <c:v>38.2</c:v>
                </c:pt>
                <c:pt idx="2">
                  <c:v>40.7</c:v>
                </c:pt>
                <c:pt idx="3">
                  <c:v>44.1</c:v>
                </c:pt>
                <c:pt idx="4">
                  <c:v>45.7</c:v>
                </c:pt>
                <c:pt idx="5">
                  <c:v>45.9</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(3)</c:v>
                </c:pt>
                <c:pt idx="2">
                  <c:v>2-hour call-outs (9)</c:v>
                </c:pt>
                <c:pt idx="3">
                  <c:v>2.5-hour call-outs (8)</c:v>
                </c:pt>
                <c:pt idx="4">
                  <c:v>3-hour call-outs (10)</c:v>
                </c:pt>
                <c:pt idx="5">
                  <c:v>4-hour call-outs (6)</c:v>
                </c:pt>
              </c:strCache>
            </c:strRef>
          </c:cat>
          <c:val>
            <c:numRef>
              <c:f>Sheet1!$B$2:$B$7</c:f>
              <c:numCache>
                <c:formatCode>$#,##0;[Red]($#,##0);"-"</c:formatCode>
                <c:ptCount val="6"/>
                <c:pt idx="0">
                  <c:v>782</c:v>
                </c:pt>
                <c:pt idx="1">
                  <c:v>492</c:v>
                </c:pt>
                <c:pt idx="2">
                  <c:v>1809</c:v>
                </c:pt>
                <c:pt idx="3">
                  <c:v>1824</c:v>
                </c:pt>
                <c:pt idx="4">
                  <c:v>2640</c:v>
                </c:pt>
                <c:pt idx="5">
                  <c:v>2103</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0.0"%";[Red](0.0"%")</c:formatCode>
                <c:ptCount val="13"/>
                <c:pt idx="0">
                  <c:v>33.1</c:v>
                </c:pt>
                <c:pt idx="1">
                  <c:v>37.0</c:v>
                </c:pt>
                <c:pt idx="2">
                  <c:v>40.4</c:v>
                </c:pt>
                <c:pt idx="3">
                  <c:v>42.7</c:v>
                </c:pt>
                <c:pt idx="4">
                  <c:v>36.4</c:v>
                </c:pt>
                <c:pt idx="5">
                  <c:v>36.5</c:v>
                </c:pt>
                <c:pt idx="6">
                  <c:v>38.4</c:v>
                </c:pt>
                <c:pt idx="7">
                  <c:v>35.5</c:v>
                </c:pt>
                <c:pt idx="8">
                  <c:v>40.5</c:v>
                </c:pt>
                <c:pt idx="9">
                  <c:v>35.6</c:v>
                </c:pt>
                <c:pt idx="10">
                  <c:v>43.8</c:v>
                </c:pt>
                <c:pt idx="11">
                  <c:v>37.6</c:v>
                </c:pt>
                <c:pt idx="12">
                  <c:v>38.4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$#,##0;[Red]($#,##0);"-"</c:formatCode>
                <c:ptCount val="13"/>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October 2025. Every job's gross margin: revenue less materials, subcontractors and technician time at $68 an hour (fully loaded: wages and all on-costs).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2025: Locked. September 2025 is locked (closed 2 Oct 2025). These numbers won't change.</a:t>
            </a:r>
          </a:p>
          <a:p>
            <a:pPr>
              <a:defRPr>
                <a:latin typeface="Roboto"/>
              </a:defRPr>
            </a:pPr>
            <a:r>
              <a:rPr sz="1100" b="0">
                <a:solidFill>
                  <a:srgbClr val="5F6F63"/>
                </a:solidFill>
                <a:latin typeface="Roboto"/>
              </a:rPr>
              <a:t>October 2025: Locked. October 2025 is locked (closed 4 Nov 2025).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October's jobs made $49,446 gross margin (38.4%). Technician time not charged to jobs took $9,638 and overheads $57,980, leaving ($18,172) profit before tax ((14.1%) of revenue). To cover overheads, jobs need a 52.5%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October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$49,446</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$37,162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$9,638</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$39,808</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$57,980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($18,172)</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$128,898</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(14.1%)</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52.5%</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All jobs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All jobs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52.5%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(October)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October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52.5%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October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52.5%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October maintenance contracts made a 59.5% job gross margin, installations made a 26.1% job gross margin, call-outs and repairs made a 43.3% job gross margin (technician time at $68 an hour, wages and all on-costs). Jobs need 52.5%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26.1% gross margin, 8.9 points under the 35.0% target: about $6,268 on $70,800 of revenue in October. It's below the 52.5% needed to cover overheads, too. Maintenance contracts: 59.5% gross margin, 24.5 points over the 35.0% target ($8,754 ahead on $35,800 in October).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Maintenance contracts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Maintenance contracts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52.5%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(October)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October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52.5%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October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52.5%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thinnest, Kangaroo Point townhouses: 58.2% gross margin, 23.3 points over the 35.0% target ($558 ahead on $2,400 in October). All maintenance contracts: 59.5% gross margin, 24.5 points over the 35.0% target ($8,754 ahead on $35,800 in October).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Installations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26.1%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Installations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26.2%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52.5%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(October)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October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52.5%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October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52.5%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of the 3 installation jobs invoiced in October made less than the 35.0% job gross margin target. The Salisbury shop solar and battery made a 17.3% job gross margin: 120.0 h of technician time ($8,160) and $3,900 of subcontractors on a $35,500 job. Jobs need 52.5%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installations under the 35.0% target, worth about $6,744 between them on $54,000 of revenue. The biggest gap, Salisbury shop solar and battery: 17.3% gross margin, 17.7 points under the 35.0% target: about $6,285 on $35,500 of revenue in October. It's below the 52.5%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Call-outs and repairs</a:t>
            </a:r>
          </a:p>
        </p:txBody>
      </p:sp>
      <p:sp>
        <p:nvSpPr>
          <p:cNvPr id="7" name="TextBox 6"/>
          <p:cNvSpPr txBox="1"/>
          <p:nvPr/>
        </p:nvSpPr>
        <p:spPr>
          <a:xfrm>
            <a:off x="640080"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43.3%</a:t>
            </a:r>
          </a:p>
        </p:txBody>
      </p:sp>
      <p:sp>
        <p:nvSpPr>
          <p:cNvPr id="8" name="TextBox 7"/>
          <p:cNvSpPr txBox="1"/>
          <p:nvPr/>
        </p:nvSpPr>
        <p:spPr>
          <a:xfrm>
            <a:off x="640080"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2767523"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2950403"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Call-outs and repairs</a:t>
            </a:r>
          </a:p>
        </p:txBody>
      </p:sp>
      <p:sp>
        <p:nvSpPr>
          <p:cNvPr id="11" name="TextBox 10"/>
          <p:cNvSpPr txBox="1"/>
          <p:nvPr/>
        </p:nvSpPr>
        <p:spPr>
          <a:xfrm>
            <a:off x="2950403"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44.0%</a:t>
            </a:r>
          </a:p>
        </p:txBody>
      </p:sp>
      <p:sp>
        <p:nvSpPr>
          <p:cNvPr id="12" name="TextBox 11"/>
          <p:cNvSpPr txBox="1"/>
          <p:nvPr/>
        </p:nvSpPr>
        <p:spPr>
          <a:xfrm>
            <a:off x="2950403"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5077846"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5260726"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5260726"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52.5%</a:t>
            </a:r>
          </a:p>
        </p:txBody>
      </p:sp>
      <p:sp>
        <p:nvSpPr>
          <p:cNvPr id="16" name="TextBox 15"/>
          <p:cNvSpPr txBox="1"/>
          <p:nvPr/>
        </p:nvSpPr>
        <p:spPr>
          <a:xfrm>
            <a:off x="5260726"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(October)</a:t>
            </a:r>
          </a:p>
        </p:txBody>
      </p:sp>
      <p:sp>
        <p:nvSpPr>
          <p:cNvPr id="17" name="Rectangle 16"/>
          <p:cNvSpPr/>
          <p:nvPr/>
        </p:nvSpPr>
        <p:spPr>
          <a:xfrm>
            <a:off x="7388169"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7571049"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October</a:t>
            </a:r>
          </a:p>
        </p:txBody>
      </p:sp>
      <p:sp>
        <p:nvSpPr>
          <p:cNvPr id="19" name="TextBox 18"/>
          <p:cNvSpPr txBox="1"/>
          <p:nvPr/>
        </p:nvSpPr>
        <p:spPr>
          <a:xfrm>
            <a:off x="7571049"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$15,005</a:t>
            </a:r>
          </a:p>
        </p:txBody>
      </p:sp>
      <p:sp>
        <p:nvSpPr>
          <p:cNvPr id="20" name="TextBox 19"/>
          <p:cNvSpPr txBox="1"/>
          <p:nvPr/>
        </p:nvSpPr>
        <p:spPr>
          <a:xfrm>
            <a:off x="7571049"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67.3% of call-out revenue</a:t>
            </a:r>
          </a:p>
        </p:txBody>
      </p:sp>
      <p:sp>
        <p:nvSpPr>
          <p:cNvPr id="21" name="Rectangle 20"/>
          <p:cNvSpPr/>
          <p:nvPr/>
        </p:nvSpPr>
        <p:spPr>
          <a:xfrm>
            <a:off x="9698492"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2" name="TextBox 21"/>
          <p:cNvSpPr txBox="1"/>
          <p:nvPr/>
        </p:nvSpPr>
        <p:spPr>
          <a:xfrm>
            <a:off x="9881372"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Materials charged, October</a:t>
            </a:r>
          </a:p>
        </p:txBody>
      </p:sp>
      <p:sp>
        <p:nvSpPr>
          <p:cNvPr id="23" name="TextBox 22"/>
          <p:cNvSpPr txBox="1"/>
          <p:nvPr/>
        </p:nvSpPr>
        <p:spPr>
          <a:xfrm>
            <a:off x="9881372"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$7,293</a:t>
            </a:r>
          </a:p>
        </p:txBody>
      </p:sp>
      <p:sp>
        <p:nvSpPr>
          <p:cNvPr id="24" name="TextBox 23"/>
          <p:cNvSpPr txBox="1"/>
          <p:nvPr/>
        </p:nvSpPr>
        <p:spPr>
          <a:xfrm>
            <a:off x="9881372"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$5,610 at cost, plus 30%</a:t>
            </a:r>
          </a:p>
        </p:txBody>
      </p:sp>
      <p:sp>
        <p:nvSpPr>
          <p:cNvPr id="25" name="TextBox 24"/>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26" name="TextBox 25"/>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7" name="TextBox 26"/>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October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52.5%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October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52.5%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43 call-outs in October billed $15,005 of technician time and $7,293 of materials ($5,610 at cost plus 30%), and made a 43.3% job gross margin between them. Gross margins run from 37.8% to 45.9%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call-outs: 43.3% gross margin, 8.3 points over the 35.0% target ($1,846 ahead on $22,298 in October).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