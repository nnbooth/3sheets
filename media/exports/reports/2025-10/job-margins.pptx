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A7B0B8"/>
              </a:solidFill>
            </c:spPr>
          </c:dPt>
          <c:dPt>
            <c:idx val="1"/>
            <c:spPr>
              <a:solidFill>
                <a:srgbClr val="0E9F6E"/>
              </a:solidFill>
            </c:spPr>
          </c:dPt>
          <c:dPt>
            <c:idx val="2"/>
            <c:spPr>
              <a:solidFill>
                <a:srgbClr val="0E9F6E"/>
              </a:solidFill>
            </c:spPr>
          </c:dPt>
          <c:cat>
            <c:strRef>
              <c:f>Sheet1!$A$2:$A$4</c:f>
              <c:strCache>
                <c:ptCount val="3"/>
                <c:pt idx="0">
                  <c:v>Installations</c:v>
                </c:pt>
                <c:pt idx="1">
                  <c:v>Call-outs and repairs</c:v>
                </c:pt>
                <c:pt idx="2">
                  <c:v>Maintenance contracts</c:v>
                </c:pt>
              </c:strCache>
            </c:strRef>
          </c:cat>
          <c:val>
            <c:numRef>
              <c:f>Sheet1!$B$2:$B$4</c:f>
              <c:numCache>
                <c:formatCode>0.0"%";[Red](0.0"%")</c:formatCode>
                <c:ptCount val="3"/>
                <c:pt idx="0">
                  <c:v>26.1</c:v>
                </c:pt>
                <c:pt idx="1">
                  <c:v>43.3</c:v>
                </c:pt>
                <c:pt idx="2">
                  <c:v>59.5</c:v>
                </c:pt>
              </c:numCache>
            </c:numRef>
          </c:val>
        </c:ser>
        <c:dLbls>
          <c:numFmt formatCode="0.0&quot;%&quot;;[Red](0.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A7B0B8"/>
              </a:solidFill>
            </c:spPr>
          </c:dPt>
          <c:dPt>
            <c:idx val="1"/>
            <c:spPr>
              <a:solidFill>
                <a:srgbClr val="0E9F6E"/>
              </a:solidFill>
            </c:spPr>
          </c:dPt>
          <c:dPt>
            <c:idx val="2"/>
            <c:spPr>
              <a:solidFill>
                <a:srgbClr val="0E9F6E"/>
              </a:solidFill>
            </c:spPr>
          </c:dPt>
          <c:cat>
            <c:strRef>
              <c:f>Sheet1!$A$2:$A$4</c:f>
              <c:strCache>
                <c:ptCount val="3"/>
                <c:pt idx="0">
                  <c:v>Installations</c:v>
                </c:pt>
                <c:pt idx="1">
                  <c:v>Call-outs and repairs</c:v>
                </c:pt>
                <c:pt idx="2">
                  <c:v>Maintenance contracts</c:v>
                </c:pt>
              </c:strCache>
            </c:strRef>
          </c:cat>
          <c:val>
            <c:numRef>
              <c:f>Sheet1!$B$2:$B$4</c:f>
              <c:numCache>
                <c:formatCode>$#,##0;[Red]($#,##0);"-"</c:formatCode>
                <c:ptCount val="3"/>
                <c:pt idx="0">
                  <c:v>18512</c:v>
                </c:pt>
                <c:pt idx="1">
                  <c:v>9650</c:v>
                </c:pt>
                <c:pt idx="2">
                  <c:v>21284</c:v>
                </c:pt>
              </c:numCache>
            </c:numRef>
          </c:val>
        </c:ser>
        <c:dLbls>
          <c:numFmt formatCode="$#,##0;[Red]($#,##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0E9F6E"/>
              </a:solidFill>
            </c:spPr>
          </c:dPt>
          <c:dPt>
            <c:idx val="1"/>
            <c:spPr>
              <a:solidFill>
                <a:srgbClr val="0E9F6E"/>
              </a:solidFill>
            </c:spPr>
          </c:dPt>
          <c:dPt>
            <c:idx val="2"/>
            <c:spPr>
              <a:solidFill>
                <a:srgbClr val="0E9F6E"/>
              </a:solidFill>
            </c:spPr>
          </c:dPt>
          <c:dPt>
            <c:idx val="3"/>
            <c:spPr>
              <a:solidFill>
                <a:srgbClr val="0E9F6E"/>
              </a:solidFill>
            </c:spPr>
          </c:dPt>
          <c:dPt>
            <c:idx val="4"/>
            <c:spPr>
              <a:solidFill>
                <a:srgbClr val="0E9F6E"/>
              </a:solidFill>
            </c:spPr>
          </c:dPt>
          <c:dPt>
            <c:idx val="5"/>
            <c:spPr>
              <a:solidFill>
                <a:srgbClr val="0E9F6E"/>
              </a:solidFill>
            </c:spPr>
          </c:dPt>
          <c:dPt>
            <c:idx val="6"/>
            <c:spPr>
              <a:solidFill>
                <a:srgbClr val="0E9F6E"/>
              </a:solidFill>
            </c:spPr>
          </c:dPt>
          <c:dPt>
            <c:idx val="7"/>
            <c:spPr>
              <a:solidFill>
                <a:srgbClr val="0E9F6E"/>
              </a:solidFill>
            </c:spPr>
          </c:dPt>
          <c:dPt>
            <c:idx val="8"/>
            <c:spPr>
              <a:solidFill>
                <a:srgbClr val="0E9F6E"/>
              </a:solidFill>
            </c:spPr>
          </c:dPt>
          <c:dPt>
            <c:idx val="9"/>
            <c:spPr>
              <a:solidFill>
                <a:srgbClr val="0E9F6E"/>
              </a:solidFill>
            </c:spPr>
          </c:dPt>
          <c:dPt>
            <c:idx val="10"/>
            <c:spPr>
              <a:solidFill>
                <a:srgbClr val="0E9F6E"/>
              </a:solidFill>
            </c:spPr>
          </c:dPt>
          <c:dPt>
            <c:idx val="11"/>
            <c:spPr>
              <a:solidFill>
                <a:srgbClr val="0E9F6E"/>
              </a:solidFill>
            </c:spPr>
          </c:dPt>
          <c:cat>
            <c:strRef>
              <c:f>Sheet1!$A$2:$A$13</c:f>
              <c:strCache>
                <c:ptCount val="12"/>
                <c:pt idx="0">
                  <c:v>Kangaroo Point townhouses</c:v>
                </c:pt>
                <c:pt idx="1">
                  <c:v>West End brewery</c:v>
                </c:pt>
                <c:pt idx="2">
                  <c:v>Rocklea factory</c:v>
                </c:pt>
                <c:pt idx="3">
                  <c:v>Milton office tower</c:v>
                </c:pt>
                <c:pt idx="4">
                  <c:v>Bulimba school</c:v>
                </c:pt>
                <c:pt idx="5">
                  <c:v>Chermside retail centre</c:v>
                </c:pt>
                <c:pt idx="6">
                  <c:v>Fortitude Valley hotel</c:v>
                </c:pt>
                <c:pt idx="7">
                  <c:v>Riverside Apartments (strata)</c:v>
                </c:pt>
                <c:pt idx="8">
                  <c:v>Newstead gym</c:v>
                </c:pt>
                <c:pt idx="9">
                  <c:v>Southbank cafe group</c:v>
                </c:pt>
                <c:pt idx="10">
                  <c:v>Ashgrove aged care</c:v>
                </c:pt>
                <c:pt idx="11">
                  <c:v>Wynnum medical centre</c:v>
                </c:pt>
              </c:strCache>
            </c:strRef>
          </c:cat>
          <c:val>
            <c:numRef>
              <c:f>Sheet1!$B$2:$B$13</c:f>
              <c:numCache>
                <c:formatCode>0.0"%";[Red](0.0"%")</c:formatCode>
                <c:ptCount val="12"/>
                <c:pt idx="0">
                  <c:v>58.2</c:v>
                </c:pt>
                <c:pt idx="1">
                  <c:v>58.8</c:v>
                </c:pt>
                <c:pt idx="2">
                  <c:v>58.8</c:v>
                </c:pt>
                <c:pt idx="3">
                  <c:v>59.0</c:v>
                </c:pt>
                <c:pt idx="4">
                  <c:v>59.0</c:v>
                </c:pt>
                <c:pt idx="5">
                  <c:v>59.4</c:v>
                </c:pt>
                <c:pt idx="6">
                  <c:v>59.9</c:v>
                </c:pt>
                <c:pt idx="7">
                  <c:v>59.9</c:v>
                </c:pt>
                <c:pt idx="8">
                  <c:v>59.9</c:v>
                </c:pt>
                <c:pt idx="9">
                  <c:v>60.0</c:v>
                </c:pt>
                <c:pt idx="10">
                  <c:v>60.0</c:v>
                </c:pt>
                <c:pt idx="11">
                  <c:v>61.1</c:v>
                </c:pt>
              </c:numCache>
            </c:numRef>
          </c:val>
        </c:ser>
        <c:dLbls>
          <c:numFmt formatCode="0.0&quot;%&quot;;[Red](0.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0E9F6E"/>
              </a:solidFill>
            </c:spPr>
          </c:dPt>
          <c:dPt>
            <c:idx val="1"/>
            <c:spPr>
              <a:solidFill>
                <a:srgbClr val="0E9F6E"/>
              </a:solidFill>
            </c:spPr>
          </c:dPt>
          <c:dPt>
            <c:idx val="2"/>
            <c:spPr>
              <a:solidFill>
                <a:srgbClr val="0E9F6E"/>
              </a:solidFill>
            </c:spPr>
          </c:dPt>
          <c:dPt>
            <c:idx val="3"/>
            <c:spPr>
              <a:solidFill>
                <a:srgbClr val="0E9F6E"/>
              </a:solidFill>
            </c:spPr>
          </c:dPt>
          <c:dPt>
            <c:idx val="4"/>
            <c:spPr>
              <a:solidFill>
                <a:srgbClr val="0E9F6E"/>
              </a:solidFill>
            </c:spPr>
          </c:dPt>
          <c:dPt>
            <c:idx val="5"/>
            <c:spPr>
              <a:solidFill>
                <a:srgbClr val="0E9F6E"/>
              </a:solidFill>
            </c:spPr>
          </c:dPt>
          <c:dPt>
            <c:idx val="6"/>
            <c:spPr>
              <a:solidFill>
                <a:srgbClr val="0E9F6E"/>
              </a:solidFill>
            </c:spPr>
          </c:dPt>
          <c:dPt>
            <c:idx val="7"/>
            <c:spPr>
              <a:solidFill>
                <a:srgbClr val="0E9F6E"/>
              </a:solidFill>
            </c:spPr>
          </c:dPt>
          <c:dPt>
            <c:idx val="8"/>
            <c:spPr>
              <a:solidFill>
                <a:srgbClr val="0E9F6E"/>
              </a:solidFill>
            </c:spPr>
          </c:dPt>
          <c:dPt>
            <c:idx val="9"/>
            <c:spPr>
              <a:solidFill>
                <a:srgbClr val="0E9F6E"/>
              </a:solidFill>
            </c:spPr>
          </c:dPt>
          <c:dPt>
            <c:idx val="10"/>
            <c:spPr>
              <a:solidFill>
                <a:srgbClr val="0E9F6E"/>
              </a:solidFill>
            </c:spPr>
          </c:dPt>
          <c:dPt>
            <c:idx val="11"/>
            <c:spPr>
              <a:solidFill>
                <a:srgbClr val="0E9F6E"/>
              </a:solidFill>
            </c:spPr>
          </c:dPt>
          <c:cat>
            <c:strRef>
              <c:f>Sheet1!$A$2:$A$13</c:f>
              <c:strCache>
                <c:ptCount val="12"/>
                <c:pt idx="0">
                  <c:v>Kangaroo Point townhouses</c:v>
                </c:pt>
                <c:pt idx="1">
                  <c:v>West End brewery</c:v>
                </c:pt>
                <c:pt idx="2">
                  <c:v>Rocklea factory</c:v>
                </c:pt>
                <c:pt idx="3">
                  <c:v>Milton office tower</c:v>
                </c:pt>
                <c:pt idx="4">
                  <c:v>Bulimba school</c:v>
                </c:pt>
                <c:pt idx="5">
                  <c:v>Chermside retail centre</c:v>
                </c:pt>
                <c:pt idx="6">
                  <c:v>Fortitude Valley hotel</c:v>
                </c:pt>
                <c:pt idx="7">
                  <c:v>Riverside Apartments (strata)</c:v>
                </c:pt>
                <c:pt idx="8">
                  <c:v>Newstead gym</c:v>
                </c:pt>
                <c:pt idx="9">
                  <c:v>Southbank cafe group</c:v>
                </c:pt>
                <c:pt idx="10">
                  <c:v>Ashgrove aged care</c:v>
                </c:pt>
                <c:pt idx="11">
                  <c:v>Wynnum medical centre</c:v>
                </c:pt>
              </c:strCache>
            </c:strRef>
          </c:cat>
          <c:val>
            <c:numRef>
              <c:f>Sheet1!$B$2:$B$13</c:f>
              <c:numCache>
                <c:formatCode>$#,##0;[Red]($#,##0);"-"</c:formatCode>
                <c:ptCount val="12"/>
                <c:pt idx="0">
                  <c:v>1398</c:v>
                </c:pt>
                <c:pt idx="1">
                  <c:v>1530</c:v>
                </c:pt>
                <c:pt idx="2">
                  <c:v>2294</c:v>
                </c:pt>
                <c:pt idx="3">
                  <c:v>2478</c:v>
                </c:pt>
                <c:pt idx="4">
                  <c:v>1652</c:v>
                </c:pt>
                <c:pt idx="5">
                  <c:v>2436</c:v>
                </c:pt>
                <c:pt idx="6">
                  <c:v>2038</c:v>
                </c:pt>
                <c:pt idx="7">
                  <c:v>1916</c:v>
                </c:pt>
                <c:pt idx="8">
                  <c:v>958</c:v>
                </c:pt>
                <c:pt idx="9">
                  <c:v>1080</c:v>
                </c:pt>
                <c:pt idx="10">
                  <c:v>2160</c:v>
                </c:pt>
                <c:pt idx="11">
                  <c:v>1344</c:v>
                </c:pt>
              </c:numCache>
            </c:numRef>
          </c:val>
        </c:ser>
        <c:dLbls>
          <c:numFmt formatCode="$#,##0;[Red]($#,##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A7B0B8"/>
              </a:solidFill>
            </c:spPr>
          </c:dPt>
          <c:dPt>
            <c:idx val="1"/>
            <c:spPr>
              <a:solidFill>
                <a:srgbClr val="A7B0B8"/>
              </a:solidFill>
            </c:spPr>
          </c:dPt>
          <c:dPt>
            <c:idx val="2"/>
            <c:spPr>
              <a:solidFill>
                <a:srgbClr val="0E9F6E"/>
              </a:solidFill>
            </c:spPr>
          </c:dPt>
          <c:cat>
            <c:strRef>
              <c:f>Sheet1!$A$2:$A$4</c:f>
              <c:strCache>
                <c:ptCount val="3"/>
                <c:pt idx="0">
                  <c:v>Salisbury shop solar and battery</c:v>
                </c:pt>
                <c:pt idx="1">
                  <c:v>Coorparoo shop air-con install</c:v>
                </c:pt>
                <c:pt idx="2">
                  <c:v>Aspley cafe data cabling</c:v>
                </c:pt>
              </c:strCache>
            </c:strRef>
          </c:cat>
          <c:val>
            <c:numRef>
              <c:f>Sheet1!$B$2:$B$4</c:f>
              <c:numCache>
                <c:formatCode>0.0"%";[Red](0.0"%")</c:formatCode>
                <c:ptCount val="3"/>
                <c:pt idx="0">
                  <c:v>17.3</c:v>
                </c:pt>
                <c:pt idx="1">
                  <c:v>32.5</c:v>
                </c:pt>
                <c:pt idx="2">
                  <c:v>37.8</c:v>
                </c:pt>
              </c:numCache>
            </c:numRef>
          </c:val>
        </c:ser>
        <c:dLbls>
          <c:numFmt formatCode="0.0&quot;%&quot;;[Red](0.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A7B0B8"/>
              </a:solidFill>
            </c:spPr>
          </c:dPt>
          <c:dPt>
            <c:idx val="1"/>
            <c:spPr>
              <a:solidFill>
                <a:srgbClr val="A7B0B8"/>
              </a:solidFill>
            </c:spPr>
          </c:dPt>
          <c:dPt>
            <c:idx val="2"/>
            <c:spPr>
              <a:solidFill>
                <a:srgbClr val="0E9F6E"/>
              </a:solidFill>
            </c:spPr>
          </c:dPt>
          <c:cat>
            <c:strRef>
              <c:f>Sheet1!$A$2:$A$4</c:f>
              <c:strCache>
                <c:ptCount val="3"/>
                <c:pt idx="0">
                  <c:v>Salisbury shop solar and battery</c:v>
                </c:pt>
                <c:pt idx="1">
                  <c:v>Coorparoo shop air-con install</c:v>
                </c:pt>
                <c:pt idx="2">
                  <c:v>Aspley cafe data cabling</c:v>
                </c:pt>
              </c:strCache>
            </c:strRef>
          </c:cat>
          <c:val>
            <c:numRef>
              <c:f>Sheet1!$B$2:$B$4</c:f>
              <c:numCache>
                <c:formatCode>$#,##0;[Red]($#,##0);"-"</c:formatCode>
                <c:ptCount val="3"/>
                <c:pt idx="0">
                  <c:v>6140</c:v>
                </c:pt>
                <c:pt idx="1">
                  <c:v>6016</c:v>
                </c:pt>
                <c:pt idx="2">
                  <c:v>6356</c:v>
                </c:pt>
              </c:numCache>
            </c:numRef>
          </c:val>
        </c:ser>
        <c:dLbls>
          <c:numFmt formatCode="$#,##0;[Red]($#,##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0E9F6E"/>
              </a:solidFill>
            </c:spPr>
          </c:dPt>
          <c:dPt>
            <c:idx val="1"/>
            <c:spPr>
              <a:solidFill>
                <a:srgbClr val="0E9F6E"/>
              </a:solidFill>
            </c:spPr>
          </c:dPt>
          <c:dPt>
            <c:idx val="2"/>
            <c:spPr>
              <a:solidFill>
                <a:srgbClr val="0E9F6E"/>
              </a:solidFill>
            </c:spPr>
          </c:dPt>
          <c:dPt>
            <c:idx val="3"/>
            <c:spPr>
              <a:solidFill>
                <a:srgbClr val="0E9F6E"/>
              </a:solidFill>
            </c:spPr>
          </c:dPt>
          <c:dPt>
            <c:idx val="4"/>
            <c:spPr>
              <a:solidFill>
                <a:srgbClr val="0E9F6E"/>
              </a:solidFill>
            </c:spPr>
          </c:dPt>
          <c:dPt>
            <c:idx val="5"/>
            <c:spPr>
              <a:solidFill>
                <a:srgbClr val="0E9F6E"/>
              </a:solidFill>
            </c:spPr>
          </c:dPt>
          <c:cat>
            <c:strRef>
              <c:f>Sheet1!$A$2:$A$7</c:f>
              <c:strCache>
                <c:ptCount val="6"/>
                <c:pt idx="0">
                  <c:v>1-hour call-outs (7)</c:v>
                </c:pt>
                <c:pt idx="1">
                  <c:v>1.5-hour call-outs (3)</c:v>
                </c:pt>
                <c:pt idx="2">
                  <c:v>2-hour call-outs (9)</c:v>
                </c:pt>
                <c:pt idx="3">
                  <c:v>2.5-hour call-outs (8)</c:v>
                </c:pt>
                <c:pt idx="4">
                  <c:v>3-hour call-outs (10)</c:v>
                </c:pt>
                <c:pt idx="5">
                  <c:v>4-hour call-outs (6)</c:v>
                </c:pt>
              </c:strCache>
            </c:strRef>
          </c:cat>
          <c:val>
            <c:numRef>
              <c:f>Sheet1!$B$2:$B$7</c:f>
              <c:numCache>
                <c:formatCode>0.0"%";[Red](0.0"%")</c:formatCode>
                <c:ptCount val="6"/>
                <c:pt idx="0">
                  <c:v>37.8</c:v>
                </c:pt>
                <c:pt idx="1">
                  <c:v>38.2</c:v>
                </c:pt>
                <c:pt idx="2">
                  <c:v>40.7</c:v>
                </c:pt>
                <c:pt idx="3">
                  <c:v>44.1</c:v>
                </c:pt>
                <c:pt idx="4">
                  <c:v>45.7</c:v>
                </c:pt>
                <c:pt idx="5">
                  <c:v>45.9</c:v>
                </c:pt>
              </c:numCache>
            </c:numRef>
          </c:val>
        </c:ser>
        <c:dLbls>
          <c:numFmt formatCode="0.0&quot;%&quot;;[Red](0.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0E9F6E"/>
              </a:solidFill>
            </c:spPr>
          </c:dPt>
          <c:dPt>
            <c:idx val="1"/>
            <c:spPr>
              <a:solidFill>
                <a:srgbClr val="0E9F6E"/>
              </a:solidFill>
            </c:spPr>
          </c:dPt>
          <c:dPt>
            <c:idx val="2"/>
            <c:spPr>
              <a:solidFill>
                <a:srgbClr val="0E9F6E"/>
              </a:solidFill>
            </c:spPr>
          </c:dPt>
          <c:dPt>
            <c:idx val="3"/>
            <c:spPr>
              <a:solidFill>
                <a:srgbClr val="0E9F6E"/>
              </a:solidFill>
            </c:spPr>
          </c:dPt>
          <c:dPt>
            <c:idx val="4"/>
            <c:spPr>
              <a:solidFill>
                <a:srgbClr val="0E9F6E"/>
              </a:solidFill>
            </c:spPr>
          </c:dPt>
          <c:dPt>
            <c:idx val="5"/>
            <c:spPr>
              <a:solidFill>
                <a:srgbClr val="0E9F6E"/>
              </a:solidFill>
            </c:spPr>
          </c:dPt>
          <c:cat>
            <c:strRef>
              <c:f>Sheet1!$A$2:$A$7</c:f>
              <c:strCache>
                <c:ptCount val="6"/>
                <c:pt idx="0">
                  <c:v>1-hour call-outs (7)</c:v>
                </c:pt>
                <c:pt idx="1">
                  <c:v>1.5-hour call-outs (3)</c:v>
                </c:pt>
                <c:pt idx="2">
                  <c:v>2-hour call-outs (9)</c:v>
                </c:pt>
                <c:pt idx="3">
                  <c:v>2.5-hour call-outs (8)</c:v>
                </c:pt>
                <c:pt idx="4">
                  <c:v>3-hour call-outs (10)</c:v>
                </c:pt>
                <c:pt idx="5">
                  <c:v>4-hour call-outs (6)</c:v>
                </c:pt>
              </c:strCache>
            </c:strRef>
          </c:cat>
          <c:val>
            <c:numRef>
              <c:f>Sheet1!$B$2:$B$7</c:f>
              <c:numCache>
                <c:formatCode>$#,##0;[Red]($#,##0);"-"</c:formatCode>
                <c:ptCount val="6"/>
                <c:pt idx="0">
                  <c:v>782</c:v>
                </c:pt>
                <c:pt idx="1">
                  <c:v>492</c:v>
                </c:pt>
                <c:pt idx="2">
                  <c:v>1809</c:v>
                </c:pt>
                <c:pt idx="3">
                  <c:v>1824</c:v>
                </c:pt>
                <c:pt idx="4">
                  <c:v>2640</c:v>
                </c:pt>
                <c:pt idx="5">
                  <c:v>2103</c:v>
                </c:pt>
              </c:numCache>
            </c:numRef>
          </c:val>
        </c:ser>
        <c:dLbls>
          <c:numFmt formatCode="$#,##0;[Red]($#,##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Sheet1!$A$2:$A$14</c:f>
              <c:strCache>
                <c:ptCount val="13"/>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strCache>
            </c:strRef>
          </c:cat>
          <c:val>
            <c:numRef>
              <c:f>Sheet1!$B$2:$B$14</c:f>
              <c:numCache>
                <c:formatCode>0.0"%";[Red](0.0"%")</c:formatCode>
                <c:ptCount val="13"/>
                <c:pt idx="0">
                  <c:v>33.1</c:v>
                </c:pt>
                <c:pt idx="1">
                  <c:v>37.0</c:v>
                </c:pt>
                <c:pt idx="2">
                  <c:v>40.4</c:v>
                </c:pt>
                <c:pt idx="3">
                  <c:v>42.7</c:v>
                </c:pt>
                <c:pt idx="4">
                  <c:v>36.4</c:v>
                </c:pt>
                <c:pt idx="5">
                  <c:v>36.5</c:v>
                </c:pt>
                <c:pt idx="6">
                  <c:v>38.4</c:v>
                </c:pt>
                <c:pt idx="7">
                  <c:v>35.5</c:v>
                </c:pt>
                <c:pt idx="8">
                  <c:v>40.5</c:v>
                </c:pt>
                <c:pt idx="9">
                  <c:v>35.6</c:v>
                </c:pt>
                <c:pt idx="10">
                  <c:v>43.8</c:v>
                </c:pt>
                <c:pt idx="11">
                  <c:v>37.6</c:v>
                </c:pt>
                <c:pt idx="12">
                  <c:v>38.4</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0&quot;%&quot;;[Red](0.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pPr>
      <a:endParaRPr/>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Sheet1!$A$2:$A$14</c:f>
              <c:strCache>
                <c:ptCount val="13"/>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strCache>
            </c:strRef>
          </c:cat>
          <c:val>
            <c:numRef>
              <c:f>Sheet1!$B$2:$B$14</c:f>
              <c:numCache>
                <c:formatCode>$#,##0;[Red]($#,##0);"-"</c:formatCode>
                <c:ptCount val="13"/>
                <c:pt idx="0">
                  <c:v>56675</c:v>
                </c:pt>
                <c:pt idx="1">
                  <c:v>66458</c:v>
                </c:pt>
                <c:pt idx="2">
                  <c:v>57840</c:v>
                </c:pt>
                <c:pt idx="3">
                  <c:v>60167</c:v>
                </c:pt>
                <c:pt idx="4">
                  <c:v>58595</c:v>
                </c:pt>
                <c:pt idx="5">
                  <c:v>49330</c:v>
                </c:pt>
                <c:pt idx="6">
                  <c:v>47897</c:v>
                </c:pt>
                <c:pt idx="7">
                  <c:v>46116</c:v>
                </c:pt>
                <c:pt idx="8">
                  <c:v>66529</c:v>
                </c:pt>
                <c:pt idx="9">
                  <c:v>66434</c:v>
                </c:pt>
                <c:pt idx="10">
                  <c:v>60906</c:v>
                </c:pt>
                <c:pt idx="11">
                  <c:v>48201</c:v>
                </c:pt>
                <c:pt idx="12">
                  <c:v>49446</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Red]($#,##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pPr>
      <a:endParaRPr/>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548640"/>
            <a:ext cx="640080" cy="640080"/>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1600" b="1">
                <a:solidFill>
                  <a:srgbClr val="FFFFFF"/>
                </a:solidFill>
              </a:rPr>
              <a:t>4th</a:t>
            </a:r>
          </a:p>
        </p:txBody>
      </p:sp>
      <p:sp>
        <p:nvSpPr>
          <p:cNvPr id="3" name="TextBox 2"/>
          <p:cNvSpPr txBox="1"/>
          <p:nvPr/>
        </p:nvSpPr>
        <p:spPr>
          <a:xfrm>
            <a:off x="1234440" y="658368"/>
            <a:ext cx="5486400" cy="457200"/>
          </a:xfrm>
          <a:prstGeom prst="rect">
            <a:avLst/>
          </a:prstGeom>
          <a:noFill/>
        </p:spPr>
        <p:txBody>
          <a:bodyPr wrap="square">
            <a:spAutoFit/>
          </a:bodyPr>
          <a:lstStyle/>
          <a:p>
            <a:r>
              <a:rPr sz="1800" b="1">
                <a:solidFill>
                  <a:srgbClr val="25342A"/>
                </a:solidFill>
                <a:latin typeface="Arial"/>
              </a:rPr>
              <a:t>The 4th Sheet</a:t>
            </a:r>
          </a:p>
        </p:txBody>
      </p:sp>
      <p:sp>
        <p:nvSpPr>
          <p:cNvPr id="4" name="TextBox 3"/>
          <p:cNvSpPr txBox="1"/>
          <p:nvPr/>
        </p:nvSpPr>
        <p:spPr>
          <a:xfrm>
            <a:off x="457200" y="1554480"/>
            <a:ext cx="10972800" cy="365760"/>
          </a:xfrm>
          <a:prstGeom prst="rect">
            <a:avLst/>
          </a:prstGeom>
          <a:noFill/>
        </p:spPr>
        <p:txBody>
          <a:bodyPr wrap="square">
            <a:spAutoFit/>
          </a:bodyPr>
          <a:lstStyle/>
          <a:p>
            <a:r>
              <a:rPr sz="1100" b="1">
                <a:solidFill>
                  <a:srgbClr val="8A7A52"/>
                </a:solidFill>
                <a:latin typeface="Arial"/>
              </a:rPr>
              <a:t>SAMPLE DATA · invented figures for demonstration</a:t>
            </a:r>
          </a:p>
        </p:txBody>
      </p:sp>
      <p:sp>
        <p:nvSpPr>
          <p:cNvPr id="5" name="TextBox 4"/>
          <p:cNvSpPr txBox="1"/>
          <p:nvPr/>
        </p:nvSpPr>
        <p:spPr>
          <a:xfrm>
            <a:off x="457200" y="2011680"/>
            <a:ext cx="11247120" cy="1097280"/>
          </a:xfrm>
          <a:prstGeom prst="rect">
            <a:avLst/>
          </a:prstGeom>
          <a:noFill/>
        </p:spPr>
        <p:txBody>
          <a:bodyPr wrap="square">
            <a:spAutoFit/>
          </a:bodyPr>
          <a:lstStyle/>
          <a:p>
            <a:r>
              <a:rPr sz="3400" b="1">
                <a:solidFill>
                  <a:srgbClr val="25342A"/>
                </a:solidFill>
                <a:latin typeface="Arial"/>
              </a:rPr>
              <a:t>Which jobs actually make money?</a:t>
            </a:r>
          </a:p>
        </p:txBody>
      </p:sp>
      <p:sp>
        <p:nvSpPr>
          <p:cNvPr id="6" name="TextBox 5"/>
          <p:cNvSpPr txBox="1"/>
          <p:nvPr/>
        </p:nvSpPr>
        <p:spPr>
          <a:xfrm>
            <a:off x="457200" y="3154680"/>
            <a:ext cx="11247120" cy="457200"/>
          </a:xfrm>
          <a:prstGeom prst="rect">
            <a:avLst/>
          </a:prstGeom>
          <a:noFill/>
        </p:spPr>
        <p:txBody>
          <a:bodyPr wrap="square">
            <a:spAutoFit/>
          </a:bodyPr>
          <a:lstStyle/>
          <a:p>
            <a:r>
              <a:rPr sz="1600" b="0">
                <a:solidFill>
                  <a:srgbClr val="5F6F63"/>
                </a:solidFill>
                <a:latin typeface="Arial"/>
              </a:rPr>
              <a:t>Sample Electrical &amp; Air Pty Ltd</a:t>
            </a:r>
          </a:p>
        </p:txBody>
      </p:sp>
      <p:sp>
        <p:nvSpPr>
          <p:cNvPr id="7" name="TextBox 6"/>
          <p:cNvSpPr txBox="1"/>
          <p:nvPr/>
        </p:nvSpPr>
        <p:spPr>
          <a:xfrm>
            <a:off x="457200" y="3703320"/>
            <a:ext cx="11247120" cy="1097280"/>
          </a:xfrm>
          <a:prstGeom prst="rect">
            <a:avLst/>
          </a:prstGeom>
          <a:noFill/>
        </p:spPr>
        <p:txBody>
          <a:bodyPr wrap="square">
            <a:spAutoFit/>
          </a:bodyPr>
          <a:lstStyle/>
          <a:p>
            <a:r>
              <a:rPr sz="1400" b="0">
                <a:solidFill>
                  <a:srgbClr val="25342A"/>
                </a:solidFill>
                <a:latin typeface="Arial"/>
              </a:rPr>
              <a:t>Period: October 2025. Every job's gross margin: revenue less materials, subcontractors and technician time at $68 an hour (fully loaded: wages and all on-costs). Before overheads, so this is not profit. Pick a type of job and every number, chart and note on the page follows it.</a:t>
            </a:r>
          </a:p>
        </p:txBody>
      </p:sp>
      <p:sp>
        <p:nvSpPr>
          <p:cNvPr id="8" name="TextBox 7"/>
          <p:cNvSpPr txBox="1"/>
          <p:nvPr/>
        </p:nvSpPr>
        <p:spPr>
          <a:xfrm>
            <a:off x="457200" y="4937760"/>
            <a:ext cx="11247120" cy="1097280"/>
          </a:xfrm>
          <a:prstGeom prst="rect">
            <a:avLst/>
          </a:prstGeom>
          <a:noFill/>
        </p:spPr>
        <p:txBody>
          <a:bodyPr wrap="square">
            <a:spAutoFit/>
          </a:bodyPr>
          <a:lstStyle/>
          <a:p>
            <a:r>
              <a:rPr sz="1100" b="0">
                <a:solidFill>
                  <a:srgbClr val="5F6F63"/>
                </a:solidFill>
                <a:latin typeface="Arial"/>
              </a:rPr>
              <a:t>How final is this data?</a:t>
            </a:r>
          </a:p>
          <a:p>
            <a:r>
              <a:rPr sz="1100" b="0">
                <a:solidFill>
                  <a:srgbClr val="5F6F63"/>
                </a:solidFill>
                <a:latin typeface="Arial"/>
              </a:rPr>
              <a:t>September 2025: Locked. September 2025 is locked (closed 2 Oct 2025). These numbers won't change.</a:t>
            </a:r>
          </a:p>
          <a:p>
            <a:r>
              <a:rPr sz="1100" b="0">
                <a:solidFill>
                  <a:srgbClr val="5F6F63"/>
                </a:solidFill>
                <a:latin typeface="Arial"/>
              </a:rPr>
              <a:t>October 2025: Locked. October 2025 is locked (closed 4 Nov 2025). These numbers won't change.</a:t>
            </a:r>
          </a:p>
          <a:p>
            <a:r>
              <a:rPr sz="1100" b="0">
                <a:solidFill>
                  <a:srgbClr val="5F6F63"/>
                </a:solidFill>
                <a:latin typeface="Arial"/>
              </a:rPr>
              <a:t>October 2026: Incomplete. October 2026 is still in progress: figures to 6 Oct only.</a:t>
            </a:r>
          </a:p>
        </p:txBody>
      </p:sp>
      <p:sp>
        <p:nvSpPr>
          <p:cNvPr id="9" name="TextBox 8"/>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10" name="TextBox 9"/>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1" name="TextBox 10"/>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1 of 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Gross margin, not profit</a:t>
            </a:r>
          </a:p>
        </p:txBody>
      </p:sp>
      <p:sp>
        <p:nvSpPr>
          <p:cNvPr id="5" name="Rectangle 4"/>
          <p:cNvSpPr/>
          <p:nvPr/>
        </p:nvSpPr>
        <p:spPr>
          <a:xfrm>
            <a:off x="457200" y="1554480"/>
            <a:ext cx="11277295"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91640"/>
            <a:ext cx="10820095" cy="365760"/>
          </a:xfrm>
          <a:prstGeom prst="rect">
            <a:avLst/>
          </a:prstGeom>
          <a:noFill/>
        </p:spPr>
        <p:txBody>
          <a:bodyPr wrap="square">
            <a:spAutoFit/>
          </a:bodyPr>
          <a:lstStyle/>
          <a:p>
            <a:r>
              <a:rPr sz="1100" b="1">
                <a:solidFill>
                  <a:srgbClr val="5F6F63"/>
                </a:solidFill>
                <a:latin typeface="Arial"/>
              </a:rPr>
              <a:t>GROSS MARGIN, NOT PROFIT</a:t>
            </a:r>
          </a:p>
        </p:txBody>
      </p:sp>
      <p:sp>
        <p:nvSpPr>
          <p:cNvPr id="7" name="TextBox 6"/>
          <p:cNvSpPr txBox="1"/>
          <p:nvPr/>
        </p:nvSpPr>
        <p:spPr>
          <a:xfrm>
            <a:off x="685800" y="2103120"/>
            <a:ext cx="10820095" cy="3749039"/>
          </a:xfrm>
          <a:prstGeom prst="rect">
            <a:avLst/>
          </a:prstGeom>
          <a:noFill/>
        </p:spPr>
        <p:txBody>
          <a:bodyPr wrap="square">
            <a:spAutoFit/>
          </a:bodyPr>
          <a:lstStyle/>
          <a:p>
            <a:r>
              <a:rPr sz="1600" b="0">
                <a:solidFill>
                  <a:srgbClr val="25342A"/>
                </a:solidFill>
                <a:latin typeface="Arial"/>
              </a:rPr>
              <a:t>Gross margin is not profit. Job gross margin = revenue less materials, subcontractors and technician time charged to the job at $68 an hour (wages and all on-costs). Not included: technician time not charged to any job (travel, training, waiting), and overheads (office wages, marketing, vehicles, rent, insurance, IT, depreciation, interest). Profit is what's left after those. Wages always include all on-costs: super, payroll tax, workers' compensation insurance and leave.</a:t>
            </a:r>
          </a:p>
        </p:txBody>
      </p:sp>
      <p:sp>
        <p:nvSpPr>
          <p:cNvPr id="8" name="TextBox 7"/>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2 of 21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From gross margin to profit</a:t>
            </a:r>
          </a:p>
        </p:txBody>
      </p:sp>
      <p:sp>
        <p:nvSpPr>
          <p:cNvPr id="5" name="TextBox 4"/>
          <p:cNvSpPr txBox="1"/>
          <p:nvPr/>
        </p:nvSpPr>
        <p:spPr>
          <a:xfrm>
            <a:off x="457200" y="960120"/>
            <a:ext cx="11247120" cy="457200"/>
          </a:xfrm>
          <a:prstGeom prst="rect">
            <a:avLst/>
          </a:prstGeom>
          <a:noFill/>
        </p:spPr>
        <p:txBody>
          <a:bodyPr wrap="square">
            <a:spAutoFit/>
          </a:bodyPr>
          <a:lstStyle/>
          <a:p>
            <a:r>
              <a:rPr sz="1200" b="0">
                <a:solidFill>
                  <a:srgbClr val="5F6F63"/>
                </a:solidFill>
                <a:latin typeface="Arial"/>
              </a:rPr>
              <a:t>October's jobs made $49,446 gross margin (38.4%). Technician time not charged to jobs took $9,638 and overheads $57,980, leaving ($18,172) profit before tax ((14.1%) of revenue). To cover overheads, jobs need a 52.5% gross margin on average.</a:t>
            </a:r>
          </a:p>
        </p:txBody>
      </p:sp>
      <p:graphicFrame>
        <p:nvGraphicFramePr>
          <p:cNvPr id="6" name="Table 5"/>
          <p:cNvGraphicFramePr>
            <a:graphicFrameLocks noGrp="1"/>
          </p:cNvGraphicFramePr>
          <p:nvPr/>
        </p:nvGraphicFramePr>
        <p:xfrm>
          <a:off x="457200" y="1463040"/>
          <a:ext cx="11247120" cy="3950208"/>
        </p:xfrm>
        <a:graphic>
          <a:graphicData uri="http://schemas.openxmlformats.org/drawingml/2006/table">
            <a:tbl>
              <a:tblPr firstRow="1" bandRow="1">
                <a:tableStyleId>{5C22544A-7EE6-4342-B048-85BDC9FD1C3A}</a:tableStyleId>
              </a:tblPr>
              <a:tblGrid>
                <a:gridCol w="5623560"/>
                <a:gridCol w="5623560"/>
              </a:tblGrid>
              <a:tr h="329184">
                <a:tc>
                  <a:txBody>
                    <a:bodyPr/>
                    <a:lstStyle/>
                    <a:p/>
                  </a:txBody>
                  <a:tcPr>
                    <a:solidFill>
                      <a:srgbClr val="2F7A5D"/>
                    </a:solidFill>
                  </a:tcPr>
                </a:tc>
                <a:tc>
                  <a:txBody>
                    <a:bodyPr/>
                    <a:lstStyle/>
                    <a:p>
                      <a:pPr algn="r"/>
                      <a:r>
                        <a:rPr sz="1100" b="1">
                          <a:solidFill>
                            <a:srgbClr val="FFFFFF"/>
                          </a:solidFill>
                        </a:rPr>
                        <a:t>October 2025</a:t>
                      </a:r>
                    </a:p>
                  </a:txBody>
                  <a:tcPr>
                    <a:solidFill>
                      <a:srgbClr val="2F7A5D"/>
                    </a:solidFill>
                  </a:tcPr>
                </a:tc>
              </a:tr>
              <a:tr h="329184">
                <a:tc>
                  <a:txBody>
                    <a:bodyPr/>
                    <a:lstStyle/>
                    <a:p>
                      <a:r>
                        <a:rPr sz="1050">
                          <a:solidFill>
                            <a:srgbClr val="25342A"/>
                          </a:solidFill>
                        </a:rPr>
                        <a:t>Gross margin on jobs</a:t>
                      </a:r>
                    </a:p>
                  </a:txBody>
                  <a:tcPr>
                    <a:solidFill>
                      <a:srgbClr val="FFFFFF"/>
                    </a:solidFill>
                  </a:tcPr>
                </a:tc>
                <a:tc>
                  <a:txBody>
                    <a:bodyPr/>
                    <a:lstStyle/>
                    <a:p>
                      <a:pPr algn="r"/>
                      <a:r>
                        <a:rPr sz="1050">
                          <a:solidFill>
                            <a:srgbClr val="25342A"/>
                          </a:solidFill>
                        </a:rPr>
                        <a:t>$49,446</a:t>
                      </a:r>
                    </a:p>
                  </a:txBody>
                  <a:tcPr>
                    <a:solidFill>
                      <a:srgbClr val="FFFFFF"/>
                    </a:solidFill>
                  </a:tcPr>
                </a:tc>
              </a:tr>
              <a:tr h="329184">
                <a:tc>
                  <a:txBody>
                    <a:bodyPr/>
                    <a:lstStyle/>
                    <a:p>
                      <a:r>
                        <a:rPr sz="1050">
                          <a:solidFill>
                            <a:srgbClr val="25342A"/>
                          </a:solidFill>
                        </a:rPr>
                        <a:t>Technician wages and on-costs</a:t>
                      </a:r>
                    </a:p>
                  </a:txBody>
                  <a:tcPr>
                    <a:solidFill>
                      <a:srgbClr val="F7FAF7"/>
                    </a:solidFill>
                  </a:tcPr>
                </a:tc>
                <a:tc>
                  <a:txBody>
                    <a:bodyPr/>
                    <a:lstStyle/>
                    <a:p>
                      <a:pPr algn="r"/>
                      <a:r>
                        <a:rPr sz="1050">
                          <a:solidFill>
                            <a:srgbClr val="25342A"/>
                          </a:solidFill>
                        </a:rPr>
                        <a:t>$46,800</a:t>
                      </a:r>
                    </a:p>
                  </a:txBody>
                  <a:tcPr>
                    <a:solidFill>
                      <a:srgbClr val="F7FAF7"/>
                    </a:solidFill>
                  </a:tcPr>
                </a:tc>
              </a:tr>
              <a:tr h="329184">
                <a:tc>
                  <a:txBody>
                    <a:bodyPr/>
                    <a:lstStyle/>
                    <a:p>
                      <a:r>
                        <a:rPr sz="1050">
                          <a:solidFill>
                            <a:srgbClr val="25342A"/>
                          </a:solidFill>
                        </a:rPr>
                        <a:t>Technician time charged to jobs (at cost)</a:t>
                      </a:r>
                    </a:p>
                  </a:txBody>
                  <a:tcPr>
                    <a:solidFill>
                      <a:srgbClr val="FFFFFF"/>
                    </a:solidFill>
                  </a:tcPr>
                </a:tc>
                <a:tc>
                  <a:txBody>
                    <a:bodyPr/>
                    <a:lstStyle/>
                    <a:p>
                      <a:pPr algn="r"/>
                      <a:r>
                        <a:rPr sz="1050">
                          <a:solidFill>
                            <a:srgbClr val="25342A"/>
                          </a:solidFill>
                        </a:rPr>
                        <a:t>$37,162</a:t>
                      </a:r>
                    </a:p>
                  </a:txBody>
                  <a:tcPr>
                    <a:solidFill>
                      <a:srgbClr val="FFFFFF"/>
                    </a:solidFill>
                  </a:tcPr>
                </a:tc>
              </a:tr>
              <a:tr h="329184">
                <a:tc>
                  <a:txBody>
                    <a:bodyPr/>
                    <a:lstStyle/>
                    <a:p>
                      <a:r>
                        <a:rPr sz="1050">
                          <a:solidFill>
                            <a:srgbClr val="25342A"/>
                          </a:solidFill>
                        </a:rPr>
                        <a:t>Technician time not charged to jobs</a:t>
                      </a:r>
                    </a:p>
                  </a:txBody>
                  <a:tcPr>
                    <a:solidFill>
                      <a:srgbClr val="F7FAF7"/>
                    </a:solidFill>
                  </a:tcPr>
                </a:tc>
                <a:tc>
                  <a:txBody>
                    <a:bodyPr/>
                    <a:lstStyle/>
                    <a:p>
                      <a:pPr algn="r"/>
                      <a:r>
                        <a:rPr sz="1050">
                          <a:solidFill>
                            <a:srgbClr val="25342A"/>
                          </a:solidFill>
                        </a:rPr>
                        <a:t>$9,638</a:t>
                      </a:r>
                    </a:p>
                  </a:txBody>
                  <a:tcPr>
                    <a:solidFill>
                      <a:srgbClr val="F7FAF7"/>
                    </a:solidFill>
                  </a:tcPr>
                </a:tc>
              </a:tr>
              <a:tr h="329184">
                <a:tc>
                  <a:txBody>
                    <a:bodyPr/>
                    <a:lstStyle/>
                    <a:p>
                      <a:r>
                        <a:rPr sz="1050">
                          <a:solidFill>
                            <a:srgbClr val="25342A"/>
                          </a:solidFill>
                        </a:rPr>
                        <a:t>Gross profit (the P&amp;L)</a:t>
                      </a:r>
                    </a:p>
                  </a:txBody>
                  <a:tcPr>
                    <a:solidFill>
                      <a:srgbClr val="FFFFFF"/>
                    </a:solidFill>
                  </a:tcPr>
                </a:tc>
                <a:tc>
                  <a:txBody>
                    <a:bodyPr/>
                    <a:lstStyle/>
                    <a:p>
                      <a:pPr algn="r"/>
                      <a:r>
                        <a:rPr sz="1050">
                          <a:solidFill>
                            <a:srgbClr val="25342A"/>
                          </a:solidFill>
                        </a:rPr>
                        <a:t>$39,808</a:t>
                      </a:r>
                    </a:p>
                  </a:txBody>
                  <a:tcPr>
                    <a:solidFill>
                      <a:srgbClr val="FFFFFF"/>
                    </a:solidFill>
                  </a:tcPr>
                </a:tc>
              </a:tr>
              <a:tr h="329184">
                <a:tc>
                  <a:txBody>
                    <a:bodyPr/>
                    <a:lstStyle/>
                    <a:p>
                      <a:r>
                        <a:rPr sz="1050">
                          <a:solidFill>
                            <a:srgbClr val="25342A"/>
                          </a:solidFill>
                        </a:rPr>
                        <a:t>Overheads (operating expenses, depreciation, interest)</a:t>
                      </a:r>
                    </a:p>
                  </a:txBody>
                  <a:tcPr>
                    <a:solidFill>
                      <a:srgbClr val="F7FAF7"/>
                    </a:solidFill>
                  </a:tcPr>
                </a:tc>
                <a:tc>
                  <a:txBody>
                    <a:bodyPr/>
                    <a:lstStyle/>
                    <a:p>
                      <a:pPr algn="r"/>
                      <a:r>
                        <a:rPr sz="1050">
                          <a:solidFill>
                            <a:srgbClr val="25342A"/>
                          </a:solidFill>
                        </a:rPr>
                        <a:t>$57,980</a:t>
                      </a:r>
                    </a:p>
                  </a:txBody>
                  <a:tcPr>
                    <a:solidFill>
                      <a:srgbClr val="F7FAF7"/>
                    </a:solidFill>
                  </a:tcPr>
                </a:tc>
              </a:tr>
              <a:tr h="329184">
                <a:tc>
                  <a:txBody>
                    <a:bodyPr/>
                    <a:lstStyle/>
                    <a:p>
                      <a:r>
                        <a:rPr sz="1050">
                          <a:solidFill>
                            <a:srgbClr val="25342A"/>
                          </a:solidFill>
                        </a:rPr>
                        <a:t>Profit before tax (the P&amp;L)</a:t>
                      </a:r>
                    </a:p>
                  </a:txBody>
                  <a:tcPr>
                    <a:solidFill>
                      <a:srgbClr val="FFFFFF"/>
                    </a:solidFill>
                  </a:tcPr>
                </a:tc>
                <a:tc>
                  <a:txBody>
                    <a:bodyPr/>
                    <a:lstStyle/>
                    <a:p>
                      <a:pPr algn="r"/>
                      <a:r>
                        <a:rPr sz="1050">
                          <a:solidFill>
                            <a:srgbClr val="B42318"/>
                          </a:solidFill>
                        </a:rPr>
                        <a:t>($18,172)</a:t>
                      </a:r>
                    </a:p>
                  </a:txBody>
                  <a:tcPr>
                    <a:solidFill>
                      <a:srgbClr val="FFFFFF"/>
                    </a:solidFill>
                  </a:tcPr>
                </a:tc>
              </a:tr>
              <a:tr h="329184">
                <a:tc>
                  <a:txBody>
                    <a:bodyPr/>
                    <a:lstStyle/>
                    <a:p>
                      <a:r>
                        <a:rPr sz="1050">
                          <a:solidFill>
                            <a:srgbClr val="25342A"/>
                          </a:solidFill>
                        </a:rPr>
                        <a:t>Revenue</a:t>
                      </a:r>
                    </a:p>
                  </a:txBody>
                  <a:tcPr>
                    <a:solidFill>
                      <a:srgbClr val="F7FAF7"/>
                    </a:solidFill>
                  </a:tcPr>
                </a:tc>
                <a:tc>
                  <a:txBody>
                    <a:bodyPr/>
                    <a:lstStyle/>
                    <a:p>
                      <a:pPr algn="r"/>
                      <a:r>
                        <a:rPr sz="1050">
                          <a:solidFill>
                            <a:srgbClr val="25342A"/>
                          </a:solidFill>
                        </a:rPr>
                        <a:t>$128,898</a:t>
                      </a:r>
                    </a:p>
                  </a:txBody>
                  <a:tcPr>
                    <a:solidFill>
                      <a:srgbClr val="F7FAF7"/>
                    </a:solidFill>
                  </a:tcPr>
                </a:tc>
              </a:tr>
              <a:tr h="329184">
                <a:tc>
                  <a:txBody>
                    <a:bodyPr/>
                    <a:lstStyle/>
                    <a:p>
                      <a:r>
                        <a:rPr sz="1050">
                          <a:solidFill>
                            <a:srgbClr val="25342A"/>
                          </a:solidFill>
                        </a:rPr>
                        <a:t>Gross margin on jobs, %</a:t>
                      </a:r>
                    </a:p>
                  </a:txBody>
                  <a:tcPr>
                    <a:solidFill>
                      <a:srgbClr val="FFFFFF"/>
                    </a:solidFill>
                  </a:tcPr>
                </a:tc>
                <a:tc>
                  <a:txBody>
                    <a:bodyPr/>
                    <a:lstStyle/>
                    <a:p>
                      <a:pPr algn="r"/>
                      <a:r>
                        <a:rPr sz="1050">
                          <a:solidFill>
                            <a:srgbClr val="25342A"/>
                          </a:solidFill>
                        </a:rPr>
                        <a:t>38.4%</a:t>
                      </a:r>
                    </a:p>
                  </a:txBody>
                  <a:tcPr>
                    <a:solidFill>
                      <a:srgbClr val="FFFFFF"/>
                    </a:solidFill>
                  </a:tcPr>
                </a:tc>
              </a:tr>
              <a:tr h="329184">
                <a:tc>
                  <a:txBody>
                    <a:bodyPr/>
                    <a:lstStyle/>
                    <a:p>
                      <a:r>
                        <a:rPr sz="1050">
                          <a:solidFill>
                            <a:srgbClr val="25342A"/>
                          </a:solidFill>
                        </a:rPr>
                        <a:t>Profit before tax, % of revenue</a:t>
                      </a:r>
                    </a:p>
                  </a:txBody>
                  <a:tcPr>
                    <a:solidFill>
                      <a:srgbClr val="F7FAF7"/>
                    </a:solidFill>
                  </a:tcPr>
                </a:tc>
                <a:tc>
                  <a:txBody>
                    <a:bodyPr/>
                    <a:lstStyle/>
                    <a:p>
                      <a:pPr algn="r"/>
                      <a:r>
                        <a:rPr sz="1050">
                          <a:solidFill>
                            <a:srgbClr val="B42318"/>
                          </a:solidFill>
                        </a:rPr>
                        <a:t>(14.1%)</a:t>
                      </a:r>
                    </a:p>
                  </a:txBody>
                  <a:tcPr>
                    <a:solidFill>
                      <a:srgbClr val="F7FAF7"/>
                    </a:solidFill>
                  </a:tcPr>
                </a:tc>
              </a:tr>
              <a:tr h="329184">
                <a:tc>
                  <a:txBody>
                    <a:bodyPr/>
                    <a:lstStyle/>
                    <a:p>
                      <a:r>
                        <a:rPr sz="1050">
                          <a:solidFill>
                            <a:srgbClr val="25342A"/>
                          </a:solidFill>
                        </a:rPr>
                        <a:t>Gross margin jobs need just to cover overheads and time not charged</a:t>
                      </a:r>
                    </a:p>
                  </a:txBody>
                  <a:tcPr>
                    <a:solidFill>
                      <a:srgbClr val="FFFFFF"/>
                    </a:solidFill>
                  </a:tcPr>
                </a:tc>
                <a:tc>
                  <a:txBody>
                    <a:bodyPr/>
                    <a:lstStyle/>
                    <a:p>
                      <a:pPr algn="r"/>
                      <a:r>
                        <a:rPr sz="1050">
                          <a:solidFill>
                            <a:srgbClr val="25342A"/>
                          </a:solidFill>
                        </a:rPr>
                        <a:t>52.5%</a:t>
                      </a:r>
                    </a:p>
                  </a:txBody>
                  <a:tcPr>
                    <a:solidFill>
                      <a:srgbClr val="FFFFFF"/>
                    </a:solidFill>
                  </a:tcPr>
                </a:tc>
              </a:tr>
            </a:tbl>
          </a:graphicData>
        </a:graphic>
      </p:graphicFrame>
      <p:sp>
        <p:nvSpPr>
          <p:cNvPr id="7" name="TextBox 6"/>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3 of 21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Headline numbers · Type of job: All jobs</a:t>
            </a:r>
          </a:p>
        </p:txBody>
      </p:sp>
      <p:sp>
        <p:nvSpPr>
          <p:cNvPr id="5" name="Rectangle 4"/>
          <p:cNvSpPr/>
          <p:nvPr/>
        </p:nvSpPr>
        <p:spPr>
          <a:xfrm>
            <a:off x="457200" y="1645920"/>
            <a:ext cx="11277295"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83080"/>
            <a:ext cx="10911535" cy="457200"/>
          </a:xfrm>
          <a:prstGeom prst="rect">
            <a:avLst/>
          </a:prstGeom>
          <a:noFill/>
        </p:spPr>
        <p:txBody>
          <a:bodyPr wrap="square">
            <a:spAutoFit/>
          </a:bodyPr>
          <a:lstStyle/>
          <a:p>
            <a:r>
              <a:rPr sz="1200" b="0">
                <a:solidFill>
                  <a:srgbClr val="5F6F63"/>
                </a:solidFill>
                <a:latin typeface="Arial"/>
              </a:rPr>
              <a:t>Job gross margin, October · All jobs</a:t>
            </a:r>
          </a:p>
        </p:txBody>
      </p:sp>
      <p:sp>
        <p:nvSpPr>
          <p:cNvPr id="7" name="TextBox 6"/>
          <p:cNvSpPr txBox="1"/>
          <p:nvPr/>
        </p:nvSpPr>
        <p:spPr>
          <a:xfrm>
            <a:off x="640080" y="2240280"/>
            <a:ext cx="10911535" cy="731520"/>
          </a:xfrm>
          <a:prstGeom prst="rect">
            <a:avLst/>
          </a:prstGeom>
          <a:noFill/>
        </p:spPr>
        <p:txBody>
          <a:bodyPr wrap="square">
            <a:spAutoFit/>
          </a:bodyPr>
          <a:lstStyle/>
          <a:p>
            <a:r>
              <a:rPr sz="3000" b="1">
                <a:solidFill>
                  <a:srgbClr val="2F7A5D"/>
                </a:solidFill>
                <a:latin typeface="Arial"/>
              </a:rPr>
              <a:t>38.4%</a:t>
            </a:r>
          </a:p>
        </p:txBody>
      </p:sp>
      <p:sp>
        <p:nvSpPr>
          <p:cNvPr id="8" name="TextBox 7"/>
          <p:cNvSpPr txBox="1"/>
          <p:nvPr/>
        </p:nvSpPr>
        <p:spPr>
          <a:xfrm>
            <a:off x="640080" y="3017520"/>
            <a:ext cx="10911535" cy="548640"/>
          </a:xfrm>
          <a:prstGeom prst="rect">
            <a:avLst/>
          </a:prstGeom>
          <a:noFill/>
        </p:spPr>
        <p:txBody>
          <a:bodyPr wrap="square">
            <a:spAutoFit/>
          </a:bodyPr>
          <a:lstStyle/>
          <a:p>
            <a:r>
              <a:rPr sz="1100" b="0">
                <a:solidFill>
                  <a:srgbClr val="5F6F63"/>
                </a:solidFill>
                <a:latin typeface="Arial"/>
              </a:rPr>
              <a:t>September 37.6%</a:t>
            </a:r>
          </a:p>
        </p:txBody>
      </p:sp>
      <p:sp>
        <p:nvSpPr>
          <p:cNvPr id="9" name="TextBox 8"/>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10" name="TextBox 9"/>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1" name="TextBox 10"/>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4 of 21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Job gross margin by type of job, October 2025 · Gross margin % · Type of job: All jobs</a:t>
            </a:r>
          </a:p>
        </p:txBody>
      </p:sp>
      <p:sp>
        <p:nvSpPr>
          <p:cNvPr id="5" name="TextBox 4"/>
          <p:cNvSpPr txBox="1"/>
          <p:nvPr/>
        </p:nvSpPr>
        <p:spPr>
          <a:xfrm>
            <a:off x="457200" y="960120"/>
            <a:ext cx="11247120" cy="457200"/>
          </a:xfrm>
          <a:prstGeom prst="rect">
            <a:avLst/>
          </a:prstGeom>
          <a:noFill/>
        </p:spPr>
        <p:txBody>
          <a:bodyPr wrap="square">
            <a:spAutoFit/>
          </a:bodyPr>
          <a:lstStyle/>
          <a:p>
            <a:r>
              <a:rPr sz="1200" b="0">
                <a:solidFill>
                  <a:srgbClr val="5F6F63"/>
                </a:solidFill>
                <a:latin typeface="Arial"/>
              </a:rPr>
              <a:t>Revenue less materials, subcontractors and technician time at $68/hour.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172200"/>
            <a:ext cx="10972800" cy="274320"/>
          </a:xfrm>
          <a:prstGeom prst="rect">
            <a:avLst/>
          </a:prstGeom>
          <a:noFill/>
        </p:spPr>
        <p:txBody>
          <a:bodyPr wrap="square">
            <a:spAutoFit/>
          </a:bodyPr>
          <a:lstStyle/>
          <a:p>
            <a:r>
              <a:rPr sz="1000" b="0">
                <a:solidFill>
                  <a:srgbClr val="5F6F63"/>
                </a:solidFill>
                <a:latin typeface="Arial"/>
              </a:rPr>
              <a:t>Target 35.0%  ·  grey = below target</a:t>
            </a:r>
          </a:p>
        </p:txBody>
      </p:sp>
      <p:sp>
        <p:nvSpPr>
          <p:cNvPr id="8" name="TextBox 7"/>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5 of 21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Job gross margin by type of job, October 2025 · Gross margin $ · Type of job: All jobs</a:t>
            </a:r>
          </a:p>
        </p:txBody>
      </p:sp>
      <p:sp>
        <p:nvSpPr>
          <p:cNvPr id="5" name="TextBox 4"/>
          <p:cNvSpPr txBox="1"/>
          <p:nvPr/>
        </p:nvSpPr>
        <p:spPr>
          <a:xfrm>
            <a:off x="457200" y="960120"/>
            <a:ext cx="11247120" cy="457200"/>
          </a:xfrm>
          <a:prstGeom prst="rect">
            <a:avLst/>
          </a:prstGeom>
          <a:noFill/>
        </p:spPr>
        <p:txBody>
          <a:bodyPr wrap="square">
            <a:spAutoFit/>
          </a:bodyPr>
          <a:lstStyle/>
          <a:p>
            <a:r>
              <a:rPr sz="1200" b="0">
                <a:solidFill>
                  <a:srgbClr val="5F6F63"/>
                </a:solidFill>
                <a:latin typeface="Arial"/>
              </a:rPr>
              <a:t>Revenue less materials, subcontractors and technician time at $68/hour.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6 of 21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What it shows · Type of job: All jobs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91640"/>
            <a:ext cx="5044287" cy="365760"/>
          </a:xfrm>
          <a:prstGeom prst="rect">
            <a:avLst/>
          </a:prstGeom>
          <a:noFill/>
        </p:spPr>
        <p:txBody>
          <a:bodyPr wrap="square">
            <a:spAutoFit/>
          </a:bodyPr>
          <a:lstStyle/>
          <a:p>
            <a:r>
              <a:rPr sz="1100" b="1">
                <a:solidFill>
                  <a:srgbClr val="5F6F63"/>
                </a:solidFill>
                <a:latin typeface="Arial"/>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r>
              <a:rPr sz="1600" b="0">
                <a:solidFill>
                  <a:srgbClr val="25342A"/>
                </a:solidFill>
                <a:latin typeface="Arial"/>
              </a:rPr>
              <a:t>In October maintenance contracts made a 59.5% job gross margin, installations made a 26.1% job gross margin, call-outs and repairs made a 43.3% job gross margin (technician time at $68 an hour, wages and all on-costs). Jobs need 52.5% just to cover overheads.</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61607" y="1691640"/>
            <a:ext cx="5044287" cy="365760"/>
          </a:xfrm>
          <a:prstGeom prst="rect">
            <a:avLst/>
          </a:prstGeom>
          <a:noFill/>
        </p:spPr>
        <p:txBody>
          <a:bodyPr wrap="square">
            <a:spAutoFit/>
          </a:bodyPr>
          <a:lstStyle/>
          <a:p>
            <a:r>
              <a:rPr sz="1100" b="1">
                <a:solidFill>
                  <a:srgbClr val="5F6F63"/>
                </a:solidFill>
                <a:latin typeface="Arial"/>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r>
              <a:rPr sz="1600" b="0">
                <a:solidFill>
                  <a:srgbClr val="25342A"/>
                </a:solidFill>
                <a:latin typeface="Arial"/>
              </a:rPr>
              <a:t>Maintenance contracts: 59.5% gross margin, the most profitable work you do. Installations: 26.1% gross margin, below the 52.5% needed to cover overheads.</a:t>
            </a:r>
          </a:p>
        </p:txBody>
      </p:sp>
      <p:sp>
        <p:nvSpPr>
          <p:cNvPr id="11" name="TextBox 10"/>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7 of 21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Headline numbers · Type of job: Maintenance contracts</a:t>
            </a:r>
          </a:p>
        </p:txBody>
      </p:sp>
      <p:sp>
        <p:nvSpPr>
          <p:cNvPr id="5" name="Rectangle 4"/>
          <p:cNvSpPr/>
          <p:nvPr/>
        </p:nvSpPr>
        <p:spPr>
          <a:xfrm>
            <a:off x="457200" y="1645920"/>
            <a:ext cx="11277295"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83080"/>
            <a:ext cx="10911535" cy="457200"/>
          </a:xfrm>
          <a:prstGeom prst="rect">
            <a:avLst/>
          </a:prstGeom>
          <a:noFill/>
        </p:spPr>
        <p:txBody>
          <a:bodyPr wrap="square">
            <a:spAutoFit/>
          </a:bodyPr>
          <a:lstStyle/>
          <a:p>
            <a:r>
              <a:rPr sz="1200" b="0">
                <a:solidFill>
                  <a:srgbClr val="5F6F63"/>
                </a:solidFill>
                <a:latin typeface="Arial"/>
              </a:rPr>
              <a:t>Job gross margin, October · Maintenance contracts</a:t>
            </a:r>
          </a:p>
        </p:txBody>
      </p:sp>
      <p:sp>
        <p:nvSpPr>
          <p:cNvPr id="7" name="TextBox 6"/>
          <p:cNvSpPr txBox="1"/>
          <p:nvPr/>
        </p:nvSpPr>
        <p:spPr>
          <a:xfrm>
            <a:off x="640080" y="2240280"/>
            <a:ext cx="10911535" cy="731520"/>
          </a:xfrm>
          <a:prstGeom prst="rect">
            <a:avLst/>
          </a:prstGeom>
          <a:noFill/>
        </p:spPr>
        <p:txBody>
          <a:bodyPr wrap="square">
            <a:spAutoFit/>
          </a:bodyPr>
          <a:lstStyle/>
          <a:p>
            <a:r>
              <a:rPr sz="3000" b="1">
                <a:solidFill>
                  <a:srgbClr val="2F7A5D"/>
                </a:solidFill>
                <a:latin typeface="Arial"/>
              </a:rPr>
              <a:t>59.5%</a:t>
            </a:r>
          </a:p>
        </p:txBody>
      </p:sp>
      <p:sp>
        <p:nvSpPr>
          <p:cNvPr id="8" name="TextBox 7"/>
          <p:cNvSpPr txBox="1"/>
          <p:nvPr/>
        </p:nvSpPr>
        <p:spPr>
          <a:xfrm>
            <a:off x="640080" y="3017520"/>
            <a:ext cx="10911535" cy="548640"/>
          </a:xfrm>
          <a:prstGeom prst="rect">
            <a:avLst/>
          </a:prstGeom>
          <a:noFill/>
        </p:spPr>
        <p:txBody>
          <a:bodyPr wrap="square">
            <a:spAutoFit/>
          </a:bodyPr>
          <a:lstStyle/>
          <a:p>
            <a:r>
              <a:rPr sz="1100" b="0">
                <a:solidFill>
                  <a:srgbClr val="5F6F63"/>
                </a:solidFill>
                <a:latin typeface="Arial"/>
              </a:rPr>
              <a:t>September 59.5%</a:t>
            </a:r>
          </a:p>
        </p:txBody>
      </p:sp>
      <p:sp>
        <p:nvSpPr>
          <p:cNvPr id="9" name="TextBox 8"/>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10" name="TextBox 9"/>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1" name="TextBox 10"/>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8 of 21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Job gross margin on each maintenance contract, October 2025 · Gross margin % · Type of job: Maintenance contracts</a:t>
            </a:r>
          </a:p>
        </p:txBody>
      </p:sp>
      <p:sp>
        <p:nvSpPr>
          <p:cNvPr id="5" name="TextBox 4"/>
          <p:cNvSpPr txBox="1"/>
          <p:nvPr/>
        </p:nvSpPr>
        <p:spPr>
          <a:xfrm>
            <a:off x="457200" y="960120"/>
            <a:ext cx="11247120" cy="457200"/>
          </a:xfrm>
          <a:prstGeom prst="rect">
            <a:avLst/>
          </a:prstGeom>
          <a:noFill/>
        </p:spPr>
        <p:txBody>
          <a:bodyPr wrap="square">
            <a:spAutoFit/>
          </a:bodyPr>
          <a:lstStyle/>
          <a:p>
            <a:r>
              <a:rPr sz="1200" b="0">
                <a:solidFill>
                  <a:srgbClr val="5F6F63"/>
                </a:solidFill>
                <a:latin typeface="Arial"/>
              </a:rPr>
              <a:t>The month's fee less materials and technician time at $68/hour.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172200"/>
            <a:ext cx="10972800" cy="274320"/>
          </a:xfrm>
          <a:prstGeom prst="rect">
            <a:avLst/>
          </a:prstGeom>
          <a:noFill/>
        </p:spPr>
        <p:txBody>
          <a:bodyPr wrap="square">
            <a:spAutoFit/>
          </a:bodyPr>
          <a:lstStyle/>
          <a:p>
            <a:r>
              <a:rPr sz="1000" b="0">
                <a:solidFill>
                  <a:srgbClr val="5F6F63"/>
                </a:solidFill>
                <a:latin typeface="Arial"/>
              </a:rPr>
              <a:t>Target 35.0%  ·  grey = below target</a:t>
            </a:r>
          </a:p>
        </p:txBody>
      </p:sp>
      <p:sp>
        <p:nvSpPr>
          <p:cNvPr id="8" name="TextBox 7"/>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9 of 21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Job gross margin on each maintenance contract, October 2025 · Gross margin $ · Type of job: Maintenance contracts</a:t>
            </a:r>
          </a:p>
        </p:txBody>
      </p:sp>
      <p:sp>
        <p:nvSpPr>
          <p:cNvPr id="5" name="TextBox 4"/>
          <p:cNvSpPr txBox="1"/>
          <p:nvPr/>
        </p:nvSpPr>
        <p:spPr>
          <a:xfrm>
            <a:off x="457200" y="960120"/>
            <a:ext cx="11247120" cy="457200"/>
          </a:xfrm>
          <a:prstGeom prst="rect">
            <a:avLst/>
          </a:prstGeom>
          <a:noFill/>
        </p:spPr>
        <p:txBody>
          <a:bodyPr wrap="square">
            <a:spAutoFit/>
          </a:bodyPr>
          <a:lstStyle/>
          <a:p>
            <a:r>
              <a:rPr sz="1200" b="0">
                <a:solidFill>
                  <a:srgbClr val="5F6F63"/>
                </a:solidFill>
                <a:latin typeface="Arial"/>
              </a:rPr>
              <a:t>The month's fee less materials and technician time at $68/hour.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10 of 21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What it shows · Type of job: Maintenance contracts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91640"/>
            <a:ext cx="5044287" cy="365760"/>
          </a:xfrm>
          <a:prstGeom prst="rect">
            <a:avLst/>
          </a:prstGeom>
          <a:noFill/>
        </p:spPr>
        <p:txBody>
          <a:bodyPr wrap="square">
            <a:spAutoFit/>
          </a:bodyPr>
          <a:lstStyle/>
          <a:p>
            <a:r>
              <a:rPr sz="1100" b="1">
                <a:solidFill>
                  <a:srgbClr val="5F6F63"/>
                </a:solidFill>
                <a:latin typeface="Arial"/>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r>
              <a:rPr sz="1600" b="0">
                <a:solidFill>
                  <a:srgbClr val="25342A"/>
                </a:solidFill>
                <a:latin typeface="Arial"/>
              </a:rPr>
              <a:t>All 12 contracts made more than the 35.0% job gross margin target. The thinnest was Kangaroo Point townhouses at 58.2% job gross margin: 14.0 h of technician time on a $2,400 monthly fee.</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61607" y="1691640"/>
            <a:ext cx="5044287" cy="365760"/>
          </a:xfrm>
          <a:prstGeom prst="rect">
            <a:avLst/>
          </a:prstGeom>
          <a:noFill/>
        </p:spPr>
        <p:txBody>
          <a:bodyPr wrap="square">
            <a:spAutoFit/>
          </a:bodyPr>
          <a:lstStyle/>
          <a:p>
            <a:r>
              <a:rPr sz="1100" b="1">
                <a:solidFill>
                  <a:srgbClr val="5F6F63"/>
                </a:solidFill>
                <a:latin typeface="Arial"/>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r>
              <a:rPr sz="1600" b="0">
                <a:solidFill>
                  <a:srgbClr val="25342A"/>
                </a:solidFill>
                <a:latin typeface="Arial"/>
              </a:rPr>
              <a:t>The Kangaroo Point townhouses contract: 58.2% gross margin, 5.8 points clear of the 52.5% overheads need. Maintenance contracts overall: 59.5% gross margin.</a:t>
            </a:r>
          </a:p>
        </p:txBody>
      </p:sp>
      <p:sp>
        <p:nvSpPr>
          <p:cNvPr id="11" name="TextBox 10"/>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11 of 21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Headline numbers · Type of job: Installations</a:t>
            </a:r>
          </a:p>
        </p:txBody>
      </p:sp>
      <p:sp>
        <p:nvSpPr>
          <p:cNvPr id="5" name="Rectangle 4"/>
          <p:cNvSpPr/>
          <p:nvPr/>
        </p:nvSpPr>
        <p:spPr>
          <a:xfrm>
            <a:off x="457200" y="1645920"/>
            <a:ext cx="11277295"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83080"/>
            <a:ext cx="10911535" cy="457200"/>
          </a:xfrm>
          <a:prstGeom prst="rect">
            <a:avLst/>
          </a:prstGeom>
          <a:noFill/>
        </p:spPr>
        <p:txBody>
          <a:bodyPr wrap="square">
            <a:spAutoFit/>
          </a:bodyPr>
          <a:lstStyle/>
          <a:p>
            <a:r>
              <a:rPr sz="1200" b="0">
                <a:solidFill>
                  <a:srgbClr val="5F6F63"/>
                </a:solidFill>
                <a:latin typeface="Arial"/>
              </a:rPr>
              <a:t>Job gross margin, October · Installations</a:t>
            </a:r>
          </a:p>
        </p:txBody>
      </p:sp>
      <p:sp>
        <p:nvSpPr>
          <p:cNvPr id="7" name="TextBox 6"/>
          <p:cNvSpPr txBox="1"/>
          <p:nvPr/>
        </p:nvSpPr>
        <p:spPr>
          <a:xfrm>
            <a:off x="640080" y="2240280"/>
            <a:ext cx="10911535" cy="731520"/>
          </a:xfrm>
          <a:prstGeom prst="rect">
            <a:avLst/>
          </a:prstGeom>
          <a:noFill/>
        </p:spPr>
        <p:txBody>
          <a:bodyPr wrap="square">
            <a:spAutoFit/>
          </a:bodyPr>
          <a:lstStyle/>
          <a:p>
            <a:r>
              <a:rPr sz="3000" b="1">
                <a:solidFill>
                  <a:srgbClr val="2F7A5D"/>
                </a:solidFill>
                <a:latin typeface="Arial"/>
              </a:rPr>
              <a:t>26.1%</a:t>
            </a:r>
          </a:p>
        </p:txBody>
      </p:sp>
      <p:sp>
        <p:nvSpPr>
          <p:cNvPr id="8" name="TextBox 7"/>
          <p:cNvSpPr txBox="1"/>
          <p:nvPr/>
        </p:nvSpPr>
        <p:spPr>
          <a:xfrm>
            <a:off x="640080" y="3017520"/>
            <a:ext cx="10911535" cy="548640"/>
          </a:xfrm>
          <a:prstGeom prst="rect">
            <a:avLst/>
          </a:prstGeom>
          <a:noFill/>
        </p:spPr>
        <p:txBody>
          <a:bodyPr wrap="square">
            <a:spAutoFit/>
          </a:bodyPr>
          <a:lstStyle/>
          <a:p>
            <a:r>
              <a:rPr sz="1100" b="0">
                <a:solidFill>
                  <a:srgbClr val="5F6F63"/>
                </a:solidFill>
                <a:latin typeface="Arial"/>
              </a:rPr>
              <a:t>September 26.2%</a:t>
            </a:r>
          </a:p>
        </p:txBody>
      </p:sp>
      <p:sp>
        <p:nvSpPr>
          <p:cNvPr id="9" name="TextBox 8"/>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10" name="TextBox 9"/>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1" name="TextBox 10"/>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12 of 21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Job gross margin on each installation invoiced in October 2025 · Gross margin % · Type of job: Installations</a:t>
            </a:r>
          </a:p>
        </p:txBody>
      </p:sp>
      <p:sp>
        <p:nvSpPr>
          <p:cNvPr id="5" name="TextBox 4"/>
          <p:cNvSpPr txBox="1"/>
          <p:nvPr/>
        </p:nvSpPr>
        <p:spPr>
          <a:xfrm>
            <a:off x="457200" y="960120"/>
            <a:ext cx="11247120" cy="457200"/>
          </a:xfrm>
          <a:prstGeom prst="rect">
            <a:avLst/>
          </a:prstGeom>
          <a:noFill/>
        </p:spPr>
        <p:txBody>
          <a:bodyPr wrap="square">
            <a:spAutoFit/>
          </a:bodyPr>
          <a:lstStyle/>
          <a:p>
            <a:r>
              <a:rPr sz="1200" b="0">
                <a:solidFill>
                  <a:srgbClr val="5F6F63"/>
                </a:solidFill>
                <a:latin typeface="Arial"/>
              </a:rPr>
              <a:t>Whole job, recognised when invoiced: revenue less materials, subcontractors and technician time at $68/hour. Before overheads: not profit. One 35.0% target for every job for now.</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172200"/>
            <a:ext cx="10972800" cy="274320"/>
          </a:xfrm>
          <a:prstGeom prst="rect">
            <a:avLst/>
          </a:prstGeom>
          <a:noFill/>
        </p:spPr>
        <p:txBody>
          <a:bodyPr wrap="square">
            <a:spAutoFit/>
          </a:bodyPr>
          <a:lstStyle/>
          <a:p>
            <a:r>
              <a:rPr sz="1000" b="0">
                <a:solidFill>
                  <a:srgbClr val="5F6F63"/>
                </a:solidFill>
                <a:latin typeface="Arial"/>
              </a:rPr>
              <a:t>Target 35.0%  ·  grey = below target</a:t>
            </a:r>
          </a:p>
        </p:txBody>
      </p:sp>
      <p:sp>
        <p:nvSpPr>
          <p:cNvPr id="8" name="TextBox 7"/>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13 of 21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Job gross margin on each installation invoiced in October 2025 · Gross margin $ · Type of job: Installations</a:t>
            </a:r>
          </a:p>
        </p:txBody>
      </p:sp>
      <p:sp>
        <p:nvSpPr>
          <p:cNvPr id="5" name="TextBox 4"/>
          <p:cNvSpPr txBox="1"/>
          <p:nvPr/>
        </p:nvSpPr>
        <p:spPr>
          <a:xfrm>
            <a:off x="457200" y="960120"/>
            <a:ext cx="11247120" cy="457200"/>
          </a:xfrm>
          <a:prstGeom prst="rect">
            <a:avLst/>
          </a:prstGeom>
          <a:noFill/>
        </p:spPr>
        <p:txBody>
          <a:bodyPr wrap="square">
            <a:spAutoFit/>
          </a:bodyPr>
          <a:lstStyle/>
          <a:p>
            <a:r>
              <a:rPr sz="1200" b="0">
                <a:solidFill>
                  <a:srgbClr val="5F6F63"/>
                </a:solidFill>
                <a:latin typeface="Arial"/>
              </a:rPr>
              <a:t>Whole job, recognised when invoiced: revenue less materials, subcontractors and technician time at $68/hour. Before overheads: not profit. One 35.0% target for every job for now.</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14 of 21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What it shows · Type of job: Installations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91640"/>
            <a:ext cx="5044287" cy="365760"/>
          </a:xfrm>
          <a:prstGeom prst="rect">
            <a:avLst/>
          </a:prstGeom>
          <a:noFill/>
        </p:spPr>
        <p:txBody>
          <a:bodyPr wrap="square">
            <a:spAutoFit/>
          </a:bodyPr>
          <a:lstStyle/>
          <a:p>
            <a:r>
              <a:rPr sz="1100" b="1">
                <a:solidFill>
                  <a:srgbClr val="5F6F63"/>
                </a:solidFill>
                <a:latin typeface="Arial"/>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r>
              <a:rPr sz="1600" b="0">
                <a:solidFill>
                  <a:srgbClr val="25342A"/>
                </a:solidFill>
                <a:latin typeface="Arial"/>
              </a:rPr>
              <a:t>2 of the 3 installation jobs invoiced in October made less than the 35.0% job gross margin target. The Salisbury shop solar and battery made a 17.3% job gross margin: 120.0 h of technician time ($8,160) and $3,900 of subcontractors on a $35,500 job. Jobs need 52.5% gross margin just to cover overheads.</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61607" y="1691640"/>
            <a:ext cx="5044287" cy="365760"/>
          </a:xfrm>
          <a:prstGeom prst="rect">
            <a:avLst/>
          </a:prstGeom>
          <a:noFill/>
        </p:spPr>
        <p:txBody>
          <a:bodyPr wrap="square">
            <a:spAutoFit/>
          </a:bodyPr>
          <a:lstStyle/>
          <a:p>
            <a:r>
              <a:rPr sz="1100" b="1">
                <a:solidFill>
                  <a:srgbClr val="5F6F63"/>
                </a:solidFill>
                <a:latin typeface="Arial"/>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r>
              <a:rPr sz="1600" b="0">
                <a:solidFill>
                  <a:srgbClr val="25342A"/>
                </a:solidFill>
                <a:latin typeface="Arial"/>
              </a:rPr>
              <a:t>Below the 52.5% overheads need: Aspley cafe data cabling (37.8%), Coorparoo shop air-con install (32.5%), Salisbury shop solar and battery (17.3%). Most profitable: Aspley cafe data cabling (37.8%).</a:t>
            </a:r>
          </a:p>
        </p:txBody>
      </p:sp>
      <p:sp>
        <p:nvSpPr>
          <p:cNvPr id="11" name="TextBox 10"/>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15 of 21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Headline numbers · Type of job: Call-outs and repairs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83080"/>
            <a:ext cx="3210458" cy="457200"/>
          </a:xfrm>
          <a:prstGeom prst="rect">
            <a:avLst/>
          </a:prstGeom>
          <a:noFill/>
        </p:spPr>
        <p:txBody>
          <a:bodyPr wrap="square">
            <a:spAutoFit/>
          </a:bodyPr>
          <a:lstStyle/>
          <a:p>
            <a:r>
              <a:rPr sz="1200" b="0">
                <a:solidFill>
                  <a:srgbClr val="5F6F63"/>
                </a:solidFill>
                <a:latin typeface="Arial"/>
              </a:rPr>
              <a:t>Job gross margin, October · Call-outs and repairs</a:t>
            </a:r>
          </a:p>
        </p:txBody>
      </p:sp>
      <p:sp>
        <p:nvSpPr>
          <p:cNvPr id="7" name="TextBox 6"/>
          <p:cNvSpPr txBox="1"/>
          <p:nvPr/>
        </p:nvSpPr>
        <p:spPr>
          <a:xfrm>
            <a:off x="640080" y="2240280"/>
            <a:ext cx="3210458" cy="731520"/>
          </a:xfrm>
          <a:prstGeom prst="rect">
            <a:avLst/>
          </a:prstGeom>
          <a:noFill/>
        </p:spPr>
        <p:txBody>
          <a:bodyPr wrap="square">
            <a:spAutoFit/>
          </a:bodyPr>
          <a:lstStyle/>
          <a:p>
            <a:r>
              <a:rPr sz="3000" b="1">
                <a:solidFill>
                  <a:srgbClr val="2F7A5D"/>
                </a:solidFill>
                <a:latin typeface="Arial"/>
              </a:rPr>
              <a:t>43.3%</a:t>
            </a:r>
          </a:p>
        </p:txBody>
      </p:sp>
      <p:sp>
        <p:nvSpPr>
          <p:cNvPr id="8" name="TextBox 7"/>
          <p:cNvSpPr txBox="1"/>
          <p:nvPr/>
        </p:nvSpPr>
        <p:spPr>
          <a:xfrm>
            <a:off x="640080" y="3017520"/>
            <a:ext cx="3210458" cy="548640"/>
          </a:xfrm>
          <a:prstGeom prst="rect">
            <a:avLst/>
          </a:prstGeom>
          <a:noFill/>
        </p:spPr>
        <p:txBody>
          <a:bodyPr wrap="square">
            <a:spAutoFit/>
          </a:bodyPr>
          <a:lstStyle/>
          <a:p>
            <a:r>
              <a:rPr sz="1100" b="0">
                <a:solidFill>
                  <a:srgbClr val="5F6F63"/>
                </a:solidFill>
                <a:latin typeface="Arial"/>
              </a:rPr>
              <a:t>September 44.0%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90618" y="1783080"/>
            <a:ext cx="3210458" cy="457200"/>
          </a:xfrm>
          <a:prstGeom prst="rect">
            <a:avLst/>
          </a:prstGeom>
          <a:noFill/>
        </p:spPr>
        <p:txBody>
          <a:bodyPr wrap="square">
            <a:spAutoFit/>
          </a:bodyPr>
          <a:lstStyle/>
          <a:p>
            <a:r>
              <a:rPr sz="1200" b="0">
                <a:solidFill>
                  <a:srgbClr val="5F6F63"/>
                </a:solidFill>
                <a:latin typeface="Arial"/>
              </a:rPr>
              <a:t>Technician time charged, October</a:t>
            </a:r>
          </a:p>
        </p:txBody>
      </p:sp>
      <p:sp>
        <p:nvSpPr>
          <p:cNvPr id="11" name="TextBox 10"/>
          <p:cNvSpPr txBox="1"/>
          <p:nvPr/>
        </p:nvSpPr>
        <p:spPr>
          <a:xfrm>
            <a:off x="4490618" y="2240280"/>
            <a:ext cx="3210458" cy="731520"/>
          </a:xfrm>
          <a:prstGeom prst="rect">
            <a:avLst/>
          </a:prstGeom>
          <a:noFill/>
        </p:spPr>
        <p:txBody>
          <a:bodyPr wrap="square">
            <a:spAutoFit/>
          </a:bodyPr>
          <a:lstStyle/>
          <a:p>
            <a:r>
              <a:rPr sz="3000" b="1">
                <a:solidFill>
                  <a:srgbClr val="2F7A5D"/>
                </a:solidFill>
                <a:latin typeface="Arial"/>
              </a:rPr>
              <a:t>$15,005</a:t>
            </a:r>
          </a:p>
        </p:txBody>
      </p:sp>
      <p:sp>
        <p:nvSpPr>
          <p:cNvPr id="12" name="TextBox 11"/>
          <p:cNvSpPr txBox="1"/>
          <p:nvPr/>
        </p:nvSpPr>
        <p:spPr>
          <a:xfrm>
            <a:off x="4490618" y="3017520"/>
            <a:ext cx="3210458" cy="548640"/>
          </a:xfrm>
          <a:prstGeom prst="rect">
            <a:avLst/>
          </a:prstGeom>
          <a:noFill/>
        </p:spPr>
        <p:txBody>
          <a:bodyPr wrap="square">
            <a:spAutoFit/>
          </a:bodyPr>
          <a:lstStyle/>
          <a:p>
            <a:r>
              <a:rPr sz="1100" b="0">
                <a:solidFill>
                  <a:srgbClr val="5F6F63"/>
                </a:solidFill>
                <a:latin typeface="Arial"/>
              </a:rPr>
              <a:t>67.3% of call-out revenue</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41156" y="1783080"/>
            <a:ext cx="3210458" cy="457200"/>
          </a:xfrm>
          <a:prstGeom prst="rect">
            <a:avLst/>
          </a:prstGeom>
          <a:noFill/>
        </p:spPr>
        <p:txBody>
          <a:bodyPr wrap="square">
            <a:spAutoFit/>
          </a:bodyPr>
          <a:lstStyle/>
          <a:p>
            <a:r>
              <a:rPr sz="1200" b="0">
                <a:solidFill>
                  <a:srgbClr val="5F6F63"/>
                </a:solidFill>
                <a:latin typeface="Arial"/>
              </a:rPr>
              <a:t>Materials charged, October</a:t>
            </a:r>
          </a:p>
        </p:txBody>
      </p:sp>
      <p:sp>
        <p:nvSpPr>
          <p:cNvPr id="15" name="TextBox 14"/>
          <p:cNvSpPr txBox="1"/>
          <p:nvPr/>
        </p:nvSpPr>
        <p:spPr>
          <a:xfrm>
            <a:off x="8341156" y="2240280"/>
            <a:ext cx="3210458" cy="731520"/>
          </a:xfrm>
          <a:prstGeom prst="rect">
            <a:avLst/>
          </a:prstGeom>
          <a:noFill/>
        </p:spPr>
        <p:txBody>
          <a:bodyPr wrap="square">
            <a:spAutoFit/>
          </a:bodyPr>
          <a:lstStyle/>
          <a:p>
            <a:r>
              <a:rPr sz="3000" b="1">
                <a:solidFill>
                  <a:srgbClr val="2F7A5D"/>
                </a:solidFill>
                <a:latin typeface="Arial"/>
              </a:rPr>
              <a:t>$7,293</a:t>
            </a:r>
          </a:p>
        </p:txBody>
      </p:sp>
      <p:sp>
        <p:nvSpPr>
          <p:cNvPr id="16" name="TextBox 15"/>
          <p:cNvSpPr txBox="1"/>
          <p:nvPr/>
        </p:nvSpPr>
        <p:spPr>
          <a:xfrm>
            <a:off x="8341156" y="3017520"/>
            <a:ext cx="3210458" cy="548640"/>
          </a:xfrm>
          <a:prstGeom prst="rect">
            <a:avLst/>
          </a:prstGeom>
          <a:noFill/>
        </p:spPr>
        <p:txBody>
          <a:bodyPr wrap="square">
            <a:spAutoFit/>
          </a:bodyPr>
          <a:lstStyle/>
          <a:p>
            <a:r>
              <a:rPr sz="1100" b="0">
                <a:solidFill>
                  <a:srgbClr val="5F6F63"/>
                </a:solidFill>
                <a:latin typeface="Arial"/>
              </a:rPr>
              <a:t>$5,610 at cost, plus 30%</a:t>
            </a:r>
          </a:p>
        </p:txBody>
      </p:sp>
      <p:sp>
        <p:nvSpPr>
          <p:cNvPr id="17" name="TextBox 16"/>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16 of 21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Job gross margin on call-outs by length, October 2025 · Gross margin % · Type of job: Call-outs and repairs</a:t>
            </a:r>
          </a:p>
        </p:txBody>
      </p:sp>
      <p:sp>
        <p:nvSpPr>
          <p:cNvPr id="5" name="TextBox 4"/>
          <p:cNvSpPr txBox="1"/>
          <p:nvPr/>
        </p:nvSpPr>
        <p:spPr>
          <a:xfrm>
            <a:off x="457200" y="960120"/>
            <a:ext cx="11247120" cy="457200"/>
          </a:xfrm>
          <a:prstGeom prst="rect">
            <a:avLst/>
          </a:prstGeom>
          <a:noFill/>
        </p:spPr>
        <p:txBody>
          <a:bodyPr wrap="square">
            <a:spAutoFit/>
          </a:bodyPr>
          <a:lstStyle/>
          <a:p>
            <a:r>
              <a:rPr sz="1200" b="0">
                <a:solidFill>
                  <a:srgbClr val="5F6F63"/>
                </a:solidFill>
                <a:latin typeface="Arial"/>
              </a:rPr>
              <a:t>Charged at $145/hour plus materials at cost × 1.3; technician time at $68/hour.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172200"/>
            <a:ext cx="10972800" cy="274320"/>
          </a:xfrm>
          <a:prstGeom prst="rect">
            <a:avLst/>
          </a:prstGeom>
          <a:noFill/>
        </p:spPr>
        <p:txBody>
          <a:bodyPr wrap="square">
            <a:spAutoFit/>
          </a:bodyPr>
          <a:lstStyle/>
          <a:p>
            <a:r>
              <a:rPr sz="1000" b="0">
                <a:solidFill>
                  <a:srgbClr val="5F6F63"/>
                </a:solidFill>
                <a:latin typeface="Arial"/>
              </a:rPr>
              <a:t>Target 35.0%  ·  grey = below target</a:t>
            </a:r>
          </a:p>
        </p:txBody>
      </p:sp>
      <p:sp>
        <p:nvSpPr>
          <p:cNvPr id="8" name="TextBox 7"/>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17 of 21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Job gross margin on call-outs by length, October 2025 · Gross margin $ · Type of job: Call-outs and repairs</a:t>
            </a:r>
          </a:p>
        </p:txBody>
      </p:sp>
      <p:sp>
        <p:nvSpPr>
          <p:cNvPr id="5" name="TextBox 4"/>
          <p:cNvSpPr txBox="1"/>
          <p:nvPr/>
        </p:nvSpPr>
        <p:spPr>
          <a:xfrm>
            <a:off x="457200" y="960120"/>
            <a:ext cx="11247120" cy="457200"/>
          </a:xfrm>
          <a:prstGeom prst="rect">
            <a:avLst/>
          </a:prstGeom>
          <a:noFill/>
        </p:spPr>
        <p:txBody>
          <a:bodyPr wrap="square">
            <a:spAutoFit/>
          </a:bodyPr>
          <a:lstStyle/>
          <a:p>
            <a:r>
              <a:rPr sz="1200" b="0">
                <a:solidFill>
                  <a:srgbClr val="5F6F63"/>
                </a:solidFill>
                <a:latin typeface="Arial"/>
              </a:rPr>
              <a:t>Charged at $145/hour plus materials at cost × 1.3; technician time at $68/hour.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18 of 21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What it shows · Type of job: Call-outs and repairs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91640"/>
            <a:ext cx="5044287" cy="365760"/>
          </a:xfrm>
          <a:prstGeom prst="rect">
            <a:avLst/>
          </a:prstGeom>
          <a:noFill/>
        </p:spPr>
        <p:txBody>
          <a:bodyPr wrap="square">
            <a:spAutoFit/>
          </a:bodyPr>
          <a:lstStyle/>
          <a:p>
            <a:r>
              <a:rPr sz="1100" b="1">
                <a:solidFill>
                  <a:srgbClr val="5F6F63"/>
                </a:solidFill>
                <a:latin typeface="Arial"/>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r>
              <a:rPr sz="1600" b="0">
                <a:solidFill>
                  <a:srgbClr val="25342A"/>
                </a:solidFill>
                <a:latin typeface="Arial"/>
              </a:rPr>
              <a:t>43 call-outs in October billed $15,005 of technician time and $7,293 of materials ($5,610 at cost plus 30%), and made a 43.3% job gross margin between them. Gross margins run from 37.8% to 45.9% by length: the hourly rate covers technician time comfortably, so the gross margin mostly moves with how much material goes on the van.</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61607" y="1691640"/>
            <a:ext cx="5044287" cy="365760"/>
          </a:xfrm>
          <a:prstGeom prst="rect">
            <a:avLst/>
          </a:prstGeom>
          <a:noFill/>
        </p:spPr>
        <p:txBody>
          <a:bodyPr wrap="square">
            <a:spAutoFit/>
          </a:bodyPr>
          <a:lstStyle/>
          <a:p>
            <a:r>
              <a:rPr sz="1100" b="1">
                <a:solidFill>
                  <a:srgbClr val="5F6F63"/>
                </a:solidFill>
                <a:latin typeface="Arial"/>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r>
              <a:rPr sz="1600" b="0">
                <a:solidFill>
                  <a:srgbClr val="25342A"/>
                </a:solidFill>
                <a:latin typeface="Arial"/>
              </a:rPr>
              <a:t>Call-outs: 43.3% gross margin, below the 52.5% needed to cover overheads.</a:t>
            </a:r>
          </a:p>
        </p:txBody>
      </p:sp>
      <p:sp>
        <p:nvSpPr>
          <p:cNvPr id="11" name="TextBox 10"/>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19 of 21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Job gross margin by month · Gross margin % · Every type of job at once</a:t>
            </a:r>
          </a:p>
        </p:txBody>
      </p:sp>
      <p:sp>
        <p:nvSpPr>
          <p:cNvPr id="5" name="TextBox 4"/>
          <p:cNvSpPr txBox="1"/>
          <p:nvPr/>
        </p:nvSpPr>
        <p:spPr>
          <a:xfrm>
            <a:off x="457200" y="960120"/>
            <a:ext cx="11247120" cy="457200"/>
          </a:xfrm>
          <a:prstGeom prst="rect">
            <a:avLst/>
          </a:prstGeom>
          <a:noFill/>
        </p:spPr>
        <p:txBody>
          <a:bodyPr wrap="square">
            <a:spAutoFit/>
          </a:bodyPr>
          <a:lstStyle/>
          <a:p>
            <a:r>
              <a:rPr sz="1200" b="0">
                <a:solidFill>
                  <a:srgbClr val="5F6F63"/>
                </a:solidFill>
                <a:latin typeface="Arial"/>
              </a:rPr>
              <a:t>Tap a month for its workings.</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20 of 21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Job gross margin by month · Gross margin $ · Every type of job at once</a:t>
            </a:r>
          </a:p>
        </p:txBody>
      </p:sp>
      <p:sp>
        <p:nvSpPr>
          <p:cNvPr id="5" name="TextBox 4"/>
          <p:cNvSpPr txBox="1"/>
          <p:nvPr/>
        </p:nvSpPr>
        <p:spPr>
          <a:xfrm>
            <a:off x="457200" y="960120"/>
            <a:ext cx="11247120" cy="457200"/>
          </a:xfrm>
          <a:prstGeom prst="rect">
            <a:avLst/>
          </a:prstGeom>
          <a:noFill/>
        </p:spPr>
        <p:txBody>
          <a:bodyPr wrap="square">
            <a:spAutoFit/>
          </a:bodyPr>
          <a:lstStyle/>
          <a:p>
            <a:r>
              <a:rPr sz="1200" b="0">
                <a:solidFill>
                  <a:srgbClr val="5F6F63"/>
                </a:solidFill>
                <a:latin typeface="Arial"/>
              </a:rPr>
              <a:t>Tap a month for its workings.</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21 of 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