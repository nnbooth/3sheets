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0.0"%";[Red](0.0"%")</c:formatCode>
                <c:ptCount val="3"/>
                <c:pt idx="0">
                  <c:v>26.1</c:v>
                </c:pt>
                <c:pt idx="1">
                  <c:v>43.3</c:v>
                </c:pt>
                <c:pt idx="2">
                  <c:v>59.5</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0E9F6E"/>
              </a:solidFill>
            </c:spPr>
          </c:dPt>
          <c:dPt>
            <c:idx val="2"/>
            <c:spPr>
              <a:solidFill>
                <a:srgbClr val="0E9F6E"/>
              </a:solidFill>
            </c:spPr>
          </c:dPt>
          <c:cat>
            <c:strRef>
              <c:f>Sheet1!$A$2:$A$4</c:f>
              <c:strCache>
                <c:ptCount val="3"/>
                <c:pt idx="0">
                  <c:v>Installations</c:v>
                </c:pt>
                <c:pt idx="1">
                  <c:v>Call-outs and repairs</c:v>
                </c:pt>
                <c:pt idx="2">
                  <c:v>Maintenance contracts</c:v>
                </c:pt>
              </c:strCache>
            </c:strRef>
          </c:cat>
          <c:val>
            <c:numRef>
              <c:f>Sheet1!$B$2:$B$4</c:f>
              <c:numCache>
                <c:formatCode>$#,##0;[Red]($#,##0);"-"</c:formatCode>
                <c:ptCount val="3"/>
                <c:pt idx="0">
                  <c:v>18512</c:v>
                </c:pt>
                <c:pt idx="1">
                  <c:v>9650</c:v>
                </c:pt>
                <c:pt idx="2">
                  <c:v>21284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0.0"%";[Red](0.0"%")</c:formatCode>
                <c:ptCount val="12"/>
                <c:pt idx="0">
                  <c:v>58.2</c:v>
                </c:pt>
                <c:pt idx="1">
                  <c:v>58.8</c:v>
                </c:pt>
                <c:pt idx="2">
                  <c:v>58.8</c:v>
                </c:pt>
                <c:pt idx="3">
                  <c:v>59.0</c:v>
                </c:pt>
                <c:pt idx="4">
                  <c:v>59.0</c:v>
                </c:pt>
                <c:pt idx="5">
                  <c:v>59.4</c:v>
                </c:pt>
                <c:pt idx="6">
                  <c:v>59.9</c:v>
                </c:pt>
                <c:pt idx="7">
                  <c:v>59.9</c:v>
                </c:pt>
                <c:pt idx="8">
                  <c:v>59.9</c:v>
                </c:pt>
                <c:pt idx="9">
                  <c:v>60.0</c:v>
                </c:pt>
                <c:pt idx="10">
                  <c:v>60.0</c:v>
                </c:pt>
                <c:pt idx="11">
                  <c:v>61.1</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dPt>
            <c:idx val="6"/>
            <c:spPr>
              <a:solidFill>
                <a:srgbClr val="0E9F6E"/>
              </a:solidFill>
            </c:spPr>
          </c:dPt>
          <c:dPt>
            <c:idx val="7"/>
            <c:spPr>
              <a:solidFill>
                <a:srgbClr val="0E9F6E"/>
              </a:solidFill>
            </c:spPr>
          </c:dPt>
          <c:dPt>
            <c:idx val="8"/>
            <c:spPr>
              <a:solidFill>
                <a:srgbClr val="0E9F6E"/>
              </a:solidFill>
            </c:spPr>
          </c:dPt>
          <c:dPt>
            <c:idx val="9"/>
            <c:spPr>
              <a:solidFill>
                <a:srgbClr val="0E9F6E"/>
              </a:solidFill>
            </c:spPr>
          </c:dPt>
          <c:dPt>
            <c:idx val="10"/>
            <c:spPr>
              <a:solidFill>
                <a:srgbClr val="0E9F6E"/>
              </a:solidFill>
            </c:spPr>
          </c:dPt>
          <c:dPt>
            <c:idx val="11"/>
            <c:spPr>
              <a:solidFill>
                <a:srgbClr val="0E9F6E"/>
              </a:solidFill>
            </c:spPr>
          </c:dPt>
          <c:cat>
            <c:strRef>
              <c:f>Sheet1!$A$2:$A$13</c:f>
              <c:strCache>
                <c:ptCount val="12"/>
                <c:pt idx="0">
                  <c:v>Kangaroo Point townhouses</c:v>
                </c:pt>
                <c:pt idx="1">
                  <c:v>West End brewery</c:v>
                </c:pt>
                <c:pt idx="2">
                  <c:v>Rocklea factory</c:v>
                </c:pt>
                <c:pt idx="3">
                  <c:v>Milton office tower</c:v>
                </c:pt>
                <c:pt idx="4">
                  <c:v>Bulimba school</c:v>
                </c:pt>
                <c:pt idx="5">
                  <c:v>Chermside retail centre</c:v>
                </c:pt>
                <c:pt idx="6">
                  <c:v>Fortitude Valley hotel</c:v>
                </c:pt>
                <c:pt idx="7">
                  <c:v>Riverside Apartments (strata)</c:v>
                </c:pt>
                <c:pt idx="8">
                  <c:v>Newstead gym</c:v>
                </c:pt>
                <c:pt idx="9">
                  <c:v>Southbank cafe group</c:v>
                </c:pt>
                <c:pt idx="10">
                  <c:v>Ashgrove aged care</c:v>
                </c:pt>
                <c:pt idx="11">
                  <c:v>Wynnum medical centre</c:v>
                </c:pt>
              </c:strCache>
            </c:strRef>
          </c:cat>
          <c:val>
            <c:numRef>
              <c:f>Sheet1!$B$2:$B$13</c:f>
              <c:numCache>
                <c:formatCode>$#,##0;[Red]($#,##0);"-"</c:formatCode>
                <c:ptCount val="12"/>
                <c:pt idx="0">
                  <c:v>1398</c:v>
                </c:pt>
                <c:pt idx="1">
                  <c:v>1530</c:v>
                </c:pt>
                <c:pt idx="2">
                  <c:v>2294</c:v>
                </c:pt>
                <c:pt idx="3">
                  <c:v>2478</c:v>
                </c:pt>
                <c:pt idx="4">
                  <c:v>1652</c:v>
                </c:pt>
                <c:pt idx="5">
                  <c:v>2436</c:v>
                </c:pt>
                <c:pt idx="6">
                  <c:v>2038</c:v>
                </c:pt>
                <c:pt idx="7">
                  <c:v>1916</c:v>
                </c:pt>
                <c:pt idx="8">
                  <c:v>958</c:v>
                </c:pt>
                <c:pt idx="9">
                  <c:v>1080</c:v>
                </c:pt>
                <c:pt idx="10">
                  <c:v>2160</c:v>
                </c:pt>
                <c:pt idx="11">
                  <c:v>1344</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0.0"%";[Red](0.0"%")</c:formatCode>
                <c:ptCount val="3"/>
                <c:pt idx="0">
                  <c:v>17.3</c:v>
                </c:pt>
                <c:pt idx="1">
                  <c:v>32.5</c:v>
                </c:pt>
                <c:pt idx="2">
                  <c:v>37.8</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A7B0B8"/>
              </a:solidFill>
            </c:spPr>
          </c:dPt>
          <c:dPt>
            <c:idx val="1"/>
            <c:spPr>
              <a:solidFill>
                <a:srgbClr val="A7B0B8"/>
              </a:solidFill>
            </c:spPr>
          </c:dPt>
          <c:dPt>
            <c:idx val="2"/>
            <c:spPr>
              <a:solidFill>
                <a:srgbClr val="0E9F6E"/>
              </a:solidFill>
            </c:spPr>
          </c:dPt>
          <c:cat>
            <c:strRef>
              <c:f>Sheet1!$A$2:$A$4</c:f>
              <c:strCache>
                <c:ptCount val="3"/>
                <c:pt idx="0">
                  <c:v>Salisbury shop solar and battery</c:v>
                </c:pt>
                <c:pt idx="1">
                  <c:v>Coorparoo shop air-con install</c:v>
                </c:pt>
                <c:pt idx="2">
                  <c:v>Aspley cafe data cabling</c:v>
                </c:pt>
              </c:strCache>
            </c:strRef>
          </c:cat>
          <c:val>
            <c:numRef>
              <c:f>Sheet1!$B$2:$B$4</c:f>
              <c:numCache>
                <c:formatCode>$#,##0;[Red]($#,##0);"-"</c:formatCode>
                <c:ptCount val="3"/>
                <c:pt idx="0">
                  <c:v>6140</c:v>
                </c:pt>
                <c:pt idx="1">
                  <c:v>6016</c:v>
                </c:pt>
                <c:pt idx="2">
                  <c:v>6356</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0.0"%";[Red](0.0"%")</c:formatCode>
                <c:ptCount val="6"/>
                <c:pt idx="0">
                  <c:v>37.8</c:v>
                </c:pt>
                <c:pt idx="1">
                  <c:v>38.2</c:v>
                </c:pt>
                <c:pt idx="2">
                  <c:v>40.7</c:v>
                </c:pt>
                <c:pt idx="3">
                  <c:v>44.1</c:v>
                </c:pt>
                <c:pt idx="4">
                  <c:v>45.7</c:v>
                </c:pt>
                <c:pt idx="5">
                  <c:v>45.9</c:v>
                </c:pt>
              </c:numCache>
            </c:numRef>
          </c:val>
        </c:ser>
        <c:dLbls>
          <c:numFmt formatCode="0.0&quot;%&quot;;[Red](0.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dPt>
            <c:idx val="5"/>
            <c:spPr>
              <a:solidFill>
                <a:srgbClr val="0E9F6E"/>
              </a:solidFill>
            </c:spPr>
          </c:dPt>
          <c:cat>
            <c:strRef>
              <c:f>Sheet1!$A$2:$A$7</c:f>
              <c:strCache>
                <c:ptCount val="6"/>
                <c:pt idx="0">
                  <c:v>1-hour call-outs (7)</c:v>
                </c:pt>
                <c:pt idx="1">
                  <c:v>1.5-hour call-outs (3)</c:v>
                </c:pt>
                <c:pt idx="2">
                  <c:v>2-hour call-outs (9)</c:v>
                </c:pt>
                <c:pt idx="3">
                  <c:v>2.5-hour call-outs (8)</c:v>
                </c:pt>
                <c:pt idx="4">
                  <c:v>3-hour call-outs (10)</c:v>
                </c:pt>
                <c:pt idx="5">
                  <c:v>4-hour call-outs (6)</c:v>
                </c:pt>
              </c:strCache>
            </c:strRef>
          </c:cat>
          <c:val>
            <c:numRef>
              <c:f>Sheet1!$B$2:$B$7</c:f>
              <c:numCache>
                <c:formatCode>$#,##0;[Red]($#,##0);"-"</c:formatCode>
                <c:ptCount val="6"/>
                <c:pt idx="0">
                  <c:v>782</c:v>
                </c:pt>
                <c:pt idx="1">
                  <c:v>492</c:v>
                </c:pt>
                <c:pt idx="2">
                  <c:v>1809</c:v>
                </c:pt>
                <c:pt idx="3">
                  <c:v>1824</c:v>
                </c:pt>
                <c:pt idx="4">
                  <c:v>2640</c:v>
                </c:pt>
                <c:pt idx="5">
                  <c:v>2103</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0.0"%";[Red](0.0"%")</c:formatCode>
                <c:ptCount val="13"/>
                <c:pt idx="0">
                  <c:v>33.1</c:v>
                </c:pt>
                <c:pt idx="1">
                  <c:v>37.0</c:v>
                </c:pt>
                <c:pt idx="2">
                  <c:v>40.4</c:v>
                </c:pt>
                <c:pt idx="3">
                  <c:v>42.7</c:v>
                </c:pt>
                <c:pt idx="4">
                  <c:v>36.4</c:v>
                </c:pt>
                <c:pt idx="5">
                  <c:v>36.5</c:v>
                </c:pt>
                <c:pt idx="6">
                  <c:v>38.4</c:v>
                </c:pt>
                <c:pt idx="7">
                  <c:v>35.5</c:v>
                </c:pt>
                <c:pt idx="8">
                  <c:v>40.5</c:v>
                </c:pt>
                <c:pt idx="9">
                  <c:v>35.6</c:v>
                </c:pt>
                <c:pt idx="10">
                  <c:v>43.8</c:v>
                </c:pt>
                <c:pt idx="11">
                  <c:v>37.6</c:v>
                </c:pt>
                <c:pt idx="12">
                  <c:v>38.4</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Sheet1!$A$2:$A$14</c:f>
              <c:strCache>
                <c:ptCount val="13"/>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strCache>
            </c:strRef>
          </c:cat>
          <c:val>
            <c:numRef>
              <c:f>Sheet1!$B$2:$B$14</c:f>
              <c:numCache>
                <c:formatCode>$#,##0;[Red]($#,##0);"-"</c:formatCode>
                <c:ptCount val="13"/>
                <c:pt idx="0">
                  <c:v>56675</c:v>
                </c:pt>
                <c:pt idx="1">
                  <c:v>66458</c:v>
                </c:pt>
                <c:pt idx="2">
                  <c:v>57840</c:v>
                </c:pt>
                <c:pt idx="3">
                  <c:v>60167</c:v>
                </c:pt>
                <c:pt idx="4">
                  <c:v>58595</c:v>
                </c:pt>
                <c:pt idx="5">
                  <c:v>49330</c:v>
                </c:pt>
                <c:pt idx="6">
                  <c:v>47897</c:v>
                </c:pt>
                <c:pt idx="7">
                  <c:v>46116</c:v>
                </c:pt>
                <c:pt idx="8">
                  <c:v>66529</c:v>
                </c:pt>
                <c:pt idx="9">
                  <c:v>66434</c:v>
                </c:pt>
                <c:pt idx="10">
                  <c:v>60906</c:v>
                </c:pt>
                <c:pt idx="11">
                  <c:v>48201</c:v>
                </c:pt>
                <c:pt idx="12">
                  <c:v>49446</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r>
              <a:rPr sz="1600" b="1">
                <a:solidFill>
                  <a:srgbClr val="FFFFFF"/>
                </a:solidFill>
              </a:rPr>
              <a:t>4th</a:t>
            </a:r>
          </a:p>
        </p:txBody>
      </p:sp>
      <p:sp>
        <p:nvSpPr>
          <p:cNvPr id="3" name="TextBox 2"/>
          <p:cNvSpPr txBox="1"/>
          <p:nvPr/>
        </p:nvSpPr>
        <p:spPr>
          <a:xfrm>
            <a:off x="1234440" y="658368"/>
            <a:ext cx="5486400" cy="457200"/>
          </a:xfrm>
          <a:prstGeom prst="rect">
            <a:avLst/>
          </a:prstGeom>
          <a:noFill/>
        </p:spPr>
        <p:txBody>
          <a:bodyPr wrap="square">
            <a:spAutoFit/>
          </a:bodyPr>
          <a:lstStyle/>
          <a:p>
            <a:r>
              <a:rPr sz="1800" b="1">
                <a:solidFill>
                  <a:srgbClr val="25342A"/>
                </a:solidFill>
                <a:latin typeface="Arial"/>
              </a:rPr>
              <a:t>The 4th Sheet</a:t>
            </a:r>
          </a:p>
        </p:txBody>
      </p:sp>
      <p:sp>
        <p:nvSpPr>
          <p:cNvPr id="4" name="TextBox 3"/>
          <p:cNvSpPr txBox="1"/>
          <p:nvPr/>
        </p:nvSpPr>
        <p:spPr>
          <a:xfrm>
            <a:off x="457200" y="1554480"/>
            <a:ext cx="10972800" cy="365760"/>
          </a:xfrm>
          <a:prstGeom prst="rect">
            <a:avLst/>
          </a:prstGeom>
          <a:noFill/>
        </p:spPr>
        <p:txBody>
          <a:bodyPr wrap="square">
            <a:spAutoFit/>
          </a:bodyPr>
          <a:lstStyle/>
          <a:p>
            <a:r>
              <a:rPr sz="1100" b="1">
                <a:solidFill>
                  <a:srgbClr val="8A7A52"/>
                </a:solidFill>
                <a:latin typeface="Arial"/>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r>
              <a:rPr sz="3400" b="1">
                <a:solidFill>
                  <a:srgbClr val="25342A"/>
                </a:solidFill>
                <a:latin typeface="Arial"/>
              </a:rPr>
              <a:t>Which jobs actually make money?</a:t>
            </a:r>
          </a:p>
        </p:txBody>
      </p:sp>
      <p:sp>
        <p:nvSpPr>
          <p:cNvPr id="6" name="TextBox 5"/>
          <p:cNvSpPr txBox="1"/>
          <p:nvPr/>
        </p:nvSpPr>
        <p:spPr>
          <a:xfrm>
            <a:off x="457200" y="3154680"/>
            <a:ext cx="11247120" cy="457200"/>
          </a:xfrm>
          <a:prstGeom prst="rect">
            <a:avLst/>
          </a:prstGeom>
          <a:noFill/>
        </p:spPr>
        <p:txBody>
          <a:bodyPr wrap="square">
            <a:spAutoFit/>
          </a:bodyPr>
          <a:lstStyle/>
          <a:p>
            <a:r>
              <a:rPr sz="1600" b="0">
                <a:solidFill>
                  <a:srgbClr val="5F6F63"/>
                </a:solidFill>
                <a:latin typeface="Arial"/>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r>
              <a:rPr sz="1400" b="0">
                <a:solidFill>
                  <a:srgbClr val="25342A"/>
                </a:solidFill>
                <a:latin typeface="Arial"/>
              </a:rPr>
              <a:t>Period: October 2025. Every job's gross margin: revenue less materials, subcontractors and technician time at $68 an hour (fully loaded: wages and all on-costs). Before overheads, so this is not profit. Pick a type of job and every number, chart and note on the page follows it.</a:t>
            </a:r>
          </a:p>
        </p:txBody>
      </p:sp>
      <p:sp>
        <p:nvSpPr>
          <p:cNvPr id="8" name="TextBox 7"/>
          <p:cNvSpPr txBox="1"/>
          <p:nvPr/>
        </p:nvSpPr>
        <p:spPr>
          <a:xfrm>
            <a:off x="457200" y="4937760"/>
            <a:ext cx="11247120" cy="1097280"/>
          </a:xfrm>
          <a:prstGeom prst="rect">
            <a:avLst/>
          </a:prstGeom>
          <a:noFill/>
        </p:spPr>
        <p:txBody>
          <a:bodyPr wrap="square">
            <a:spAutoFit/>
          </a:bodyPr>
          <a:lstStyle/>
          <a:p>
            <a:r>
              <a:rPr sz="1100" b="0">
                <a:solidFill>
                  <a:srgbClr val="5F6F63"/>
                </a:solidFill>
                <a:latin typeface="Arial"/>
              </a:rPr>
              <a:t>How final is this data?</a:t>
            </a:r>
          </a:p>
          <a:p>
            <a:r>
              <a:rPr sz="1100" b="0">
                <a:solidFill>
                  <a:srgbClr val="5F6F63"/>
                </a:solidFill>
                <a:latin typeface="Arial"/>
              </a:rPr>
              <a:t>September 2025: Locked. September 2025 is locked (closed 2 Oct 2025). These numbers won't change.</a:t>
            </a:r>
          </a:p>
          <a:p>
            <a:r>
              <a:rPr sz="1100" b="0">
                <a:solidFill>
                  <a:srgbClr val="5F6F63"/>
                </a:solidFill>
                <a:latin typeface="Arial"/>
              </a:rPr>
              <a:t>October 2025: Locked. October 2025 is locked (closed 4 Nov 2025). These numbers won't change.</a:t>
            </a:r>
          </a:p>
          <a:p>
            <a:r>
              <a:rPr sz="1100" b="0">
                <a:solidFill>
                  <a:srgbClr val="5F6F63"/>
                </a:solidFill>
                <a:latin typeface="Arial"/>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 of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10820095" cy="365760"/>
          </a:xfrm>
          <a:prstGeom prst="rect">
            <a:avLst/>
          </a:prstGeom>
          <a:noFill/>
        </p:spPr>
        <p:txBody>
          <a:bodyPr wrap="square">
            <a:spAutoFit/>
          </a:bodyPr>
          <a:lstStyle/>
          <a:p>
            <a:r>
              <a:rPr sz="1100" b="1">
                <a:solidFill>
                  <a:srgbClr val="5F6F63"/>
                </a:solidFill>
                <a:latin typeface="Arial"/>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r>
              <a:rPr sz="1600" b="0">
                <a:solidFill>
                  <a:srgbClr val="25342A"/>
                </a:solidFill>
                <a:latin typeface="Arial"/>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 of 21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From gross margin to profit</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October's jobs made $49,446 gross margin (38.4%). Technician time not charged to jobs took $9,638 and overheads $57,980, leaving ($18,172) profit before tax ((14.1%) of revenue). To cover overheads, jobs need a 52.5%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txBody>
                  <a:tcPr>
                    <a:solidFill>
                      <a:srgbClr val="2F7A5D"/>
                    </a:solidFill>
                  </a:tcPr>
                </a:tc>
                <a:tc>
                  <a:txBody>
                    <a:bodyPr/>
                    <a:lstStyle/>
                    <a:p>
                      <a:pPr algn="r"/>
                      <a:r>
                        <a:rPr sz="1100" b="1">
                          <a:solidFill>
                            <a:srgbClr val="FFFFFF"/>
                          </a:solidFill>
                        </a:rPr>
                        <a:t>October 2025</a:t>
                      </a:r>
                    </a:p>
                  </a:txBody>
                  <a:tcPr>
                    <a:solidFill>
                      <a:srgbClr val="2F7A5D"/>
                    </a:solidFill>
                  </a:tcPr>
                </a:tc>
              </a:tr>
              <a:tr h="329184">
                <a:tc>
                  <a:txBody>
                    <a:bodyPr/>
                    <a:lstStyle/>
                    <a:p>
                      <a:r>
                        <a:rPr sz="1050">
                          <a:solidFill>
                            <a:srgbClr val="25342A"/>
                          </a:solidFill>
                        </a:rPr>
                        <a:t>Gross margin on jobs</a:t>
                      </a:r>
                    </a:p>
                  </a:txBody>
                  <a:tcPr>
                    <a:solidFill>
                      <a:srgbClr val="FFFFFF"/>
                    </a:solidFill>
                  </a:tcPr>
                </a:tc>
                <a:tc>
                  <a:txBody>
                    <a:bodyPr/>
                    <a:lstStyle/>
                    <a:p>
                      <a:pPr algn="r"/>
                      <a:r>
                        <a:rPr sz="1050">
                          <a:solidFill>
                            <a:srgbClr val="25342A"/>
                          </a:solidFill>
                        </a:rPr>
                        <a:t>$49,446</a:t>
                      </a:r>
                    </a:p>
                  </a:txBody>
                  <a:tcPr>
                    <a:solidFill>
                      <a:srgbClr val="FFFFFF"/>
                    </a:solidFill>
                  </a:tcPr>
                </a:tc>
              </a:tr>
              <a:tr h="329184">
                <a:tc>
                  <a:txBody>
                    <a:bodyPr/>
                    <a:lstStyle/>
                    <a:p>
                      <a:r>
                        <a:rPr sz="1050">
                          <a:solidFill>
                            <a:srgbClr val="25342A"/>
                          </a:solidFill>
                        </a:rPr>
                        <a:t>Technician wages and on-costs</a:t>
                      </a:r>
                    </a:p>
                  </a:txBody>
                  <a:tcPr>
                    <a:solidFill>
                      <a:srgbClr val="F7FAF7"/>
                    </a:solidFill>
                  </a:tcPr>
                </a:tc>
                <a:tc>
                  <a:txBody>
                    <a:bodyPr/>
                    <a:lstStyle/>
                    <a:p>
                      <a:pPr algn="r"/>
                      <a:r>
                        <a:rPr sz="1050">
                          <a:solidFill>
                            <a:srgbClr val="25342A"/>
                          </a:solidFill>
                        </a:rPr>
                        <a:t>$46,800</a:t>
                      </a:r>
                    </a:p>
                  </a:txBody>
                  <a:tcPr>
                    <a:solidFill>
                      <a:srgbClr val="F7FAF7"/>
                    </a:solidFill>
                  </a:tcPr>
                </a:tc>
              </a:tr>
              <a:tr h="329184">
                <a:tc>
                  <a:txBody>
                    <a:bodyPr/>
                    <a:lstStyle/>
                    <a:p>
                      <a:r>
                        <a:rPr sz="1050">
                          <a:solidFill>
                            <a:srgbClr val="25342A"/>
                          </a:solidFill>
                        </a:rPr>
                        <a:t>Technician time charged to jobs (at cost)</a:t>
                      </a:r>
                    </a:p>
                  </a:txBody>
                  <a:tcPr>
                    <a:solidFill>
                      <a:srgbClr val="FFFFFF"/>
                    </a:solidFill>
                  </a:tcPr>
                </a:tc>
                <a:tc>
                  <a:txBody>
                    <a:bodyPr/>
                    <a:lstStyle/>
                    <a:p>
                      <a:pPr algn="r"/>
                      <a:r>
                        <a:rPr sz="1050">
                          <a:solidFill>
                            <a:srgbClr val="25342A"/>
                          </a:solidFill>
                        </a:rPr>
                        <a:t>$37,162</a:t>
                      </a:r>
                    </a:p>
                  </a:txBody>
                  <a:tcPr>
                    <a:solidFill>
                      <a:srgbClr val="FFFFFF"/>
                    </a:solidFill>
                  </a:tcPr>
                </a:tc>
              </a:tr>
              <a:tr h="329184">
                <a:tc>
                  <a:txBody>
                    <a:bodyPr/>
                    <a:lstStyle/>
                    <a:p>
                      <a:r>
                        <a:rPr sz="1050">
                          <a:solidFill>
                            <a:srgbClr val="25342A"/>
                          </a:solidFill>
                        </a:rPr>
                        <a:t>Technician time not charged to jobs</a:t>
                      </a:r>
                    </a:p>
                  </a:txBody>
                  <a:tcPr>
                    <a:solidFill>
                      <a:srgbClr val="F7FAF7"/>
                    </a:solidFill>
                  </a:tcPr>
                </a:tc>
                <a:tc>
                  <a:txBody>
                    <a:bodyPr/>
                    <a:lstStyle/>
                    <a:p>
                      <a:pPr algn="r"/>
                      <a:r>
                        <a:rPr sz="1050">
                          <a:solidFill>
                            <a:srgbClr val="25342A"/>
                          </a:solidFill>
                        </a:rPr>
                        <a:t>$9,638</a:t>
                      </a:r>
                    </a:p>
                  </a:txBody>
                  <a:tcPr>
                    <a:solidFill>
                      <a:srgbClr val="F7FAF7"/>
                    </a:solidFill>
                  </a:tcPr>
                </a:tc>
              </a:tr>
              <a:tr h="329184">
                <a:tc>
                  <a:txBody>
                    <a:bodyPr/>
                    <a:lstStyle/>
                    <a:p>
                      <a:r>
                        <a:rPr sz="1050">
                          <a:solidFill>
                            <a:srgbClr val="25342A"/>
                          </a:solidFill>
                        </a:rPr>
                        <a:t>Gross profit (the P&amp;L)</a:t>
                      </a:r>
                    </a:p>
                  </a:txBody>
                  <a:tcPr>
                    <a:solidFill>
                      <a:srgbClr val="FFFFFF"/>
                    </a:solidFill>
                  </a:tcPr>
                </a:tc>
                <a:tc>
                  <a:txBody>
                    <a:bodyPr/>
                    <a:lstStyle/>
                    <a:p>
                      <a:pPr algn="r"/>
                      <a:r>
                        <a:rPr sz="1050">
                          <a:solidFill>
                            <a:srgbClr val="25342A"/>
                          </a:solidFill>
                        </a:rPr>
                        <a:t>$39,808</a:t>
                      </a:r>
                    </a:p>
                  </a:txBody>
                  <a:tcPr>
                    <a:solidFill>
                      <a:srgbClr val="FFFFFF"/>
                    </a:solidFill>
                  </a:tcPr>
                </a:tc>
              </a:tr>
              <a:tr h="329184">
                <a:tc>
                  <a:txBody>
                    <a:bodyPr/>
                    <a:lstStyle/>
                    <a:p>
                      <a:r>
                        <a:rPr sz="1050">
                          <a:solidFill>
                            <a:srgbClr val="25342A"/>
                          </a:solidFill>
                        </a:rPr>
                        <a:t>Overheads (operating expenses, depreciation, interest)</a:t>
                      </a:r>
                    </a:p>
                  </a:txBody>
                  <a:tcPr>
                    <a:solidFill>
                      <a:srgbClr val="F7FAF7"/>
                    </a:solidFill>
                  </a:tcPr>
                </a:tc>
                <a:tc>
                  <a:txBody>
                    <a:bodyPr/>
                    <a:lstStyle/>
                    <a:p>
                      <a:pPr algn="r"/>
                      <a:r>
                        <a:rPr sz="1050">
                          <a:solidFill>
                            <a:srgbClr val="25342A"/>
                          </a:solidFill>
                        </a:rPr>
                        <a:t>$57,980</a:t>
                      </a:r>
                    </a:p>
                  </a:txBody>
                  <a:tcPr>
                    <a:solidFill>
                      <a:srgbClr val="F7FAF7"/>
                    </a:solidFill>
                  </a:tcPr>
                </a:tc>
              </a:tr>
              <a:tr h="329184">
                <a:tc>
                  <a:txBody>
                    <a:bodyPr/>
                    <a:lstStyle/>
                    <a:p>
                      <a:r>
                        <a:rPr sz="1050">
                          <a:solidFill>
                            <a:srgbClr val="25342A"/>
                          </a:solidFill>
                        </a:rPr>
                        <a:t>Profit before tax (the P&amp;L)</a:t>
                      </a:r>
                    </a:p>
                  </a:txBody>
                  <a:tcPr>
                    <a:solidFill>
                      <a:srgbClr val="FFFFFF"/>
                    </a:solidFill>
                  </a:tcPr>
                </a:tc>
                <a:tc>
                  <a:txBody>
                    <a:bodyPr/>
                    <a:lstStyle/>
                    <a:p>
                      <a:pPr algn="r"/>
                      <a:r>
                        <a:rPr sz="1050">
                          <a:solidFill>
                            <a:srgbClr val="B42318"/>
                          </a:solidFill>
                        </a:rPr>
                        <a:t>($18,172)</a:t>
                      </a:r>
                    </a:p>
                  </a:txBody>
                  <a:tcPr>
                    <a:solidFill>
                      <a:srgbClr val="FFFFFF"/>
                    </a:solidFill>
                  </a:tcPr>
                </a:tc>
              </a:tr>
              <a:tr h="329184">
                <a:tc>
                  <a:txBody>
                    <a:bodyPr/>
                    <a:lstStyle/>
                    <a:p>
                      <a:r>
                        <a:rPr sz="1050">
                          <a:solidFill>
                            <a:srgbClr val="25342A"/>
                          </a:solidFill>
                        </a:rPr>
                        <a:t>Revenue</a:t>
                      </a:r>
                    </a:p>
                  </a:txBody>
                  <a:tcPr>
                    <a:solidFill>
                      <a:srgbClr val="F7FAF7"/>
                    </a:solidFill>
                  </a:tcPr>
                </a:tc>
                <a:tc>
                  <a:txBody>
                    <a:bodyPr/>
                    <a:lstStyle/>
                    <a:p>
                      <a:pPr algn="r"/>
                      <a:r>
                        <a:rPr sz="1050">
                          <a:solidFill>
                            <a:srgbClr val="25342A"/>
                          </a:solidFill>
                        </a:rPr>
                        <a:t>$128,898</a:t>
                      </a:r>
                    </a:p>
                  </a:txBody>
                  <a:tcPr>
                    <a:solidFill>
                      <a:srgbClr val="F7FAF7"/>
                    </a:solidFill>
                  </a:tcPr>
                </a:tc>
              </a:tr>
              <a:tr h="329184">
                <a:tc>
                  <a:txBody>
                    <a:bodyPr/>
                    <a:lstStyle/>
                    <a:p>
                      <a:r>
                        <a:rPr sz="1050">
                          <a:solidFill>
                            <a:srgbClr val="25342A"/>
                          </a:solidFill>
                        </a:rPr>
                        <a:t>Gross margin on jobs, %</a:t>
                      </a:r>
                    </a:p>
                  </a:txBody>
                  <a:tcPr>
                    <a:solidFill>
                      <a:srgbClr val="FFFFFF"/>
                    </a:solidFill>
                  </a:tcPr>
                </a:tc>
                <a:tc>
                  <a:txBody>
                    <a:bodyPr/>
                    <a:lstStyle/>
                    <a:p>
                      <a:pPr algn="r"/>
                      <a:r>
                        <a:rPr sz="1050">
                          <a:solidFill>
                            <a:srgbClr val="25342A"/>
                          </a:solidFill>
                        </a:rPr>
                        <a:t>38.4%</a:t>
                      </a:r>
                    </a:p>
                  </a:txBody>
                  <a:tcPr>
                    <a:solidFill>
                      <a:srgbClr val="FFFFFF"/>
                    </a:solidFill>
                  </a:tcPr>
                </a:tc>
              </a:tr>
              <a:tr h="329184">
                <a:tc>
                  <a:txBody>
                    <a:bodyPr/>
                    <a:lstStyle/>
                    <a:p>
                      <a:r>
                        <a:rPr sz="1050">
                          <a:solidFill>
                            <a:srgbClr val="25342A"/>
                          </a:solidFill>
                        </a:rPr>
                        <a:t>Profit before tax, % of revenue</a:t>
                      </a:r>
                    </a:p>
                  </a:txBody>
                  <a:tcPr>
                    <a:solidFill>
                      <a:srgbClr val="F7FAF7"/>
                    </a:solidFill>
                  </a:tcPr>
                </a:tc>
                <a:tc>
                  <a:txBody>
                    <a:bodyPr/>
                    <a:lstStyle/>
                    <a:p>
                      <a:pPr algn="r"/>
                      <a:r>
                        <a:rPr sz="1050">
                          <a:solidFill>
                            <a:srgbClr val="B42318"/>
                          </a:solidFill>
                        </a:rPr>
                        <a:t>(14.1%)</a:t>
                      </a:r>
                    </a:p>
                  </a:txBody>
                  <a:tcPr>
                    <a:solidFill>
                      <a:srgbClr val="F7FAF7"/>
                    </a:solidFill>
                  </a:tcPr>
                </a:tc>
              </a:tr>
              <a:tr h="329184">
                <a:tc>
                  <a:txBody>
                    <a:bodyPr/>
                    <a:lstStyle/>
                    <a:p>
                      <a:r>
                        <a:rPr sz="1050">
                          <a:solidFill>
                            <a:srgbClr val="25342A"/>
                          </a:solidFill>
                        </a:rPr>
                        <a:t>Gross margin jobs need just to cover overheads and time not charged</a:t>
                      </a:r>
                    </a:p>
                  </a:txBody>
                  <a:tcPr>
                    <a:solidFill>
                      <a:srgbClr val="FFFFFF"/>
                    </a:solidFill>
                  </a:tcPr>
                </a:tc>
                <a:tc>
                  <a:txBody>
                    <a:bodyPr/>
                    <a:lstStyle/>
                    <a:p>
                      <a:pPr algn="r"/>
                      <a:r>
                        <a:rPr sz="1050">
                          <a:solidFill>
                            <a:srgbClr val="25342A"/>
                          </a:solidFill>
                        </a:rPr>
                        <a:t>52.5%</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3 of 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All jobs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 All jobs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38.4%</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37.6%</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4 of 21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5 of 21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type of job, October 2025 · Gross margin $ · Type of job: All jobs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Revenue less materials, subcontractors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6 of 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All jobs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In October maintenance contracts made a 59.5% job gross margin, installations made a 26.1% job gross margin, call-outs and repairs made a 43.3% job gross margin (technician time at $68 an hour, wages and all on-costs). Jobs need 52.5%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Maintenance contracts: 59.5% gross margin, the most profitable work you do. Installations: 26.1%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7 of 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Maintenance contracts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 Maintenance contracts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59.5%</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59.5%</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8 of 21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9 of 21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maintenance contract, October 2025 · Gross margin $ · Type of job: Maintenance contracts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The month's fee less materials and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10 of 21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All 12 contracts made more than the 35.0% job gross margin target. The thinnest was Kangaroo Point townhouses at 58.2% job gross margin: 14.0 h of technician time on a $2,400 monthly fee.</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The Kangaroo Point townhouses contract: 58.2% gross margin, 5.8 points clear of the 52.5% overheads need. Maintenance contracts overall: 59.5% gross margin.</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11 of 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Installations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 Installations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26.1%</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26.2%</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12 of 21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13 of 21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each installation invoiced in October 2025 · Gross margin $ · Type of job: Installations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Whole job, recognised when invoiced: revenue less materials, subcontractors and technician time at $68/hour. Before overheads: not profit. One 35.0% target for every job for now.</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14 of 21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2 of the 3 installation jobs invoiced in October made less than the 35.0% job gross margin target. The Salisbury shop solar and battery made a 17.3% job gross margin: 120.0 h of technician time ($8,160) and $3,900 of subcontractors on a $35,500 job. Jobs need 52.5%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Below the 52.5% overheads need: Aspley cafe data cabling (37.8%), Coorparoo shop air-con install (32.5%), Salisbury shop solar and battery (17.3%). Most profitable: Aspley cafe data cabling (37.8%).</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15 of 21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Headline numbers · Type of job: Call-outs and repairs</a:t>
            </a:r>
          </a:p>
        </p:txBody>
      </p:sp>
      <p:sp>
        <p:nvSpPr>
          <p:cNvPr id="5" name="Rectangle 4"/>
          <p:cNvSpPr/>
          <p:nvPr/>
        </p:nvSpPr>
        <p:spPr>
          <a:xfrm>
            <a:off x="457200" y="1645920"/>
            <a:ext cx="11277295"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783080"/>
            <a:ext cx="10911535" cy="457200"/>
          </a:xfrm>
          <a:prstGeom prst="rect">
            <a:avLst/>
          </a:prstGeom>
          <a:noFill/>
        </p:spPr>
        <p:txBody>
          <a:bodyPr wrap="square">
            <a:spAutoFit/>
          </a:bodyPr>
          <a:lstStyle/>
          <a:p>
            <a:r>
              <a:rPr sz="1200" b="0">
                <a:solidFill>
                  <a:srgbClr val="5F6F63"/>
                </a:solidFill>
                <a:latin typeface="Arial"/>
              </a:rPr>
              <a:t>Job gross margin, October · Call-outs and repairs</a:t>
            </a:r>
          </a:p>
        </p:txBody>
      </p:sp>
      <p:sp>
        <p:nvSpPr>
          <p:cNvPr id="7" name="TextBox 6"/>
          <p:cNvSpPr txBox="1"/>
          <p:nvPr/>
        </p:nvSpPr>
        <p:spPr>
          <a:xfrm>
            <a:off x="640080" y="2240280"/>
            <a:ext cx="10911535" cy="731520"/>
          </a:xfrm>
          <a:prstGeom prst="rect">
            <a:avLst/>
          </a:prstGeom>
          <a:noFill/>
        </p:spPr>
        <p:txBody>
          <a:bodyPr wrap="square">
            <a:spAutoFit/>
          </a:bodyPr>
          <a:lstStyle/>
          <a:p>
            <a:r>
              <a:rPr sz="3000" b="1">
                <a:solidFill>
                  <a:srgbClr val="2F7A5D"/>
                </a:solidFill>
                <a:latin typeface="Arial"/>
              </a:rPr>
              <a:t>43.3%</a:t>
            </a:r>
          </a:p>
        </p:txBody>
      </p:sp>
      <p:sp>
        <p:nvSpPr>
          <p:cNvPr id="8" name="TextBox 7"/>
          <p:cNvSpPr txBox="1"/>
          <p:nvPr/>
        </p:nvSpPr>
        <p:spPr>
          <a:xfrm>
            <a:off x="640080" y="3017520"/>
            <a:ext cx="10911535" cy="548640"/>
          </a:xfrm>
          <a:prstGeom prst="rect">
            <a:avLst/>
          </a:prstGeom>
          <a:noFill/>
        </p:spPr>
        <p:txBody>
          <a:bodyPr wrap="square">
            <a:spAutoFit/>
          </a:bodyPr>
          <a:lstStyle/>
          <a:p>
            <a:r>
              <a:rPr sz="1100" b="0">
                <a:solidFill>
                  <a:srgbClr val="5F6F63"/>
                </a:solidFill>
                <a:latin typeface="Arial"/>
              </a:rPr>
              <a:t>September 44.0%</a:t>
            </a:r>
          </a:p>
        </p:txBody>
      </p:sp>
      <p:sp>
        <p:nvSpPr>
          <p:cNvPr id="9" name="TextBox 8"/>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16 of 21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172200"/>
            <a:ext cx="10972800" cy="274320"/>
          </a:xfrm>
          <a:prstGeom prst="rect">
            <a:avLst/>
          </a:prstGeom>
          <a:noFill/>
        </p:spPr>
        <p:txBody>
          <a:bodyPr wrap="square">
            <a:spAutoFit/>
          </a:bodyPr>
          <a:lstStyle/>
          <a:p>
            <a:r>
              <a:rPr sz="1000" b="0">
                <a:solidFill>
                  <a:srgbClr val="5F6F63"/>
                </a:solidFill>
                <a:latin typeface="Arial"/>
              </a:rPr>
              <a:t>Target 35.0%  ·  grey = below target</a:t>
            </a:r>
          </a:p>
        </p:txBody>
      </p:sp>
      <p:sp>
        <p:nvSpPr>
          <p:cNvPr id="8" name="TextBox 7"/>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17 of 21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on call-outs by length, October 2025 · Gross margin $ · Type of job: Call-outs and repairs</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Charged at $145/hour plus materials at cost × 1.3; technician time at $68/hour.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18 of 21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What it shows · Type of job: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691640"/>
            <a:ext cx="5044287" cy="365760"/>
          </a:xfrm>
          <a:prstGeom prst="rect">
            <a:avLst/>
          </a:prstGeom>
          <a:noFill/>
        </p:spPr>
        <p:txBody>
          <a:bodyPr wrap="square">
            <a:spAutoFit/>
          </a:bodyPr>
          <a:lstStyle/>
          <a:p>
            <a:r>
              <a:rPr sz="1100" b="1">
                <a:solidFill>
                  <a:srgbClr val="5F6F63"/>
                </a:solidFill>
                <a:latin typeface="Arial"/>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r>
              <a:rPr sz="1600" b="0">
                <a:solidFill>
                  <a:srgbClr val="25342A"/>
                </a:solidFill>
                <a:latin typeface="Arial"/>
              </a:rPr>
              <a:t>43 call-outs in October made a 43.3% job gross margin between them. Gross margins run from 37.8% to 45.9% by length: the hourly rate covers technician time comfortably, so the gross margin mostly moves with how much material goes on the van.</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61607" y="1691640"/>
            <a:ext cx="5044287" cy="365760"/>
          </a:xfrm>
          <a:prstGeom prst="rect">
            <a:avLst/>
          </a:prstGeom>
          <a:noFill/>
        </p:spPr>
        <p:txBody>
          <a:bodyPr wrap="square">
            <a:spAutoFit/>
          </a:bodyPr>
          <a:lstStyle/>
          <a:p>
            <a:r>
              <a:rPr sz="1100" b="1">
                <a:solidFill>
                  <a:srgbClr val="5F6F63"/>
                </a:solidFill>
                <a:latin typeface="Arial"/>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r>
              <a:rPr sz="1600" b="0">
                <a:solidFill>
                  <a:srgbClr val="25342A"/>
                </a:solidFill>
                <a:latin typeface="Arial"/>
              </a:rPr>
              <a:t>Call-outs: 43.3% gross margin, below the 52.5%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19 of 21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20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7315200" cy="274320"/>
          </a:xfrm>
          <a:prstGeom prst="rect">
            <a:avLst/>
          </a:prstGeom>
          <a:noFill/>
        </p:spPr>
        <p:txBody>
          <a:bodyPr wrap="square">
            <a:spAutoFit/>
          </a:bodyPr>
          <a:lstStyle/>
          <a:p>
            <a:r>
              <a:rPr sz="1000" b="0">
                <a:solidFill>
                  <a:srgbClr val="5F6F63"/>
                </a:solidFill>
                <a:latin typeface="Arial"/>
              </a:rPr>
              <a:t>Sample Electrical &amp; Air Pty Ltd · Which jobs actually make money?</a:t>
            </a:r>
          </a:p>
        </p:txBody>
      </p:sp>
      <p:sp>
        <p:nvSpPr>
          <p:cNvPr id="4" name="TextBox 3"/>
          <p:cNvSpPr txBox="1"/>
          <p:nvPr/>
        </p:nvSpPr>
        <p:spPr>
          <a:xfrm>
            <a:off x="457200" y="411480"/>
            <a:ext cx="11247120" cy="548640"/>
          </a:xfrm>
          <a:prstGeom prst="rect">
            <a:avLst/>
          </a:prstGeom>
          <a:noFill/>
        </p:spPr>
        <p:txBody>
          <a:bodyPr wrap="square">
            <a:spAutoFit/>
          </a:bodyPr>
          <a:lstStyle/>
          <a:p>
            <a:r>
              <a:rPr sz="2400" b="1">
                <a:solidFill>
                  <a:srgbClr val="25342A"/>
                </a:solidFill>
                <a:latin typeface="Arial"/>
              </a:rPr>
              <a:t>Job gross margin by month · Gross margin $ · Every type of job at once</a:t>
            </a:r>
          </a:p>
        </p:txBody>
      </p:sp>
      <p:sp>
        <p:nvSpPr>
          <p:cNvPr id="5" name="TextBox 4"/>
          <p:cNvSpPr txBox="1"/>
          <p:nvPr/>
        </p:nvSpPr>
        <p:spPr>
          <a:xfrm>
            <a:off x="457200" y="960120"/>
            <a:ext cx="11247120" cy="457200"/>
          </a:xfrm>
          <a:prstGeom prst="rect">
            <a:avLst/>
          </a:prstGeom>
          <a:noFill/>
        </p:spPr>
        <p:txBody>
          <a:bodyPr wrap="square">
            <a:spAutoFit/>
          </a:bodyPr>
          <a:lstStyle/>
          <a:p>
            <a:r>
              <a:rPr sz="1200" b="0">
                <a:solidFill>
                  <a:srgbClr val="5F6F63"/>
                </a:solidFill>
                <a:latin typeface="Arial"/>
              </a:rPr>
              <a:t>Tap a month for its workings.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r>
              <a:rPr sz="900" b="0">
                <a:solidFill>
                  <a:srgbClr val="5F6F63"/>
                </a:solidFill>
                <a:latin typeface="Arial"/>
              </a:rPr>
              <a:t>job-margins.pptx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r>
              <a:rPr sz="900" b="0">
                <a:solidFill>
                  <a:srgbClr val="5F6F63"/>
                </a:solidFill>
                <a:latin typeface="Arial"/>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r>
              <a:rPr sz="900" b="0">
                <a:solidFill>
                  <a:srgbClr val="5F6F63"/>
                </a:solidFill>
                <a:latin typeface="Arial"/>
              </a:rPr>
              <a:t>Slide 21 of 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