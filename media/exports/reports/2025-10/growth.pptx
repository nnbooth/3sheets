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33.1</c:v>
                </c:pt>
                <c:pt idx="1">
                  <c:v>37.0</c:v>
                </c:pt>
                <c:pt idx="2">
                  <c:v>40.4</c:v>
                </c:pt>
                <c:pt idx="3">
                  <c:v>42.7</c:v>
                </c:pt>
                <c:pt idx="4">
                  <c:v>36.4</c:v>
                </c:pt>
                <c:pt idx="5">
                  <c:v>36.5</c:v>
                </c:pt>
                <c:pt idx="6">
                  <c:v>38.4</c:v>
                </c:pt>
                <c:pt idx="7">
                  <c:v>35.5</c:v>
                </c:pt>
                <c:pt idx="8">
                  <c:v>40.5</c:v>
                </c:pt>
                <c:pt idx="9">
                  <c:v>35.6</c:v>
                </c:pt>
                <c:pt idx="10">
                  <c:v>43.8</c:v>
                </c:pt>
                <c:pt idx="11">
                  <c:v>37.6</c:v>
                </c:pt>
                <c:pt idx="12">
                  <c:v>38.4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62.6</c:v>
                </c:pt>
                <c:pt idx="1">
                  <c:v>63.0</c:v>
                </c:pt>
                <c:pt idx="2">
                  <c:v>62.6</c:v>
                </c:pt>
                <c:pt idx="3">
                  <c:v>62.3</c:v>
                </c:pt>
                <c:pt idx="4">
                  <c:v>61.4</c:v>
                </c:pt>
                <c:pt idx="5">
                  <c:v>58.6</c:v>
                </c:pt>
                <c:pt idx="6">
                  <c:v>60.1</c:v>
                </c:pt>
                <c:pt idx="7">
                  <c:v>62.2</c:v>
                </c:pt>
                <c:pt idx="8">
                  <c:v>60.8</c:v>
                </c:pt>
                <c:pt idx="9">
                  <c:v>62.0</c:v>
                </c:pt>
                <c:pt idx="10">
                  <c:v>65.3</c:v>
                </c:pt>
                <c:pt idx="11">
                  <c:v>65.9</c:v>
                </c:pt>
                <c:pt idx="12">
                  <c:v>64.2</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2025.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2025: Locked. September 2025 is locked (closed 2 Oct 2025). These numbers won't change.</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jobs made $49,446 gross margin (38.4%). Technician time not charged to jobs took $9,638 and overheads $57,980, leaving ($18,172) profit before tax ((14.1%) of revenue). To cover overheads, jobs need a 52.5%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$49,446</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$37,162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$9,638</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$39,808</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($18,172)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$128,898</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(14.1%)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52.5%</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$128,898 against $171,009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$583,077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$224,987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$583,077 this financial year to date (Jul to Oct 2025). Maintenance contracts make the highest gross margin (59.5%); Installations the lowest (29.8%). The business needs 52.5%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29.8%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$135,400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$80,546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$135,400 this financial year to date, at a 59.5% gross margin (above the 38.6%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7.0 points clear of the 52.5%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(43.9%)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$70,800 against $126,300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$367,900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$109,662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$367,900 this financial year to date, at a 29.8% gross margin (below the 38.6%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29.8%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$22,298 against $20,039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$79,777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$34,779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$79,777 this financial year to date, at a 43.6% gross margin (above the 38.6%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43.6%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Oct 2025)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$135,400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$80,546</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$367,900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$109,662</a:t>
                      </a:r>
                    </a:p>
                  </a:txBody>
                  <a:tcPr>
                    <a:solidFill>
                      <a:srgbClr val="F7FAF7"/>
                    </a:solidFill>
                  </a:tcPr>
                </a:tc>
                <a:tc>
                  <a:txBody>
                    <a:bodyPr/>
                    <a:lstStyle/>
                    <a:p>
                      <a:pPr algn="r">
                        <a:defRPr>
                          <a:latin typeface="Roboto"/>
                        </a:defRPr>
                      </a:pPr>
                      <a:r>
                        <a:rPr sz="1050">
                          <a:solidFill>
                            <a:srgbClr val="25342A"/>
                          </a:solidFill>
                          <a:latin typeface="Roboto"/>
                        </a:rPr>
                        <a:t>29.8%</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$79,777</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$34,779</a:t>
                      </a:r>
                    </a:p>
                  </a:txBody>
                  <a:tcPr>
                    <a:solidFill>
                      <a:srgbClr val="FFFFFF"/>
                    </a:solidFill>
                  </a:tcPr>
                </a:tc>
                <a:tc>
                  <a:txBody>
                    <a:bodyPr/>
                    <a:lstStyle/>
                    <a:p>
                      <a:pPr algn="r">
                        <a:defRPr>
                          <a:latin typeface="Roboto"/>
                        </a:defRPr>
                      </a:pPr>
                      <a:r>
                        <a:rPr sz="1050">
                          <a:solidFill>
                            <a:srgbClr val="25342A"/>
                          </a:solidFill>
                          <a:latin typeface="Roboto"/>
                        </a:rPr>
                        <a:t>43.6%</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$583,077</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$224,987</a:t>
                      </a:r>
                    </a:p>
                  </a:txBody>
                  <a:tcPr>
                    <a:solidFill>
                      <a:srgbClr val="F7FAF7"/>
                    </a:solidFill>
                  </a:tcPr>
                </a:tc>
                <a:tc>
                  <a:txBody>
                    <a:bodyPr/>
                    <a:lstStyle/>
                    <a:p>
                      <a:pPr algn="r">
                        <a:defRPr>
                          <a:latin typeface="Roboto"/>
                        </a:defRPr>
                      </a:pPr>
                      <a:r>
                        <a:rPr sz="1050" b="1">
                          <a:solidFill>
                            <a:srgbClr val="25342A"/>
                          </a:solidFill>
                          <a:latin typeface="Roboto"/>
                        </a:rPr>
                        <a:t>38.6%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client work made $45,720 gross margin (64.2%). Consultant time not charged to client work took $15,410 and overheads $51,070, leaving ($20,760) profit before tax ((29.1%) of revenue). To cover overheads, client work needs a 93.3%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$45,720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$23,340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$15,410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$30,310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$51,070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($20,760)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$71,260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64.2%</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(29.1%)</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93.3%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$71,260 against $94,520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$278,590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$178,590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$278,590 this financial year to date (Jul to Oct 2025). Training makes the highest gross margin (78.0%); Projects the lowest (61.8%). The business needs 93.3%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78.0% gross margin, the most profitable work you do. Projects: 61.8% gross margin, below the 93.3%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(35.2%)</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$45,860 against $70,720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$187,490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$115,930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$187,490 this financial year to date, at a 61.8% gross margin (below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61.8% gross margin, below the 93.3%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$65,200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$42,460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$65,200 this financial year to date, at a 65.1%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65.1% gross margin, below the 93.3%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$9,100 against $8,800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Oct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$25,900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78.0%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$20,200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$25,900 this financial year to date, at a 78.0%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78.0% gross margin, below the 93.3%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Oct 2025)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$187,490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$115,930</a:t>
                      </a:r>
                    </a:p>
                  </a:txBody>
                  <a:tcPr>
                    <a:solidFill>
                      <a:srgbClr val="FFFFFF"/>
                    </a:solidFill>
                  </a:tcPr>
                </a:tc>
                <a:tc>
                  <a:txBody>
                    <a:bodyPr/>
                    <a:lstStyle/>
                    <a:p>
                      <a:pPr algn="r">
                        <a:defRPr>
                          <a:latin typeface="Roboto"/>
                        </a:defRPr>
                      </a:pPr>
                      <a:r>
                        <a:rPr sz="1050">
                          <a:solidFill>
                            <a:srgbClr val="25342A"/>
                          </a:solidFill>
                          <a:latin typeface="Roboto"/>
                        </a:rPr>
                        <a:t>61.8%</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$65,200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$42,460</a:t>
                      </a:r>
                    </a:p>
                  </a:txBody>
                  <a:tcPr>
                    <a:solidFill>
                      <a:srgbClr val="F7FAF7"/>
                    </a:solidFill>
                  </a:tcPr>
                </a:tc>
                <a:tc>
                  <a:txBody>
                    <a:bodyPr/>
                    <a:lstStyle/>
                    <a:p>
                      <a:pPr algn="r">
                        <a:defRPr>
                          <a:latin typeface="Roboto"/>
                        </a:defRPr>
                      </a:pPr>
                      <a:r>
                        <a:rPr sz="1050">
                          <a:solidFill>
                            <a:srgbClr val="25342A"/>
                          </a:solidFill>
                          <a:latin typeface="Roboto"/>
                        </a:rPr>
                        <a:t>65.1%</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$25,900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$20,200</a:t>
                      </a:r>
                    </a:p>
                  </a:txBody>
                  <a:tcPr>
                    <a:solidFill>
                      <a:srgbClr val="FFFFFF"/>
                    </a:solidFill>
                  </a:tcPr>
                </a:tc>
                <a:tc>
                  <a:txBody>
                    <a:bodyPr/>
                    <a:lstStyle/>
                    <a:p>
                      <a:pPr algn="r">
                        <a:defRPr>
                          <a:latin typeface="Roboto"/>
                        </a:defRPr>
                      </a:pPr>
                      <a:r>
                        <a:rPr sz="1050">
                          <a:solidFill>
                            <a:srgbClr val="25342A"/>
                          </a:solidFill>
                          <a:latin typeface="Roboto"/>
                        </a:rPr>
                        <a:t>78.0%</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$278,590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$178,590</a:t>
                      </a:r>
                    </a:p>
                  </a:txBody>
                  <a:tcPr>
                    <a:solidFill>
                      <a:srgbClr val="F7FAF7"/>
                    </a:solidFill>
                  </a:tcPr>
                </a:tc>
                <a:tc>
                  <a:txBody>
                    <a:bodyPr/>
                    <a:lstStyle/>
                    <a:p>
                      <a:pPr algn="r">
                        <a:defRPr>
                          <a:latin typeface="Roboto"/>
                        </a:defRPr>
                      </a:pPr>
                      <a:r>
                        <a:rPr sz="1050" b="1">
                          <a:solidFill>
                            <a:srgbClr val="25342A"/>
                          </a:solidFill>
                          <a:latin typeface="Roboto"/>
                        </a:rPr>
                        <a:t>64.1%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