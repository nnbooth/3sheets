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Sheet1!$A$2:$A$14</c:f>
              <c:strCache>
                <c:ptCount val="1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strCache>
            </c:strRef>
          </c:cat>
          <c:val>
            <c:numRef>
              <c:f>Sheet1!$B$2:$B$14</c:f>
              <c:numCache>
                <c:formatCode>$#,##0;[Red]($#,##0);"-"</c:formatCode>
                <c:ptCount val="13"/>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Sheet1!$A$2:$A$14</c:f>
              <c:strCache>
                <c:ptCount val="1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strCache>
            </c:strRef>
          </c:cat>
          <c:val>
            <c:numRef>
              <c:f>Sheet1!$B$2:$B$14</c:f>
              <c:numCache>
                <c:formatCode>0.0"%";[Red](0.0"%")</c:formatCode>
                <c:ptCount val="13"/>
                <c:pt idx="0">
                  <c:v>33.1</c:v>
                </c:pt>
                <c:pt idx="1">
                  <c:v>37.0</c:v>
                </c:pt>
                <c:pt idx="2">
                  <c:v>40.4</c:v>
                </c:pt>
                <c:pt idx="3">
                  <c:v>42.7</c:v>
                </c:pt>
                <c:pt idx="4">
                  <c:v>36.4</c:v>
                </c:pt>
                <c:pt idx="5">
                  <c:v>36.5</c:v>
                </c:pt>
                <c:pt idx="6">
                  <c:v>38.4</c:v>
                </c:pt>
                <c:pt idx="7">
                  <c:v>35.5</c:v>
                </c:pt>
                <c:pt idx="8">
                  <c:v>40.5</c:v>
                </c:pt>
                <c:pt idx="9">
                  <c:v>35.6</c:v>
                </c:pt>
                <c:pt idx="10">
                  <c:v>43.8</c:v>
                </c:pt>
                <c:pt idx="11">
                  <c:v>37.6</c:v>
                </c:pt>
                <c:pt idx="12">
                  <c:v>38.4</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Sheet1!$A$2:$A$14</c:f>
              <c:strCache>
                <c:ptCount val="1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strCache>
            </c:strRef>
          </c:cat>
          <c:val>
            <c:numRef>
              <c:f>Sheet1!$B$2:$B$14</c:f>
              <c:numCache>
                <c:formatCode>$#,##0;[Red]($#,##0);"-"</c:formatCode>
                <c:ptCount val="13"/>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Sheet1!$A$2:$A$14</c:f>
              <c:strCache>
                <c:ptCount val="13"/>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strCache>
            </c:strRef>
          </c:cat>
          <c:val>
            <c:numRef>
              <c:f>Sheet1!$B$2:$B$14</c:f>
              <c:numCache>
                <c:formatCode>0.0"%";[Red](0.0"%")</c:formatCode>
                <c:ptCount val="13"/>
                <c:pt idx="0">
                  <c:v>62.6</c:v>
                </c:pt>
                <c:pt idx="1">
                  <c:v>63.0</c:v>
                </c:pt>
                <c:pt idx="2">
                  <c:v>62.6</c:v>
                </c:pt>
                <c:pt idx="3">
                  <c:v>62.3</c:v>
                </c:pt>
                <c:pt idx="4">
                  <c:v>61.4</c:v>
                </c:pt>
                <c:pt idx="5">
                  <c:v>58.6</c:v>
                </c:pt>
                <c:pt idx="6">
                  <c:v>60.1</c:v>
                </c:pt>
                <c:pt idx="7">
                  <c:v>62.2</c:v>
                </c:pt>
                <c:pt idx="8">
                  <c:v>60.8</c:v>
                </c:pt>
                <c:pt idx="9">
                  <c:v>62.0</c:v>
                </c:pt>
                <c:pt idx="10">
                  <c:v>65.3</c:v>
                </c:pt>
                <c:pt idx="11">
                  <c:v>65.9</c:v>
                </c:pt>
                <c:pt idx="12">
                  <c:v>64.2</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00" b="1">
                <a:solidFill>
                  <a:srgbClr val="FFFFFF"/>
                </a:solidFill>
              </a:rPr>
              <a:t>4th</a:t>
            </a:r>
          </a:p>
        </p:txBody>
      </p:sp>
      <p:sp>
        <p:nvSpPr>
          <p:cNvPr id="3" name="TextBox 2"/>
          <p:cNvSpPr txBox="1"/>
          <p:nvPr/>
        </p:nvSpPr>
        <p:spPr>
          <a:xfrm>
            <a:off x="1234440" y="658368"/>
            <a:ext cx="5486400" cy="457200"/>
          </a:xfrm>
          <a:prstGeom prst="rect">
            <a:avLst/>
          </a:prstGeom>
          <a:noFill/>
        </p:spPr>
        <p:txBody>
          <a:bodyPr wrap="square">
            <a:spAutoFit/>
          </a:bodyPr>
          <a:lstStyle/>
          <a:p>
            <a:r>
              <a:rPr sz="1800" b="1">
                <a:solidFill>
                  <a:srgbClr val="25342A"/>
                </a:solidFill>
                <a:latin typeface="Arial"/>
              </a:rPr>
              <a:t>The 4th Sheet</a:t>
            </a:r>
          </a:p>
        </p:txBody>
      </p:sp>
      <p:sp>
        <p:nvSpPr>
          <p:cNvPr id="4" name="TextBox 3"/>
          <p:cNvSpPr txBox="1"/>
          <p:nvPr/>
        </p:nvSpPr>
        <p:spPr>
          <a:xfrm>
            <a:off x="457200" y="1554480"/>
            <a:ext cx="10972800" cy="365760"/>
          </a:xfrm>
          <a:prstGeom prst="rect">
            <a:avLst/>
          </a:prstGeom>
          <a:noFill/>
        </p:spPr>
        <p:txBody>
          <a:bodyPr wrap="square">
            <a:spAutoFit/>
          </a:bodyPr>
          <a:lstStyle/>
          <a:p>
            <a:r>
              <a:rPr sz="1100" b="1">
                <a:solidFill>
                  <a:srgbClr val="8A7A52"/>
                </a:solidFill>
                <a:latin typeface="Arial"/>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r>
              <a:rPr sz="3400" b="1">
                <a:solidFill>
                  <a:srgbClr val="25342A"/>
                </a:solidFill>
                <a:latin typeface="Arial"/>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r>
              <a:rPr sz="1600" b="0">
                <a:solidFill>
                  <a:srgbClr val="5F6F63"/>
                </a:solidFill>
                <a:latin typeface="Arial"/>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r>
              <a:rPr sz="1400" b="0">
                <a:solidFill>
                  <a:srgbClr val="25342A"/>
                </a:solidFill>
                <a:latin typeface="Arial"/>
              </a:rPr>
              <a:t>Period: October 2025.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r>
              <a:rPr sz="1100" b="0">
                <a:solidFill>
                  <a:srgbClr val="5F6F63"/>
                </a:solidFill>
                <a:latin typeface="Arial"/>
              </a:rPr>
              <a:t>How final is this data?</a:t>
            </a:r>
          </a:p>
          <a:p>
            <a:r>
              <a:rPr sz="1100" b="0">
                <a:solidFill>
                  <a:srgbClr val="5F6F63"/>
                </a:solidFill>
                <a:latin typeface="Arial"/>
              </a:rPr>
              <a:t>September 2025: Locked. September 2025 is locked (closed 2 Oct 2025). These numbers won't change.</a:t>
            </a:r>
          </a:p>
          <a:p>
            <a:r>
              <a:rPr sz="1100" b="0">
                <a:solidFill>
                  <a:srgbClr val="5F6F63"/>
                </a:solidFill>
                <a:latin typeface="Arial"/>
              </a:rPr>
              <a:t>October 2025: Locked. October 2025 is locked (closed 4 Nov 2025). These numbers won't change.</a:t>
            </a:r>
          </a:p>
          <a:p>
            <a:r>
              <a:rPr sz="1100" b="0">
                <a:solidFill>
                  <a:srgbClr val="5F6F63"/>
                </a:solidFill>
                <a:latin typeface="Arial"/>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10820095" cy="365760"/>
          </a:xfrm>
          <a:prstGeom prst="rect">
            <a:avLst/>
          </a:prstGeom>
          <a:noFill/>
        </p:spPr>
        <p:txBody>
          <a:bodyPr wrap="square">
            <a:spAutoFit/>
          </a:bodyPr>
          <a:lstStyle/>
          <a:p>
            <a:r>
              <a:rPr sz="1100" b="1">
                <a:solidFill>
                  <a:srgbClr val="5F6F63"/>
                </a:solidFill>
                <a:latin typeface="Arial"/>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r>
              <a:rPr sz="1600" b="0">
                <a:solidFill>
                  <a:srgbClr val="25342A"/>
                </a:solidFill>
                <a:latin typeface="Arial"/>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October's jobs made $49,446 gross margin (38.4%). Technician time not charged to jobs took $9,638 and overheads $57,980, leaving ($18,172) profit before tax ((14.1%) of revenue). To cover overheads, jobs need a 52.5%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txBody>
                  <a:tcPr>
                    <a:solidFill>
                      <a:srgbClr val="2F7A5D"/>
                    </a:solidFill>
                  </a:tcPr>
                </a:tc>
                <a:tc>
                  <a:txBody>
                    <a:bodyPr/>
                    <a:lstStyle/>
                    <a:p>
                      <a:pPr algn="r"/>
                      <a:r>
                        <a:rPr sz="1100" b="1">
                          <a:solidFill>
                            <a:srgbClr val="FFFFFF"/>
                          </a:solidFill>
                        </a:rPr>
                        <a:t>October 2025</a:t>
                      </a:r>
                    </a:p>
                  </a:txBody>
                  <a:tcPr>
                    <a:solidFill>
                      <a:srgbClr val="2F7A5D"/>
                    </a:solidFill>
                  </a:tcPr>
                </a:tc>
              </a:tr>
              <a:tr h="329184">
                <a:tc>
                  <a:txBody>
                    <a:bodyPr/>
                    <a:lstStyle/>
                    <a:p>
                      <a:r>
                        <a:rPr sz="1050">
                          <a:solidFill>
                            <a:srgbClr val="25342A"/>
                          </a:solidFill>
                        </a:rPr>
                        <a:t>Gross margin on jobs</a:t>
                      </a:r>
                    </a:p>
                  </a:txBody>
                  <a:tcPr>
                    <a:solidFill>
                      <a:srgbClr val="FFFFFF"/>
                    </a:solidFill>
                  </a:tcPr>
                </a:tc>
                <a:tc>
                  <a:txBody>
                    <a:bodyPr/>
                    <a:lstStyle/>
                    <a:p>
                      <a:pPr algn="r"/>
                      <a:r>
                        <a:rPr sz="1050">
                          <a:solidFill>
                            <a:srgbClr val="25342A"/>
                          </a:solidFill>
                        </a:rPr>
                        <a:t>$49,446</a:t>
                      </a:r>
                    </a:p>
                  </a:txBody>
                  <a:tcPr>
                    <a:solidFill>
                      <a:srgbClr val="FFFFFF"/>
                    </a:solidFill>
                  </a:tcPr>
                </a:tc>
              </a:tr>
              <a:tr h="329184">
                <a:tc>
                  <a:txBody>
                    <a:bodyPr/>
                    <a:lstStyle/>
                    <a:p>
                      <a:r>
                        <a:rPr sz="1050">
                          <a:solidFill>
                            <a:srgbClr val="25342A"/>
                          </a:solidFill>
                        </a:rPr>
                        <a:t>Technician wages and on-costs</a:t>
                      </a:r>
                    </a:p>
                  </a:txBody>
                  <a:tcPr>
                    <a:solidFill>
                      <a:srgbClr val="F7FAF7"/>
                    </a:solidFill>
                  </a:tcPr>
                </a:tc>
                <a:tc>
                  <a:txBody>
                    <a:bodyPr/>
                    <a:lstStyle/>
                    <a:p>
                      <a:pPr algn="r"/>
                      <a:r>
                        <a:rPr sz="1050">
                          <a:solidFill>
                            <a:srgbClr val="25342A"/>
                          </a:solidFill>
                        </a:rPr>
                        <a:t>$46,800</a:t>
                      </a:r>
                    </a:p>
                  </a:txBody>
                  <a:tcPr>
                    <a:solidFill>
                      <a:srgbClr val="F7FAF7"/>
                    </a:solidFill>
                  </a:tcPr>
                </a:tc>
              </a:tr>
              <a:tr h="329184">
                <a:tc>
                  <a:txBody>
                    <a:bodyPr/>
                    <a:lstStyle/>
                    <a:p>
                      <a:r>
                        <a:rPr sz="1050">
                          <a:solidFill>
                            <a:srgbClr val="25342A"/>
                          </a:solidFill>
                        </a:rPr>
                        <a:t>Technician time charged to jobs (at cost)</a:t>
                      </a:r>
                    </a:p>
                  </a:txBody>
                  <a:tcPr>
                    <a:solidFill>
                      <a:srgbClr val="FFFFFF"/>
                    </a:solidFill>
                  </a:tcPr>
                </a:tc>
                <a:tc>
                  <a:txBody>
                    <a:bodyPr/>
                    <a:lstStyle/>
                    <a:p>
                      <a:pPr algn="r"/>
                      <a:r>
                        <a:rPr sz="1050">
                          <a:solidFill>
                            <a:srgbClr val="25342A"/>
                          </a:solidFill>
                        </a:rPr>
                        <a:t>$37,162</a:t>
                      </a:r>
                    </a:p>
                  </a:txBody>
                  <a:tcPr>
                    <a:solidFill>
                      <a:srgbClr val="FFFFFF"/>
                    </a:solidFill>
                  </a:tcPr>
                </a:tc>
              </a:tr>
              <a:tr h="329184">
                <a:tc>
                  <a:txBody>
                    <a:bodyPr/>
                    <a:lstStyle/>
                    <a:p>
                      <a:r>
                        <a:rPr sz="1050">
                          <a:solidFill>
                            <a:srgbClr val="25342A"/>
                          </a:solidFill>
                        </a:rPr>
                        <a:t>Technician time not charged to jobs</a:t>
                      </a:r>
                    </a:p>
                  </a:txBody>
                  <a:tcPr>
                    <a:solidFill>
                      <a:srgbClr val="F7FAF7"/>
                    </a:solidFill>
                  </a:tcPr>
                </a:tc>
                <a:tc>
                  <a:txBody>
                    <a:bodyPr/>
                    <a:lstStyle/>
                    <a:p>
                      <a:pPr algn="r"/>
                      <a:r>
                        <a:rPr sz="1050">
                          <a:solidFill>
                            <a:srgbClr val="25342A"/>
                          </a:solidFill>
                        </a:rPr>
                        <a:t>$9,638</a:t>
                      </a:r>
                    </a:p>
                  </a:txBody>
                  <a:tcPr>
                    <a:solidFill>
                      <a:srgbClr val="F7FAF7"/>
                    </a:solidFill>
                  </a:tcPr>
                </a:tc>
              </a:tr>
              <a:tr h="329184">
                <a:tc>
                  <a:txBody>
                    <a:bodyPr/>
                    <a:lstStyle/>
                    <a:p>
                      <a:r>
                        <a:rPr sz="1050">
                          <a:solidFill>
                            <a:srgbClr val="25342A"/>
                          </a:solidFill>
                        </a:rPr>
                        <a:t>Gross profit (the P&amp;L)</a:t>
                      </a:r>
                    </a:p>
                  </a:txBody>
                  <a:tcPr>
                    <a:solidFill>
                      <a:srgbClr val="FFFFFF"/>
                    </a:solidFill>
                  </a:tcPr>
                </a:tc>
                <a:tc>
                  <a:txBody>
                    <a:bodyPr/>
                    <a:lstStyle/>
                    <a:p>
                      <a:pPr algn="r"/>
                      <a:r>
                        <a:rPr sz="1050">
                          <a:solidFill>
                            <a:srgbClr val="25342A"/>
                          </a:solidFill>
                        </a:rPr>
                        <a:t>$39,808</a:t>
                      </a:r>
                    </a:p>
                  </a:txBody>
                  <a:tcPr>
                    <a:solidFill>
                      <a:srgbClr val="FFFFFF"/>
                    </a:solidFill>
                  </a:tcPr>
                </a:tc>
              </a:tr>
              <a:tr h="329184">
                <a:tc>
                  <a:txBody>
                    <a:bodyPr/>
                    <a:lstStyle/>
                    <a:p>
                      <a:r>
                        <a:rPr sz="1050">
                          <a:solidFill>
                            <a:srgbClr val="25342A"/>
                          </a:solidFill>
                        </a:rPr>
                        <a:t>Overheads (operating expenses, depreciation, interest)</a:t>
                      </a:r>
                    </a:p>
                  </a:txBody>
                  <a:tcPr>
                    <a:solidFill>
                      <a:srgbClr val="F7FAF7"/>
                    </a:solidFill>
                  </a:tcPr>
                </a:tc>
                <a:tc>
                  <a:txBody>
                    <a:bodyPr/>
                    <a:lstStyle/>
                    <a:p>
                      <a:pPr algn="r"/>
                      <a:r>
                        <a:rPr sz="1050">
                          <a:solidFill>
                            <a:srgbClr val="25342A"/>
                          </a:solidFill>
                        </a:rPr>
                        <a:t>$57,980</a:t>
                      </a:r>
                    </a:p>
                  </a:txBody>
                  <a:tcPr>
                    <a:solidFill>
                      <a:srgbClr val="F7FAF7"/>
                    </a:solidFill>
                  </a:tcPr>
                </a:tc>
              </a:tr>
              <a:tr h="329184">
                <a:tc>
                  <a:txBody>
                    <a:bodyPr/>
                    <a:lstStyle/>
                    <a:p>
                      <a:r>
                        <a:rPr sz="1050">
                          <a:solidFill>
                            <a:srgbClr val="25342A"/>
                          </a:solidFill>
                        </a:rPr>
                        <a:t>Profit before tax (the P&amp;L)</a:t>
                      </a:r>
                    </a:p>
                  </a:txBody>
                  <a:tcPr>
                    <a:solidFill>
                      <a:srgbClr val="FFFFFF"/>
                    </a:solidFill>
                  </a:tcPr>
                </a:tc>
                <a:tc>
                  <a:txBody>
                    <a:bodyPr/>
                    <a:lstStyle/>
                    <a:p>
                      <a:pPr algn="r"/>
                      <a:r>
                        <a:rPr sz="1050">
                          <a:solidFill>
                            <a:srgbClr val="B42318"/>
                          </a:solidFill>
                        </a:rPr>
                        <a:t>($18,172)</a:t>
                      </a:r>
                    </a:p>
                  </a:txBody>
                  <a:tcPr>
                    <a:solidFill>
                      <a:srgbClr val="FFFFFF"/>
                    </a:solidFill>
                  </a:tcPr>
                </a:tc>
              </a:tr>
              <a:tr h="329184">
                <a:tc>
                  <a:txBody>
                    <a:bodyPr/>
                    <a:lstStyle/>
                    <a:p>
                      <a:r>
                        <a:rPr sz="1050">
                          <a:solidFill>
                            <a:srgbClr val="25342A"/>
                          </a:solidFill>
                        </a:rPr>
                        <a:t>Revenue</a:t>
                      </a:r>
                    </a:p>
                  </a:txBody>
                  <a:tcPr>
                    <a:solidFill>
                      <a:srgbClr val="F7FAF7"/>
                    </a:solidFill>
                  </a:tcPr>
                </a:tc>
                <a:tc>
                  <a:txBody>
                    <a:bodyPr/>
                    <a:lstStyle/>
                    <a:p>
                      <a:pPr algn="r"/>
                      <a:r>
                        <a:rPr sz="1050">
                          <a:solidFill>
                            <a:srgbClr val="25342A"/>
                          </a:solidFill>
                        </a:rPr>
                        <a:t>$128,898</a:t>
                      </a:r>
                    </a:p>
                  </a:txBody>
                  <a:tcPr>
                    <a:solidFill>
                      <a:srgbClr val="F7FAF7"/>
                    </a:solidFill>
                  </a:tcPr>
                </a:tc>
              </a:tr>
              <a:tr h="329184">
                <a:tc>
                  <a:txBody>
                    <a:bodyPr/>
                    <a:lstStyle/>
                    <a:p>
                      <a:r>
                        <a:rPr sz="1050">
                          <a:solidFill>
                            <a:srgbClr val="25342A"/>
                          </a:solidFill>
                        </a:rPr>
                        <a:t>Gross margin on jobs, %</a:t>
                      </a:r>
                    </a:p>
                  </a:txBody>
                  <a:tcPr>
                    <a:solidFill>
                      <a:srgbClr val="FFFFFF"/>
                    </a:solidFill>
                  </a:tcPr>
                </a:tc>
                <a:tc>
                  <a:txBody>
                    <a:bodyPr/>
                    <a:lstStyle/>
                    <a:p>
                      <a:pPr algn="r"/>
                      <a:r>
                        <a:rPr sz="1050">
                          <a:solidFill>
                            <a:srgbClr val="25342A"/>
                          </a:solidFill>
                        </a:rPr>
                        <a:t>38.4%</a:t>
                      </a:r>
                    </a:p>
                  </a:txBody>
                  <a:tcPr>
                    <a:solidFill>
                      <a:srgbClr val="FFFFFF"/>
                    </a:solidFill>
                  </a:tcPr>
                </a:tc>
              </a:tr>
              <a:tr h="329184">
                <a:tc>
                  <a:txBody>
                    <a:bodyPr/>
                    <a:lstStyle/>
                    <a:p>
                      <a:r>
                        <a:rPr sz="1050">
                          <a:solidFill>
                            <a:srgbClr val="25342A"/>
                          </a:solidFill>
                        </a:rPr>
                        <a:t>Profit before tax, % of revenue</a:t>
                      </a:r>
                    </a:p>
                  </a:txBody>
                  <a:tcPr>
                    <a:solidFill>
                      <a:srgbClr val="F7FAF7"/>
                    </a:solidFill>
                  </a:tcPr>
                </a:tc>
                <a:tc>
                  <a:txBody>
                    <a:bodyPr/>
                    <a:lstStyle/>
                    <a:p>
                      <a:pPr algn="r"/>
                      <a:r>
                        <a:rPr sz="1050">
                          <a:solidFill>
                            <a:srgbClr val="B42318"/>
                          </a:solidFill>
                        </a:rPr>
                        <a:t>(14.1%)</a:t>
                      </a:r>
                    </a:p>
                  </a:txBody>
                  <a:tcPr>
                    <a:solidFill>
                      <a:srgbClr val="F7FAF7"/>
                    </a:solidFill>
                  </a:tcPr>
                </a:tc>
              </a:tr>
              <a:tr h="329184">
                <a:tc>
                  <a:txBody>
                    <a:bodyPr/>
                    <a:lstStyle/>
                    <a:p>
                      <a:r>
                        <a:rPr sz="1050">
                          <a:solidFill>
                            <a:srgbClr val="25342A"/>
                          </a:solidFill>
                        </a:rPr>
                        <a:t>Gross margin jobs need just to cover overheads and time not charged</a:t>
                      </a:r>
                    </a:p>
                  </a:txBody>
                  <a:tcPr>
                    <a:solidFill>
                      <a:srgbClr val="FFFFFF"/>
                    </a:solidFill>
                  </a:tcPr>
                </a:tc>
                <a:tc>
                  <a:txBody>
                    <a:bodyPr/>
                    <a:lstStyle/>
                    <a:p>
                      <a:pPr algn="r"/>
                      <a:r>
                        <a:rPr sz="1050">
                          <a:solidFill>
                            <a:srgbClr val="25342A"/>
                          </a:solidFill>
                        </a:rPr>
                        <a:t>52.5%</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B42318"/>
                </a:solidFill>
                <a:latin typeface="Arial"/>
              </a:rPr>
              <a:t>(24.6%)</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$128,898 against $171,009</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$583,077</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38.6%</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$224,987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Revenue is $583,077 this financial year to date (Jul to Oct 2025). Maintenance contracts make the highest gross margin (59.5%); Installations the lowest (29.8%). The business needs 52.5%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Maintenance contracts: 59.5% gross margin, the most profitable work you do. Installations: 29.8% gross margin, below the 52.5%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45.1%</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$35,800 against $24,670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$135,400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59.5%</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$80,546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Maintenance contracts brought in $135,400 this financial year to date, at a 59.5% gross margin (above the 38.6%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Maintenance contracts: 59.5% gross margin, 7.0 points clear of the 52.5%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B42318"/>
                </a:solidFill>
                <a:latin typeface="Arial"/>
              </a:rPr>
              <a:t>(43.9%)</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$70,800 against $126,300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$367,900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29.8%</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$109,662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Installations brought in $367,900 this financial year to date, at a 29.8% gross margin (below the 38.6%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Installations: 29.8% gross margin, below the 52.5%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11.3%</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$22,298 against $20,039</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$79,777</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43.6%</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$34,779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Call-outs and repairs brought in $79,777 this financial year to date, at a 43.6% gross margin (above the 38.6%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Call-outs and repairs: 43.6% gross margin, below the 52.5%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By line: financial year to date (Jul to Oct 2025)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txBody>
                  <a:tcPr>
                    <a:solidFill>
                      <a:srgbClr val="2F7A5D"/>
                    </a:solidFill>
                  </a:tcPr>
                </a:tc>
                <a:tc>
                  <a:txBody>
                    <a:bodyPr/>
                    <a:lstStyle/>
                    <a:p>
                      <a:pPr algn="r"/>
                      <a:r>
                        <a:rPr sz="1100" b="1">
                          <a:solidFill>
                            <a:srgbClr val="FFFFFF"/>
                          </a:solidFill>
                        </a:rPr>
                        <a:t>Year to date</a:t>
                      </a:r>
                    </a:p>
                  </a:txBody>
                  <a:tcPr>
                    <a:solidFill>
                      <a:srgbClr val="2F7A5D"/>
                    </a:solidFill>
                  </a:tcPr>
                </a:tc>
                <a:tc>
                  <a:txBody>
                    <a:bodyPr/>
                    <a:lstStyle/>
                    <a:p>
                      <a:pPr algn="r"/>
                      <a:r>
                        <a:rPr sz="1100" b="1">
                          <a:solidFill>
                            <a:srgbClr val="FFFFFF"/>
                          </a:solidFill>
                        </a:rPr>
                        <a:t>Same period last year</a:t>
                      </a:r>
                    </a:p>
                  </a:txBody>
                  <a:tcPr>
                    <a:solidFill>
                      <a:srgbClr val="2F7A5D"/>
                    </a:solidFill>
                  </a:tcPr>
                </a:tc>
                <a:tc>
                  <a:txBody>
                    <a:bodyPr/>
                    <a:lstStyle/>
                    <a:p>
                      <a:pPr algn="r"/>
                      <a:r>
                        <a:rPr sz="1100" b="1">
                          <a:solidFill>
                            <a:srgbClr val="FFFFFF"/>
                          </a:solidFill>
                        </a:rPr>
                        <a:t>Growth</a:t>
                      </a:r>
                    </a:p>
                  </a:txBody>
                  <a:tcPr>
                    <a:solidFill>
                      <a:srgbClr val="2F7A5D"/>
                    </a:solidFill>
                  </a:tcPr>
                </a:tc>
                <a:tc>
                  <a:txBody>
                    <a:bodyPr/>
                    <a:lstStyle/>
                    <a:p>
                      <a:pPr algn="r"/>
                      <a:r>
                        <a:rPr sz="1100" b="1">
                          <a:solidFill>
                            <a:srgbClr val="FFFFFF"/>
                          </a:solidFill>
                        </a:rPr>
                        <a:t>Gross margin $</a:t>
                      </a:r>
                    </a:p>
                  </a:txBody>
                  <a:tcPr>
                    <a:solidFill>
                      <a:srgbClr val="2F7A5D"/>
                    </a:solidFill>
                  </a:tcPr>
                </a:tc>
                <a:tc>
                  <a:txBody>
                    <a:bodyPr/>
                    <a:lstStyle/>
                    <a:p>
                      <a:pPr algn="r"/>
                      <a:r>
                        <a:rPr sz="1100" b="1">
                          <a:solidFill>
                            <a:srgbClr val="FFFFFF"/>
                          </a:solidFill>
                        </a:rPr>
                        <a:t>Gross margin %</a:t>
                      </a:r>
                    </a:p>
                  </a:txBody>
                  <a:tcPr>
                    <a:solidFill>
                      <a:srgbClr val="2F7A5D"/>
                    </a:solidFill>
                  </a:tcPr>
                </a:tc>
              </a:tr>
              <a:tr h="329184">
                <a:tc>
                  <a:txBody>
                    <a:bodyPr/>
                    <a:lstStyle/>
                    <a:p>
                      <a:r>
                        <a:rPr sz="1050">
                          <a:solidFill>
                            <a:srgbClr val="25342A"/>
                          </a:solidFill>
                        </a:rPr>
                        <a:t>Maintenance contracts</a:t>
                      </a:r>
                    </a:p>
                  </a:txBody>
                  <a:tcPr>
                    <a:solidFill>
                      <a:srgbClr val="FFFFFF"/>
                    </a:solidFill>
                  </a:tcPr>
                </a:tc>
                <a:tc>
                  <a:txBody>
                    <a:bodyPr/>
                    <a:lstStyle/>
                    <a:p>
                      <a:pPr algn="r"/>
                      <a:r>
                        <a:rPr sz="1050">
                          <a:solidFill>
                            <a:srgbClr val="25342A"/>
                          </a:solidFill>
                        </a:rPr>
                        <a:t>$135,400</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$80,546</a:t>
                      </a:r>
                    </a:p>
                  </a:txBody>
                  <a:tcPr>
                    <a:solidFill>
                      <a:srgbClr val="FFFFFF"/>
                    </a:solidFill>
                  </a:tcPr>
                </a:tc>
                <a:tc>
                  <a:txBody>
                    <a:bodyPr/>
                    <a:lstStyle/>
                    <a:p>
                      <a:pPr algn="r"/>
                      <a:r>
                        <a:rPr sz="1050">
                          <a:solidFill>
                            <a:srgbClr val="25342A"/>
                          </a:solidFill>
                        </a:rPr>
                        <a:t>59.5%</a:t>
                      </a:r>
                    </a:p>
                  </a:txBody>
                  <a:tcPr>
                    <a:solidFill>
                      <a:srgbClr val="FFFFFF"/>
                    </a:solidFill>
                  </a:tcPr>
                </a:tc>
              </a:tr>
              <a:tr h="329184">
                <a:tc>
                  <a:txBody>
                    <a:bodyPr/>
                    <a:lstStyle/>
                    <a:p>
                      <a:r>
                        <a:rPr sz="1050">
                          <a:solidFill>
                            <a:srgbClr val="25342A"/>
                          </a:solidFill>
                        </a:rPr>
                        <a:t>Installations</a:t>
                      </a:r>
                    </a:p>
                  </a:txBody>
                  <a:tcPr>
                    <a:solidFill>
                      <a:srgbClr val="F7FAF7"/>
                    </a:solidFill>
                  </a:tcPr>
                </a:tc>
                <a:tc>
                  <a:txBody>
                    <a:bodyPr/>
                    <a:lstStyle/>
                    <a:p>
                      <a:pPr algn="r"/>
                      <a:r>
                        <a:rPr sz="1050">
                          <a:solidFill>
                            <a:srgbClr val="25342A"/>
                          </a:solidFill>
                        </a:rPr>
                        <a:t>$367,900</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$109,662</a:t>
                      </a:r>
                    </a:p>
                  </a:txBody>
                  <a:tcPr>
                    <a:solidFill>
                      <a:srgbClr val="F7FAF7"/>
                    </a:solidFill>
                  </a:tcPr>
                </a:tc>
                <a:tc>
                  <a:txBody>
                    <a:bodyPr/>
                    <a:lstStyle/>
                    <a:p>
                      <a:pPr algn="r"/>
                      <a:r>
                        <a:rPr sz="1050">
                          <a:solidFill>
                            <a:srgbClr val="25342A"/>
                          </a:solidFill>
                        </a:rPr>
                        <a:t>29.8%</a:t>
                      </a:r>
                    </a:p>
                  </a:txBody>
                  <a:tcPr>
                    <a:solidFill>
                      <a:srgbClr val="F7FAF7"/>
                    </a:solidFill>
                  </a:tcPr>
                </a:tc>
              </a:tr>
              <a:tr h="329184">
                <a:tc>
                  <a:txBody>
                    <a:bodyPr/>
                    <a:lstStyle/>
                    <a:p>
                      <a:r>
                        <a:rPr sz="1050">
                          <a:solidFill>
                            <a:srgbClr val="25342A"/>
                          </a:solidFill>
                        </a:rPr>
                        <a:t>Call-outs and repairs</a:t>
                      </a:r>
                    </a:p>
                  </a:txBody>
                  <a:tcPr>
                    <a:solidFill>
                      <a:srgbClr val="FFFFFF"/>
                    </a:solidFill>
                  </a:tcPr>
                </a:tc>
                <a:tc>
                  <a:txBody>
                    <a:bodyPr/>
                    <a:lstStyle/>
                    <a:p>
                      <a:pPr algn="r"/>
                      <a:r>
                        <a:rPr sz="1050">
                          <a:solidFill>
                            <a:srgbClr val="25342A"/>
                          </a:solidFill>
                        </a:rPr>
                        <a:t>$79,777</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$34,779</a:t>
                      </a:r>
                    </a:p>
                  </a:txBody>
                  <a:tcPr>
                    <a:solidFill>
                      <a:srgbClr val="FFFFFF"/>
                    </a:solidFill>
                  </a:tcPr>
                </a:tc>
                <a:tc>
                  <a:txBody>
                    <a:bodyPr/>
                    <a:lstStyle/>
                    <a:p>
                      <a:pPr algn="r"/>
                      <a:r>
                        <a:rPr sz="1050">
                          <a:solidFill>
                            <a:srgbClr val="25342A"/>
                          </a:solidFill>
                        </a:rPr>
                        <a:t>43.6%</a:t>
                      </a:r>
                    </a:p>
                  </a:txBody>
                  <a:tcPr>
                    <a:solidFill>
                      <a:srgbClr val="FFFFFF"/>
                    </a:solidFill>
                  </a:tcPr>
                </a:tc>
              </a:tr>
              <a:tr h="329184">
                <a:tc>
                  <a:txBody>
                    <a:bodyPr/>
                    <a:lstStyle/>
                    <a:p>
                      <a:r>
                        <a:rPr sz="1050" b="1">
                          <a:solidFill>
                            <a:srgbClr val="25342A"/>
                          </a:solidFill>
                        </a:rPr>
                        <a:t>Total</a:t>
                      </a:r>
                    </a:p>
                  </a:txBody>
                  <a:tcPr>
                    <a:solidFill>
                      <a:srgbClr val="F7FAF7"/>
                    </a:solidFill>
                  </a:tcPr>
                </a:tc>
                <a:tc>
                  <a:txBody>
                    <a:bodyPr/>
                    <a:lstStyle/>
                    <a:p>
                      <a:pPr algn="r"/>
                      <a:r>
                        <a:rPr sz="1050" b="1">
                          <a:solidFill>
                            <a:srgbClr val="25342A"/>
                          </a:solidFill>
                        </a:rPr>
                        <a:t>$583,077</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$224,987</a:t>
                      </a:r>
                    </a:p>
                  </a:txBody>
                  <a:tcPr>
                    <a:solidFill>
                      <a:srgbClr val="F7FAF7"/>
                    </a:solidFill>
                  </a:tcPr>
                </a:tc>
                <a:tc>
                  <a:txBody>
                    <a:bodyPr/>
                    <a:lstStyle/>
                    <a:p>
                      <a:pPr algn="r"/>
                      <a:r>
                        <a:rPr sz="1050" b="1">
                          <a:solidFill>
                            <a:srgbClr val="25342A"/>
                          </a:solidFill>
                        </a:rPr>
                        <a:t>38.6%</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10820095" cy="365760"/>
          </a:xfrm>
          <a:prstGeom prst="rect">
            <a:avLst/>
          </a:prstGeom>
          <a:noFill/>
        </p:spPr>
        <p:txBody>
          <a:bodyPr wrap="square">
            <a:spAutoFit/>
          </a:bodyPr>
          <a:lstStyle/>
          <a:p>
            <a:r>
              <a:rPr sz="1100" b="1">
                <a:solidFill>
                  <a:srgbClr val="5F6F63"/>
                </a:solidFill>
                <a:latin typeface="Arial"/>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r>
              <a:rPr sz="1600" b="0">
                <a:solidFill>
                  <a:srgbClr val="25342A"/>
                </a:solidFill>
                <a:latin typeface="Arial"/>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October's client work made $45,720 gross margin (64.2%). Consultant time not charged to client work took $15,410 and overheads $51,070, leaving ($20,760) profit before tax ((29.1%) of revenue). To cover overheads, client work needs a 93.3%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txBody>
                  <a:tcPr>
                    <a:solidFill>
                      <a:srgbClr val="2F7A5D"/>
                    </a:solidFill>
                  </a:tcPr>
                </a:tc>
                <a:tc>
                  <a:txBody>
                    <a:bodyPr/>
                    <a:lstStyle/>
                    <a:p>
                      <a:pPr algn="r"/>
                      <a:r>
                        <a:rPr sz="1100" b="1">
                          <a:solidFill>
                            <a:srgbClr val="FFFFFF"/>
                          </a:solidFill>
                        </a:rPr>
                        <a:t>October 2025</a:t>
                      </a:r>
                    </a:p>
                  </a:txBody>
                  <a:tcPr>
                    <a:solidFill>
                      <a:srgbClr val="2F7A5D"/>
                    </a:solidFill>
                  </a:tcPr>
                </a:tc>
              </a:tr>
              <a:tr h="329184">
                <a:tc>
                  <a:txBody>
                    <a:bodyPr/>
                    <a:lstStyle/>
                    <a:p>
                      <a:r>
                        <a:rPr sz="1050">
                          <a:solidFill>
                            <a:srgbClr val="25342A"/>
                          </a:solidFill>
                        </a:rPr>
                        <a:t>Gross margin on client work</a:t>
                      </a:r>
                    </a:p>
                  </a:txBody>
                  <a:tcPr>
                    <a:solidFill>
                      <a:srgbClr val="FFFFFF"/>
                    </a:solidFill>
                  </a:tcPr>
                </a:tc>
                <a:tc>
                  <a:txBody>
                    <a:bodyPr/>
                    <a:lstStyle/>
                    <a:p>
                      <a:pPr algn="r"/>
                      <a:r>
                        <a:rPr sz="1050">
                          <a:solidFill>
                            <a:srgbClr val="25342A"/>
                          </a:solidFill>
                        </a:rPr>
                        <a:t>$45,720</a:t>
                      </a:r>
                    </a:p>
                  </a:txBody>
                  <a:tcPr>
                    <a:solidFill>
                      <a:srgbClr val="FFFFFF"/>
                    </a:solidFill>
                  </a:tcPr>
                </a:tc>
              </a:tr>
              <a:tr h="329184">
                <a:tc>
                  <a:txBody>
                    <a:bodyPr/>
                    <a:lstStyle/>
                    <a:p>
                      <a:r>
                        <a:rPr sz="1050">
                          <a:solidFill>
                            <a:srgbClr val="25342A"/>
                          </a:solidFill>
                        </a:rPr>
                        <a:t>Consultant wages and on-costs</a:t>
                      </a:r>
                    </a:p>
                  </a:txBody>
                  <a:tcPr>
                    <a:solidFill>
                      <a:srgbClr val="F7FAF7"/>
                    </a:solidFill>
                  </a:tcPr>
                </a:tc>
                <a:tc>
                  <a:txBody>
                    <a:bodyPr/>
                    <a:lstStyle/>
                    <a:p>
                      <a:pPr algn="r"/>
                      <a:r>
                        <a:rPr sz="1050">
                          <a:solidFill>
                            <a:srgbClr val="25342A"/>
                          </a:solidFill>
                        </a:rPr>
                        <a:t>$38,750</a:t>
                      </a:r>
                    </a:p>
                  </a:txBody>
                  <a:tcPr>
                    <a:solidFill>
                      <a:srgbClr val="F7FAF7"/>
                    </a:solidFill>
                  </a:tcPr>
                </a:tc>
              </a:tr>
              <a:tr h="329184">
                <a:tc>
                  <a:txBody>
                    <a:bodyPr/>
                    <a:lstStyle/>
                    <a:p>
                      <a:r>
                        <a:rPr sz="1050">
                          <a:solidFill>
                            <a:srgbClr val="25342A"/>
                          </a:solidFill>
                        </a:rPr>
                        <a:t>Consultant time charged to client work (at cost)</a:t>
                      </a:r>
                    </a:p>
                  </a:txBody>
                  <a:tcPr>
                    <a:solidFill>
                      <a:srgbClr val="FFFFFF"/>
                    </a:solidFill>
                  </a:tcPr>
                </a:tc>
                <a:tc>
                  <a:txBody>
                    <a:bodyPr/>
                    <a:lstStyle/>
                    <a:p>
                      <a:pPr algn="r"/>
                      <a:r>
                        <a:rPr sz="1050">
                          <a:solidFill>
                            <a:srgbClr val="25342A"/>
                          </a:solidFill>
                        </a:rPr>
                        <a:t>$23,340</a:t>
                      </a:r>
                    </a:p>
                  </a:txBody>
                  <a:tcPr>
                    <a:solidFill>
                      <a:srgbClr val="FFFFFF"/>
                    </a:solidFill>
                  </a:tcPr>
                </a:tc>
              </a:tr>
              <a:tr h="329184">
                <a:tc>
                  <a:txBody>
                    <a:bodyPr/>
                    <a:lstStyle/>
                    <a:p>
                      <a:r>
                        <a:rPr sz="1050">
                          <a:solidFill>
                            <a:srgbClr val="25342A"/>
                          </a:solidFill>
                        </a:rPr>
                        <a:t>Consultant time not charged to client work</a:t>
                      </a:r>
                    </a:p>
                  </a:txBody>
                  <a:tcPr>
                    <a:solidFill>
                      <a:srgbClr val="F7FAF7"/>
                    </a:solidFill>
                  </a:tcPr>
                </a:tc>
                <a:tc>
                  <a:txBody>
                    <a:bodyPr/>
                    <a:lstStyle/>
                    <a:p>
                      <a:pPr algn="r"/>
                      <a:r>
                        <a:rPr sz="1050">
                          <a:solidFill>
                            <a:srgbClr val="25342A"/>
                          </a:solidFill>
                        </a:rPr>
                        <a:t>$15,410</a:t>
                      </a:r>
                    </a:p>
                  </a:txBody>
                  <a:tcPr>
                    <a:solidFill>
                      <a:srgbClr val="F7FAF7"/>
                    </a:solidFill>
                  </a:tcPr>
                </a:tc>
              </a:tr>
              <a:tr h="329184">
                <a:tc>
                  <a:txBody>
                    <a:bodyPr/>
                    <a:lstStyle/>
                    <a:p>
                      <a:r>
                        <a:rPr sz="1050">
                          <a:solidFill>
                            <a:srgbClr val="25342A"/>
                          </a:solidFill>
                        </a:rPr>
                        <a:t>Gross profit (the P&amp;L)</a:t>
                      </a:r>
                    </a:p>
                  </a:txBody>
                  <a:tcPr>
                    <a:solidFill>
                      <a:srgbClr val="FFFFFF"/>
                    </a:solidFill>
                  </a:tcPr>
                </a:tc>
                <a:tc>
                  <a:txBody>
                    <a:bodyPr/>
                    <a:lstStyle/>
                    <a:p>
                      <a:pPr algn="r"/>
                      <a:r>
                        <a:rPr sz="1050">
                          <a:solidFill>
                            <a:srgbClr val="25342A"/>
                          </a:solidFill>
                        </a:rPr>
                        <a:t>$30,310</a:t>
                      </a:r>
                    </a:p>
                  </a:txBody>
                  <a:tcPr>
                    <a:solidFill>
                      <a:srgbClr val="FFFFFF"/>
                    </a:solidFill>
                  </a:tcPr>
                </a:tc>
              </a:tr>
              <a:tr h="329184">
                <a:tc>
                  <a:txBody>
                    <a:bodyPr/>
                    <a:lstStyle/>
                    <a:p>
                      <a:r>
                        <a:rPr sz="1050">
                          <a:solidFill>
                            <a:srgbClr val="25342A"/>
                          </a:solidFill>
                        </a:rPr>
                        <a:t>Overheads (operating expenses, depreciation, interest)</a:t>
                      </a:r>
                    </a:p>
                  </a:txBody>
                  <a:tcPr>
                    <a:solidFill>
                      <a:srgbClr val="F7FAF7"/>
                    </a:solidFill>
                  </a:tcPr>
                </a:tc>
                <a:tc>
                  <a:txBody>
                    <a:bodyPr/>
                    <a:lstStyle/>
                    <a:p>
                      <a:pPr algn="r"/>
                      <a:r>
                        <a:rPr sz="1050">
                          <a:solidFill>
                            <a:srgbClr val="25342A"/>
                          </a:solidFill>
                        </a:rPr>
                        <a:t>$51,070</a:t>
                      </a:r>
                    </a:p>
                  </a:txBody>
                  <a:tcPr>
                    <a:solidFill>
                      <a:srgbClr val="F7FAF7"/>
                    </a:solidFill>
                  </a:tcPr>
                </a:tc>
              </a:tr>
              <a:tr h="329184">
                <a:tc>
                  <a:txBody>
                    <a:bodyPr/>
                    <a:lstStyle/>
                    <a:p>
                      <a:r>
                        <a:rPr sz="1050">
                          <a:solidFill>
                            <a:srgbClr val="25342A"/>
                          </a:solidFill>
                        </a:rPr>
                        <a:t>Profit before tax (the P&amp;L)</a:t>
                      </a:r>
                    </a:p>
                  </a:txBody>
                  <a:tcPr>
                    <a:solidFill>
                      <a:srgbClr val="FFFFFF"/>
                    </a:solidFill>
                  </a:tcPr>
                </a:tc>
                <a:tc>
                  <a:txBody>
                    <a:bodyPr/>
                    <a:lstStyle/>
                    <a:p>
                      <a:pPr algn="r"/>
                      <a:r>
                        <a:rPr sz="1050">
                          <a:solidFill>
                            <a:srgbClr val="B42318"/>
                          </a:solidFill>
                        </a:rPr>
                        <a:t>($20,760)</a:t>
                      </a:r>
                    </a:p>
                  </a:txBody>
                  <a:tcPr>
                    <a:solidFill>
                      <a:srgbClr val="FFFFFF"/>
                    </a:solidFill>
                  </a:tcPr>
                </a:tc>
              </a:tr>
              <a:tr h="329184">
                <a:tc>
                  <a:txBody>
                    <a:bodyPr/>
                    <a:lstStyle/>
                    <a:p>
                      <a:r>
                        <a:rPr sz="1050">
                          <a:solidFill>
                            <a:srgbClr val="25342A"/>
                          </a:solidFill>
                        </a:rPr>
                        <a:t>Revenue</a:t>
                      </a:r>
                    </a:p>
                  </a:txBody>
                  <a:tcPr>
                    <a:solidFill>
                      <a:srgbClr val="F7FAF7"/>
                    </a:solidFill>
                  </a:tcPr>
                </a:tc>
                <a:tc>
                  <a:txBody>
                    <a:bodyPr/>
                    <a:lstStyle/>
                    <a:p>
                      <a:pPr algn="r"/>
                      <a:r>
                        <a:rPr sz="1050">
                          <a:solidFill>
                            <a:srgbClr val="25342A"/>
                          </a:solidFill>
                        </a:rPr>
                        <a:t>$71,260</a:t>
                      </a:r>
                    </a:p>
                  </a:txBody>
                  <a:tcPr>
                    <a:solidFill>
                      <a:srgbClr val="F7FAF7"/>
                    </a:solidFill>
                  </a:tcPr>
                </a:tc>
              </a:tr>
              <a:tr h="329184">
                <a:tc>
                  <a:txBody>
                    <a:bodyPr/>
                    <a:lstStyle/>
                    <a:p>
                      <a:r>
                        <a:rPr sz="1050">
                          <a:solidFill>
                            <a:srgbClr val="25342A"/>
                          </a:solidFill>
                        </a:rPr>
                        <a:t>Gross margin on client work, %</a:t>
                      </a:r>
                    </a:p>
                  </a:txBody>
                  <a:tcPr>
                    <a:solidFill>
                      <a:srgbClr val="FFFFFF"/>
                    </a:solidFill>
                  </a:tcPr>
                </a:tc>
                <a:tc>
                  <a:txBody>
                    <a:bodyPr/>
                    <a:lstStyle/>
                    <a:p>
                      <a:pPr algn="r"/>
                      <a:r>
                        <a:rPr sz="1050">
                          <a:solidFill>
                            <a:srgbClr val="25342A"/>
                          </a:solidFill>
                        </a:rPr>
                        <a:t>64.2%</a:t>
                      </a:r>
                    </a:p>
                  </a:txBody>
                  <a:tcPr>
                    <a:solidFill>
                      <a:srgbClr val="FFFFFF"/>
                    </a:solidFill>
                  </a:tcPr>
                </a:tc>
              </a:tr>
              <a:tr h="329184">
                <a:tc>
                  <a:txBody>
                    <a:bodyPr/>
                    <a:lstStyle/>
                    <a:p>
                      <a:r>
                        <a:rPr sz="1050">
                          <a:solidFill>
                            <a:srgbClr val="25342A"/>
                          </a:solidFill>
                        </a:rPr>
                        <a:t>Profit before tax, % of revenue</a:t>
                      </a:r>
                    </a:p>
                  </a:txBody>
                  <a:tcPr>
                    <a:solidFill>
                      <a:srgbClr val="F7FAF7"/>
                    </a:solidFill>
                  </a:tcPr>
                </a:tc>
                <a:tc>
                  <a:txBody>
                    <a:bodyPr/>
                    <a:lstStyle/>
                    <a:p>
                      <a:pPr algn="r"/>
                      <a:r>
                        <a:rPr sz="1050">
                          <a:solidFill>
                            <a:srgbClr val="B42318"/>
                          </a:solidFill>
                        </a:rPr>
                        <a:t>(29.1%)</a:t>
                      </a:r>
                    </a:p>
                  </a:txBody>
                  <a:tcPr>
                    <a:solidFill>
                      <a:srgbClr val="F7FAF7"/>
                    </a:solidFill>
                  </a:tcPr>
                </a:tc>
              </a:tr>
              <a:tr h="329184">
                <a:tc>
                  <a:txBody>
                    <a:bodyPr/>
                    <a:lstStyle/>
                    <a:p>
                      <a:r>
                        <a:rPr sz="1050">
                          <a:solidFill>
                            <a:srgbClr val="25342A"/>
                          </a:solidFill>
                        </a:rPr>
                        <a:t>Gross margin client work need just to cover overheads and time not charged</a:t>
                      </a:r>
                    </a:p>
                  </a:txBody>
                  <a:tcPr>
                    <a:solidFill>
                      <a:srgbClr val="FFFFFF"/>
                    </a:solidFill>
                  </a:tcPr>
                </a:tc>
                <a:tc>
                  <a:txBody>
                    <a:bodyPr/>
                    <a:lstStyle/>
                    <a:p>
                      <a:pPr algn="r"/>
                      <a:r>
                        <a:rPr sz="1050">
                          <a:solidFill>
                            <a:srgbClr val="25342A"/>
                          </a:solidFill>
                        </a:rPr>
                        <a:t>93.3%</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B42318"/>
                </a:solidFill>
                <a:latin typeface="Arial"/>
              </a:rPr>
              <a:t>(24.6%)</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$71,260 against $94,520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$278,590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64.1%</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$178,590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Revenue is $278,590 this financial year to date (Jul to Oct 2025). Training makes the highest gross margin (78.0%); Projects the lowest (61.8%). The business needs 93.3%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Training: 78.0% gross margin, the most profitable work you do. Projects: 61.8% gross margin, below the 93.3%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B42318"/>
                </a:solidFill>
                <a:latin typeface="Arial"/>
              </a:rPr>
              <a:t>(35.2%)</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$45,860 against $70,720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$187,490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61.8%</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$115,930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Projects brought in $187,490 this financial year to date, at a 61.8% gross margin (below the 64.1%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Projects: 61.8% gross margin, below the 93.3%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8.7%</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$16,300 against $15,000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$65,200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65.1%</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$42,460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Retainers brought in $65,200 this financial year to date, at a 65.1% gross margin (above the 64.1%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Retainers: 65.1% gross margin, below the 93.3%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October against October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3.4%</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$9,100 against $8,800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Oct 2025)</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$25,900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78.0%</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$20,200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Training brought in $25,900 this financial year to date, at a 78.0% gross margin (above the 64.1%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Training: 78.0% gross margin, below the 93.3%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By type of work: financial year to date (Jul to Oct 2025)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txBody>
                  <a:tcPr>
                    <a:solidFill>
                      <a:srgbClr val="2F7A5D"/>
                    </a:solidFill>
                  </a:tcPr>
                </a:tc>
                <a:tc>
                  <a:txBody>
                    <a:bodyPr/>
                    <a:lstStyle/>
                    <a:p>
                      <a:pPr algn="r"/>
                      <a:r>
                        <a:rPr sz="1100" b="1">
                          <a:solidFill>
                            <a:srgbClr val="FFFFFF"/>
                          </a:solidFill>
                        </a:rPr>
                        <a:t>Year to date</a:t>
                      </a:r>
                    </a:p>
                  </a:txBody>
                  <a:tcPr>
                    <a:solidFill>
                      <a:srgbClr val="2F7A5D"/>
                    </a:solidFill>
                  </a:tcPr>
                </a:tc>
                <a:tc>
                  <a:txBody>
                    <a:bodyPr/>
                    <a:lstStyle/>
                    <a:p>
                      <a:pPr algn="r"/>
                      <a:r>
                        <a:rPr sz="1100" b="1">
                          <a:solidFill>
                            <a:srgbClr val="FFFFFF"/>
                          </a:solidFill>
                        </a:rPr>
                        <a:t>Same period last year</a:t>
                      </a:r>
                    </a:p>
                  </a:txBody>
                  <a:tcPr>
                    <a:solidFill>
                      <a:srgbClr val="2F7A5D"/>
                    </a:solidFill>
                  </a:tcPr>
                </a:tc>
                <a:tc>
                  <a:txBody>
                    <a:bodyPr/>
                    <a:lstStyle/>
                    <a:p>
                      <a:pPr algn="r"/>
                      <a:r>
                        <a:rPr sz="1100" b="1">
                          <a:solidFill>
                            <a:srgbClr val="FFFFFF"/>
                          </a:solidFill>
                        </a:rPr>
                        <a:t>Growth</a:t>
                      </a:r>
                    </a:p>
                  </a:txBody>
                  <a:tcPr>
                    <a:solidFill>
                      <a:srgbClr val="2F7A5D"/>
                    </a:solidFill>
                  </a:tcPr>
                </a:tc>
                <a:tc>
                  <a:txBody>
                    <a:bodyPr/>
                    <a:lstStyle/>
                    <a:p>
                      <a:pPr algn="r"/>
                      <a:r>
                        <a:rPr sz="1100" b="1">
                          <a:solidFill>
                            <a:srgbClr val="FFFFFF"/>
                          </a:solidFill>
                        </a:rPr>
                        <a:t>Gross margin $</a:t>
                      </a:r>
                    </a:p>
                  </a:txBody>
                  <a:tcPr>
                    <a:solidFill>
                      <a:srgbClr val="2F7A5D"/>
                    </a:solidFill>
                  </a:tcPr>
                </a:tc>
                <a:tc>
                  <a:txBody>
                    <a:bodyPr/>
                    <a:lstStyle/>
                    <a:p>
                      <a:pPr algn="r"/>
                      <a:r>
                        <a:rPr sz="1100" b="1">
                          <a:solidFill>
                            <a:srgbClr val="FFFFFF"/>
                          </a:solidFill>
                        </a:rPr>
                        <a:t>Gross margin %</a:t>
                      </a:r>
                    </a:p>
                  </a:txBody>
                  <a:tcPr>
                    <a:solidFill>
                      <a:srgbClr val="2F7A5D"/>
                    </a:solidFill>
                  </a:tcPr>
                </a:tc>
              </a:tr>
              <a:tr h="329184">
                <a:tc>
                  <a:txBody>
                    <a:bodyPr/>
                    <a:lstStyle/>
                    <a:p>
                      <a:r>
                        <a:rPr sz="1050">
                          <a:solidFill>
                            <a:srgbClr val="25342A"/>
                          </a:solidFill>
                        </a:rPr>
                        <a:t>Projects</a:t>
                      </a:r>
                    </a:p>
                  </a:txBody>
                  <a:tcPr>
                    <a:solidFill>
                      <a:srgbClr val="FFFFFF"/>
                    </a:solidFill>
                  </a:tcPr>
                </a:tc>
                <a:tc>
                  <a:txBody>
                    <a:bodyPr/>
                    <a:lstStyle/>
                    <a:p>
                      <a:pPr algn="r"/>
                      <a:r>
                        <a:rPr sz="1050">
                          <a:solidFill>
                            <a:srgbClr val="25342A"/>
                          </a:solidFill>
                        </a:rPr>
                        <a:t>$187,490</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$115,930</a:t>
                      </a:r>
                    </a:p>
                  </a:txBody>
                  <a:tcPr>
                    <a:solidFill>
                      <a:srgbClr val="FFFFFF"/>
                    </a:solidFill>
                  </a:tcPr>
                </a:tc>
                <a:tc>
                  <a:txBody>
                    <a:bodyPr/>
                    <a:lstStyle/>
                    <a:p>
                      <a:pPr algn="r"/>
                      <a:r>
                        <a:rPr sz="1050">
                          <a:solidFill>
                            <a:srgbClr val="25342A"/>
                          </a:solidFill>
                        </a:rPr>
                        <a:t>61.8%</a:t>
                      </a:r>
                    </a:p>
                  </a:txBody>
                  <a:tcPr>
                    <a:solidFill>
                      <a:srgbClr val="FFFFFF"/>
                    </a:solidFill>
                  </a:tcPr>
                </a:tc>
              </a:tr>
              <a:tr h="329184">
                <a:tc>
                  <a:txBody>
                    <a:bodyPr/>
                    <a:lstStyle/>
                    <a:p>
                      <a:r>
                        <a:rPr sz="1050">
                          <a:solidFill>
                            <a:srgbClr val="25342A"/>
                          </a:solidFill>
                        </a:rPr>
                        <a:t>Retainers</a:t>
                      </a:r>
                    </a:p>
                  </a:txBody>
                  <a:tcPr>
                    <a:solidFill>
                      <a:srgbClr val="F7FAF7"/>
                    </a:solidFill>
                  </a:tcPr>
                </a:tc>
                <a:tc>
                  <a:txBody>
                    <a:bodyPr/>
                    <a:lstStyle/>
                    <a:p>
                      <a:pPr algn="r"/>
                      <a:r>
                        <a:rPr sz="1050">
                          <a:solidFill>
                            <a:srgbClr val="25342A"/>
                          </a:solidFill>
                        </a:rPr>
                        <a:t>$65,200</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$42,460</a:t>
                      </a:r>
                    </a:p>
                  </a:txBody>
                  <a:tcPr>
                    <a:solidFill>
                      <a:srgbClr val="F7FAF7"/>
                    </a:solidFill>
                  </a:tcPr>
                </a:tc>
                <a:tc>
                  <a:txBody>
                    <a:bodyPr/>
                    <a:lstStyle/>
                    <a:p>
                      <a:pPr algn="r"/>
                      <a:r>
                        <a:rPr sz="1050">
                          <a:solidFill>
                            <a:srgbClr val="25342A"/>
                          </a:solidFill>
                        </a:rPr>
                        <a:t>65.1%</a:t>
                      </a:r>
                    </a:p>
                  </a:txBody>
                  <a:tcPr>
                    <a:solidFill>
                      <a:srgbClr val="F7FAF7"/>
                    </a:solidFill>
                  </a:tcPr>
                </a:tc>
              </a:tr>
              <a:tr h="329184">
                <a:tc>
                  <a:txBody>
                    <a:bodyPr/>
                    <a:lstStyle/>
                    <a:p>
                      <a:r>
                        <a:rPr sz="1050">
                          <a:solidFill>
                            <a:srgbClr val="25342A"/>
                          </a:solidFill>
                        </a:rPr>
                        <a:t>Training</a:t>
                      </a:r>
                    </a:p>
                  </a:txBody>
                  <a:tcPr>
                    <a:solidFill>
                      <a:srgbClr val="FFFFFF"/>
                    </a:solidFill>
                  </a:tcPr>
                </a:tc>
                <a:tc>
                  <a:txBody>
                    <a:bodyPr/>
                    <a:lstStyle/>
                    <a:p>
                      <a:pPr algn="r"/>
                      <a:r>
                        <a:rPr sz="1050">
                          <a:solidFill>
                            <a:srgbClr val="25342A"/>
                          </a:solidFill>
                        </a:rPr>
                        <a:t>$25,900</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$20,200</a:t>
                      </a:r>
                    </a:p>
                  </a:txBody>
                  <a:tcPr>
                    <a:solidFill>
                      <a:srgbClr val="FFFFFF"/>
                    </a:solidFill>
                  </a:tcPr>
                </a:tc>
                <a:tc>
                  <a:txBody>
                    <a:bodyPr/>
                    <a:lstStyle/>
                    <a:p>
                      <a:pPr algn="r"/>
                      <a:r>
                        <a:rPr sz="1050">
                          <a:solidFill>
                            <a:srgbClr val="25342A"/>
                          </a:solidFill>
                        </a:rPr>
                        <a:t>78.0%</a:t>
                      </a:r>
                    </a:p>
                  </a:txBody>
                  <a:tcPr>
                    <a:solidFill>
                      <a:srgbClr val="FFFFFF"/>
                    </a:solidFill>
                  </a:tcPr>
                </a:tc>
              </a:tr>
              <a:tr h="329184">
                <a:tc>
                  <a:txBody>
                    <a:bodyPr/>
                    <a:lstStyle/>
                    <a:p>
                      <a:r>
                        <a:rPr sz="1050" b="1">
                          <a:solidFill>
                            <a:srgbClr val="25342A"/>
                          </a:solidFill>
                        </a:rPr>
                        <a:t>Total</a:t>
                      </a:r>
                    </a:p>
                  </a:txBody>
                  <a:tcPr>
                    <a:solidFill>
                      <a:srgbClr val="F7FAF7"/>
                    </a:solidFill>
                  </a:tcPr>
                </a:tc>
                <a:tc>
                  <a:txBody>
                    <a:bodyPr/>
                    <a:lstStyle/>
                    <a:p>
                      <a:pPr algn="r"/>
                      <a:r>
                        <a:rPr sz="1050" b="1">
                          <a:solidFill>
                            <a:srgbClr val="25342A"/>
                          </a:solidFill>
                        </a:rPr>
                        <a:t>$278,590</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$178,590</a:t>
                      </a:r>
                    </a:p>
                  </a:txBody>
                  <a:tcPr>
                    <a:solidFill>
                      <a:srgbClr val="F7FAF7"/>
                    </a:solidFill>
                  </a:tcPr>
                </a:tc>
                <a:tc>
                  <a:txBody>
                    <a:bodyPr/>
                    <a:lstStyle/>
                    <a:p>
                      <a:pPr algn="r"/>
                      <a:r>
                        <a:rPr sz="1050" b="1">
                          <a:solidFill>
                            <a:srgbClr val="25342A"/>
                          </a:solidFill>
                        </a:rPr>
                        <a:t>64.1%</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