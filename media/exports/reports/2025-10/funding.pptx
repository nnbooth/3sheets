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ayout>
        <c:manualLayout>
          <c:layoutTarget val="inner"/>
          <c:xMode val="edge"/>
          <c:yMode val="edge"/>
          <c:x val="0.3"/>
          <c:y val="0.03"/>
          <c:w val="0.58"/>
          <c:h val="0.88"/>
        </c:manualLayout>
      </c:layout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Cost to raise a dollar</c:v>
                </c:pt>
              </c:strCache>
            </c:strRef>
          </c:tx>
          <c:dPt>
            <c:idx val="0"/>
            <c:spPr>
              <a:solidFill>
                <a:srgbClr val="0E9F6E"/>
              </a:solidFill>
            </c:spPr>
          </c:dPt>
          <c:dPt>
            <c:idx val="1"/>
            <c:spPr>
              <a:solidFill>
                <a:srgbClr val="0E9F6E"/>
              </a:solidFill>
            </c:spPr>
          </c:dPt>
          <c:cat>
            <c:strRef>
              <c:f>Sheet1!$A$2:$A$3</c:f>
              <c:strCache>
                <c:ptCount val="2"/>
                <c:pt idx="0">
                  <c:v>Grants</c:v>
                </c:pt>
                <c:pt idx="1">
                  <c:v>Donations</c:v>
                </c:pt>
              </c:strCache>
            </c:strRef>
          </c:cat>
          <c:val>
            <c:numRef>
              <c:f>Sheet1!$B$2:$B$3</c:f>
              <c:numCache>
                <c:formatCode>0"¢";[Red](0"¢")</c:formatCode>
                <c:ptCount val="2"/>
                <c:pt idx="0">
                  <c:v>10</c:v>
                </c:pt>
                <c:pt idx="1">
                  <c:v>14</c:v>
                </c:pt>
              </c:numCache>
            </c:numRef>
          </c:val>
        </c:ser>
        <c:dLbls>
          <c:numFmt formatCode="0&quot;¢&quot;;[Red](0&quot;¢&quot;)" sourceLinked="0"/>
          <c:txPr>
            <a:bodyPr/>
            <a:lstStyle/>
            <a:p>
              <a:pPr>
                <a:defRPr sz="10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1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6.099999999999998"/>
          <c:min val="0.0"/>
        </c:scaling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>
          <a:latin typeface="Roboto"/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>
        <c:manualLayout>
          <c:layoutTarget val="inner"/>
          <c:xMode val="edge"/>
          <c:yMode val="edge"/>
          <c:x val="0.11"/>
          <c:y val="0.05"/>
          <c:w val="0.86"/>
          <c:h val="0.8"/>
        </c:manualLayout>
      </c:layout>
      <c:area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Raised $</c:v>
                </c:pt>
              </c:strCache>
            </c:strRef>
          </c:tx>
          <c:spPr>
            <a:solidFill>
              <a:srgbClr val="0E9F6E">
                <a:alpha val="25000"/>
              </a:srgbClr>
            </a:solidFill>
            <a:ln w="31750">
              <a:solidFill>
                <a:srgbClr val="0E9F6E"/>
              </a:solidFill>
            </a:ln>
          </c:spPr>
          <c:cat>
            <c:strRef>
              <c:f>Sheet1!$A$2:$A$14</c:f>
              <c:strCache>
                <c:ptCount val="13"/>
                <c:pt idx="0">
                  <c:v>Oct 24</c:v>
                </c:pt>
                <c:pt idx="1">
                  <c:v>Nov 24</c:v>
                </c:pt>
                <c:pt idx="2">
                  <c:v>Dec 24</c:v>
                </c:pt>
                <c:pt idx="3">
                  <c:v>Jan 25</c:v>
                </c:pt>
                <c:pt idx="4">
                  <c:v>Feb 25</c:v>
                </c:pt>
                <c:pt idx="5">
                  <c:v>Mar 25</c:v>
                </c:pt>
                <c:pt idx="6">
                  <c:v>Apr 25</c:v>
                </c:pt>
                <c:pt idx="7">
                  <c:v>May 25</c:v>
                </c:pt>
                <c:pt idx="8">
                  <c:v>Jun 25</c:v>
                </c:pt>
                <c:pt idx="9">
                  <c:v>Jul 25</c:v>
                </c:pt>
                <c:pt idx="10">
                  <c:v>Aug 25</c:v>
                </c:pt>
                <c:pt idx="11">
                  <c:v>Sep 25</c:v>
                </c:pt>
                <c:pt idx="12">
                  <c:v>Oct 25</c:v>
                </c:pt>
              </c:strCache>
            </c:strRef>
          </c:cat>
          <c:val>
            <c:numRef>
              <c:f>Sheet1!$B$2:$B$14</c:f>
              <c:numCache>
                <c:formatCode>$#,##0;[Red]($#,##0);"-"</c:formatCode>
                <c:ptCount val="13"/>
                <c:pt idx="0">
                  <c:v>26600</c:v>
                </c:pt>
                <c:pt idx="1">
                  <c:v>31800</c:v>
                </c:pt>
                <c:pt idx="2">
                  <c:v>29700</c:v>
                </c:pt>
                <c:pt idx="3">
                  <c:v>62700</c:v>
                </c:pt>
                <c:pt idx="4">
                  <c:v>61700</c:v>
                </c:pt>
                <c:pt idx="5">
                  <c:v>54500</c:v>
                </c:pt>
                <c:pt idx="6">
                  <c:v>61500</c:v>
                </c:pt>
                <c:pt idx="7">
                  <c:v>61700</c:v>
                </c:pt>
                <c:pt idx="8">
                  <c:v>52200</c:v>
                </c:pt>
                <c:pt idx="9">
                  <c:v>59063</c:v>
                </c:pt>
                <c:pt idx="10">
                  <c:v>61544</c:v>
                </c:pt>
                <c:pt idx="11">
                  <c:v>62137</c:v>
                </c:pt>
                <c:pt idx="12">
                  <c:v>69185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-2101159928"/>
        <c:axId val="-2100718248"/>
      </c:areaChart>
      <c:catAx>
        <c:axId val="-2101159928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00718248"/>
        <c:crosses val="autoZero"/>
        <c:auto val="1"/>
        <c:lblAlgn val="ctr"/>
        <c:lblOffset val="100"/>
        <c:tickLblSkip val="2"/>
        <c:noMultiLvlLbl val="0"/>
      </c:catAx>
      <c:valAx>
        <c:axId val="-2100718248"/>
        <c:scaling>
          <c:orientation val="minMax"/>
          <c:max val="80000.0"/>
          <c:min val="0.0"/>
        </c:scaling>
        <c:delete val="0"/>
        <c:axPos val="l"/>
        <c:majorGridlines>
          <c:spPr>
            <a:ln>
              <a:solidFill>
                <a:srgbClr val="E6EAE7"/>
              </a:solidFill>
            </a:ln>
          </c:spPr>
        </c:majorGridlines>
        <c:numFmt formatCode="$#,##0;[Red]($#,##0);&quot;-&quot;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/>
            </a:pPr>
          </a:p>
        </c:txPr>
        <c:crossAx val="-2101159928"/>
        <c:crosses val="autoZero"/>
        <c:crossBetween val="midCat"/>
        <c:majorUnit val="20000.0"/>
      </c:valAx>
    </c:plotArea>
    <c:plotVisOnly val="1"/>
    <c:dispBlanksAs val="zero"/>
    <c:showDLblsOverMax val="0"/>
  </c:chart>
  <c:txPr>
    <a:bodyPr/>
    <a:lstStyle/>
    <a:p>
      <a:pPr>
        <a:defRPr sz="1800">
          <a:latin typeface="Roboto"/>
        </a:defRPr>
      </a:pPr>
      <a:endParaRPr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>
        <c:manualLayout>
          <c:layoutTarget val="inner"/>
          <c:xMode val="edge"/>
          <c:yMode val="edge"/>
          <c:x val="0.11"/>
          <c:y val="0.05"/>
          <c:w val="0.86"/>
          <c:h val="0.8"/>
        </c:manualLayout>
      </c:layout>
      <c:area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Raised $</c:v>
                </c:pt>
              </c:strCache>
            </c:strRef>
          </c:tx>
          <c:spPr>
            <a:solidFill>
              <a:srgbClr val="0E9F6E">
                <a:alpha val="25000"/>
              </a:srgbClr>
            </a:solidFill>
            <a:ln w="31750">
              <a:solidFill>
                <a:srgbClr val="0E9F6E"/>
              </a:solidFill>
            </a:ln>
          </c:spPr>
          <c:cat>
            <c:strRef>
              <c:f>Sheet1!$A$2:$A$14</c:f>
              <c:strCache>
                <c:ptCount val="13"/>
                <c:pt idx="0">
                  <c:v>Oct 24</c:v>
                </c:pt>
                <c:pt idx="1">
                  <c:v>Nov 24</c:v>
                </c:pt>
                <c:pt idx="2">
                  <c:v>Dec 24</c:v>
                </c:pt>
                <c:pt idx="3">
                  <c:v>Jan 25</c:v>
                </c:pt>
                <c:pt idx="4">
                  <c:v>Feb 25</c:v>
                </c:pt>
                <c:pt idx="5">
                  <c:v>Mar 25</c:v>
                </c:pt>
                <c:pt idx="6">
                  <c:v>Apr 25</c:v>
                </c:pt>
                <c:pt idx="7">
                  <c:v>May 25</c:v>
                </c:pt>
                <c:pt idx="8">
                  <c:v>Jun 25</c:v>
                </c:pt>
                <c:pt idx="9">
                  <c:v>Jul 25</c:v>
                </c:pt>
                <c:pt idx="10">
                  <c:v>Aug 25</c:v>
                </c:pt>
                <c:pt idx="11">
                  <c:v>Sep 25</c:v>
                </c:pt>
                <c:pt idx="12">
                  <c:v>Oct 25</c:v>
                </c:pt>
              </c:strCache>
            </c:strRef>
          </c:cat>
          <c:val>
            <c:numRef>
              <c:f>Sheet1!$B$2:$B$14</c:f>
              <c:numCache>
                <c:formatCode>$#,##0;[Red]($#,##0);"-"</c:formatCode>
                <c:ptCount val="13"/>
                <c:pt idx="0">
                  <c:v>15300</c:v>
                </c:pt>
                <c:pt idx="1">
                  <c:v>17700</c:v>
                </c:pt>
                <c:pt idx="2">
                  <c:v>24700</c:v>
                </c:pt>
                <c:pt idx="3">
                  <c:v>12400</c:v>
                </c:pt>
                <c:pt idx="4">
                  <c:v>15600</c:v>
                </c:pt>
                <c:pt idx="5">
                  <c:v>15700</c:v>
                </c:pt>
                <c:pt idx="6">
                  <c:v>15700</c:v>
                </c:pt>
                <c:pt idx="7">
                  <c:v>15800</c:v>
                </c:pt>
                <c:pt idx="8">
                  <c:v>38100</c:v>
                </c:pt>
                <c:pt idx="9">
                  <c:v>13500</c:v>
                </c:pt>
                <c:pt idx="10">
                  <c:v>16000</c:v>
                </c:pt>
                <c:pt idx="11">
                  <c:v>16100</c:v>
                </c:pt>
                <c:pt idx="12">
                  <c:v>16200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-2101159928"/>
        <c:axId val="-2100718248"/>
      </c:areaChart>
      <c:catAx>
        <c:axId val="-2101159928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00718248"/>
        <c:crosses val="autoZero"/>
        <c:auto val="1"/>
        <c:lblAlgn val="ctr"/>
        <c:lblOffset val="100"/>
        <c:tickLblSkip val="2"/>
        <c:noMultiLvlLbl val="0"/>
      </c:catAx>
      <c:valAx>
        <c:axId val="-2100718248"/>
        <c:scaling>
          <c:orientation val="minMax"/>
          <c:max val="40000.0"/>
          <c:min val="0.0"/>
        </c:scaling>
        <c:delete val="0"/>
        <c:axPos val="l"/>
        <c:majorGridlines>
          <c:spPr>
            <a:ln>
              <a:solidFill>
                <a:srgbClr val="E6EAE7"/>
              </a:solidFill>
            </a:ln>
          </c:spPr>
        </c:majorGridlines>
        <c:numFmt formatCode="$#,##0;[Red]($#,##0);&quot;-&quot;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/>
            </a:pPr>
          </a:p>
        </c:txPr>
        <c:crossAx val="-2101159928"/>
        <c:crosses val="autoZero"/>
        <c:crossBetween val="midCat"/>
        <c:majorUnit val="10000.0"/>
      </c:valAx>
    </c:plotArea>
    <c:plotVisOnly val="1"/>
    <c:dispBlanksAs val="zero"/>
    <c:showDLblsOverMax val="0"/>
  </c:chart>
  <c:txPr>
    <a:bodyPr/>
    <a:lstStyle/>
    <a:p>
      <a:pPr>
        <a:defRPr sz="1800">
          <a:latin typeface="Roboto"/>
        </a:defRPr>
      </a:pPr>
      <a:endParaRPr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>
        <c:manualLayout>
          <c:layoutTarget val="inner"/>
          <c:xMode val="edge"/>
          <c:yMode val="edge"/>
          <c:x val="0.11"/>
          <c:y val="0.05"/>
          <c:w val="0.86"/>
          <c:h val="0.8"/>
        </c:manualLayout>
      </c:layout>
      <c:area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Raised $</c:v>
                </c:pt>
              </c:strCache>
            </c:strRef>
          </c:tx>
          <c:spPr>
            <a:solidFill>
              <a:srgbClr val="0E9F6E">
                <a:alpha val="25000"/>
              </a:srgbClr>
            </a:solidFill>
            <a:ln w="31750">
              <a:solidFill>
                <a:srgbClr val="0E9F6E"/>
              </a:solidFill>
            </a:ln>
          </c:spPr>
          <c:cat>
            <c:strRef>
              <c:f>Sheet1!$A$2:$A$14</c:f>
              <c:strCache>
                <c:ptCount val="13"/>
                <c:pt idx="0">
                  <c:v>Oct 24</c:v>
                </c:pt>
                <c:pt idx="1">
                  <c:v>Nov 24</c:v>
                </c:pt>
                <c:pt idx="2">
                  <c:v>Dec 24</c:v>
                </c:pt>
                <c:pt idx="3">
                  <c:v>Jan 25</c:v>
                </c:pt>
                <c:pt idx="4">
                  <c:v>Feb 25</c:v>
                </c:pt>
                <c:pt idx="5">
                  <c:v>Mar 25</c:v>
                </c:pt>
                <c:pt idx="6">
                  <c:v>Apr 25</c:v>
                </c:pt>
                <c:pt idx="7">
                  <c:v>May 25</c:v>
                </c:pt>
                <c:pt idx="8">
                  <c:v>Jun 25</c:v>
                </c:pt>
                <c:pt idx="9">
                  <c:v>Jul 25</c:v>
                </c:pt>
                <c:pt idx="10">
                  <c:v>Aug 25</c:v>
                </c:pt>
                <c:pt idx="11">
                  <c:v>Sep 25</c:v>
                </c:pt>
                <c:pt idx="12">
                  <c:v>Oct 25</c:v>
                </c:pt>
              </c:strCache>
            </c:strRef>
          </c:cat>
          <c:val>
            <c:numRef>
              <c:f>Sheet1!$B$2:$B$14</c:f>
              <c:numCache>
                <c:formatCode>$#,##0;[Red]($#,##0);"-"</c:formatCode>
                <c:ptCount val="13"/>
                <c:pt idx="0">
                  <c:v>0</c:v>
                </c:pt>
                <c:pt idx="1">
                  <c:v>0</c:v>
                </c:pt>
                <c:pt idx="2">
                  <c:v>6200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36800</c:v>
                </c:pt>
                <c:pt idx="12">
                  <c:v>0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-2101159928"/>
        <c:axId val="-2100718248"/>
      </c:areaChart>
      <c:catAx>
        <c:axId val="-2101159928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00718248"/>
        <c:crosses val="autoZero"/>
        <c:auto val="1"/>
        <c:lblAlgn val="ctr"/>
        <c:lblOffset val="100"/>
        <c:tickLblSkip val="2"/>
        <c:noMultiLvlLbl val="0"/>
      </c:catAx>
      <c:valAx>
        <c:axId val="-2100718248"/>
        <c:scaling>
          <c:orientation val="minMax"/>
          <c:max val="40000.0"/>
          <c:min val="0.0"/>
        </c:scaling>
        <c:delete val="0"/>
        <c:axPos val="l"/>
        <c:majorGridlines>
          <c:spPr>
            <a:ln>
              <a:solidFill>
                <a:srgbClr val="E6EAE7"/>
              </a:solidFill>
            </a:ln>
          </c:spPr>
        </c:majorGridlines>
        <c:numFmt formatCode="$#,##0;[Red]($#,##0);&quot;-&quot;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/>
            </a:pPr>
          </a:p>
        </c:txPr>
        <c:crossAx val="-2101159928"/>
        <c:crosses val="autoZero"/>
        <c:crossBetween val="midCat"/>
        <c:majorUnit val="10000.0"/>
      </c:valAx>
    </c:plotArea>
    <c:plotVisOnly val="1"/>
    <c:dispBlanksAs val="zero"/>
    <c:showDLblsOverMax val="0"/>
  </c:chart>
  <c:txPr>
    <a:bodyPr/>
    <a:lstStyle/>
    <a:p>
      <a:pPr>
        <a:defRPr sz="1800">
          <a:latin typeface="Roboto"/>
        </a:defRPr>
      </a:pPr>
      <a:endParaRPr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Which funding is worth chasing?. Sample Community Services Ltd. Period: October 2025. Each source of money compared on what it raises and what it costs to raise. Pick a source and every chart, table row and note follows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All sources. In October it cost: Grants 10¢, donations 14¢ to raise each dollar. Cheapest to raise in October: grants (10¢ a dollar). Dearest: donations (14¢). Events are worth counting for what else they bring too (new donors, profile).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Grants. Grants: $251,929 raised this financial year to date (71.9% of everything raised), $28,400 to raise it, so $223,529 left for programs: 11¢ per dollar. Most of the money, and usually the cheapest to raise, starting with grants that renew.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Donations. Donations: $61,800 raised this financial year to date (17.6% of everything raised), $8,800 to raise it, so $53,000 left for programs: 14¢ per dollar. Cheap and flexible (untied): the money that builds reserves.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Fundraising events. Fundraising events: $36,800 raised this financial year to date (10.5% of everything raised), $15,200 to raise it, so $21,600 left for programs: 41¢ per dollar. The dearest per dollar: worth measuring the new donors each event brings in too.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Financial year to date (Jul to Oct 2025), by source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.xml"/><Relationship Id="rId3" Type="http://schemas.openxmlformats.org/officeDocument/2006/relationships/chart" Target="../charts/chart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.xml"/><Relationship Id="rId3" Type="http://schemas.openxmlformats.org/officeDocument/2006/relationships/chart" Target="../charts/char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4.xml"/><Relationship Id="rId3" Type="http://schemas.openxmlformats.org/officeDocument/2006/relationships/chart" Target="../charts/chart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5.xml"/><Relationship Id="rId3" Type="http://schemas.openxmlformats.org/officeDocument/2006/relationships/chart" Target="../charts/chart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457200" y="1965960"/>
            <a:ext cx="11277295" cy="1097280"/>
          </a:xfrm>
        </p:spPr>
        <p:txBody>
          <a:bodyPr wrap="square"/>
          <a:lstStyle/>
          <a:p>
            <a:pPr algn="l">
              <a:defRPr>
                <a:latin typeface="Roboto"/>
              </a:defRPr>
            </a:pPr>
            <a:r>
              <a:rPr sz="3400" b="1">
                <a:solidFill>
                  <a:srgbClr val="25342A"/>
                </a:solidFill>
                <a:latin typeface="Roboto"/>
              </a:rPr>
              <a:t>Which funding is worth chasing?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548640"/>
            <a:ext cx="640080" cy="640080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>
                <a:latin typeface="Roboto"/>
              </a:defRPr>
            </a:pPr>
            <a:r>
              <a:rPr sz="1600" b="1">
                <a:solidFill>
                  <a:srgbClr val="FFFFFF"/>
                </a:solidFill>
                <a:latin typeface="Roboto"/>
              </a:rPr>
              <a:t>4th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34440" y="658368"/>
            <a:ext cx="548640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800" b="1">
                <a:solidFill>
                  <a:srgbClr val="25342A"/>
                </a:solidFill>
                <a:latin typeface="Roboto"/>
              </a:rPr>
              <a:t>The Fourth Sheet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554480"/>
            <a:ext cx="1097280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1">
                <a:solidFill>
                  <a:srgbClr val="8A7A52"/>
                </a:solidFill>
                <a:latin typeface="Roboto"/>
              </a:rPr>
              <a:t>SAMPLE DATA · invented figures for demonstration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154680"/>
            <a:ext cx="11277295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600" b="0">
                <a:solidFill>
                  <a:srgbClr val="5F6F63"/>
                </a:solidFill>
                <a:latin typeface="Roboto"/>
              </a:rPr>
              <a:t>Sample Community Services Ltd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703320"/>
            <a:ext cx="11277295" cy="5359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400" b="0">
                <a:solidFill>
                  <a:srgbClr val="25342A"/>
                </a:solidFill>
                <a:latin typeface="Roboto"/>
              </a:rPr>
              <a:t>Period: October 2025. Each source of money compared on what it raises and what it costs to raise. Pick a source and every chart, table row and note follows it.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4330700"/>
            <a:ext cx="11277295" cy="1097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How final is this data?</a:t>
            </a:r>
          </a:p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September 2025: Locked. September 2025 is locked (closed 2 Oct 2025). These numbers won't change.</a:t>
            </a:r>
          </a:p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October 2025: Locked. October 2025 is locked (closed 4 Nov 2025). These numbers won't change.</a:t>
            </a:r>
          </a:p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October 2026: Incomplete. October 2026 is still in progress: figures to 6 Oct only.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funding.pptx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8 Oct 2026, 9:35am · Sample data · Made with Python (python-pptx)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1 of 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All sources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Which funding is worth chasing?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Cost to raise a dollar, by source, October 2025 (cents)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457200" y="1278636"/>
          <a:ext cx="11277295" cy="1499616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7" name="Rectangle 6"/>
          <p:cNvSpPr/>
          <p:nvPr/>
        </p:nvSpPr>
        <p:spPr>
          <a:xfrm>
            <a:off x="457200" y="2869692"/>
            <a:ext cx="5501487" cy="109728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594360" y="2924556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3198876"/>
            <a:ext cx="5227167" cy="7315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In October it cost: Grants 10¢, donations 14¢ to raise each dollar.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33007" y="2869692"/>
            <a:ext cx="5501487" cy="109728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6370167" y="2924556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70167" y="3198876"/>
            <a:ext cx="5227167" cy="7315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Cheapest to raise in October: grants (10¢ a dollar). Dearest: donations (14¢). Events are worth counting for what else they bring too (new donors, profile).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funding.pptx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8 Oct 2026, 9:35am · Sample data · Made with Python (python-pptx)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2 of 6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Grants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Which funding is worth chasing?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Raised and left after costs, by month · Grants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457200" y="1278636"/>
          <a:ext cx="11277295" cy="384200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7" name="Rectangle 6"/>
          <p:cNvSpPr/>
          <p:nvPr/>
        </p:nvSpPr>
        <p:spPr>
          <a:xfrm>
            <a:off x="457200" y="5212080"/>
            <a:ext cx="5501487" cy="109728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594360" y="526694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5541264"/>
            <a:ext cx="5227167" cy="7315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Grants: $251,929 raised this financial year to date (71.9% of everything raised), $28,400 to raise it, so $223,529 left for programs: 11¢ per dollar.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33007" y="5212080"/>
            <a:ext cx="5501487" cy="109728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6370167" y="526694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70167" y="5541264"/>
            <a:ext cx="5227167" cy="7315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Most of the money, and usually the cheapest to raise, starting with grants that renew.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funding.pptx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8 Oct 2026, 9:35am · Sample data · Made with Python (python-pptx)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3 of 6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Donations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Which funding is worth chasing?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Raised and left after costs, by month · Donations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457200" y="1278636"/>
          <a:ext cx="11277295" cy="384200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7" name="Rectangle 6"/>
          <p:cNvSpPr/>
          <p:nvPr/>
        </p:nvSpPr>
        <p:spPr>
          <a:xfrm>
            <a:off x="457200" y="5212080"/>
            <a:ext cx="5501487" cy="109728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594360" y="526694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5541264"/>
            <a:ext cx="5227167" cy="7315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Donations: $61,800 raised this financial year to date (17.6% of everything raised), $8,800 to raise it, so $53,000 left for programs: 14¢ per dollar.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33007" y="5212080"/>
            <a:ext cx="5501487" cy="109728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6370167" y="526694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70167" y="5541264"/>
            <a:ext cx="5227167" cy="7315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Cheap and flexible (untied): the money that builds reserves.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funding.pptx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8 Oct 2026, 9:35am · Sample data · Made with Python (python-pptx)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4 of 6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Fundraising events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Which funding is worth chasing?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Raised and left after costs, by month · Fundraising events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457200" y="1278636"/>
          <a:ext cx="11277295" cy="384200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7" name="Rectangle 6"/>
          <p:cNvSpPr/>
          <p:nvPr/>
        </p:nvSpPr>
        <p:spPr>
          <a:xfrm>
            <a:off x="457200" y="5212080"/>
            <a:ext cx="5501487" cy="109728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594360" y="526694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5541264"/>
            <a:ext cx="5227167" cy="7315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Fundraising events: $36,800 raised this financial year to date (10.5% of everything raised), $15,200 to raise it, so $21,600 left for programs: 41¢ per dollar.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33007" y="5212080"/>
            <a:ext cx="5501487" cy="109728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6370167" y="526694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70167" y="5541264"/>
            <a:ext cx="5227167" cy="7315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The dearest per dollar: worth measuring the new donors each event brings in too.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funding.pptx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8 Oct 2026, 9:35am · Sample data · Made with Python (python-pptx)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5 of 6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Financial year to date (Jul to Oct 2025), by source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Which funding is worth chasing?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960120"/>
          <a:ext cx="11277295" cy="12435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55459"/>
                <a:gridCol w="2255459"/>
                <a:gridCol w="2255459"/>
                <a:gridCol w="2255459"/>
                <a:gridCol w="2255459"/>
              </a:tblGrid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Raised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Cost of raising it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Left after costs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Cost per $1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Grants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$251,929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$28,400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$223,529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11¢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Donations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$61,800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$8,800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$53,000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14¢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Fundraising events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$36,800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$15,200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$21,600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41¢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funding.pptx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8 Oct 2026, 9:35am · Sample data · Made with Python (python-pptx)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6 of 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25342A"/>
      </a:dk2>
      <a:lt2>
        <a:srgbClr val="F4F7F2"/>
      </a:lt2>
      <a:accent1>
        <a:srgbClr val="2F7A5D"/>
      </a:accent1>
      <a:accent2>
        <a:srgbClr val="0E9F6E"/>
      </a:accent2>
      <a:accent3>
        <a:srgbClr val="7D8790"/>
      </a:accent3>
      <a:accent4>
        <a:srgbClr val="8A6D3B"/>
      </a:accent4>
      <a:accent5>
        <a:srgbClr val="B42318"/>
      </a:accent5>
      <a:accent6>
        <a:srgbClr val="8E9CAB"/>
      </a:accent6>
      <a:hlink>
        <a:srgbClr val="0000FF"/>
      </a:hlink>
      <a:folHlink>
        <a:srgbClr val="800080"/>
      </a:folHlink>
    </a:clrScheme>
    <a:fontScheme name="Office">
      <a:majorFont>
        <a:latin typeface="Roboto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Roboto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