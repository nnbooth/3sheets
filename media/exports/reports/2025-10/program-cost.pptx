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cat>
            <c:strRef>
              <c:f>Sheet1!$A$2:$A$6</c:f>
              <c:strCache>
                <c:ptCount val="5"/>
                <c:pt idx="0">
                  <c:v>Community meals (2025-26)</c:v>
                </c:pt>
                <c:pt idx="1">
                  <c:v>Digital literacy</c:v>
                </c:pt>
                <c:pt idx="2">
                  <c:v>Emergency relief</c:v>
                </c:pt>
                <c:pt idx="3">
                  <c:v>Youth outreach</c:v>
                </c:pt>
                <c:pt idx="4">
                  <c:v>Housing support (2025)</c:v>
                </c:pt>
              </c:strCache>
            </c:strRef>
          </c:cat>
          <c:val>
            <c:numRef>
              <c:f>Sheet1!$B$2:$B$6</c:f>
              <c:numCache>
                <c:formatCode>$#,##0;[Red]($#,##0);"-"</c:formatCode>
                <c:ptCount val="5"/>
                <c:pt idx="0">
                  <c:v>5610</c:v>
                </c:pt>
                <c:pt idx="1">
                  <c:v>9046</c:v>
                </c:pt>
                <c:pt idx="2">
                  <c:v>21563</c:v>
                </c:pt>
                <c:pt idx="3">
                  <c:v>38436</c:v>
                </c:pt>
                <c:pt idx="4">
                  <c:v>46631</c:v>
                </c:pt>
              </c:numCache>
            </c:numRef>
          </c:val>
        </c:ser>
        <c:dLbls>
          <c:numFmt formatCode="$#,##0;[Red]($#,##0);&quot;-&quot;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cat>
            <c:strRef>
              <c:f>Sheet1!$A$2:$A$6</c:f>
              <c:strCache>
                <c:ptCount val="5"/>
                <c:pt idx="0">
                  <c:v>Community meals (2025-26)</c:v>
                </c:pt>
                <c:pt idx="1">
                  <c:v>Digital literacy</c:v>
                </c:pt>
                <c:pt idx="2">
                  <c:v>Emergency relief</c:v>
                </c:pt>
                <c:pt idx="3">
                  <c:v>Youth outreach</c:v>
                </c:pt>
                <c:pt idx="4">
                  <c:v>Housing support (2025)</c:v>
                </c:pt>
              </c:strCache>
            </c:strRef>
          </c:cat>
          <c:val>
            <c:numRef>
              <c:f>Sheet1!$B$2:$B$6</c:f>
              <c:numCache>
                <c:formatCode>0.0"%";[Red](0.0"%")</c:formatCode>
                <c:ptCount val="5"/>
                <c:pt idx="0">
                  <c:v>4.6</c:v>
                </c:pt>
                <c:pt idx="1">
                  <c:v>7.5</c:v>
                </c:pt>
                <c:pt idx="2">
                  <c:v>17.8</c:v>
                </c:pt>
                <c:pt idx="3">
                  <c:v>31.7</c:v>
                </c:pt>
                <c:pt idx="4">
                  <c:v>38.4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Sheet1!$A$2:$A$14</c:f>
              <c:strCache>
                <c:ptCount val="13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</c:strCache>
            </c:strRef>
          </c:cat>
          <c:val>
            <c:numRef>
              <c:f>Sheet1!$B$2:$B$14</c:f>
              <c:numCache>
                <c:formatCode>$#,##0;[Red]($#,##0);"-"</c:formatCode>
                <c:ptCount val="13"/>
                <c:pt idx="0">
                  <c:v>26600</c:v>
                </c:pt>
                <c:pt idx="1">
                  <c:v>31800</c:v>
                </c:pt>
                <c:pt idx="2">
                  <c:v>29700</c:v>
                </c:pt>
                <c:pt idx="3">
                  <c:v>62700</c:v>
                </c:pt>
                <c:pt idx="4">
                  <c:v>61700</c:v>
                </c:pt>
                <c:pt idx="5">
                  <c:v>54500</c:v>
                </c:pt>
                <c:pt idx="6">
                  <c:v>61500</c:v>
                </c:pt>
                <c:pt idx="7">
                  <c:v>61700</c:v>
                </c:pt>
                <c:pt idx="8">
                  <c:v>52200</c:v>
                </c:pt>
                <c:pt idx="9">
                  <c:v>59063</c:v>
                </c:pt>
                <c:pt idx="10">
                  <c:v>61544</c:v>
                </c:pt>
                <c:pt idx="11">
                  <c:v>62137</c:v>
                </c:pt>
                <c:pt idx="12">
                  <c:v>69185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noMultiLvlLbl val="0"/>
      </c:catAx>
      <c:valAx>
        <c:axId val="-2100718248"/>
        <c:scaling>
          <c:orientation val="minMax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</c:valAx>
    </c:plotArea>
    <c:plotVisOnly val="1"/>
    <c:dispBlanksAs val="zero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600" b="1">
                <a:solidFill>
                  <a:srgbClr val="FFFFFF"/>
                </a:solidFill>
              </a:rPr>
              <a:t>4th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25342A"/>
                </a:solidFill>
                <a:latin typeface="Arial"/>
              </a:rPr>
              <a:t>The 4th Sheet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7A52"/>
                </a:solidFill>
                <a:latin typeface="Arial"/>
              </a:rPr>
              <a:t>SAMPLE DATA · invented figures for demonstration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25342A"/>
                </a:solidFill>
                <a:latin typeface="Arial"/>
              </a:rPr>
              <a:t>What does each program really cost?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5F6F63"/>
                </a:solidFill>
                <a:latin typeface="Arial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25342A"/>
                </a:solidFill>
                <a:latin typeface="Arial"/>
              </a:rPr>
              <a:t>Period: October 2025. Each program's full cost: what its grant pays for, plus its fair share of the costs no single grant covers (untied program costs and administration, shared by grant spending). Pick a program and every chart and note follows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93776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F6F63"/>
                </a:solidFill>
                <a:latin typeface="Arial"/>
              </a:rPr>
              <a:t>How final is this data?</a:t>
            </a:r>
          </a:p>
          <a:p>
            <a:r>
              <a:rPr sz="1100" b="0">
                <a:solidFill>
                  <a:srgbClr val="5F6F63"/>
                </a:solidFill>
                <a:latin typeface="Arial"/>
              </a:rPr>
              <a:t>September 2025: Locked. September 2025 is locked (closed 2 Oct 2025). These numbers won't change.</a:t>
            </a:r>
          </a:p>
          <a:p>
            <a:r>
              <a:rPr sz="1100" b="0">
                <a:solidFill>
                  <a:srgbClr val="5F6F63"/>
                </a:solidFill>
                <a:latin typeface="Arial"/>
              </a:rPr>
              <a:t>October 2025: Locked. October 2025 is locked (closed 4 Nov 2025). These numbers won't change.</a:t>
            </a:r>
          </a:p>
          <a:p>
            <a:r>
              <a:rPr sz="1100" b="0">
                <a:solidFill>
                  <a:srgbClr val="5F6F63"/>
                </a:solidFill>
                <a:latin typeface="Arial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program-cost.pptx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1 of 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What does each program really cost?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Full cost of each program, October 2025 · $ · Program: All programs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188720"/>
          <a:ext cx="11247120" cy="50292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program-cost.pptx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2 of 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What does each program really cost?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Full cost of each program, October 2025 · % of total · Program: All programs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188720"/>
          <a:ext cx="11247120" cy="50292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program-cost.pptx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3 of 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What does each program really cost?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What it shows · Program: All programs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Housing support (2025) is the biggest program: $46,631 in October once its share of untied program costs and administration is added to $26,600 of grant spending. Shared costs add 75.3% on top of grant spending across all programs.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The full cost (not just the grant line) is the number for renewal applications, where the funder lets you recover a share of overheads. Pick a program above to see it on its own.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program-cost.pptx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4 of 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What does each program really cost?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What it shows · Program: Housing support (2025)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Housing support (2025) cost $46,631 in full in October: $26,600 paid by the State Housing Program grant, and $20,031 of shared costs no grant covers. It has spent 98.9% of its budget to date, with $59,100 left and 2 months to go.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The full cost is $46,631 a month; $20,031 of it is shared cost the grant doesn't pay for. Worth asking for as much of it as the funder allows at renewal.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program-cost.pptx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5 of 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What does each program really cost?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What it shows · Program: Youth outreach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Youth outreach cost $38,436 in full in October: $21,925 paid by the State Department of Families grant, and $16,511 of shared costs no grant covers. It has spent 97.5% of its budget to date, with $402,031 left and 20 months to go.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The full cost is $38,436 a month; $16,511 of it is shared cost the grant doesn't pay for. Worth asking for as much of it as the funder allows at renewal.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program-cost.pptx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6 of 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What does each program really cost?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What it shows · Program: Emergency relief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Emergency relief cost $21,563 in full in October: $12,300 paid by the Federal community grant grant, and $9,263 of shared costs no grant covers. It has spent 99.9% of its budget to date (spending before October 2024 taken at budget), with $24,300 left and 2 months to go.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The full cost is $21,563 a month; $9,263 of it is shared cost the grant doesn't pay for. Worth asking for as much of it as the funder allows at renewal.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program-cost.pptx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7 of 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What does each program really cost?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What it shows · Program: Digital literacy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Digital literacy cost $9,046 in full in October: $5,160 paid by the Philanthropic foundation grant, and $3,886 of shared costs no grant covers. It has spent 103.2% of its budget to date, with $84,840 left and 17 months to go.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The full cost is $9,046 a month; $3,886 of it is shared cost the grant doesn't pay for. Worth asking for as much of it as the funder allows at renewal.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program-cost.pptx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8 of 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What does each program really cost?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What it shows · Program: Community meals (2025-26)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Community meals (2025-26) cost $5,610 in full in October: $3,200 paid by the Local council community grant grant, and $2,410 of shared costs no grant covers. It has spent 96.1% of its budget to date, with $29,900 left and 8 months to go.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The full cost is $5,610 a month; $2,410 of it is shared cost the grant doesn't pay for. Worth asking for as much of it as the funder allows at renewal.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program-cost.pptx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9 of 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What does each program really cost?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Grant spending, by month · Spend $ · Every program at once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F6F63"/>
                </a:solidFill>
                <a:latin typeface="Arial"/>
              </a:rPr>
              <a:t>Grant spending only (the program's direct cost). All programs includes grants that have finished.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11247120" cy="4754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program-cost.pptx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10 of 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