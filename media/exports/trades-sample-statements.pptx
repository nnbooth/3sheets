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A7B0B8"/>
              </a:solidFill>
            </c:spPr>
          </c:dPt>
          <c:dPt>
            <c:idx val="1"/>
            <c:spPr>
              <a:solidFill>
                <a:srgbClr val="A7B0B8"/>
              </a:solidFill>
            </c:spPr>
          </c:dPt>
          <c:dPt>
            <c:idx val="2"/>
            <c:spPr>
              <a:solidFill>
                <a:srgbClr val="A7B0B8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Wacol warehouse switchboard</c:v>
                </c:pt>
                <c:pt idx="1">
                  <c:v>Carindale solar and battery</c:v>
                </c:pt>
                <c:pt idx="2">
                  <c:v>West End cafe air-con</c:v>
                </c:pt>
                <c:pt idx="3">
                  <c:v>Chermside clinic cabling</c:v>
                </c:pt>
                <c:pt idx="4">
                  <c:v>Milton office LED lighting</c:v>
                </c:pt>
                <c:pt idx="5">
                  <c:v>Bulimba EV chargers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13.5</c:v>
                </c:pt>
                <c:pt idx="1">
                  <c:v>26.9</c:v>
                </c:pt>
                <c:pt idx="2">
                  <c:v>33.5</c:v>
                </c:pt>
                <c:pt idx="3">
                  <c:v>36.6</c:v>
                </c:pt>
                <c:pt idx="4">
                  <c:v>39.5</c:v>
                </c:pt>
                <c:pt idx="5">
                  <c:v>45.2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A7B0B8"/>
              </a:solidFill>
            </c:spPr>
          </c:dPt>
          <c:dPt>
            <c:idx val="1"/>
            <c:spPr>
              <a:solidFill>
                <a:srgbClr val="A7B0B8"/>
              </a:solidFill>
            </c:spPr>
          </c:dPt>
          <c:dPt>
            <c:idx val="2"/>
            <c:spPr>
              <a:solidFill>
                <a:srgbClr val="A7B0B8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Wacol warehouse switchboard</c:v>
                </c:pt>
                <c:pt idx="1">
                  <c:v>Carindale solar and battery</c:v>
                </c:pt>
                <c:pt idx="2">
                  <c:v>West End cafe air-con</c:v>
                </c:pt>
                <c:pt idx="3">
                  <c:v>Chermside clinic cabling</c:v>
                </c:pt>
                <c:pt idx="4">
                  <c:v>Milton office LED lighting</c:v>
                </c:pt>
                <c:pt idx="5">
                  <c:v>Bulimba EV chargers</c:v>
                </c:pt>
              </c:strCache>
            </c:strRef>
          </c:cat>
          <c:val>
            <c:numRef>
              <c:f>Sheet1!$B$2:$B$7</c:f>
              <c:numCache>
                <c:formatCode>$#,##0;[Red]($#,##0);"-"</c:formatCode>
                <c:ptCount val="6"/>
                <c:pt idx="0">
                  <c:v>6300</c:v>
                </c:pt>
                <c:pt idx="1">
                  <c:v>7372</c:v>
                </c:pt>
                <c:pt idx="2">
                  <c:v>4316</c:v>
                </c:pt>
                <c:pt idx="3">
                  <c:v>5564</c:v>
                </c:pt>
                <c:pt idx="4">
                  <c:v>7348</c:v>
                </c:pt>
                <c:pt idx="5">
                  <c:v>4432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Monthly report pack,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An electrical and air-conditioning contractor in Brisbane: maintenance contracts, installations and call-outs. 7 technicians, 3 office staff.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The fourth sheet: September 2026 vs August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Gross margin (P&amp;L),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34.4%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▼ from 35.5% in Aug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7738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90618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win a 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$162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▼ from $205 in Aug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341156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 time on jobs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64.3%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156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▲ from 61.6% in Aug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installation invoiced in September 2026 · Gross margin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Whole job, recognised when invoiced: revenue less materials, subcontractors and technician time at $68/hour. Before overheads: not profit. One 35.0% target for every job for now.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  ·  grey = below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installation invoiced in September 2026 · Gross margin $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Whole job, recognised when invoiced: revenue less materials, subcontractors and technician time at $68/hour. Before overheads: not profit. One 35.0% target for every job for now.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it's worked out: Gross margin (P&amp;L)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Gross profit ÷ revenue. All technician wages and on-costs included; overheads are not.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 (every job invoiced in the month)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$202,337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$179,007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Materials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($64,860)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($51,530)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Subcontractors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($13,200)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($9,300)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($54,600)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($54,600)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$69,677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$63,577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(P&amp;L)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34.4%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35.5%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it's worked out: Cost to win a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Marketing spend ÷ new customers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Marketing 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New customers (first job ever)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Cost per new 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it's worked out: Technician time on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Hours charged to jobs ÷ hours available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Hours charged to jobs (timesheets)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752.5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655.0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Working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Hours per day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7.6 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7.6 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Hours 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1,170.4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1,064.0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Time on jobs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64.3%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61.6%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Profit and loss, September 2026 (1 of 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 (14)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 (jobs)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130,700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109,600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Call-outs: technician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21,543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19,872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Call-outs: materials charged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9,594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9,035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559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202,337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179,007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23,330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Materials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(64,860)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(51,530)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(13,330)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Subcontractors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(13,200)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(9,300)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(3,900)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 (incl. on-costs)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(54,600)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(54,600)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cost of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(132,660)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(115,430)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(17,230)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69,677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63,577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Office and admin wages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(21,900)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(21,900)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Marketing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(7,600)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(8,400)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Vehicles and fuel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(8,300)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(7,900)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(400)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Rent and occupancy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Profit and loss, September 2026 (2 of 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Insurance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IT and software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(2,300)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(2,300)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Other overheads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(3,900)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(3,600)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operating expenses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(54,000)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(54,100)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15,677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Depreciation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(4,500)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(4,300)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Interest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(1,080)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10,097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4,077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6,020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Income tax provision (25%)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(2,524)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(1,019)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(1,505)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Net profit after tax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7,573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3,058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4,515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9 of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Balance sheet at 30 September 2026 (1 of 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Cash at 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59,746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65,263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(5,517)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Trade debtors (unpaid invoices)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151,063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129,819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21,244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Materials on hand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Prepayments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current assets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297,809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282,082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15,727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Vehicles and equipment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255,200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247,700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assets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553,009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529,782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23,227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Trade creditors (bills due next month)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78,060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60,830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17,230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Employee leave provisions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105,100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Income tax payable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35,043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32,519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2,524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current liabilities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219,103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198,449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20,654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Equipment finance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95,000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100,000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liabilities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314,103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298,449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15,654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Net assets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238,906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231,333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7,573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10 of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Balance sheet at 30 September 2026 (2 of 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Share capital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Retained earnings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228,906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221,333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7,573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238,906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231,333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7,573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11 of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Cash flow,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Receipts from customers (invoices paid)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181,093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156,273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24,820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Payments to suppliers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(92,930)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(97,510)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4,580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Payments to employees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(75,600)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(75,400)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Interest paid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(1,080)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(1,100)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Income tax paid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cash from operating activities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11,483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(17,737)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29,220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Purchase of vehicles and equipment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(12,000)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(12,000)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cash from investing activities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(12,000)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(12,000)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Equipment finance repaid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cash from financing activities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change in cash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(5,517)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(22,737)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17,220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Cash at start of month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65,263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88,000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(22,737)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Cash at end of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59,746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65,263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(5,517)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12 of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Jobs, September 2026 (1 of 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Job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Type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Materials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Subcontractors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Labour cost (incl. on-costs)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Job gross margin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Job 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Bulimba EV chargers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Carindale solar and battery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27,400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13,800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3,128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7,372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26.9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Chermside clinic cabling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5,564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Milton office LED lighting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18,600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4,352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7,348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39.5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Wacol warehouse switchboard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46,800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West End cafe air-con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2,584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4,316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33.5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Ashgrove aged 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Bulimba school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1,088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1,652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Carindale vet clinic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Chermside retail centre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1,564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2,436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Fortitude Valley hotel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Kangaroo Point townhouses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952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1,398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58.2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Milton office tower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Newstead gym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612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958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13 of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Jobs, September 2026 (2 of 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Job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Type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Materials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Subcontractors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Labour cost (incl. on-costs)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Job gross margin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Job 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Riverside Apartments (strata)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Rocklea factory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1,496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2,294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58.8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Southbank cafe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Wacol logistics depot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1,156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1,774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West End brewery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Wynnum medical centre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816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1,344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61.1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64 call-outs (each one is in the Excel)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31,137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13,659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14 of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 (1 of 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What it 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An electrical and air-conditioning contractor in Brisbane: maintenance contracts, installations and call-outs. 7 technicians, 3 office staff.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Reporting month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September 2026 (the last closed month), compared with August 2026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Financial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FY2027: 1 July 2026 to 30 June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 customers, invoiced on the 1st, paid in about 30 days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 named jobs, each with its own quote, materials, subcontractors and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64 jobs at $145/hour plus materials marked up 30%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Jobs in September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84 in total (every one is in the Excel download and CSV)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 on salary: $54,600 a month incl. on-costs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Job costing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$68/hour for technician time charged to a job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Working days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 in August (Ekka show holiday), 22 in September; 7.6 hours a day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Overheads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set month by month, as shown in the P&amp;L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Income tax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25% of profit, provided monthly; next PAYG instalment due October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Customer 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each invoice is paid on its own date; unpaid invoices at month end = debtors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Supplier bills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materials and subcontractors are paid the following month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15 of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 (2 of 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Equipment 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$5,000 repaid each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New equipment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a $12,000 trailer bought in September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excluded throughout, for simplicity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16 of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